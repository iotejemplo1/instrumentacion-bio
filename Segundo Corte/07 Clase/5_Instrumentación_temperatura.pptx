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6" r:id="rId5"/>
    <p:sldId id="305" r:id="rId6"/>
    <p:sldId id="320" r:id="rId7"/>
    <p:sldId id="319" r:id="rId8"/>
    <p:sldId id="309" r:id="rId9"/>
    <p:sldId id="310" r:id="rId10"/>
    <p:sldId id="312" r:id="rId11"/>
    <p:sldId id="306" r:id="rId12"/>
    <p:sldId id="313" r:id="rId13"/>
    <p:sldId id="307" r:id="rId14"/>
    <p:sldId id="308" r:id="rId15"/>
    <p:sldId id="314" r:id="rId16"/>
    <p:sldId id="315" r:id="rId17"/>
    <p:sldId id="321" r:id="rId18"/>
    <p:sldId id="316" r:id="rId19"/>
    <p:sldId id="317" r:id="rId20"/>
    <p:sldId id="318" r:id="rId21"/>
    <p:sldId id="323" r:id="rId22"/>
    <p:sldId id="322" r:id="rId23"/>
    <p:sldId id="324" r:id="rId24"/>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5" autoAdjust="0"/>
    <p:restoredTop sz="94660"/>
  </p:normalViewPr>
  <p:slideViewPr>
    <p:cSldViewPr snapToGrid="0" snapToObjects="1">
      <p:cViewPr varScale="1">
        <p:scale>
          <a:sx n="105" d="100"/>
          <a:sy n="105" d="100"/>
        </p:scale>
        <p:origin x="1956" y="96"/>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7/09/2025</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07/09/2025</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765163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A7182-D6E7-C76A-4E9B-02C35CB954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414408-DFF7-E37C-FA0A-4925380A28E5}"/>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BFBBD0D8-8C92-F474-0DE7-5D7B497D6D43}"/>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959590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6297E-A52A-F1F7-A501-9561318BBF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967A5D-621E-A735-1705-C99830D2D6A6}"/>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493F08C1-024C-5920-A59E-02A744DCF75A}"/>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31519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254691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843044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492662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861717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601420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646679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471463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753205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42006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C6E8E-D841-844F-C397-551A62E7F5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45FA52-F2E7-1D2A-0107-8B13604509D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03738A6A-F066-CFB8-2273-45B8E0435718}"/>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103346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918299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679429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307207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54BD2-48B8-B0CF-5828-6A0992524E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94CAB5-5348-81DD-0864-7AD1B42DF475}"/>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B346A9D2-3D2E-CCD6-399F-C39F4218F8CC}"/>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524832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29D27-4CDB-90CC-BD91-A8454BCC69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B3C6E5-2645-0A17-E4F7-3725B39218CB}"/>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FF9D0BEA-F91B-8003-3D6B-3A3720FA6D38}"/>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0886570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A4736-0DD9-A22E-13D8-AB427B963C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AD6C28F-93A4-C8D9-B3D5-5947B83D2357}"/>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D1E2B1E2-A1DA-651E-58A0-9B900B852586}"/>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644783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2"/>
        <p:cNvGrpSpPr/>
        <p:nvPr/>
      </p:nvGrpSpPr>
      <p:grpSpPr>
        <a:xfrm>
          <a:off x="0" y="0"/>
          <a:ext cx="0" cy="0"/>
          <a:chOff x="0" y="0"/>
          <a:chExt cx="0" cy="0"/>
        </a:xfrm>
      </p:grpSpPr>
      <p:sp>
        <p:nvSpPr>
          <p:cNvPr id="163" name="Google Shape;163;p42"/>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4" name="Google Shape;164;p42"/>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5" name="Google Shape;165;p4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CO" smtClean="0"/>
              <a:pPr algn="r"/>
              <a:t>‹Nº›</a:t>
            </a:fld>
            <a:endParaRPr lang="es-CO"/>
          </a:p>
        </p:txBody>
      </p:sp>
    </p:spTree>
    <p:extLst>
      <p:ext uri="{BB962C8B-B14F-4D97-AF65-F5344CB8AC3E}">
        <p14:creationId xmlns:p14="http://schemas.microsoft.com/office/powerpoint/2010/main" val="31796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6">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2.png"/><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notesSlide" Target="../notesSlides/notesSlide6.xml"/><Relationship Id="rId7" Type="http://schemas.openxmlformats.org/officeDocument/2006/relationships/image" Target="../media/image20.jpeg"/><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jpeg"/><Relationship Id="rId10" Type="http://schemas.openxmlformats.org/officeDocument/2006/relationships/image" Target="../media/image23.jpeg"/><Relationship Id="rId4" Type="http://schemas.openxmlformats.org/officeDocument/2006/relationships/image" Target="../media/image17.jpe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7.xml"/><Relationship Id="rId7" Type="http://schemas.openxmlformats.org/officeDocument/2006/relationships/image" Target="../media/image28.png"/><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8.xml"/><Relationship Id="rId7" Type="http://schemas.openxmlformats.org/officeDocument/2006/relationships/image" Target="../media/image33.jpeg"/><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pn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9.xml"/><Relationship Id="rId7" Type="http://schemas.openxmlformats.org/officeDocument/2006/relationships/image" Target="../media/image39.png"/><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44.jpeg"/><Relationship Id="rId5" Type="http://schemas.openxmlformats.org/officeDocument/2006/relationships/image" Target="../media/image43.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notesSlide" Target="../notesSlides/notesSlide12.xml"/><Relationship Id="rId7" Type="http://schemas.openxmlformats.org/officeDocument/2006/relationships/image" Target="../media/image48.png"/><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 Id="rId5" Type="http://schemas.openxmlformats.org/officeDocument/2006/relationships/image" Target="../media/image54.png"/><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58.jpeg"/><Relationship Id="rId2" Type="http://schemas.openxmlformats.org/officeDocument/2006/relationships/slideLayout" Target="../slideLayouts/slideLayout4.xml"/><Relationship Id="rId1" Type="http://schemas.openxmlformats.org/officeDocument/2006/relationships/tags" Target="../tags/tag15.xml"/><Relationship Id="rId6" Type="http://schemas.openxmlformats.org/officeDocument/2006/relationships/image" Target="../media/image57.jpeg"/><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notesSlide" Target="../notesSlides/notesSlide16.xml"/><Relationship Id="rId7" Type="http://schemas.openxmlformats.org/officeDocument/2006/relationships/image" Target="../media/image62.png"/><Relationship Id="rId2" Type="http://schemas.openxmlformats.org/officeDocument/2006/relationships/slideLayout" Target="../slideLayouts/slideLayout4.xml"/><Relationship Id="rId1" Type="http://schemas.openxmlformats.org/officeDocument/2006/relationships/tags" Target="../tags/tag16.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7.xml"/><Relationship Id="rId4" Type="http://schemas.openxmlformats.org/officeDocument/2006/relationships/image" Target="../media/image64.png"/></Relationships>
</file>

<file path=ppt/slides/_rels/slide19.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gif"/><Relationship Id="rId3" Type="http://schemas.openxmlformats.org/officeDocument/2006/relationships/notesSlide" Target="../notesSlides/notesSlide18.xml"/><Relationship Id="rId7" Type="http://schemas.openxmlformats.org/officeDocument/2006/relationships/image" Target="../media/image68.jpeg"/><Relationship Id="rId12" Type="http://schemas.openxmlformats.org/officeDocument/2006/relationships/image" Target="../media/image73.png"/><Relationship Id="rId2" Type="http://schemas.openxmlformats.org/officeDocument/2006/relationships/slideLayout" Target="../slideLayouts/slideLayout4.xml"/><Relationship Id="rId1" Type="http://schemas.openxmlformats.org/officeDocument/2006/relationships/tags" Target="../tags/tag18.xml"/><Relationship Id="rId6" Type="http://schemas.openxmlformats.org/officeDocument/2006/relationships/image" Target="../media/image67.jpe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jpeg"/><Relationship Id="rId4" Type="http://schemas.openxmlformats.org/officeDocument/2006/relationships/image" Target="../media/image65.jpeg"/><Relationship Id="rId9" Type="http://schemas.openxmlformats.org/officeDocument/2006/relationships/image" Target="../media/image70.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874118" y="3770313"/>
            <a:ext cx="5441142" cy="593725"/>
          </a:xfrm>
        </p:spPr>
        <p:txBody>
          <a:bodyPr>
            <a:normAutofit fontScale="90000"/>
          </a:bodyPr>
          <a:lstStyle/>
          <a:p>
            <a:pPr algn="ctr"/>
            <a:r>
              <a:rPr lang="es-ES_tradnl" sz="2800" dirty="0"/>
              <a:t>Instrumentación para temperatura</a:t>
            </a:r>
            <a:endParaRPr lang="es-ES_tradnl" sz="28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Energía cinética </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9" name="CuadroTexto 8">
            <a:extLst>
              <a:ext uri="{FF2B5EF4-FFF2-40B4-BE49-F238E27FC236}">
                <a16:creationId xmlns:a16="http://schemas.microsoft.com/office/drawing/2014/main" id="{3088C957-6C24-CA57-B227-30C6ABDFCB85}"/>
              </a:ext>
            </a:extLst>
          </p:cNvPr>
          <p:cNvSpPr txBox="1"/>
          <p:nvPr/>
        </p:nvSpPr>
        <p:spPr>
          <a:xfrm>
            <a:off x="184556" y="753557"/>
            <a:ext cx="8264499" cy="1046440"/>
          </a:xfrm>
          <a:prstGeom prst="rect">
            <a:avLst/>
          </a:prstGeom>
          <a:noFill/>
        </p:spPr>
        <p:txBody>
          <a:bodyPr wrap="square">
            <a:spAutoFit/>
          </a:bodyPr>
          <a:lstStyle/>
          <a:p>
            <a:pPr algn="l"/>
            <a:endParaRPr lang="es-CO" sz="2000" b="0" i="0" u="none" strike="noStrike" baseline="0" dirty="0">
              <a:solidFill>
                <a:srgbClr val="000000"/>
              </a:solidFill>
              <a:latin typeface="Myriad Pro"/>
            </a:endParaRPr>
          </a:p>
          <a:p>
            <a:pPr algn="just"/>
            <a:r>
              <a:rPr lang="es-ES" sz="1400" dirty="0">
                <a:solidFill>
                  <a:srgbClr val="2C5697"/>
                </a:solidFill>
                <a:latin typeface="Arial"/>
                <a:cs typeface="Arial"/>
              </a:rPr>
              <a:t>Todos los materiales están compuestos de partículas. Estas partículas son átomos o moléculas que están en </a:t>
            </a:r>
            <a:r>
              <a:rPr lang="es-ES" sz="1400" b="1" dirty="0">
                <a:solidFill>
                  <a:srgbClr val="2C5697"/>
                </a:solidFill>
                <a:latin typeface="Arial"/>
                <a:cs typeface="Arial"/>
              </a:rPr>
              <a:t>movimiento constante</a:t>
            </a:r>
            <a:r>
              <a:rPr lang="es-ES" sz="1400" dirty="0">
                <a:solidFill>
                  <a:srgbClr val="2C5697"/>
                </a:solidFill>
                <a:latin typeface="Arial"/>
                <a:cs typeface="Arial"/>
              </a:rPr>
              <a:t>, este movimiento constante es simplemente energía cinética, esta forma, cuanta más agitación haya en las partículas, más </a:t>
            </a:r>
            <a:r>
              <a:rPr lang="es-ES" sz="1400" b="1" dirty="0">
                <a:solidFill>
                  <a:srgbClr val="2C5697"/>
                </a:solidFill>
                <a:latin typeface="Arial"/>
                <a:cs typeface="Arial"/>
              </a:rPr>
              <a:t>energía cinética </a:t>
            </a:r>
            <a:r>
              <a:rPr lang="es-ES" sz="1400" dirty="0">
                <a:solidFill>
                  <a:srgbClr val="2C5697"/>
                </a:solidFill>
                <a:latin typeface="Arial"/>
                <a:cs typeface="Arial"/>
              </a:rPr>
              <a:t>habrá. </a:t>
            </a:r>
            <a:endParaRPr lang="es-CO" sz="1400" dirty="0">
              <a:solidFill>
                <a:srgbClr val="2C5697"/>
              </a:solidFill>
              <a:latin typeface="Arial"/>
              <a:cs typeface="Arial"/>
            </a:endParaRPr>
          </a:p>
        </p:txBody>
      </p:sp>
      <p:pic>
        <p:nvPicPr>
          <p:cNvPr id="14" name="Imagen 13">
            <a:extLst>
              <a:ext uri="{FF2B5EF4-FFF2-40B4-BE49-F238E27FC236}">
                <a16:creationId xmlns:a16="http://schemas.microsoft.com/office/drawing/2014/main" id="{917B00CA-0765-AD05-CE20-ED357E844D72}"/>
              </a:ext>
            </a:extLst>
          </p:cNvPr>
          <p:cNvPicPr>
            <a:picLocks noChangeAspect="1"/>
          </p:cNvPicPr>
          <p:nvPr/>
        </p:nvPicPr>
        <p:blipFill>
          <a:blip r:embed="rId4"/>
          <a:stretch>
            <a:fillRect/>
          </a:stretch>
        </p:blipFill>
        <p:spPr>
          <a:xfrm>
            <a:off x="2368757" y="2682316"/>
            <a:ext cx="3905387" cy="1870781"/>
          </a:xfrm>
          <a:prstGeom prst="rect">
            <a:avLst/>
          </a:prstGeom>
        </p:spPr>
      </p:pic>
    </p:spTree>
    <p:custDataLst>
      <p:tags r:id="rId1"/>
    </p:custDataLst>
    <p:extLst>
      <p:ext uri="{BB962C8B-B14F-4D97-AF65-F5344CB8AC3E}">
        <p14:creationId xmlns:p14="http://schemas.microsoft.com/office/powerpoint/2010/main" val="3076905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363FBB-002A-196A-88A6-1D785479C33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BBD37D6D-8504-843D-AB46-2BB3516F91F3}"/>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5B49D30-C227-FE22-20A8-685C06BFCC4A}"/>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A3B9BBC6-8342-E31E-A50C-5448A91CA7B6}"/>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Temperatura</a:t>
            </a:r>
          </a:p>
        </p:txBody>
      </p:sp>
      <p:sp>
        <p:nvSpPr>
          <p:cNvPr id="18" name="Marcador de número de diapositiva 3">
            <a:extLst>
              <a:ext uri="{FF2B5EF4-FFF2-40B4-BE49-F238E27FC236}">
                <a16:creationId xmlns:a16="http://schemas.microsoft.com/office/drawing/2014/main" id="{8391DA5F-B5D0-1E29-B4F7-2DAA0C69B01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sp>
        <p:nvSpPr>
          <p:cNvPr id="9" name="CuadroTexto 8">
            <a:extLst>
              <a:ext uri="{FF2B5EF4-FFF2-40B4-BE49-F238E27FC236}">
                <a16:creationId xmlns:a16="http://schemas.microsoft.com/office/drawing/2014/main" id="{555F2CA8-1496-7D8A-B7D7-84CFA9E98353}"/>
              </a:ext>
            </a:extLst>
          </p:cNvPr>
          <p:cNvSpPr txBox="1"/>
          <p:nvPr/>
        </p:nvSpPr>
        <p:spPr>
          <a:xfrm>
            <a:off x="184556" y="494134"/>
            <a:ext cx="8264499" cy="1046440"/>
          </a:xfrm>
          <a:prstGeom prst="rect">
            <a:avLst/>
          </a:prstGeom>
          <a:noFill/>
        </p:spPr>
        <p:txBody>
          <a:bodyPr wrap="square">
            <a:spAutoFit/>
          </a:bodyPr>
          <a:lstStyle/>
          <a:p>
            <a:pPr algn="l"/>
            <a:endParaRPr lang="es-CO" sz="2000" b="0" i="0" u="none" strike="noStrike" baseline="0" dirty="0">
              <a:solidFill>
                <a:srgbClr val="000000"/>
              </a:solidFill>
              <a:latin typeface="Myriad Pro"/>
            </a:endParaRPr>
          </a:p>
          <a:p>
            <a:pPr algn="just"/>
            <a:r>
              <a:rPr lang="es-ES" sz="1400" dirty="0">
                <a:solidFill>
                  <a:srgbClr val="2C5697"/>
                </a:solidFill>
                <a:latin typeface="Arial"/>
                <a:cs typeface="Arial"/>
              </a:rPr>
              <a:t>Magnitud física que expresa el grado de </a:t>
            </a:r>
            <a:r>
              <a:rPr lang="es-ES" sz="1400" b="1" dirty="0">
                <a:solidFill>
                  <a:srgbClr val="2C5697"/>
                </a:solidFill>
                <a:latin typeface="Arial"/>
                <a:cs typeface="Arial"/>
              </a:rPr>
              <a:t>frio o calor </a:t>
            </a:r>
            <a:r>
              <a:rPr lang="es-ES" sz="1400" dirty="0">
                <a:solidFill>
                  <a:srgbClr val="2C5697"/>
                </a:solidFill>
                <a:latin typeface="Arial"/>
                <a:cs typeface="Arial"/>
              </a:rPr>
              <a:t>de los cuerpos o del ambiente y cuya unidad en el sistema internacional es el </a:t>
            </a:r>
            <a:r>
              <a:rPr lang="es-ES" sz="1400" b="1" dirty="0">
                <a:solidFill>
                  <a:srgbClr val="2C5697"/>
                </a:solidFill>
                <a:latin typeface="Arial"/>
                <a:cs typeface="Arial"/>
              </a:rPr>
              <a:t>Kelvin</a:t>
            </a:r>
            <a:r>
              <a:rPr lang="es-ES" sz="1400" dirty="0">
                <a:solidFill>
                  <a:srgbClr val="2C5697"/>
                </a:solidFill>
                <a:latin typeface="Arial"/>
                <a:cs typeface="Arial"/>
              </a:rPr>
              <a:t> (K). Aunque existen otras unidades de medida como </a:t>
            </a:r>
            <a:r>
              <a:rPr lang="es-ES" sz="1400" b="1" dirty="0">
                <a:solidFill>
                  <a:srgbClr val="2C5697"/>
                </a:solidFill>
                <a:latin typeface="Arial"/>
                <a:cs typeface="Arial"/>
              </a:rPr>
              <a:t>centígrados</a:t>
            </a:r>
            <a:r>
              <a:rPr lang="es-ES" sz="1400" dirty="0">
                <a:solidFill>
                  <a:srgbClr val="2C5697"/>
                </a:solidFill>
                <a:latin typeface="Arial"/>
                <a:cs typeface="Arial"/>
              </a:rPr>
              <a:t> (C) o </a:t>
            </a:r>
            <a:r>
              <a:rPr lang="es-ES" sz="1400" b="1" dirty="0">
                <a:solidFill>
                  <a:srgbClr val="2C5697"/>
                </a:solidFill>
                <a:latin typeface="Arial"/>
                <a:cs typeface="Arial"/>
              </a:rPr>
              <a:t>Fahrenheit</a:t>
            </a:r>
            <a:r>
              <a:rPr lang="es-ES" sz="1400" dirty="0">
                <a:solidFill>
                  <a:srgbClr val="2C5697"/>
                </a:solidFill>
                <a:latin typeface="Arial"/>
                <a:cs typeface="Arial"/>
              </a:rPr>
              <a:t> (F).</a:t>
            </a:r>
            <a:endParaRPr lang="es-CO" sz="1400" dirty="0">
              <a:solidFill>
                <a:srgbClr val="2C5697"/>
              </a:solidFill>
              <a:latin typeface="Arial"/>
              <a:cs typeface="Arial"/>
            </a:endParaRPr>
          </a:p>
        </p:txBody>
      </p:sp>
      <p:pic>
        <p:nvPicPr>
          <p:cNvPr id="1026" name="Picture 2" descr="Unidades de temperatura y sus conversiones">
            <a:extLst>
              <a:ext uri="{FF2B5EF4-FFF2-40B4-BE49-F238E27FC236}">
                <a16:creationId xmlns:a16="http://schemas.microsoft.com/office/drawing/2014/main" id="{B323139C-C82A-C8FC-3358-BF8DE97E38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556" y="3255264"/>
            <a:ext cx="3892302" cy="2490855"/>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C9ABE5F3-964D-086D-C464-BD7672EABBBB}"/>
              </a:ext>
            </a:extLst>
          </p:cNvPr>
          <p:cNvSpPr txBox="1"/>
          <p:nvPr/>
        </p:nvSpPr>
        <p:spPr>
          <a:xfrm>
            <a:off x="21249" y="1563541"/>
            <a:ext cx="1576072" cy="923330"/>
          </a:xfrm>
          <a:prstGeom prst="rect">
            <a:avLst/>
          </a:prstGeom>
          <a:noFill/>
        </p:spPr>
        <p:txBody>
          <a:bodyPr wrap="none" rtlCol="0">
            <a:spAutoFit/>
          </a:bodyPr>
          <a:lstStyle/>
          <a:p>
            <a:pPr algn="ctr"/>
            <a:r>
              <a:rPr lang="en-US" dirty="0"/>
              <a:t>C</a:t>
            </a:r>
          </a:p>
          <a:p>
            <a:pPr algn="ctr"/>
            <a:r>
              <a:rPr lang="en-US" dirty="0"/>
              <a:t>K = C + 273</a:t>
            </a:r>
          </a:p>
          <a:p>
            <a:pPr algn="ctr"/>
            <a:r>
              <a:rPr lang="en-US" dirty="0"/>
              <a:t>F = 1.8 (C) + 32</a:t>
            </a:r>
            <a:endParaRPr lang="es-CO" dirty="0"/>
          </a:p>
        </p:txBody>
      </p:sp>
      <p:sp>
        <p:nvSpPr>
          <p:cNvPr id="4" name="CuadroTexto 3">
            <a:extLst>
              <a:ext uri="{FF2B5EF4-FFF2-40B4-BE49-F238E27FC236}">
                <a16:creationId xmlns:a16="http://schemas.microsoft.com/office/drawing/2014/main" id="{83AD20C5-781B-6D94-1499-BF97E9FDF67E}"/>
              </a:ext>
            </a:extLst>
          </p:cNvPr>
          <p:cNvSpPr txBox="1"/>
          <p:nvPr/>
        </p:nvSpPr>
        <p:spPr>
          <a:xfrm>
            <a:off x="1602793" y="1981889"/>
            <a:ext cx="1176925" cy="646331"/>
          </a:xfrm>
          <a:prstGeom prst="rect">
            <a:avLst/>
          </a:prstGeom>
          <a:noFill/>
        </p:spPr>
        <p:txBody>
          <a:bodyPr wrap="none" rtlCol="0">
            <a:spAutoFit/>
          </a:bodyPr>
          <a:lstStyle/>
          <a:p>
            <a:pPr algn="ctr"/>
            <a:r>
              <a:rPr lang="en-US" dirty="0"/>
              <a:t>K</a:t>
            </a:r>
          </a:p>
          <a:p>
            <a:pPr algn="ctr"/>
            <a:r>
              <a:rPr lang="en-US" dirty="0"/>
              <a:t>C = K - 273</a:t>
            </a:r>
            <a:endParaRPr lang="es-CO" dirty="0"/>
          </a:p>
        </p:txBody>
      </p:sp>
      <p:sp>
        <p:nvSpPr>
          <p:cNvPr id="5" name="CuadroTexto 4">
            <a:extLst>
              <a:ext uri="{FF2B5EF4-FFF2-40B4-BE49-F238E27FC236}">
                <a16:creationId xmlns:a16="http://schemas.microsoft.com/office/drawing/2014/main" id="{045071F8-8362-2881-5450-73442CDD983F}"/>
              </a:ext>
            </a:extLst>
          </p:cNvPr>
          <p:cNvSpPr txBox="1"/>
          <p:nvPr/>
        </p:nvSpPr>
        <p:spPr>
          <a:xfrm>
            <a:off x="2694224" y="2547902"/>
            <a:ext cx="1471878" cy="646331"/>
          </a:xfrm>
          <a:prstGeom prst="rect">
            <a:avLst/>
          </a:prstGeom>
          <a:noFill/>
        </p:spPr>
        <p:txBody>
          <a:bodyPr wrap="none" rtlCol="0">
            <a:spAutoFit/>
          </a:bodyPr>
          <a:lstStyle/>
          <a:p>
            <a:pPr algn="ctr"/>
            <a:r>
              <a:rPr lang="en-US" dirty="0"/>
              <a:t>F</a:t>
            </a:r>
          </a:p>
          <a:p>
            <a:pPr algn="ctr"/>
            <a:r>
              <a:rPr lang="en-US" dirty="0"/>
              <a:t>C = F – 32/1.8</a:t>
            </a:r>
            <a:endParaRPr lang="es-CO" dirty="0"/>
          </a:p>
        </p:txBody>
      </p:sp>
      <p:pic>
        <p:nvPicPr>
          <p:cNvPr id="11" name="Imagen 10">
            <a:extLst>
              <a:ext uri="{FF2B5EF4-FFF2-40B4-BE49-F238E27FC236}">
                <a16:creationId xmlns:a16="http://schemas.microsoft.com/office/drawing/2014/main" id="{189D3461-E1EE-A014-0D2B-45B853E2A1E9}"/>
              </a:ext>
            </a:extLst>
          </p:cNvPr>
          <p:cNvPicPr>
            <a:picLocks noChangeAspect="1"/>
          </p:cNvPicPr>
          <p:nvPr/>
        </p:nvPicPr>
        <p:blipFill>
          <a:blip r:embed="rId5"/>
          <a:srcRect l="50639" b="9805"/>
          <a:stretch>
            <a:fillRect/>
          </a:stretch>
        </p:blipFill>
        <p:spPr>
          <a:xfrm>
            <a:off x="4864860" y="4015424"/>
            <a:ext cx="3814828" cy="1692152"/>
          </a:xfrm>
          <a:prstGeom prst="rect">
            <a:avLst/>
          </a:prstGeom>
        </p:spPr>
      </p:pic>
      <p:pic>
        <p:nvPicPr>
          <p:cNvPr id="15" name="Imagen 14">
            <a:extLst>
              <a:ext uri="{FF2B5EF4-FFF2-40B4-BE49-F238E27FC236}">
                <a16:creationId xmlns:a16="http://schemas.microsoft.com/office/drawing/2014/main" id="{00D2E35B-896B-F278-8F76-835F119451F2}"/>
              </a:ext>
            </a:extLst>
          </p:cNvPr>
          <p:cNvPicPr>
            <a:picLocks noChangeAspect="1"/>
          </p:cNvPicPr>
          <p:nvPr/>
        </p:nvPicPr>
        <p:blipFill>
          <a:blip r:embed="rId6"/>
          <a:stretch>
            <a:fillRect/>
          </a:stretch>
        </p:blipFill>
        <p:spPr>
          <a:xfrm>
            <a:off x="5139040" y="2073621"/>
            <a:ext cx="3266469" cy="1780964"/>
          </a:xfrm>
          <a:prstGeom prst="rect">
            <a:avLst/>
          </a:prstGeom>
        </p:spPr>
      </p:pic>
    </p:spTree>
    <p:custDataLst>
      <p:tags r:id="rId1"/>
    </p:custDataLst>
    <p:extLst>
      <p:ext uri="{BB962C8B-B14F-4D97-AF65-F5344CB8AC3E}">
        <p14:creationId xmlns:p14="http://schemas.microsoft.com/office/powerpoint/2010/main" val="1044223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F442B3-BC13-3913-5539-0283070AE0B2}"/>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212DFCE2-3B8E-BF3A-5C08-0C913E639E22}"/>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6F7324C7-DEA6-279D-16EF-8FFE72731BE0}"/>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EE541200-0D6B-F825-33B3-AA670A59A8F5}"/>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Medidas a dos y cuatro hilos</a:t>
            </a:r>
          </a:p>
        </p:txBody>
      </p:sp>
      <p:sp>
        <p:nvSpPr>
          <p:cNvPr id="18" name="Marcador de número de diapositiva 3">
            <a:extLst>
              <a:ext uri="{FF2B5EF4-FFF2-40B4-BE49-F238E27FC236}">
                <a16:creationId xmlns:a16="http://schemas.microsoft.com/office/drawing/2014/main" id="{5DF1DDA6-9FE3-E791-05F9-B2059C91A13F}"/>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pic>
        <p:nvPicPr>
          <p:cNvPr id="2" name="Imagen 1">
            <a:extLst>
              <a:ext uri="{FF2B5EF4-FFF2-40B4-BE49-F238E27FC236}">
                <a16:creationId xmlns:a16="http://schemas.microsoft.com/office/drawing/2014/main" id="{8333E323-E9BE-9FEF-9552-781D6EE3784C}"/>
              </a:ext>
            </a:extLst>
          </p:cNvPr>
          <p:cNvPicPr>
            <a:picLocks noChangeAspect="1"/>
          </p:cNvPicPr>
          <p:nvPr/>
        </p:nvPicPr>
        <p:blipFill>
          <a:blip r:embed="rId4"/>
          <a:stretch>
            <a:fillRect/>
          </a:stretch>
        </p:blipFill>
        <p:spPr>
          <a:xfrm>
            <a:off x="67429" y="942110"/>
            <a:ext cx="4391614" cy="2119298"/>
          </a:xfrm>
          <a:prstGeom prst="rect">
            <a:avLst/>
          </a:prstGeom>
        </p:spPr>
      </p:pic>
      <p:pic>
        <p:nvPicPr>
          <p:cNvPr id="4" name="Imagen 3">
            <a:extLst>
              <a:ext uri="{FF2B5EF4-FFF2-40B4-BE49-F238E27FC236}">
                <a16:creationId xmlns:a16="http://schemas.microsoft.com/office/drawing/2014/main" id="{4CE10ADA-3958-A15A-54FB-38CF5CD75801}"/>
              </a:ext>
            </a:extLst>
          </p:cNvPr>
          <p:cNvPicPr>
            <a:picLocks noChangeAspect="1"/>
          </p:cNvPicPr>
          <p:nvPr/>
        </p:nvPicPr>
        <p:blipFill>
          <a:blip r:embed="rId5"/>
          <a:stretch>
            <a:fillRect/>
          </a:stretch>
        </p:blipFill>
        <p:spPr>
          <a:xfrm>
            <a:off x="4516580" y="616195"/>
            <a:ext cx="4614046" cy="2454448"/>
          </a:xfrm>
          <a:prstGeom prst="rect">
            <a:avLst/>
          </a:prstGeom>
        </p:spPr>
      </p:pic>
      <p:pic>
        <p:nvPicPr>
          <p:cNvPr id="5" name="Imagen 4">
            <a:extLst>
              <a:ext uri="{FF2B5EF4-FFF2-40B4-BE49-F238E27FC236}">
                <a16:creationId xmlns:a16="http://schemas.microsoft.com/office/drawing/2014/main" id="{6CE8F8D1-75E5-1956-9EF4-FF9ED95CD725}"/>
              </a:ext>
            </a:extLst>
          </p:cNvPr>
          <p:cNvPicPr>
            <a:picLocks noChangeAspect="1"/>
          </p:cNvPicPr>
          <p:nvPr/>
        </p:nvPicPr>
        <p:blipFill>
          <a:blip r:embed="rId6"/>
          <a:stretch>
            <a:fillRect/>
          </a:stretch>
        </p:blipFill>
        <p:spPr>
          <a:xfrm>
            <a:off x="2650385" y="3459464"/>
            <a:ext cx="4614046" cy="2399305"/>
          </a:xfrm>
          <a:prstGeom prst="rect">
            <a:avLst/>
          </a:prstGeom>
        </p:spPr>
      </p:pic>
      <p:sp>
        <p:nvSpPr>
          <p:cNvPr id="6" name="Rectángulo 5">
            <a:extLst>
              <a:ext uri="{FF2B5EF4-FFF2-40B4-BE49-F238E27FC236}">
                <a16:creationId xmlns:a16="http://schemas.microsoft.com/office/drawing/2014/main" id="{4B62DABA-25C0-F1E8-412A-B5874BA9EC94}"/>
              </a:ext>
            </a:extLst>
          </p:cNvPr>
          <p:cNvSpPr/>
          <p:nvPr/>
        </p:nvSpPr>
        <p:spPr>
          <a:xfrm>
            <a:off x="67429" y="3091631"/>
            <a:ext cx="1030795" cy="307777"/>
          </a:xfrm>
          <a:prstGeom prst="rect">
            <a:avLst/>
          </a:prstGeom>
        </p:spPr>
        <p:txBody>
          <a:bodyPr wrap="none">
            <a:spAutoFit/>
          </a:bodyPr>
          <a:lstStyle/>
          <a:p>
            <a:r>
              <a:rPr lang="es-ES" sz="1400" dirty="0">
                <a:solidFill>
                  <a:srgbClr val="2C5697"/>
                </a:solidFill>
                <a:latin typeface="Arial"/>
                <a:cs typeface="Arial"/>
                <a:sym typeface="Times New Roman"/>
              </a:rPr>
              <a:t>2W, 2-</a:t>
            </a:r>
            <a:r>
              <a:rPr lang="es-ES" sz="1400" i="1" dirty="0">
                <a:solidFill>
                  <a:srgbClr val="2C5697"/>
                </a:solidFill>
                <a:latin typeface="Arial"/>
                <a:cs typeface="Arial"/>
                <a:sym typeface="Times New Roman"/>
              </a:rPr>
              <a:t>wire</a:t>
            </a:r>
            <a:endParaRPr lang="es-CO" sz="1400" i="1" dirty="0"/>
          </a:p>
        </p:txBody>
      </p:sp>
      <p:sp>
        <p:nvSpPr>
          <p:cNvPr id="11" name="Rectángulo 10">
            <a:extLst>
              <a:ext uri="{FF2B5EF4-FFF2-40B4-BE49-F238E27FC236}">
                <a16:creationId xmlns:a16="http://schemas.microsoft.com/office/drawing/2014/main" id="{31B82993-A2D9-9D06-B6FD-5C12B0319482}"/>
              </a:ext>
            </a:extLst>
          </p:cNvPr>
          <p:cNvSpPr/>
          <p:nvPr/>
        </p:nvSpPr>
        <p:spPr>
          <a:xfrm>
            <a:off x="7514037" y="5414576"/>
            <a:ext cx="1030795" cy="307777"/>
          </a:xfrm>
          <a:prstGeom prst="rect">
            <a:avLst/>
          </a:prstGeom>
        </p:spPr>
        <p:txBody>
          <a:bodyPr wrap="none">
            <a:spAutoFit/>
          </a:bodyPr>
          <a:lstStyle/>
          <a:p>
            <a:r>
              <a:rPr lang="es-ES" sz="1400" dirty="0">
                <a:solidFill>
                  <a:srgbClr val="2C5697"/>
                </a:solidFill>
                <a:latin typeface="Arial"/>
                <a:cs typeface="Arial"/>
                <a:sym typeface="Times New Roman"/>
              </a:rPr>
              <a:t>4W, 4-</a:t>
            </a:r>
            <a:r>
              <a:rPr lang="es-ES" sz="1400" i="1" dirty="0">
                <a:solidFill>
                  <a:srgbClr val="2C5697"/>
                </a:solidFill>
                <a:latin typeface="Arial"/>
                <a:cs typeface="Arial"/>
                <a:sym typeface="Times New Roman"/>
              </a:rPr>
              <a:t>wire</a:t>
            </a:r>
            <a:endParaRPr lang="es-CO" sz="1400" i="1" dirty="0"/>
          </a:p>
        </p:txBody>
      </p:sp>
      <p:pic>
        <p:nvPicPr>
          <p:cNvPr id="7" name="Imagen 6">
            <a:extLst>
              <a:ext uri="{FF2B5EF4-FFF2-40B4-BE49-F238E27FC236}">
                <a16:creationId xmlns:a16="http://schemas.microsoft.com/office/drawing/2014/main" id="{19693D8D-688D-173C-6EF6-696D2D06F7F5}"/>
              </a:ext>
            </a:extLst>
          </p:cNvPr>
          <p:cNvPicPr>
            <a:picLocks noChangeAspect="1"/>
          </p:cNvPicPr>
          <p:nvPr/>
        </p:nvPicPr>
        <p:blipFill>
          <a:blip r:embed="rId7"/>
          <a:stretch>
            <a:fillRect/>
          </a:stretch>
        </p:blipFill>
        <p:spPr>
          <a:xfrm>
            <a:off x="67429" y="3468376"/>
            <a:ext cx="1857634" cy="295316"/>
          </a:xfrm>
          <a:prstGeom prst="rect">
            <a:avLst/>
          </a:prstGeom>
        </p:spPr>
      </p:pic>
      <p:sp>
        <p:nvSpPr>
          <p:cNvPr id="13" name="TextBox 32">
            <a:extLst>
              <a:ext uri="{FF2B5EF4-FFF2-40B4-BE49-F238E27FC236}">
                <a16:creationId xmlns:a16="http://schemas.microsoft.com/office/drawing/2014/main" id="{6D7E51A4-D0A8-67EE-A28F-EC8C231D2BAB}"/>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3474196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Puente de Wheatstone</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7" name="TextBox 32">
            <a:extLst>
              <a:ext uri="{FF2B5EF4-FFF2-40B4-BE49-F238E27FC236}">
                <a16:creationId xmlns:a16="http://schemas.microsoft.com/office/drawing/2014/main" id="{37A6FC52-77DC-4095-A97A-047F893B5027}"/>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2" name="Rectángulo 1">
            <a:extLst>
              <a:ext uri="{FF2B5EF4-FFF2-40B4-BE49-F238E27FC236}">
                <a16:creationId xmlns:a16="http://schemas.microsoft.com/office/drawing/2014/main" id="{D5E8C73F-1607-4302-A73F-A5B03DCED901}"/>
              </a:ext>
            </a:extLst>
          </p:cNvPr>
          <p:cNvSpPr/>
          <p:nvPr/>
        </p:nvSpPr>
        <p:spPr>
          <a:xfrm>
            <a:off x="109476" y="427032"/>
            <a:ext cx="8984206" cy="2031325"/>
          </a:xfrm>
          <a:prstGeom prst="rect">
            <a:avLst/>
          </a:prstGeom>
        </p:spPr>
        <p:txBody>
          <a:bodyPr wrap="square">
            <a:spAutoFit/>
          </a:bodyPr>
          <a:lstStyle/>
          <a:p>
            <a:r>
              <a:rPr lang="es-ES" sz="1400" dirty="0">
                <a:solidFill>
                  <a:srgbClr val="2C5697"/>
                </a:solidFill>
                <a:latin typeface="Arial"/>
                <a:cs typeface="Arial"/>
                <a:sym typeface="Times New Roman"/>
              </a:rPr>
              <a:t>La técnica de los 4 hilos reduce el efecto de los cables, sin embargo, en los sensores resistivos la variable produce un efecto limitado en la resistencia.</a:t>
            </a:r>
          </a:p>
          <a:p>
            <a:endParaRPr lang="es-ES" sz="1400" dirty="0">
              <a:solidFill>
                <a:srgbClr val="2C5697"/>
              </a:solidFill>
              <a:latin typeface="Arial"/>
              <a:cs typeface="Arial"/>
              <a:sym typeface="Times New Roman"/>
            </a:endParaRPr>
          </a:p>
          <a:p>
            <a:r>
              <a:rPr lang="es-ES" sz="1400" dirty="0">
                <a:solidFill>
                  <a:srgbClr val="2C5697"/>
                </a:solidFill>
                <a:latin typeface="Arial"/>
                <a:cs typeface="Arial"/>
                <a:sym typeface="Times New Roman"/>
              </a:rPr>
              <a:t>La mejor solución es usar </a:t>
            </a:r>
            <a:r>
              <a:rPr lang="es-ES" sz="1400" dirty="0">
                <a:solidFill>
                  <a:srgbClr val="C00000"/>
                </a:solidFill>
                <a:latin typeface="Arial"/>
                <a:cs typeface="Arial"/>
                <a:sym typeface="Times New Roman"/>
              </a:rPr>
              <a:t>puentes de medida </a:t>
            </a:r>
            <a:r>
              <a:rPr lang="es-ES" sz="1400" dirty="0">
                <a:solidFill>
                  <a:srgbClr val="2C5697"/>
                </a:solidFill>
                <a:latin typeface="Arial"/>
                <a:cs typeface="Arial"/>
                <a:sym typeface="Times New Roman"/>
              </a:rPr>
              <a:t>(</a:t>
            </a:r>
            <a:r>
              <a:rPr lang="es-ES" sz="1400" i="1" dirty="0" err="1">
                <a:solidFill>
                  <a:srgbClr val="2C5697"/>
                </a:solidFill>
                <a:latin typeface="Arial"/>
                <a:cs typeface="Arial"/>
                <a:sym typeface="Times New Roman"/>
              </a:rPr>
              <a:t>measurement</a:t>
            </a:r>
            <a:r>
              <a:rPr lang="es-ES" sz="1400" i="1" dirty="0">
                <a:solidFill>
                  <a:srgbClr val="2C5697"/>
                </a:solidFill>
                <a:latin typeface="Arial"/>
                <a:cs typeface="Arial"/>
                <a:sym typeface="Times New Roman"/>
              </a:rPr>
              <a:t> bridges</a:t>
            </a:r>
            <a:r>
              <a:rPr lang="es-ES" sz="1400" dirty="0">
                <a:solidFill>
                  <a:srgbClr val="2C5697"/>
                </a:solidFill>
                <a:latin typeface="Arial"/>
                <a:cs typeface="Arial"/>
                <a:sym typeface="Times New Roman"/>
              </a:rPr>
              <a:t>), circuitos en equilibrio y sensibles a pequeños cambios. El más común es el </a:t>
            </a:r>
            <a:r>
              <a:rPr lang="es-ES" sz="1400" dirty="0">
                <a:solidFill>
                  <a:srgbClr val="C00000"/>
                </a:solidFill>
                <a:latin typeface="Arial"/>
                <a:cs typeface="Arial"/>
                <a:sym typeface="Times New Roman"/>
              </a:rPr>
              <a:t>puente de Wheatstone</a:t>
            </a:r>
            <a:r>
              <a:rPr lang="es-ES" sz="1400" dirty="0">
                <a:solidFill>
                  <a:srgbClr val="2C5697"/>
                </a:solidFill>
                <a:latin typeface="Arial"/>
                <a:cs typeface="Arial"/>
                <a:sym typeface="Times New Roman"/>
              </a:rPr>
              <a:t>, y se puede configurar como puente de compensación y de deflexión. </a:t>
            </a:r>
          </a:p>
          <a:p>
            <a:endParaRPr lang="es-ES" sz="1400" dirty="0">
              <a:solidFill>
                <a:srgbClr val="2C5697"/>
              </a:solidFill>
              <a:latin typeface="Arial"/>
              <a:cs typeface="Arial"/>
              <a:sym typeface="Times New Roman"/>
            </a:endParaRPr>
          </a:p>
          <a:p>
            <a:r>
              <a:rPr lang="es-ES" sz="1400" dirty="0">
                <a:solidFill>
                  <a:srgbClr val="2C5697"/>
                </a:solidFill>
                <a:latin typeface="Arial"/>
                <a:cs typeface="Arial"/>
                <a:sym typeface="Times New Roman"/>
              </a:rPr>
              <a:t>En el de </a:t>
            </a:r>
            <a:r>
              <a:rPr lang="es-ES" sz="1400" dirty="0">
                <a:solidFill>
                  <a:srgbClr val="C00000"/>
                </a:solidFill>
                <a:latin typeface="Arial"/>
                <a:cs typeface="Arial"/>
                <a:sym typeface="Times New Roman"/>
              </a:rPr>
              <a:t>compensación</a:t>
            </a:r>
            <a:r>
              <a:rPr lang="es-ES" sz="1400" dirty="0">
                <a:solidFill>
                  <a:srgbClr val="2C5697"/>
                </a:solidFill>
                <a:latin typeface="Arial"/>
                <a:cs typeface="Arial"/>
                <a:sym typeface="Times New Roman"/>
              </a:rPr>
              <a:t>, se mueve R hasta conseguir compensación, y el galvanómetro detecta cuando hay desequilibrio.</a:t>
            </a:r>
            <a:endParaRPr lang="es-CO" sz="1400" dirty="0"/>
          </a:p>
        </p:txBody>
      </p:sp>
      <p:pic>
        <p:nvPicPr>
          <p:cNvPr id="4" name="Imagen 3">
            <a:extLst>
              <a:ext uri="{FF2B5EF4-FFF2-40B4-BE49-F238E27FC236}">
                <a16:creationId xmlns:a16="http://schemas.microsoft.com/office/drawing/2014/main" id="{B2149CA7-D5BD-407C-828E-8A014A01B121}"/>
              </a:ext>
            </a:extLst>
          </p:cNvPr>
          <p:cNvPicPr>
            <a:picLocks noChangeAspect="1"/>
          </p:cNvPicPr>
          <p:nvPr/>
        </p:nvPicPr>
        <p:blipFill>
          <a:blip r:embed="rId4"/>
          <a:stretch>
            <a:fillRect/>
          </a:stretch>
        </p:blipFill>
        <p:spPr>
          <a:xfrm>
            <a:off x="1909329" y="2810800"/>
            <a:ext cx="5384500" cy="2501066"/>
          </a:xfrm>
          <a:prstGeom prst="rect">
            <a:avLst/>
          </a:prstGeom>
        </p:spPr>
      </p:pic>
    </p:spTree>
    <p:custDataLst>
      <p:tags r:id="rId1"/>
    </p:custDataLst>
    <p:extLst>
      <p:ext uri="{BB962C8B-B14F-4D97-AF65-F5344CB8AC3E}">
        <p14:creationId xmlns:p14="http://schemas.microsoft.com/office/powerpoint/2010/main" val="155413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Puente de Wheatstone</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sp>
        <p:nvSpPr>
          <p:cNvPr id="7" name="TextBox 32">
            <a:extLst>
              <a:ext uri="{FF2B5EF4-FFF2-40B4-BE49-F238E27FC236}">
                <a16:creationId xmlns:a16="http://schemas.microsoft.com/office/drawing/2014/main" id="{37A6FC52-77DC-4095-A97A-047F893B5027}"/>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5" name="Imagen 4">
            <a:extLst>
              <a:ext uri="{FF2B5EF4-FFF2-40B4-BE49-F238E27FC236}">
                <a16:creationId xmlns:a16="http://schemas.microsoft.com/office/drawing/2014/main" id="{FE998911-6A3E-4FDE-8494-35EB116F3DD6}"/>
              </a:ext>
            </a:extLst>
          </p:cNvPr>
          <p:cNvPicPr>
            <a:picLocks noChangeAspect="1"/>
          </p:cNvPicPr>
          <p:nvPr/>
        </p:nvPicPr>
        <p:blipFill>
          <a:blip r:embed="rId4"/>
          <a:stretch>
            <a:fillRect/>
          </a:stretch>
        </p:blipFill>
        <p:spPr>
          <a:xfrm>
            <a:off x="261463" y="1621120"/>
            <a:ext cx="5098435" cy="2203462"/>
          </a:xfrm>
          <a:prstGeom prst="rect">
            <a:avLst/>
          </a:prstGeom>
        </p:spPr>
      </p:pic>
      <p:pic>
        <p:nvPicPr>
          <p:cNvPr id="14" name="Imagen 13">
            <a:extLst>
              <a:ext uri="{FF2B5EF4-FFF2-40B4-BE49-F238E27FC236}">
                <a16:creationId xmlns:a16="http://schemas.microsoft.com/office/drawing/2014/main" id="{A6CB66CD-8DAC-428B-B3B4-EEAAB9687A73}"/>
              </a:ext>
            </a:extLst>
          </p:cNvPr>
          <p:cNvPicPr>
            <a:picLocks noChangeAspect="1"/>
          </p:cNvPicPr>
          <p:nvPr/>
        </p:nvPicPr>
        <p:blipFill>
          <a:blip r:embed="rId5"/>
          <a:stretch>
            <a:fillRect/>
          </a:stretch>
        </p:blipFill>
        <p:spPr>
          <a:xfrm>
            <a:off x="5690269" y="2133592"/>
            <a:ext cx="2373100" cy="695303"/>
          </a:xfrm>
          <a:prstGeom prst="rect">
            <a:avLst/>
          </a:prstGeom>
        </p:spPr>
      </p:pic>
      <p:sp>
        <p:nvSpPr>
          <p:cNvPr id="2" name="Rectángulo 1">
            <a:extLst>
              <a:ext uri="{FF2B5EF4-FFF2-40B4-BE49-F238E27FC236}">
                <a16:creationId xmlns:a16="http://schemas.microsoft.com/office/drawing/2014/main" id="{5BAE5D59-4086-424D-AB3F-59E17EED6751}"/>
              </a:ext>
            </a:extLst>
          </p:cNvPr>
          <p:cNvSpPr/>
          <p:nvPr/>
        </p:nvSpPr>
        <p:spPr>
          <a:xfrm>
            <a:off x="29361" y="551258"/>
            <a:ext cx="8928372" cy="523220"/>
          </a:xfrm>
          <a:prstGeom prst="rect">
            <a:avLst/>
          </a:prstGeom>
        </p:spPr>
        <p:txBody>
          <a:bodyPr wrap="square">
            <a:spAutoFit/>
          </a:bodyPr>
          <a:lstStyle/>
          <a:p>
            <a:r>
              <a:rPr lang="es-ES" sz="1400" dirty="0">
                <a:solidFill>
                  <a:srgbClr val="2C5697"/>
                </a:solidFill>
                <a:latin typeface="Arial"/>
                <a:cs typeface="Arial"/>
                <a:sym typeface="Times New Roman"/>
              </a:rPr>
              <a:t>En el de </a:t>
            </a:r>
            <a:r>
              <a:rPr lang="es-ES" sz="1400" dirty="0">
                <a:solidFill>
                  <a:srgbClr val="C00000"/>
                </a:solidFill>
                <a:latin typeface="Arial"/>
                <a:cs typeface="Arial"/>
                <a:sym typeface="Times New Roman"/>
              </a:rPr>
              <a:t>deflexión</a:t>
            </a:r>
            <a:r>
              <a:rPr lang="es-ES" sz="1400" dirty="0">
                <a:solidFill>
                  <a:srgbClr val="2C5697"/>
                </a:solidFill>
                <a:latin typeface="Arial"/>
                <a:cs typeface="Arial"/>
                <a:sym typeface="Times New Roman"/>
              </a:rPr>
              <a:t>, R es fija y se emplea voltímetro para cuantifique el desequilibrio. La diferencia entre R y </a:t>
            </a:r>
            <a:r>
              <a:rPr lang="es-ES" sz="1400" dirty="0" err="1">
                <a:solidFill>
                  <a:srgbClr val="2C5697"/>
                </a:solidFill>
                <a:latin typeface="Arial"/>
                <a:cs typeface="Arial"/>
                <a:sym typeface="Times New Roman"/>
              </a:rPr>
              <a:t>Rx</a:t>
            </a:r>
            <a:r>
              <a:rPr lang="es-ES" sz="1400" dirty="0">
                <a:solidFill>
                  <a:srgbClr val="2C5697"/>
                </a:solidFill>
                <a:latin typeface="Arial"/>
                <a:cs typeface="Arial"/>
                <a:sym typeface="Times New Roman"/>
              </a:rPr>
              <a:t>  causa la tensión V</a:t>
            </a:r>
            <a:r>
              <a:rPr lang="es-ES" sz="1400" baseline="-25000" dirty="0">
                <a:solidFill>
                  <a:srgbClr val="2C5697"/>
                </a:solidFill>
                <a:latin typeface="Arial"/>
                <a:cs typeface="Arial"/>
                <a:sym typeface="Times New Roman"/>
              </a:rPr>
              <a:t>AB</a:t>
            </a:r>
            <a:r>
              <a:rPr lang="es-ES" sz="1400" dirty="0">
                <a:solidFill>
                  <a:srgbClr val="2C5697"/>
                </a:solidFill>
                <a:latin typeface="Arial"/>
                <a:cs typeface="Arial"/>
                <a:sym typeface="Times New Roman"/>
              </a:rPr>
              <a:t>. La tensión de salida crece con R y se anula cuando está en equilibrio.</a:t>
            </a:r>
            <a:endParaRPr lang="es-CO" sz="1400" dirty="0"/>
          </a:p>
        </p:txBody>
      </p:sp>
      <p:pic>
        <p:nvPicPr>
          <p:cNvPr id="1032" name="Picture 8" descr="Basics of Bridge Circuits | Basic Direct Current (DC) Theory | Textbook">
            <a:extLst>
              <a:ext uri="{FF2B5EF4-FFF2-40B4-BE49-F238E27FC236}">
                <a16:creationId xmlns:a16="http://schemas.microsoft.com/office/drawing/2014/main" id="{7959FA20-9E42-4029-AD2C-13C88F0CD7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3547" y="3992359"/>
            <a:ext cx="2971800" cy="1533525"/>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51093702-3484-42B1-9D5F-D11B887E062B}"/>
              </a:ext>
            </a:extLst>
          </p:cNvPr>
          <p:cNvSpPr/>
          <p:nvPr/>
        </p:nvSpPr>
        <p:spPr>
          <a:xfrm>
            <a:off x="5690269" y="5531396"/>
            <a:ext cx="3320140" cy="307777"/>
          </a:xfrm>
          <a:prstGeom prst="rect">
            <a:avLst/>
          </a:prstGeom>
        </p:spPr>
        <p:txBody>
          <a:bodyPr wrap="none">
            <a:spAutoFit/>
          </a:bodyPr>
          <a:lstStyle/>
          <a:p>
            <a:r>
              <a:rPr lang="es-ES" sz="1400" dirty="0">
                <a:solidFill>
                  <a:srgbClr val="2C5697"/>
                </a:solidFill>
                <a:latin typeface="Arial"/>
                <a:cs typeface="Arial"/>
                <a:sym typeface="Times New Roman"/>
              </a:rPr>
              <a:t>Aplicación con varios tipos de sensores</a:t>
            </a:r>
            <a:endParaRPr lang="es-CO" sz="1400" dirty="0"/>
          </a:p>
        </p:txBody>
      </p:sp>
    </p:spTree>
    <p:custDataLst>
      <p:tags r:id="rId1"/>
    </p:custDataLst>
    <p:extLst>
      <p:ext uri="{BB962C8B-B14F-4D97-AF65-F5344CB8AC3E}">
        <p14:creationId xmlns:p14="http://schemas.microsoft.com/office/powerpoint/2010/main" val="214297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Puente de Wheatstone</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
        <p:nvSpPr>
          <p:cNvPr id="7" name="TextBox 32">
            <a:extLst>
              <a:ext uri="{FF2B5EF4-FFF2-40B4-BE49-F238E27FC236}">
                <a16:creationId xmlns:a16="http://schemas.microsoft.com/office/drawing/2014/main" id="{37A6FC52-77DC-4095-A97A-047F893B5027}"/>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1026" name="Picture 2" descr="Full Wheatstone Bridge Strain Gage Sensor | The Essential Blog for  Engineers | StrainBlog">
            <a:extLst>
              <a:ext uri="{FF2B5EF4-FFF2-40B4-BE49-F238E27FC236}">
                <a16:creationId xmlns:a16="http://schemas.microsoft.com/office/drawing/2014/main" id="{9CE84977-5E7B-425A-A187-A10620FBAF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3400" y="383775"/>
            <a:ext cx="2232554" cy="14856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ource GML692 Thin strain gauge wheatstone bridge weight sensor on  m.alibaba.com">
            <a:extLst>
              <a:ext uri="{FF2B5EF4-FFF2-40B4-BE49-F238E27FC236}">
                <a16:creationId xmlns:a16="http://schemas.microsoft.com/office/drawing/2014/main" id="{4082AD9C-E89C-484B-8522-46F33EE195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6397" y="1686529"/>
            <a:ext cx="1674159" cy="167415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Light Detector Circuit using Wheatstone Bridge">
            <a:extLst>
              <a:ext uri="{FF2B5EF4-FFF2-40B4-BE49-F238E27FC236}">
                <a16:creationId xmlns:a16="http://schemas.microsoft.com/office/drawing/2014/main" id="{5809AAAF-424B-4C4C-9AFC-7C2BF7CCFF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462" y="3225883"/>
            <a:ext cx="3252811" cy="165748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nderstanding a Wheatstone Bridge Strain Gauge Circuit - Bestech Australia">
            <a:extLst>
              <a:ext uri="{FF2B5EF4-FFF2-40B4-BE49-F238E27FC236}">
                <a16:creationId xmlns:a16="http://schemas.microsoft.com/office/drawing/2014/main" id="{856DA229-2DFB-40E4-880D-E5776A3558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7768" y="2060014"/>
            <a:ext cx="2686050" cy="17049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otorresistencia LDR 5 mm 5528 - Electronilab">
            <a:extLst>
              <a:ext uri="{FF2B5EF4-FFF2-40B4-BE49-F238E27FC236}">
                <a16:creationId xmlns:a16="http://schemas.microsoft.com/office/drawing/2014/main" id="{D52557BB-64A5-4B89-8087-C3DA0D744A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0649" y="1802552"/>
            <a:ext cx="1197396" cy="89344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DC Differential Pi with NTC Thermistors">
            <a:extLst>
              <a:ext uri="{FF2B5EF4-FFF2-40B4-BE49-F238E27FC236}">
                <a16:creationId xmlns:a16="http://schemas.microsoft.com/office/drawing/2014/main" id="{1B66DB8F-B303-4590-86CC-82335CAA8D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92086" y="4246154"/>
            <a:ext cx="2183868" cy="127020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TERMISTOR NTC-MF52-103/3435 SENSOR DE TEMPERATURA 10K 1%">
            <a:extLst>
              <a:ext uri="{FF2B5EF4-FFF2-40B4-BE49-F238E27FC236}">
                <a16:creationId xmlns:a16="http://schemas.microsoft.com/office/drawing/2014/main" id="{C5077EAF-8F3B-44AA-8956-2DA42C8DD77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4392" y="4090836"/>
            <a:ext cx="1604962" cy="1604962"/>
          </a:xfrm>
          <a:prstGeom prst="rect">
            <a:avLst/>
          </a:prstGeom>
          <a:noFill/>
          <a:extLst>
            <a:ext uri="{909E8E84-426E-40DD-AFC4-6F175D3DCCD1}">
              <a14:hiddenFill xmlns:a14="http://schemas.microsoft.com/office/drawing/2010/main">
                <a:solidFill>
                  <a:srgbClr val="FFFFFF"/>
                </a:solidFill>
              </a14:hiddenFill>
            </a:ext>
          </a:extLst>
        </p:spPr>
      </p:pic>
      <p:sp>
        <p:nvSpPr>
          <p:cNvPr id="4" name="Flecha: a la derecha 3">
            <a:extLst>
              <a:ext uri="{FF2B5EF4-FFF2-40B4-BE49-F238E27FC236}">
                <a16:creationId xmlns:a16="http://schemas.microsoft.com/office/drawing/2014/main" id="{6EAD9162-4A6D-46FA-980E-FB040CEBC8F1}"/>
              </a:ext>
            </a:extLst>
          </p:cNvPr>
          <p:cNvSpPr/>
          <p:nvPr/>
        </p:nvSpPr>
        <p:spPr>
          <a:xfrm>
            <a:off x="5698067" y="4724400"/>
            <a:ext cx="211666" cy="689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19" name="Flecha: a la derecha 18">
            <a:extLst>
              <a:ext uri="{FF2B5EF4-FFF2-40B4-BE49-F238E27FC236}">
                <a16:creationId xmlns:a16="http://schemas.microsoft.com/office/drawing/2014/main" id="{53BF1288-07F9-4A83-8CED-9C50D03B2B33}"/>
              </a:ext>
            </a:extLst>
          </p:cNvPr>
          <p:cNvSpPr/>
          <p:nvPr/>
        </p:nvSpPr>
        <p:spPr>
          <a:xfrm rot="2697044">
            <a:off x="6352212" y="1991110"/>
            <a:ext cx="211666" cy="689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20" name="Flecha: a la derecha 19">
            <a:extLst>
              <a:ext uri="{FF2B5EF4-FFF2-40B4-BE49-F238E27FC236}">
                <a16:creationId xmlns:a16="http://schemas.microsoft.com/office/drawing/2014/main" id="{BDB688C4-F8A4-481F-AC04-A3FE6A3F2E2D}"/>
              </a:ext>
            </a:extLst>
          </p:cNvPr>
          <p:cNvSpPr/>
          <p:nvPr/>
        </p:nvSpPr>
        <p:spPr>
          <a:xfrm rot="5400000">
            <a:off x="1654916" y="2863771"/>
            <a:ext cx="211666" cy="6890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21" name="Rectángulo 20">
            <a:extLst>
              <a:ext uri="{FF2B5EF4-FFF2-40B4-BE49-F238E27FC236}">
                <a16:creationId xmlns:a16="http://schemas.microsoft.com/office/drawing/2014/main" id="{1352DFF0-0BCB-44B5-B244-9022022116DD}"/>
              </a:ext>
            </a:extLst>
          </p:cNvPr>
          <p:cNvSpPr/>
          <p:nvPr/>
        </p:nvSpPr>
        <p:spPr>
          <a:xfrm>
            <a:off x="20283" y="622856"/>
            <a:ext cx="3320140" cy="307777"/>
          </a:xfrm>
          <a:prstGeom prst="rect">
            <a:avLst/>
          </a:prstGeom>
        </p:spPr>
        <p:txBody>
          <a:bodyPr wrap="none">
            <a:spAutoFit/>
          </a:bodyPr>
          <a:lstStyle/>
          <a:p>
            <a:r>
              <a:rPr lang="es-ES" sz="1400" dirty="0">
                <a:solidFill>
                  <a:srgbClr val="2C5697"/>
                </a:solidFill>
                <a:latin typeface="Arial"/>
                <a:cs typeface="Arial"/>
                <a:sym typeface="Times New Roman"/>
              </a:rPr>
              <a:t>Aplicación con varios tipos de sensores</a:t>
            </a:r>
            <a:endParaRPr lang="es-CO" sz="1400" dirty="0"/>
          </a:p>
        </p:txBody>
      </p:sp>
      <p:pic>
        <p:nvPicPr>
          <p:cNvPr id="2" name="Picture 2" descr="Artículo: ¿Cómo funciona una galga extensométrica óptica? | HBM">
            <a:extLst>
              <a:ext uri="{FF2B5EF4-FFF2-40B4-BE49-F238E27FC236}">
                <a16:creationId xmlns:a16="http://schemas.microsoft.com/office/drawing/2014/main" id="{5CBC1D56-DD06-DCE7-4CCC-CBB173DE04D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93184" y="332560"/>
            <a:ext cx="1957632" cy="144246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623125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Resistencias metálicas dependientes de la temperatura</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sp>
        <p:nvSpPr>
          <p:cNvPr id="7" name="TextBox 32">
            <a:extLst>
              <a:ext uri="{FF2B5EF4-FFF2-40B4-BE49-F238E27FC236}">
                <a16:creationId xmlns:a16="http://schemas.microsoft.com/office/drawing/2014/main" id="{84F81F1F-BB73-4394-8385-B8D85EFFDAE1}"/>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Rectángulo 7">
            <a:extLst>
              <a:ext uri="{FF2B5EF4-FFF2-40B4-BE49-F238E27FC236}">
                <a16:creationId xmlns:a16="http://schemas.microsoft.com/office/drawing/2014/main" id="{5ED045B7-A3E0-4CC5-B010-80D9E28D4E0A}"/>
              </a:ext>
            </a:extLst>
          </p:cNvPr>
          <p:cNvSpPr/>
          <p:nvPr/>
        </p:nvSpPr>
        <p:spPr>
          <a:xfrm>
            <a:off x="21249" y="584314"/>
            <a:ext cx="8995751" cy="738664"/>
          </a:xfrm>
          <a:prstGeom prst="rect">
            <a:avLst/>
          </a:prstGeom>
        </p:spPr>
        <p:txBody>
          <a:bodyPr wrap="square">
            <a:spAutoFit/>
          </a:bodyPr>
          <a:lstStyle/>
          <a:p>
            <a:r>
              <a:rPr lang="es-ES" sz="1400" dirty="0">
                <a:solidFill>
                  <a:srgbClr val="2C5697"/>
                </a:solidFill>
                <a:latin typeface="Arial"/>
                <a:cs typeface="Arial"/>
                <a:sym typeface="Times New Roman"/>
              </a:rPr>
              <a:t>Hilo metálico cuya resistencia depende de la temperatura </a:t>
            </a:r>
            <a:r>
              <a:rPr lang="es-ES" sz="1400" dirty="0">
                <a:solidFill>
                  <a:srgbClr val="2C5697"/>
                </a:solidFill>
                <a:latin typeface="Arial"/>
                <a:cs typeface="Arial"/>
                <a:sym typeface="Wingdings" panose="05000000000000000000" pitchFamily="2" charset="2"/>
              </a:rPr>
              <a:t> </a:t>
            </a:r>
            <a:r>
              <a:rPr lang="es-ES" sz="1400" dirty="0">
                <a:solidFill>
                  <a:srgbClr val="C00000"/>
                </a:solidFill>
                <a:latin typeface="Arial"/>
                <a:cs typeface="Arial"/>
                <a:sym typeface="Wingdings" panose="05000000000000000000" pitchFamily="2" charset="2"/>
              </a:rPr>
              <a:t>RTD</a:t>
            </a:r>
            <a:r>
              <a:rPr lang="es-ES" sz="1400" dirty="0">
                <a:solidFill>
                  <a:srgbClr val="2C5697"/>
                </a:solidFill>
                <a:latin typeface="Arial"/>
                <a:cs typeface="Arial"/>
                <a:sym typeface="Wingdings" panose="05000000000000000000" pitchFamily="2" charset="2"/>
              </a:rPr>
              <a:t> (</a:t>
            </a:r>
            <a:r>
              <a:rPr lang="es-ES" sz="1200" i="1" dirty="0" err="1">
                <a:solidFill>
                  <a:srgbClr val="2C5697"/>
                </a:solidFill>
                <a:latin typeface="Arial"/>
                <a:cs typeface="Arial"/>
                <a:sym typeface="Wingdings" panose="05000000000000000000" pitchFamily="2" charset="2"/>
              </a:rPr>
              <a:t>Resistance</a:t>
            </a:r>
            <a:r>
              <a:rPr lang="es-ES" sz="1200" i="1" dirty="0">
                <a:solidFill>
                  <a:srgbClr val="2C5697"/>
                </a:solidFill>
                <a:latin typeface="Arial"/>
                <a:cs typeface="Arial"/>
                <a:sym typeface="Wingdings" panose="05000000000000000000" pitchFamily="2" charset="2"/>
              </a:rPr>
              <a:t> </a:t>
            </a:r>
            <a:r>
              <a:rPr lang="es-ES" sz="1200" i="1" dirty="0" err="1">
                <a:solidFill>
                  <a:srgbClr val="2C5697"/>
                </a:solidFill>
                <a:latin typeface="Arial"/>
                <a:cs typeface="Arial"/>
                <a:sym typeface="Wingdings" panose="05000000000000000000" pitchFamily="2" charset="2"/>
              </a:rPr>
              <a:t>Temperature</a:t>
            </a:r>
            <a:r>
              <a:rPr lang="es-ES" sz="1200" i="1" dirty="0">
                <a:solidFill>
                  <a:srgbClr val="2C5697"/>
                </a:solidFill>
                <a:latin typeface="Arial"/>
                <a:cs typeface="Arial"/>
                <a:sym typeface="Wingdings" panose="05000000000000000000" pitchFamily="2" charset="2"/>
              </a:rPr>
              <a:t> Detector</a:t>
            </a:r>
            <a:r>
              <a:rPr lang="es-ES" sz="1400" dirty="0">
                <a:solidFill>
                  <a:srgbClr val="2C5697"/>
                </a:solidFill>
                <a:latin typeface="Arial"/>
                <a:cs typeface="Arial"/>
                <a:sym typeface="Wingdings" panose="05000000000000000000" pitchFamily="2" charset="2"/>
              </a:rPr>
              <a:t>) – </a:t>
            </a:r>
            <a:r>
              <a:rPr lang="es-ES" sz="1400" dirty="0">
                <a:solidFill>
                  <a:srgbClr val="C00000"/>
                </a:solidFill>
                <a:latin typeface="Arial"/>
                <a:cs typeface="Arial"/>
                <a:sym typeface="Wingdings" panose="05000000000000000000" pitchFamily="2" charset="2"/>
              </a:rPr>
              <a:t>PT100</a:t>
            </a:r>
            <a:r>
              <a:rPr lang="es-ES" sz="1400" dirty="0">
                <a:solidFill>
                  <a:srgbClr val="2C5697"/>
                </a:solidFill>
                <a:latin typeface="Arial"/>
                <a:cs typeface="Arial"/>
                <a:sym typeface="Wingdings" panose="05000000000000000000" pitchFamily="2" charset="2"/>
              </a:rPr>
              <a:t>-. Son </a:t>
            </a:r>
            <a:r>
              <a:rPr lang="es-ES" sz="1400" dirty="0">
                <a:solidFill>
                  <a:srgbClr val="C00000"/>
                </a:solidFill>
                <a:latin typeface="Arial"/>
                <a:cs typeface="Arial"/>
                <a:sym typeface="Wingdings" panose="05000000000000000000" pitchFamily="2" charset="2"/>
              </a:rPr>
              <a:t>“casi”</a:t>
            </a:r>
            <a:r>
              <a:rPr lang="es-ES" sz="1400" dirty="0">
                <a:solidFill>
                  <a:srgbClr val="2C5697"/>
                </a:solidFill>
                <a:latin typeface="Arial"/>
                <a:cs typeface="Arial"/>
                <a:sym typeface="Wingdings" panose="05000000000000000000" pitchFamily="2" charset="2"/>
              </a:rPr>
              <a:t> </a:t>
            </a:r>
            <a:r>
              <a:rPr lang="es-ES" sz="1400" dirty="0">
                <a:solidFill>
                  <a:srgbClr val="C00000"/>
                </a:solidFill>
                <a:latin typeface="Arial"/>
                <a:cs typeface="Arial"/>
                <a:sym typeface="Wingdings" panose="05000000000000000000" pitchFamily="2" charset="2"/>
              </a:rPr>
              <a:t>lineales</a:t>
            </a:r>
            <a:r>
              <a:rPr lang="es-ES" sz="1400" dirty="0">
                <a:solidFill>
                  <a:srgbClr val="2C5697"/>
                </a:solidFill>
                <a:latin typeface="Arial"/>
                <a:cs typeface="Arial"/>
                <a:sym typeface="Wingdings" panose="05000000000000000000" pitchFamily="2" charset="2"/>
              </a:rPr>
              <a:t>. R</a:t>
            </a:r>
            <a:r>
              <a:rPr lang="es-ES" sz="1400" baseline="-25000" dirty="0">
                <a:solidFill>
                  <a:srgbClr val="2C5697"/>
                </a:solidFill>
                <a:latin typeface="Arial"/>
                <a:cs typeface="Arial"/>
                <a:sym typeface="Wingdings" panose="05000000000000000000" pitchFamily="2" charset="2"/>
              </a:rPr>
              <a:t>0</a:t>
            </a:r>
            <a:r>
              <a:rPr lang="es-ES" sz="1400" dirty="0">
                <a:solidFill>
                  <a:srgbClr val="2C5697"/>
                </a:solidFill>
                <a:latin typeface="Arial"/>
                <a:cs typeface="Arial"/>
                <a:sym typeface="Wingdings" panose="05000000000000000000" pitchFamily="2" charset="2"/>
              </a:rPr>
              <a:t> es la resistencia a la temperatura T</a:t>
            </a:r>
            <a:r>
              <a:rPr lang="es-ES" sz="1400" baseline="-25000" dirty="0">
                <a:solidFill>
                  <a:srgbClr val="2C5697"/>
                </a:solidFill>
                <a:latin typeface="Arial"/>
                <a:cs typeface="Arial"/>
                <a:sym typeface="Wingdings" panose="05000000000000000000" pitchFamily="2" charset="2"/>
              </a:rPr>
              <a:t>0</a:t>
            </a:r>
            <a:r>
              <a:rPr lang="es-ES" sz="1400" dirty="0">
                <a:solidFill>
                  <a:srgbClr val="2C5697"/>
                </a:solidFill>
                <a:latin typeface="Arial"/>
                <a:cs typeface="Arial"/>
                <a:sym typeface="Wingdings" panose="05000000000000000000" pitchFamily="2" charset="2"/>
              </a:rPr>
              <a:t>, y </a:t>
            </a:r>
            <a:r>
              <a:rPr lang="el-GR" sz="1400" i="1" dirty="0">
                <a:solidFill>
                  <a:srgbClr val="2C5697"/>
                </a:solidFill>
                <a:latin typeface="Arial"/>
                <a:cs typeface="Arial"/>
                <a:sym typeface="Wingdings" panose="05000000000000000000" pitchFamily="2" charset="2"/>
              </a:rPr>
              <a:t>α</a:t>
            </a:r>
            <a:r>
              <a:rPr lang="es-ES" sz="1400" dirty="0">
                <a:solidFill>
                  <a:srgbClr val="2C5697"/>
                </a:solidFill>
                <a:latin typeface="Arial"/>
                <a:cs typeface="Arial"/>
                <a:sym typeface="Wingdings" panose="05000000000000000000" pitchFamily="2" charset="2"/>
              </a:rPr>
              <a:t> es el coeficiente térmico que depende de cada material.</a:t>
            </a:r>
            <a:endParaRPr lang="es-CO" sz="1400" dirty="0"/>
          </a:p>
        </p:txBody>
      </p:sp>
      <p:pic>
        <p:nvPicPr>
          <p:cNvPr id="4" name="Imagen 3">
            <a:extLst>
              <a:ext uri="{FF2B5EF4-FFF2-40B4-BE49-F238E27FC236}">
                <a16:creationId xmlns:a16="http://schemas.microsoft.com/office/drawing/2014/main" id="{EB750786-97E0-4C07-A3B4-9C1C18501466}"/>
              </a:ext>
            </a:extLst>
          </p:cNvPr>
          <p:cNvPicPr>
            <a:picLocks noChangeAspect="1"/>
          </p:cNvPicPr>
          <p:nvPr/>
        </p:nvPicPr>
        <p:blipFill>
          <a:blip r:embed="rId4"/>
          <a:stretch>
            <a:fillRect/>
          </a:stretch>
        </p:blipFill>
        <p:spPr>
          <a:xfrm>
            <a:off x="223764" y="3633995"/>
            <a:ext cx="5020205" cy="1987164"/>
          </a:xfrm>
          <a:prstGeom prst="rect">
            <a:avLst/>
          </a:prstGeom>
        </p:spPr>
      </p:pic>
      <p:pic>
        <p:nvPicPr>
          <p:cNvPr id="5" name="Imagen 4">
            <a:extLst>
              <a:ext uri="{FF2B5EF4-FFF2-40B4-BE49-F238E27FC236}">
                <a16:creationId xmlns:a16="http://schemas.microsoft.com/office/drawing/2014/main" id="{C626515A-698B-4109-8F0A-365E57956D7D}"/>
              </a:ext>
            </a:extLst>
          </p:cNvPr>
          <p:cNvPicPr>
            <a:picLocks noChangeAspect="1"/>
          </p:cNvPicPr>
          <p:nvPr/>
        </p:nvPicPr>
        <p:blipFill>
          <a:blip r:embed="rId5"/>
          <a:stretch>
            <a:fillRect/>
          </a:stretch>
        </p:blipFill>
        <p:spPr>
          <a:xfrm>
            <a:off x="392995" y="1392095"/>
            <a:ext cx="2114845" cy="333422"/>
          </a:xfrm>
          <a:prstGeom prst="rect">
            <a:avLst/>
          </a:prstGeom>
        </p:spPr>
      </p:pic>
      <p:pic>
        <p:nvPicPr>
          <p:cNvPr id="6" name="Imagen 5">
            <a:extLst>
              <a:ext uri="{FF2B5EF4-FFF2-40B4-BE49-F238E27FC236}">
                <a16:creationId xmlns:a16="http://schemas.microsoft.com/office/drawing/2014/main" id="{F949C021-8F8A-416C-A6C2-57D01FD0C4E1}"/>
              </a:ext>
            </a:extLst>
          </p:cNvPr>
          <p:cNvPicPr>
            <a:picLocks noChangeAspect="1"/>
          </p:cNvPicPr>
          <p:nvPr/>
        </p:nvPicPr>
        <p:blipFill>
          <a:blip r:embed="rId6"/>
          <a:stretch>
            <a:fillRect/>
          </a:stretch>
        </p:blipFill>
        <p:spPr>
          <a:xfrm>
            <a:off x="4137890" y="2197348"/>
            <a:ext cx="4697365" cy="2393458"/>
          </a:xfrm>
          <a:prstGeom prst="rect">
            <a:avLst/>
          </a:prstGeom>
        </p:spPr>
      </p:pic>
      <p:pic>
        <p:nvPicPr>
          <p:cNvPr id="9" name="Imagen 8">
            <a:extLst>
              <a:ext uri="{FF2B5EF4-FFF2-40B4-BE49-F238E27FC236}">
                <a16:creationId xmlns:a16="http://schemas.microsoft.com/office/drawing/2014/main" id="{85089C10-97FA-4D51-924D-5547B7767775}"/>
              </a:ext>
            </a:extLst>
          </p:cNvPr>
          <p:cNvPicPr>
            <a:picLocks noChangeAspect="1"/>
          </p:cNvPicPr>
          <p:nvPr/>
        </p:nvPicPr>
        <p:blipFill>
          <a:blip r:embed="rId7"/>
          <a:stretch>
            <a:fillRect/>
          </a:stretch>
        </p:blipFill>
        <p:spPr>
          <a:xfrm>
            <a:off x="261463" y="2122855"/>
            <a:ext cx="2610214" cy="352474"/>
          </a:xfrm>
          <a:prstGeom prst="rect">
            <a:avLst/>
          </a:prstGeom>
        </p:spPr>
      </p:pic>
      <p:sp>
        <p:nvSpPr>
          <p:cNvPr id="10" name="Rectángulo 9">
            <a:extLst>
              <a:ext uri="{FF2B5EF4-FFF2-40B4-BE49-F238E27FC236}">
                <a16:creationId xmlns:a16="http://schemas.microsoft.com/office/drawing/2014/main" id="{B20D1798-0B28-4749-B693-9061D09D4E1B}"/>
              </a:ext>
            </a:extLst>
          </p:cNvPr>
          <p:cNvSpPr/>
          <p:nvPr/>
        </p:nvSpPr>
        <p:spPr>
          <a:xfrm>
            <a:off x="1269956" y="2431680"/>
            <a:ext cx="1601721" cy="276999"/>
          </a:xfrm>
          <a:prstGeom prst="rect">
            <a:avLst/>
          </a:prstGeom>
        </p:spPr>
        <p:txBody>
          <a:bodyPr wrap="none">
            <a:spAutoFit/>
          </a:bodyPr>
          <a:lstStyle/>
          <a:p>
            <a:r>
              <a:rPr lang="es-ES" sz="1200" dirty="0">
                <a:solidFill>
                  <a:srgbClr val="2C5697"/>
                </a:solidFill>
                <a:latin typeface="Arial"/>
                <a:cs typeface="Arial"/>
                <a:sym typeface="Wingdings" panose="05000000000000000000" pitchFamily="2" charset="2"/>
              </a:rPr>
              <a:t>Con</a:t>
            </a:r>
            <a:r>
              <a:rPr lang="es-ES" sz="1200" i="1" dirty="0">
                <a:solidFill>
                  <a:srgbClr val="2C5697"/>
                </a:solidFill>
                <a:latin typeface="Arial"/>
                <a:cs typeface="Arial"/>
                <a:sym typeface="Wingdings" panose="05000000000000000000" pitchFamily="2" charset="2"/>
              </a:rPr>
              <a:t> </a:t>
            </a:r>
            <a:r>
              <a:rPr lang="el-GR" sz="1200" i="1" dirty="0">
                <a:solidFill>
                  <a:srgbClr val="2C5697"/>
                </a:solidFill>
                <a:latin typeface="Arial"/>
                <a:cs typeface="Arial"/>
                <a:sym typeface="Wingdings" panose="05000000000000000000" pitchFamily="2" charset="2"/>
              </a:rPr>
              <a:t>α</a:t>
            </a:r>
            <a:r>
              <a:rPr lang="es-ES" sz="1200" i="1" dirty="0">
                <a:solidFill>
                  <a:srgbClr val="2C5697"/>
                </a:solidFill>
                <a:latin typeface="Arial"/>
                <a:cs typeface="Arial"/>
                <a:sym typeface="Wingdings" panose="05000000000000000000" pitchFamily="2" charset="2"/>
              </a:rPr>
              <a:t> </a:t>
            </a:r>
            <a:r>
              <a:rPr lang="es-ES" sz="1200" dirty="0">
                <a:solidFill>
                  <a:srgbClr val="2C5697"/>
                </a:solidFill>
                <a:latin typeface="Arial"/>
                <a:cs typeface="Arial"/>
                <a:sym typeface="Wingdings" panose="05000000000000000000" pitchFamily="2" charset="2"/>
              </a:rPr>
              <a:t>para el platino</a:t>
            </a:r>
            <a:endParaRPr lang="es-CO" sz="1200" dirty="0"/>
          </a:p>
        </p:txBody>
      </p:sp>
      <p:pic>
        <p:nvPicPr>
          <p:cNvPr id="11" name="Imagen 10">
            <a:extLst>
              <a:ext uri="{FF2B5EF4-FFF2-40B4-BE49-F238E27FC236}">
                <a16:creationId xmlns:a16="http://schemas.microsoft.com/office/drawing/2014/main" id="{BB0D21CB-D36D-D06E-F75C-9951A14CC558}"/>
              </a:ext>
            </a:extLst>
          </p:cNvPr>
          <p:cNvPicPr>
            <a:picLocks noChangeAspect="1"/>
          </p:cNvPicPr>
          <p:nvPr/>
        </p:nvPicPr>
        <p:blipFill>
          <a:blip r:embed="rId8"/>
          <a:stretch>
            <a:fillRect/>
          </a:stretch>
        </p:blipFill>
        <p:spPr>
          <a:xfrm>
            <a:off x="464083" y="4117991"/>
            <a:ext cx="1272218" cy="668355"/>
          </a:xfrm>
          <a:prstGeom prst="rect">
            <a:avLst/>
          </a:prstGeom>
        </p:spPr>
      </p:pic>
    </p:spTree>
    <p:custDataLst>
      <p:tags r:id="rId1"/>
    </p:custDataLst>
    <p:extLst>
      <p:ext uri="{BB962C8B-B14F-4D97-AF65-F5344CB8AC3E}">
        <p14:creationId xmlns:p14="http://schemas.microsoft.com/office/powerpoint/2010/main" val="3866051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AA049132-CF00-4623-BEC6-A5E3BBC0A306}"/>
              </a:ext>
            </a:extLst>
          </p:cNvPr>
          <p:cNvPicPr>
            <a:picLocks noChangeAspect="1"/>
          </p:cNvPicPr>
          <p:nvPr/>
        </p:nvPicPr>
        <p:blipFill>
          <a:blip r:embed="rId4"/>
          <a:stretch>
            <a:fillRect/>
          </a:stretch>
        </p:blipFill>
        <p:spPr>
          <a:xfrm>
            <a:off x="5086117" y="860058"/>
            <a:ext cx="3867690" cy="2181529"/>
          </a:xfrm>
          <a:prstGeom prst="rect">
            <a:avLst/>
          </a:prstGeom>
        </p:spPr>
      </p:pic>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Resistencias metálicas dependientes de la temperatura</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sp>
        <p:nvSpPr>
          <p:cNvPr id="7" name="TextBox 32">
            <a:extLst>
              <a:ext uri="{FF2B5EF4-FFF2-40B4-BE49-F238E27FC236}">
                <a16:creationId xmlns:a16="http://schemas.microsoft.com/office/drawing/2014/main" id="{84F81F1F-BB73-4394-8385-B8D85EFFDAE1}"/>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3076" name="Picture 4" descr="PT100 - Sigma Electrónica">
            <a:extLst>
              <a:ext uri="{FF2B5EF4-FFF2-40B4-BE49-F238E27FC236}">
                <a16:creationId xmlns:a16="http://schemas.microsoft.com/office/drawing/2014/main" id="{E9D59220-104F-481E-B759-E5AB29DAA2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463" y="917663"/>
            <a:ext cx="1291804" cy="129180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RTD CON CABEZAL PT100 1/2&quot; NPT DIAM. 6mm LARGO 2.5&quot; (-200 a 600°C) |  AUTOMAQ CORPORATION S.A.C">
            <a:extLst>
              <a:ext uri="{FF2B5EF4-FFF2-40B4-BE49-F238E27FC236}">
                <a16:creationId xmlns:a16="http://schemas.microsoft.com/office/drawing/2014/main" id="{4D713098-92B8-48DA-85DC-8E968FC73F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6087" y="852973"/>
            <a:ext cx="1409296" cy="140929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T100 Temperature Sensor, 3 Wire, -40 to 450 deg C">
            <a:extLst>
              <a:ext uri="{FF2B5EF4-FFF2-40B4-BE49-F238E27FC236}">
                <a16:creationId xmlns:a16="http://schemas.microsoft.com/office/drawing/2014/main" id="{ADB63F6F-3BA9-4B32-8122-CE9C05FB93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4487" y="852973"/>
            <a:ext cx="1622546" cy="121534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4A181795-DB1E-49EC-AF07-3873402265AE}"/>
              </a:ext>
            </a:extLst>
          </p:cNvPr>
          <p:cNvSpPr/>
          <p:nvPr/>
        </p:nvSpPr>
        <p:spPr>
          <a:xfrm>
            <a:off x="261463" y="585445"/>
            <a:ext cx="3409908" cy="307777"/>
          </a:xfrm>
          <a:prstGeom prst="rect">
            <a:avLst/>
          </a:prstGeom>
        </p:spPr>
        <p:txBody>
          <a:bodyPr wrap="none">
            <a:spAutoFit/>
          </a:bodyPr>
          <a:lstStyle/>
          <a:p>
            <a:r>
              <a:rPr lang="es-ES" sz="1400" dirty="0">
                <a:solidFill>
                  <a:srgbClr val="2C5697"/>
                </a:solidFill>
                <a:latin typeface="Arial"/>
                <a:cs typeface="Arial"/>
                <a:sym typeface="Times New Roman"/>
              </a:rPr>
              <a:t>Presentaciones/aplicaciones industriales</a:t>
            </a:r>
            <a:endParaRPr lang="es-CO" sz="1400" dirty="0"/>
          </a:p>
        </p:txBody>
      </p:sp>
      <p:pic>
        <p:nvPicPr>
          <p:cNvPr id="11" name="Imagen 10">
            <a:extLst>
              <a:ext uri="{FF2B5EF4-FFF2-40B4-BE49-F238E27FC236}">
                <a16:creationId xmlns:a16="http://schemas.microsoft.com/office/drawing/2014/main" id="{9706CCAE-C4D3-4171-88BB-AEA8BF474836}"/>
              </a:ext>
            </a:extLst>
          </p:cNvPr>
          <p:cNvPicPr>
            <a:picLocks noChangeAspect="1"/>
          </p:cNvPicPr>
          <p:nvPr/>
        </p:nvPicPr>
        <p:blipFill>
          <a:blip r:embed="rId8"/>
          <a:stretch>
            <a:fillRect/>
          </a:stretch>
        </p:blipFill>
        <p:spPr>
          <a:xfrm>
            <a:off x="165833" y="2447721"/>
            <a:ext cx="3801087" cy="2020006"/>
          </a:xfrm>
          <a:prstGeom prst="rect">
            <a:avLst/>
          </a:prstGeom>
        </p:spPr>
      </p:pic>
      <p:pic>
        <p:nvPicPr>
          <p:cNvPr id="14" name="Imagen 13">
            <a:extLst>
              <a:ext uri="{FF2B5EF4-FFF2-40B4-BE49-F238E27FC236}">
                <a16:creationId xmlns:a16="http://schemas.microsoft.com/office/drawing/2014/main" id="{AAF105FB-F962-4452-A933-8FEBCE58A0E6}"/>
              </a:ext>
            </a:extLst>
          </p:cNvPr>
          <p:cNvPicPr>
            <a:picLocks noChangeAspect="1"/>
          </p:cNvPicPr>
          <p:nvPr/>
        </p:nvPicPr>
        <p:blipFill>
          <a:blip r:embed="rId9"/>
          <a:stretch>
            <a:fillRect/>
          </a:stretch>
        </p:blipFill>
        <p:spPr>
          <a:xfrm>
            <a:off x="4144486" y="3542795"/>
            <a:ext cx="4802279" cy="2300744"/>
          </a:xfrm>
          <a:prstGeom prst="rect">
            <a:avLst/>
          </a:prstGeom>
        </p:spPr>
      </p:pic>
    </p:spTree>
    <p:custDataLst>
      <p:tags r:id="rId1"/>
    </p:custDataLst>
    <p:extLst>
      <p:ext uri="{BB962C8B-B14F-4D97-AF65-F5344CB8AC3E}">
        <p14:creationId xmlns:p14="http://schemas.microsoft.com/office/powerpoint/2010/main" val="4118596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AAA57B9-FD9A-44C6-B632-E9B020DF99CC}"/>
              </a:ext>
            </a:extLst>
          </p:cNvPr>
          <p:cNvPicPr>
            <a:picLocks noChangeAspect="1"/>
          </p:cNvPicPr>
          <p:nvPr/>
        </p:nvPicPr>
        <p:blipFill>
          <a:blip r:embed="rId4"/>
          <a:stretch>
            <a:fillRect/>
          </a:stretch>
        </p:blipFill>
        <p:spPr>
          <a:xfrm>
            <a:off x="4015849" y="3429001"/>
            <a:ext cx="4959607" cy="2293710"/>
          </a:xfrm>
          <a:prstGeom prst="rect">
            <a:avLst/>
          </a:prstGeom>
        </p:spPr>
      </p:pic>
      <p:pic>
        <p:nvPicPr>
          <p:cNvPr id="2" name="Imagen 1">
            <a:extLst>
              <a:ext uri="{FF2B5EF4-FFF2-40B4-BE49-F238E27FC236}">
                <a16:creationId xmlns:a16="http://schemas.microsoft.com/office/drawing/2014/main" id="{D4B1B2DE-39E9-4B72-BC8F-DDBFFE759712}"/>
              </a:ext>
            </a:extLst>
          </p:cNvPr>
          <p:cNvPicPr>
            <a:picLocks noChangeAspect="1"/>
          </p:cNvPicPr>
          <p:nvPr/>
        </p:nvPicPr>
        <p:blipFill rotWithShape="1">
          <a:blip r:embed="rId5"/>
          <a:srcRect l="45843" t="27481" b="13678"/>
          <a:stretch/>
        </p:blipFill>
        <p:spPr>
          <a:xfrm>
            <a:off x="650222" y="4447870"/>
            <a:ext cx="2115244" cy="1244394"/>
          </a:xfrm>
          <a:prstGeom prst="rect">
            <a:avLst/>
          </a:prstGeom>
        </p:spPr>
      </p:pic>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Termistores</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
        <p:nvSpPr>
          <p:cNvPr id="7" name="TextBox 32">
            <a:extLst>
              <a:ext uri="{FF2B5EF4-FFF2-40B4-BE49-F238E27FC236}">
                <a16:creationId xmlns:a16="http://schemas.microsoft.com/office/drawing/2014/main" id="{3DE91445-B6C0-4679-A76C-0891E806B891}"/>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8" name="Picture 2" descr="Termistor NTC | Economía de Hoy">
            <a:extLst>
              <a:ext uri="{FF2B5EF4-FFF2-40B4-BE49-F238E27FC236}">
                <a16:creationId xmlns:a16="http://schemas.microsoft.com/office/drawing/2014/main" id="{0F094F4C-FF0B-494B-A8C8-67856F3A97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0255" y="2746447"/>
            <a:ext cx="1596386" cy="1533646"/>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CE031B33-78AC-4075-9C5A-34380B8BD95E}"/>
              </a:ext>
            </a:extLst>
          </p:cNvPr>
          <p:cNvSpPr/>
          <p:nvPr/>
        </p:nvSpPr>
        <p:spPr>
          <a:xfrm>
            <a:off x="74124" y="480037"/>
            <a:ext cx="9069876" cy="1815882"/>
          </a:xfrm>
          <a:prstGeom prst="rect">
            <a:avLst/>
          </a:prstGeom>
        </p:spPr>
        <p:txBody>
          <a:bodyPr wrap="square">
            <a:spAutoFit/>
          </a:bodyPr>
          <a:lstStyle/>
          <a:p>
            <a:r>
              <a:rPr lang="es-ES" sz="1400" dirty="0">
                <a:solidFill>
                  <a:srgbClr val="2C5697"/>
                </a:solidFill>
                <a:latin typeface="Arial"/>
                <a:cs typeface="Arial"/>
                <a:sym typeface="Times New Roman"/>
              </a:rPr>
              <a:t>Son dispositivos cuya resistencia se modifica con la temperatura, dicha variación se puede producir con coeficiente </a:t>
            </a:r>
            <a:r>
              <a:rPr lang="es-ES" sz="1400" dirty="0">
                <a:solidFill>
                  <a:srgbClr val="C00000"/>
                </a:solidFill>
                <a:latin typeface="Arial"/>
                <a:cs typeface="Arial"/>
                <a:sym typeface="Times New Roman"/>
              </a:rPr>
              <a:t>positivo</a:t>
            </a:r>
            <a:r>
              <a:rPr lang="es-ES" sz="1400" dirty="0">
                <a:solidFill>
                  <a:srgbClr val="2C5697"/>
                </a:solidFill>
                <a:latin typeface="Arial"/>
                <a:cs typeface="Arial"/>
                <a:sym typeface="Times New Roman"/>
              </a:rPr>
              <a:t> o </a:t>
            </a:r>
            <a:r>
              <a:rPr lang="es-ES" sz="1400" dirty="0">
                <a:solidFill>
                  <a:srgbClr val="C00000"/>
                </a:solidFill>
                <a:latin typeface="Arial"/>
                <a:cs typeface="Arial"/>
                <a:sym typeface="Times New Roman"/>
              </a:rPr>
              <a:t>negativo</a:t>
            </a:r>
            <a:r>
              <a:rPr lang="es-ES" sz="1400" dirty="0">
                <a:solidFill>
                  <a:srgbClr val="2C5697"/>
                </a:solidFill>
                <a:latin typeface="Arial"/>
                <a:cs typeface="Arial"/>
                <a:sym typeface="Times New Roman"/>
              </a:rPr>
              <a:t>.</a:t>
            </a:r>
          </a:p>
          <a:p>
            <a:endParaRPr lang="es-ES" sz="1400" dirty="0">
              <a:solidFill>
                <a:srgbClr val="2C5697"/>
              </a:solidFill>
              <a:latin typeface="Arial"/>
              <a:cs typeface="Arial"/>
              <a:sym typeface="Times New Roman"/>
            </a:endParaRPr>
          </a:p>
          <a:p>
            <a:r>
              <a:rPr lang="es-ES" sz="1400" dirty="0">
                <a:solidFill>
                  <a:srgbClr val="C00000"/>
                </a:solidFill>
                <a:latin typeface="Arial"/>
                <a:cs typeface="Arial"/>
                <a:sym typeface="Times New Roman"/>
              </a:rPr>
              <a:t>PTC</a:t>
            </a:r>
            <a:r>
              <a:rPr lang="es-ES" sz="1400" dirty="0">
                <a:solidFill>
                  <a:srgbClr val="2C5697"/>
                </a:solidFill>
                <a:latin typeface="Arial"/>
                <a:cs typeface="Arial"/>
                <a:sym typeface="Times New Roman"/>
              </a:rPr>
              <a:t> (</a:t>
            </a:r>
            <a:r>
              <a:rPr lang="es-ES" sz="1400" i="1" dirty="0">
                <a:solidFill>
                  <a:srgbClr val="2C5697"/>
                </a:solidFill>
                <a:latin typeface="Arial"/>
                <a:cs typeface="Arial"/>
                <a:sym typeface="Times New Roman"/>
              </a:rPr>
              <a:t>Positive </a:t>
            </a:r>
            <a:r>
              <a:rPr lang="es-ES" sz="1400" i="1" dirty="0" err="1">
                <a:solidFill>
                  <a:srgbClr val="2C5697"/>
                </a:solidFill>
                <a:latin typeface="Arial"/>
                <a:cs typeface="Arial"/>
                <a:sym typeface="Times New Roman"/>
              </a:rPr>
              <a:t>Temperature</a:t>
            </a:r>
            <a:r>
              <a:rPr lang="es-ES" sz="1400" i="1" dirty="0">
                <a:solidFill>
                  <a:srgbClr val="2C5697"/>
                </a:solidFill>
                <a:latin typeface="Arial"/>
                <a:cs typeface="Arial"/>
                <a:sym typeface="Times New Roman"/>
              </a:rPr>
              <a:t> </a:t>
            </a:r>
            <a:r>
              <a:rPr lang="es-ES" sz="1400" i="1" dirty="0" err="1">
                <a:solidFill>
                  <a:srgbClr val="2C5697"/>
                </a:solidFill>
                <a:latin typeface="Arial"/>
                <a:cs typeface="Arial"/>
                <a:sym typeface="Times New Roman"/>
              </a:rPr>
              <a:t>Coefficient</a:t>
            </a:r>
            <a:r>
              <a:rPr lang="es-ES" sz="1400">
                <a:solidFill>
                  <a:srgbClr val="2C5697"/>
                </a:solidFill>
                <a:latin typeface="Arial"/>
                <a:cs typeface="Arial"/>
                <a:sym typeface="Times New Roman"/>
              </a:rPr>
              <a:t>): Aumenta </a:t>
            </a:r>
            <a:r>
              <a:rPr lang="es-ES" sz="1400" dirty="0">
                <a:solidFill>
                  <a:srgbClr val="2C5697"/>
                </a:solidFill>
                <a:latin typeface="Arial"/>
                <a:cs typeface="Arial"/>
                <a:sym typeface="Times New Roman"/>
              </a:rPr>
              <a:t>su valor resistivo cuando sube la temperatura.</a:t>
            </a:r>
            <a:endParaRPr lang="es-CO" sz="1400" dirty="0"/>
          </a:p>
          <a:p>
            <a:endParaRPr lang="es-ES" sz="1400" dirty="0">
              <a:solidFill>
                <a:srgbClr val="C00000"/>
              </a:solidFill>
              <a:latin typeface="Arial"/>
              <a:cs typeface="Arial"/>
              <a:sym typeface="Times New Roman"/>
            </a:endParaRPr>
          </a:p>
          <a:p>
            <a:r>
              <a:rPr lang="es-ES" sz="1400" dirty="0">
                <a:solidFill>
                  <a:srgbClr val="C00000"/>
                </a:solidFill>
                <a:latin typeface="Arial"/>
                <a:cs typeface="Arial"/>
                <a:sym typeface="Times New Roman"/>
              </a:rPr>
              <a:t>NTC</a:t>
            </a:r>
            <a:r>
              <a:rPr lang="es-ES" sz="1400" dirty="0">
                <a:solidFill>
                  <a:srgbClr val="2C5697"/>
                </a:solidFill>
                <a:latin typeface="Arial"/>
                <a:cs typeface="Arial"/>
                <a:sym typeface="Times New Roman"/>
              </a:rPr>
              <a:t> (</a:t>
            </a:r>
            <a:r>
              <a:rPr lang="es-ES" sz="1400" i="1" dirty="0" err="1">
                <a:solidFill>
                  <a:srgbClr val="2C5697"/>
                </a:solidFill>
                <a:latin typeface="Arial"/>
                <a:cs typeface="Arial"/>
                <a:sym typeface="Times New Roman"/>
              </a:rPr>
              <a:t>Negative</a:t>
            </a:r>
            <a:r>
              <a:rPr lang="es-ES" sz="1400" i="1" dirty="0">
                <a:solidFill>
                  <a:srgbClr val="2C5697"/>
                </a:solidFill>
                <a:latin typeface="Arial"/>
                <a:cs typeface="Arial"/>
                <a:sym typeface="Times New Roman"/>
              </a:rPr>
              <a:t> </a:t>
            </a:r>
            <a:r>
              <a:rPr lang="es-ES" sz="1400" i="1" dirty="0" err="1">
                <a:solidFill>
                  <a:srgbClr val="2C5697"/>
                </a:solidFill>
                <a:latin typeface="Arial"/>
                <a:cs typeface="Arial"/>
                <a:sym typeface="Times New Roman"/>
              </a:rPr>
              <a:t>Temperature</a:t>
            </a:r>
            <a:r>
              <a:rPr lang="es-ES" sz="1400" i="1" dirty="0">
                <a:solidFill>
                  <a:srgbClr val="2C5697"/>
                </a:solidFill>
                <a:latin typeface="Arial"/>
                <a:cs typeface="Arial"/>
                <a:sym typeface="Times New Roman"/>
              </a:rPr>
              <a:t> </a:t>
            </a:r>
            <a:r>
              <a:rPr lang="es-ES" sz="1400" i="1" dirty="0" err="1">
                <a:solidFill>
                  <a:srgbClr val="2C5697"/>
                </a:solidFill>
                <a:latin typeface="Arial"/>
                <a:cs typeface="Arial"/>
                <a:sym typeface="Times New Roman"/>
              </a:rPr>
              <a:t>Coefficient</a:t>
            </a:r>
            <a:r>
              <a:rPr lang="es-ES" sz="1400" dirty="0">
                <a:solidFill>
                  <a:srgbClr val="2C5697"/>
                </a:solidFill>
                <a:latin typeface="Arial"/>
                <a:cs typeface="Arial"/>
                <a:sym typeface="Times New Roman"/>
              </a:rPr>
              <a:t>): Reduce su valor resistivo cuando sube la temperatura, suelen ser de óxidos de metales (cobalto, hierro, </a:t>
            </a:r>
            <a:r>
              <a:rPr lang="es-ES" sz="1400" dirty="0" err="1">
                <a:solidFill>
                  <a:srgbClr val="2C5697"/>
                </a:solidFill>
                <a:latin typeface="Arial"/>
                <a:cs typeface="Arial"/>
                <a:sym typeface="Times New Roman"/>
              </a:rPr>
              <a:t>niquel</a:t>
            </a:r>
            <a:r>
              <a:rPr lang="es-ES" sz="1400" dirty="0">
                <a:solidFill>
                  <a:srgbClr val="2C5697"/>
                </a:solidFill>
                <a:latin typeface="Arial"/>
                <a:cs typeface="Arial"/>
                <a:sym typeface="Times New Roman"/>
              </a:rPr>
              <a:t>, etc.). Son de elevada sensibilidad, pero menos precisas que las RTD y no lineales. La caracterización de su comportamiento fue realizada por </a:t>
            </a:r>
            <a:r>
              <a:rPr lang="es-ES" sz="1400" dirty="0" err="1">
                <a:solidFill>
                  <a:srgbClr val="2C5697"/>
                </a:solidFill>
                <a:latin typeface="Arial"/>
                <a:cs typeface="Arial"/>
                <a:sym typeface="Times New Roman"/>
              </a:rPr>
              <a:t>Jhon</a:t>
            </a:r>
            <a:r>
              <a:rPr lang="es-ES" sz="1400" dirty="0">
                <a:solidFill>
                  <a:srgbClr val="2C5697"/>
                </a:solidFill>
                <a:latin typeface="Arial"/>
                <a:cs typeface="Arial"/>
                <a:sym typeface="Times New Roman"/>
              </a:rPr>
              <a:t> S. </a:t>
            </a:r>
            <a:r>
              <a:rPr lang="es-ES" sz="1400" dirty="0" err="1">
                <a:solidFill>
                  <a:srgbClr val="2C5697"/>
                </a:solidFill>
                <a:latin typeface="Arial"/>
                <a:cs typeface="Arial"/>
                <a:sym typeface="Times New Roman"/>
              </a:rPr>
              <a:t>Steinhart</a:t>
            </a:r>
            <a:r>
              <a:rPr lang="es-ES" sz="1400" dirty="0">
                <a:solidFill>
                  <a:srgbClr val="2C5697"/>
                </a:solidFill>
                <a:latin typeface="Arial"/>
                <a:cs typeface="Arial"/>
                <a:sym typeface="Times New Roman"/>
              </a:rPr>
              <a:t> y Stanley Hart (1968).</a:t>
            </a:r>
          </a:p>
        </p:txBody>
      </p:sp>
      <p:pic>
        <p:nvPicPr>
          <p:cNvPr id="5" name="Imagen 4">
            <a:extLst>
              <a:ext uri="{FF2B5EF4-FFF2-40B4-BE49-F238E27FC236}">
                <a16:creationId xmlns:a16="http://schemas.microsoft.com/office/drawing/2014/main" id="{7F467D7E-6C88-455E-9903-30DF97312E6B}"/>
              </a:ext>
            </a:extLst>
          </p:cNvPr>
          <p:cNvPicPr>
            <a:picLocks noChangeAspect="1"/>
          </p:cNvPicPr>
          <p:nvPr/>
        </p:nvPicPr>
        <p:blipFill>
          <a:blip r:embed="rId7"/>
          <a:stretch>
            <a:fillRect/>
          </a:stretch>
        </p:blipFill>
        <p:spPr>
          <a:xfrm>
            <a:off x="3393226" y="2433996"/>
            <a:ext cx="2186256" cy="690397"/>
          </a:xfrm>
          <a:prstGeom prst="rect">
            <a:avLst/>
          </a:prstGeom>
        </p:spPr>
      </p:pic>
      <p:sp>
        <p:nvSpPr>
          <p:cNvPr id="6" name="Rectángulo 5">
            <a:extLst>
              <a:ext uri="{FF2B5EF4-FFF2-40B4-BE49-F238E27FC236}">
                <a16:creationId xmlns:a16="http://schemas.microsoft.com/office/drawing/2014/main" id="{69B29F06-AB65-4223-AF86-A680456BD749}"/>
              </a:ext>
            </a:extLst>
          </p:cNvPr>
          <p:cNvSpPr/>
          <p:nvPr/>
        </p:nvSpPr>
        <p:spPr>
          <a:xfrm>
            <a:off x="5840385" y="2521637"/>
            <a:ext cx="2959465" cy="461665"/>
          </a:xfrm>
          <a:prstGeom prst="rect">
            <a:avLst/>
          </a:prstGeom>
        </p:spPr>
        <p:txBody>
          <a:bodyPr wrap="none">
            <a:spAutoFit/>
          </a:bodyPr>
          <a:lstStyle/>
          <a:p>
            <a:r>
              <a:rPr lang="es-ES" sz="1200" i="1" dirty="0">
                <a:latin typeface="Arial"/>
                <a:cs typeface="Arial"/>
                <a:sym typeface="Times New Roman"/>
              </a:rPr>
              <a:t>R</a:t>
            </a:r>
            <a:r>
              <a:rPr lang="es-ES" sz="1200" i="1" baseline="-25000" dirty="0">
                <a:latin typeface="Arial"/>
                <a:cs typeface="Arial"/>
                <a:sym typeface="Times New Roman"/>
              </a:rPr>
              <a:t>0</a:t>
            </a:r>
            <a:r>
              <a:rPr lang="es-ES" sz="1200" dirty="0">
                <a:latin typeface="Arial"/>
                <a:cs typeface="Arial"/>
                <a:sym typeface="Times New Roman"/>
              </a:rPr>
              <a:t> valor de la NTC a </a:t>
            </a:r>
            <a:r>
              <a:rPr lang="es-ES" sz="1200" i="1" dirty="0">
                <a:latin typeface="Arial"/>
                <a:cs typeface="Arial"/>
                <a:sym typeface="Times New Roman"/>
              </a:rPr>
              <a:t>T</a:t>
            </a:r>
            <a:r>
              <a:rPr lang="es-ES" sz="1200" i="1" baseline="-25000" dirty="0">
                <a:latin typeface="Arial"/>
                <a:cs typeface="Arial"/>
                <a:sym typeface="Times New Roman"/>
              </a:rPr>
              <a:t>0 </a:t>
            </a:r>
            <a:r>
              <a:rPr lang="es-ES" sz="1200" dirty="0">
                <a:latin typeface="Arial"/>
                <a:cs typeface="Arial"/>
                <a:sym typeface="Times New Roman"/>
              </a:rPr>
              <a:t>= 298K (25°C)</a:t>
            </a:r>
          </a:p>
          <a:p>
            <a:r>
              <a:rPr lang="es-ES" sz="1200" i="1" dirty="0">
                <a:latin typeface="Arial"/>
                <a:cs typeface="Arial"/>
                <a:sym typeface="Times New Roman"/>
              </a:rPr>
              <a:t>B</a:t>
            </a:r>
            <a:r>
              <a:rPr lang="es-ES" sz="1200" dirty="0">
                <a:latin typeface="Arial"/>
                <a:cs typeface="Arial"/>
                <a:sym typeface="Times New Roman"/>
              </a:rPr>
              <a:t> valor resistivo característico de la NTC</a:t>
            </a:r>
            <a:endParaRPr lang="es-CO" sz="1200" dirty="0"/>
          </a:p>
        </p:txBody>
      </p:sp>
      <p:sp>
        <p:nvSpPr>
          <p:cNvPr id="13" name="Rectángulo 12">
            <a:extLst>
              <a:ext uri="{FF2B5EF4-FFF2-40B4-BE49-F238E27FC236}">
                <a16:creationId xmlns:a16="http://schemas.microsoft.com/office/drawing/2014/main" id="{420A14CB-4076-1BD6-06A6-7B292CB48BCC}"/>
              </a:ext>
            </a:extLst>
          </p:cNvPr>
          <p:cNvSpPr/>
          <p:nvPr/>
        </p:nvSpPr>
        <p:spPr>
          <a:xfrm>
            <a:off x="4957408" y="3319272"/>
            <a:ext cx="3034448" cy="189280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pic>
        <p:nvPicPr>
          <p:cNvPr id="11" name="Imagen 10">
            <a:extLst>
              <a:ext uri="{FF2B5EF4-FFF2-40B4-BE49-F238E27FC236}">
                <a16:creationId xmlns:a16="http://schemas.microsoft.com/office/drawing/2014/main" id="{6D322CF0-0C90-B375-D095-96863CBAF019}"/>
              </a:ext>
            </a:extLst>
          </p:cNvPr>
          <p:cNvPicPr>
            <a:picLocks noChangeAspect="1"/>
          </p:cNvPicPr>
          <p:nvPr/>
        </p:nvPicPr>
        <p:blipFill>
          <a:blip r:embed="rId8"/>
          <a:stretch>
            <a:fillRect/>
          </a:stretch>
        </p:blipFill>
        <p:spPr>
          <a:xfrm>
            <a:off x="5708701" y="3074762"/>
            <a:ext cx="1509923" cy="2172003"/>
          </a:xfrm>
          <a:prstGeom prst="rect">
            <a:avLst/>
          </a:prstGeom>
        </p:spPr>
      </p:pic>
    </p:spTree>
    <p:custDataLst>
      <p:tags r:id="rId1"/>
    </p:custDataLst>
    <p:extLst>
      <p:ext uri="{BB962C8B-B14F-4D97-AF65-F5344CB8AC3E}">
        <p14:creationId xmlns:p14="http://schemas.microsoft.com/office/powerpoint/2010/main" val="2323797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Sensores generadores de señal | Termopares</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
        <p:nvSpPr>
          <p:cNvPr id="7" name="TextBox 32">
            <a:extLst>
              <a:ext uri="{FF2B5EF4-FFF2-40B4-BE49-F238E27FC236}">
                <a16:creationId xmlns:a16="http://schemas.microsoft.com/office/drawing/2014/main" id="{A0E7D1E0-B6AA-4EC6-BAAB-FC15CB2AC458}"/>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2" name="Imagen 1">
            <a:extLst>
              <a:ext uri="{FF2B5EF4-FFF2-40B4-BE49-F238E27FC236}">
                <a16:creationId xmlns:a16="http://schemas.microsoft.com/office/drawing/2014/main" id="{1289821F-FC41-4B78-955A-8CE579CC6818}"/>
              </a:ext>
            </a:extLst>
          </p:cNvPr>
          <p:cNvPicPr>
            <a:picLocks noChangeAspect="1"/>
          </p:cNvPicPr>
          <p:nvPr/>
        </p:nvPicPr>
        <p:blipFill>
          <a:blip r:embed="rId4"/>
          <a:stretch>
            <a:fillRect/>
          </a:stretch>
        </p:blipFill>
        <p:spPr>
          <a:xfrm>
            <a:off x="1582947" y="1586698"/>
            <a:ext cx="5978105" cy="3291082"/>
          </a:xfrm>
          <a:prstGeom prst="rect">
            <a:avLst/>
          </a:prstGeom>
        </p:spPr>
      </p:pic>
      <p:sp>
        <p:nvSpPr>
          <p:cNvPr id="4" name="Rectángulo 3">
            <a:extLst>
              <a:ext uri="{FF2B5EF4-FFF2-40B4-BE49-F238E27FC236}">
                <a16:creationId xmlns:a16="http://schemas.microsoft.com/office/drawing/2014/main" id="{DD911399-6304-4FC1-BFD6-628E5DD9EEF9}"/>
              </a:ext>
            </a:extLst>
          </p:cNvPr>
          <p:cNvSpPr/>
          <p:nvPr/>
        </p:nvSpPr>
        <p:spPr>
          <a:xfrm>
            <a:off x="143080" y="613946"/>
            <a:ext cx="8950602" cy="523220"/>
          </a:xfrm>
          <a:prstGeom prst="rect">
            <a:avLst/>
          </a:prstGeom>
        </p:spPr>
        <p:txBody>
          <a:bodyPr wrap="square">
            <a:spAutoFit/>
          </a:bodyPr>
          <a:lstStyle/>
          <a:p>
            <a:r>
              <a:rPr lang="es-ES" sz="1400" dirty="0">
                <a:solidFill>
                  <a:srgbClr val="2C5697"/>
                </a:solidFill>
                <a:latin typeface="Arial"/>
                <a:cs typeface="Arial"/>
                <a:sym typeface="Times New Roman"/>
              </a:rPr>
              <a:t>En los </a:t>
            </a:r>
            <a:r>
              <a:rPr lang="es-ES" sz="1400" dirty="0">
                <a:solidFill>
                  <a:srgbClr val="C00000"/>
                </a:solidFill>
                <a:latin typeface="Arial"/>
                <a:cs typeface="Arial"/>
                <a:sym typeface="Times New Roman"/>
              </a:rPr>
              <a:t>sensores generadores </a:t>
            </a:r>
            <a:r>
              <a:rPr lang="es-ES" sz="1400" dirty="0">
                <a:solidFill>
                  <a:srgbClr val="2C5697"/>
                </a:solidFill>
                <a:latin typeface="Arial"/>
                <a:cs typeface="Arial"/>
                <a:sym typeface="Times New Roman"/>
              </a:rPr>
              <a:t>de señal toda la energía que entregan a la salida se extrae de la variable a medir. Producen niveles bajos de señal pero puede amplificarse.</a:t>
            </a:r>
            <a:endParaRPr lang="es-CO" dirty="0"/>
          </a:p>
        </p:txBody>
      </p:sp>
    </p:spTree>
    <p:custDataLst>
      <p:tags r:id="rId1"/>
    </p:custDataLst>
    <p:extLst>
      <p:ext uri="{BB962C8B-B14F-4D97-AF65-F5344CB8AC3E}">
        <p14:creationId xmlns:p14="http://schemas.microsoft.com/office/powerpoint/2010/main" val="47053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02695B4-2A06-4072-AD7C-6BAC598FA808}"/>
              </a:ext>
            </a:extLst>
          </p:cNvPr>
          <p:cNvPicPr>
            <a:picLocks noChangeAspect="1"/>
          </p:cNvPicPr>
          <p:nvPr/>
        </p:nvPicPr>
        <p:blipFill>
          <a:blip r:embed="rId4"/>
          <a:stretch>
            <a:fillRect/>
          </a:stretch>
        </p:blipFill>
        <p:spPr>
          <a:xfrm>
            <a:off x="3607767" y="805271"/>
            <a:ext cx="5355937" cy="2063583"/>
          </a:xfrm>
          <a:prstGeom prst="rect">
            <a:avLst/>
          </a:prstGeom>
        </p:spPr>
      </p:pic>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Sensores generadores de señal | Termopares</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72945" y="5885920"/>
            <a:ext cx="420737" cy="307777"/>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sp>
        <p:nvSpPr>
          <p:cNvPr id="7" name="TextBox 32">
            <a:extLst>
              <a:ext uri="{FF2B5EF4-FFF2-40B4-BE49-F238E27FC236}">
                <a16:creationId xmlns:a16="http://schemas.microsoft.com/office/drawing/2014/main" id="{A0E7D1E0-B6AA-4EC6-BAAB-FC15CB2AC458}"/>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4" name="Rectángulo 3">
            <a:extLst>
              <a:ext uri="{FF2B5EF4-FFF2-40B4-BE49-F238E27FC236}">
                <a16:creationId xmlns:a16="http://schemas.microsoft.com/office/drawing/2014/main" id="{DD911399-6304-4FC1-BFD6-628E5DD9EEF9}"/>
              </a:ext>
            </a:extLst>
          </p:cNvPr>
          <p:cNvSpPr/>
          <p:nvPr/>
        </p:nvSpPr>
        <p:spPr>
          <a:xfrm>
            <a:off x="32044" y="468726"/>
            <a:ext cx="9111956" cy="307777"/>
          </a:xfrm>
          <a:prstGeom prst="rect">
            <a:avLst/>
          </a:prstGeom>
        </p:spPr>
        <p:txBody>
          <a:bodyPr wrap="square">
            <a:spAutoFit/>
          </a:bodyPr>
          <a:lstStyle/>
          <a:p>
            <a:r>
              <a:rPr lang="es-ES" sz="1400" dirty="0">
                <a:solidFill>
                  <a:srgbClr val="2C5697"/>
                </a:solidFill>
                <a:latin typeface="Arial"/>
                <a:cs typeface="Arial"/>
                <a:sym typeface="Times New Roman"/>
              </a:rPr>
              <a:t>El </a:t>
            </a:r>
            <a:r>
              <a:rPr lang="es-ES" sz="1400" dirty="0">
                <a:solidFill>
                  <a:srgbClr val="C00000"/>
                </a:solidFill>
                <a:latin typeface="Arial"/>
                <a:cs typeface="Arial"/>
                <a:sym typeface="Times New Roman"/>
              </a:rPr>
              <a:t>termopar</a:t>
            </a:r>
            <a:r>
              <a:rPr lang="es-ES" sz="1400" dirty="0">
                <a:solidFill>
                  <a:srgbClr val="2C5697"/>
                </a:solidFill>
                <a:latin typeface="Arial"/>
                <a:cs typeface="Arial"/>
                <a:sym typeface="Times New Roman"/>
              </a:rPr>
              <a:t> (</a:t>
            </a:r>
            <a:r>
              <a:rPr lang="es-ES" sz="1400" i="1" dirty="0" err="1">
                <a:solidFill>
                  <a:srgbClr val="2C5697"/>
                </a:solidFill>
                <a:latin typeface="Arial"/>
                <a:cs typeface="Arial"/>
                <a:sym typeface="Times New Roman"/>
              </a:rPr>
              <a:t>termocouple</a:t>
            </a:r>
            <a:r>
              <a:rPr lang="es-ES" sz="1400" dirty="0">
                <a:solidFill>
                  <a:srgbClr val="2C5697"/>
                </a:solidFill>
                <a:latin typeface="Arial"/>
                <a:cs typeface="Arial"/>
                <a:sym typeface="Times New Roman"/>
              </a:rPr>
              <a:t>) es un sensor de temperatura basado en </a:t>
            </a:r>
            <a:r>
              <a:rPr lang="es-ES" sz="1400" dirty="0">
                <a:solidFill>
                  <a:srgbClr val="C00000"/>
                </a:solidFill>
                <a:latin typeface="Arial"/>
                <a:cs typeface="Arial"/>
                <a:sym typeface="Times New Roman"/>
              </a:rPr>
              <a:t>efecto Seebeck</a:t>
            </a:r>
            <a:r>
              <a:rPr lang="es-ES" sz="1400" dirty="0">
                <a:solidFill>
                  <a:srgbClr val="2C5697"/>
                </a:solidFill>
                <a:latin typeface="Arial"/>
                <a:cs typeface="Arial"/>
                <a:sym typeface="Times New Roman"/>
              </a:rPr>
              <a:t>, </a:t>
            </a:r>
            <a:r>
              <a:rPr lang="es-ES" sz="1400" dirty="0">
                <a:solidFill>
                  <a:srgbClr val="C00000"/>
                </a:solidFill>
                <a:latin typeface="Arial"/>
                <a:cs typeface="Arial"/>
                <a:sym typeface="Times New Roman"/>
              </a:rPr>
              <a:t>efecto </a:t>
            </a:r>
            <a:r>
              <a:rPr lang="es-ES" sz="1400" dirty="0" err="1">
                <a:solidFill>
                  <a:srgbClr val="C00000"/>
                </a:solidFill>
                <a:latin typeface="Arial"/>
                <a:cs typeface="Arial"/>
                <a:sym typeface="Times New Roman"/>
              </a:rPr>
              <a:t>Peltier</a:t>
            </a:r>
            <a:r>
              <a:rPr lang="es-ES" sz="1400" dirty="0">
                <a:solidFill>
                  <a:srgbClr val="2C5697"/>
                </a:solidFill>
                <a:latin typeface="Arial"/>
                <a:cs typeface="Arial"/>
                <a:sym typeface="Times New Roman"/>
              </a:rPr>
              <a:t> y el </a:t>
            </a:r>
            <a:r>
              <a:rPr lang="es-ES" sz="1400" dirty="0">
                <a:solidFill>
                  <a:srgbClr val="C00000"/>
                </a:solidFill>
                <a:latin typeface="Arial"/>
                <a:cs typeface="Arial"/>
                <a:sym typeface="Times New Roman"/>
              </a:rPr>
              <a:t>Thomson</a:t>
            </a:r>
            <a:r>
              <a:rPr lang="es-ES" sz="1400" dirty="0">
                <a:solidFill>
                  <a:srgbClr val="2C5697"/>
                </a:solidFill>
                <a:latin typeface="Arial"/>
                <a:cs typeface="Arial"/>
                <a:sym typeface="Times New Roman"/>
              </a:rPr>
              <a:t>.</a:t>
            </a:r>
          </a:p>
        </p:txBody>
      </p:sp>
      <p:sp>
        <p:nvSpPr>
          <p:cNvPr id="6" name="Rectángulo 5">
            <a:extLst>
              <a:ext uri="{FF2B5EF4-FFF2-40B4-BE49-F238E27FC236}">
                <a16:creationId xmlns:a16="http://schemas.microsoft.com/office/drawing/2014/main" id="{249DCCAA-533E-47BF-BAFE-2F75AD1DDE5F}"/>
              </a:ext>
            </a:extLst>
          </p:cNvPr>
          <p:cNvSpPr/>
          <p:nvPr/>
        </p:nvSpPr>
        <p:spPr>
          <a:xfrm>
            <a:off x="96699" y="3398778"/>
            <a:ext cx="3511068" cy="954107"/>
          </a:xfrm>
          <a:prstGeom prst="rect">
            <a:avLst/>
          </a:prstGeom>
        </p:spPr>
        <p:txBody>
          <a:bodyPr wrap="square">
            <a:spAutoFit/>
          </a:bodyPr>
          <a:lstStyle/>
          <a:p>
            <a:r>
              <a:rPr lang="es-ES" sz="1400" dirty="0">
                <a:solidFill>
                  <a:srgbClr val="2C5697"/>
                </a:solidFill>
                <a:latin typeface="Arial"/>
                <a:cs typeface="Arial"/>
                <a:sym typeface="Times New Roman"/>
              </a:rPr>
              <a:t>El </a:t>
            </a:r>
            <a:r>
              <a:rPr lang="es-ES" sz="1400" dirty="0">
                <a:solidFill>
                  <a:srgbClr val="C00000"/>
                </a:solidFill>
                <a:latin typeface="Arial"/>
                <a:cs typeface="Arial"/>
                <a:sym typeface="Times New Roman"/>
              </a:rPr>
              <a:t>efecto </a:t>
            </a:r>
            <a:r>
              <a:rPr lang="es-ES" sz="1400" dirty="0" err="1">
                <a:solidFill>
                  <a:srgbClr val="C00000"/>
                </a:solidFill>
                <a:latin typeface="Arial"/>
                <a:cs typeface="Arial"/>
                <a:sym typeface="Times New Roman"/>
              </a:rPr>
              <a:t>Peltier</a:t>
            </a:r>
            <a:r>
              <a:rPr lang="es-ES" sz="1400" dirty="0">
                <a:solidFill>
                  <a:srgbClr val="C00000"/>
                </a:solidFill>
                <a:latin typeface="Arial"/>
                <a:cs typeface="Arial"/>
                <a:sym typeface="Times New Roman"/>
              </a:rPr>
              <a:t>: </a:t>
            </a:r>
            <a:r>
              <a:rPr lang="es-ES" sz="1400" dirty="0">
                <a:solidFill>
                  <a:srgbClr val="2C5697"/>
                </a:solidFill>
                <a:latin typeface="Arial"/>
                <a:cs typeface="Arial"/>
                <a:sym typeface="Times New Roman"/>
              </a:rPr>
              <a:t>si unimos dos metales por sus extremos, y hacemos circular una corriente, se produce liberación de calor en un extremo y absorción en la otro.</a:t>
            </a:r>
            <a:endParaRPr lang="es-CO" sz="1400" dirty="0"/>
          </a:p>
        </p:txBody>
      </p:sp>
      <p:pic>
        <p:nvPicPr>
          <p:cNvPr id="8" name="Imagen 7">
            <a:extLst>
              <a:ext uri="{FF2B5EF4-FFF2-40B4-BE49-F238E27FC236}">
                <a16:creationId xmlns:a16="http://schemas.microsoft.com/office/drawing/2014/main" id="{A00D614C-B2D5-4D98-A343-99335682CED4}"/>
              </a:ext>
            </a:extLst>
          </p:cNvPr>
          <p:cNvPicPr>
            <a:picLocks noChangeAspect="1"/>
          </p:cNvPicPr>
          <p:nvPr/>
        </p:nvPicPr>
        <p:blipFill>
          <a:blip r:embed="rId5"/>
          <a:stretch>
            <a:fillRect/>
          </a:stretch>
        </p:blipFill>
        <p:spPr>
          <a:xfrm>
            <a:off x="3607767" y="3500950"/>
            <a:ext cx="5355937" cy="2001503"/>
          </a:xfrm>
          <a:prstGeom prst="rect">
            <a:avLst/>
          </a:prstGeom>
        </p:spPr>
      </p:pic>
      <p:sp>
        <p:nvSpPr>
          <p:cNvPr id="9" name="Rectángulo 8">
            <a:extLst>
              <a:ext uri="{FF2B5EF4-FFF2-40B4-BE49-F238E27FC236}">
                <a16:creationId xmlns:a16="http://schemas.microsoft.com/office/drawing/2014/main" id="{7D874493-5E6B-474C-8971-5889D84CA845}"/>
              </a:ext>
            </a:extLst>
          </p:cNvPr>
          <p:cNvSpPr/>
          <p:nvPr/>
        </p:nvSpPr>
        <p:spPr>
          <a:xfrm>
            <a:off x="4421959" y="3244334"/>
            <a:ext cx="300082" cy="369332"/>
          </a:xfrm>
          <a:prstGeom prst="rect">
            <a:avLst/>
          </a:prstGeom>
        </p:spPr>
        <p:txBody>
          <a:bodyPr wrap="none">
            <a:spAutoFit/>
          </a:bodyPr>
          <a:lstStyle/>
          <a:p>
            <a:r>
              <a:rPr lang="es-ES" dirty="0">
                <a:solidFill>
                  <a:srgbClr val="2C5697"/>
                </a:solidFill>
                <a:latin typeface="Arial"/>
                <a:cs typeface="Arial"/>
                <a:sym typeface="Times New Roman"/>
              </a:rPr>
              <a:t>y</a:t>
            </a:r>
            <a:endParaRPr lang="es-CO" dirty="0"/>
          </a:p>
        </p:txBody>
      </p:sp>
      <p:sp>
        <p:nvSpPr>
          <p:cNvPr id="10" name="Rectángulo 9">
            <a:extLst>
              <a:ext uri="{FF2B5EF4-FFF2-40B4-BE49-F238E27FC236}">
                <a16:creationId xmlns:a16="http://schemas.microsoft.com/office/drawing/2014/main" id="{6DD276CB-3D85-4EAA-9361-607DA87F54B7}"/>
              </a:ext>
            </a:extLst>
          </p:cNvPr>
          <p:cNvSpPr/>
          <p:nvPr/>
        </p:nvSpPr>
        <p:spPr>
          <a:xfrm>
            <a:off x="96699" y="1241942"/>
            <a:ext cx="3511068" cy="1384995"/>
          </a:xfrm>
          <a:prstGeom prst="rect">
            <a:avLst/>
          </a:prstGeom>
        </p:spPr>
        <p:txBody>
          <a:bodyPr wrap="square">
            <a:spAutoFit/>
          </a:bodyPr>
          <a:lstStyle/>
          <a:p>
            <a:r>
              <a:rPr lang="es-ES" sz="1400" dirty="0">
                <a:solidFill>
                  <a:srgbClr val="2C5697"/>
                </a:solidFill>
                <a:latin typeface="Arial"/>
                <a:cs typeface="Arial"/>
                <a:sym typeface="Times New Roman"/>
              </a:rPr>
              <a:t>El </a:t>
            </a:r>
            <a:r>
              <a:rPr lang="es-ES" sz="1400" dirty="0">
                <a:solidFill>
                  <a:srgbClr val="C00000"/>
                </a:solidFill>
                <a:latin typeface="Arial"/>
                <a:cs typeface="Arial"/>
                <a:sym typeface="Times New Roman"/>
              </a:rPr>
              <a:t>efecto Seebeck:  </a:t>
            </a:r>
            <a:r>
              <a:rPr lang="es-ES" sz="1400" dirty="0">
                <a:solidFill>
                  <a:srgbClr val="2C5697"/>
                </a:solidFill>
                <a:latin typeface="Arial"/>
                <a:cs typeface="Arial"/>
                <a:sym typeface="Times New Roman"/>
              </a:rPr>
              <a:t>si dos metales diferentes están unidos por sus extremos, y estos extremos se someten a diferentes temperaturas, circulará una corriente que será proporcional a la diferencia de temperatura.</a:t>
            </a:r>
            <a:endParaRPr lang="es-CO" sz="1400" dirty="0"/>
          </a:p>
        </p:txBody>
      </p:sp>
      <p:pic>
        <p:nvPicPr>
          <p:cNvPr id="1026" name="Picture 2" descr="Que es la célula Peltier y cómo funciona">
            <a:extLst>
              <a:ext uri="{FF2B5EF4-FFF2-40B4-BE49-F238E27FC236}">
                <a16:creationId xmlns:a16="http://schemas.microsoft.com/office/drawing/2014/main" id="{7E1479A4-BC41-4BC6-92A4-31712EB5490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8672" y="4478949"/>
            <a:ext cx="1071562" cy="107156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499423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Sensores generadores de señal | Termopares</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2182" y="5885920"/>
            <a:ext cx="41150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
        <p:nvSpPr>
          <p:cNvPr id="7" name="TextBox 32">
            <a:extLst>
              <a:ext uri="{FF2B5EF4-FFF2-40B4-BE49-F238E27FC236}">
                <a16:creationId xmlns:a16="http://schemas.microsoft.com/office/drawing/2014/main" id="{A0E7D1E0-B6AA-4EC6-BAAB-FC15CB2AC458}"/>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10" name="Rectángulo 9">
            <a:extLst>
              <a:ext uri="{FF2B5EF4-FFF2-40B4-BE49-F238E27FC236}">
                <a16:creationId xmlns:a16="http://schemas.microsoft.com/office/drawing/2014/main" id="{6DD276CB-3D85-4EAA-9361-607DA87F54B7}"/>
              </a:ext>
            </a:extLst>
          </p:cNvPr>
          <p:cNvSpPr/>
          <p:nvPr/>
        </p:nvSpPr>
        <p:spPr>
          <a:xfrm>
            <a:off x="96699" y="487162"/>
            <a:ext cx="9121192" cy="523220"/>
          </a:xfrm>
          <a:prstGeom prst="rect">
            <a:avLst/>
          </a:prstGeom>
        </p:spPr>
        <p:txBody>
          <a:bodyPr wrap="square">
            <a:spAutoFit/>
          </a:bodyPr>
          <a:lstStyle/>
          <a:p>
            <a:r>
              <a:rPr lang="es-ES" sz="1400" dirty="0">
                <a:solidFill>
                  <a:srgbClr val="2C5697"/>
                </a:solidFill>
                <a:latin typeface="Arial"/>
                <a:cs typeface="Arial"/>
                <a:sym typeface="Times New Roman"/>
              </a:rPr>
              <a:t>El </a:t>
            </a:r>
            <a:r>
              <a:rPr lang="es-ES" sz="1400" dirty="0">
                <a:solidFill>
                  <a:srgbClr val="C00000"/>
                </a:solidFill>
                <a:latin typeface="Arial"/>
                <a:cs typeface="Arial"/>
                <a:sym typeface="Times New Roman"/>
              </a:rPr>
              <a:t>efecto Thomson:  </a:t>
            </a:r>
            <a:r>
              <a:rPr lang="es-ES" sz="1400" dirty="0">
                <a:solidFill>
                  <a:srgbClr val="2C5697"/>
                </a:solidFill>
                <a:latin typeface="Arial"/>
                <a:cs typeface="Arial"/>
                <a:sym typeface="Times New Roman"/>
              </a:rPr>
              <a:t>explica el enfriamiento o calentamiento de un conductor sometido a temperaturas diferentes en sus extremos, por el que circula una corriente eléctrica.</a:t>
            </a:r>
            <a:endParaRPr lang="es-CO" sz="1400" dirty="0"/>
          </a:p>
        </p:txBody>
      </p:sp>
      <p:pic>
        <p:nvPicPr>
          <p:cNvPr id="2" name="Imagen 1">
            <a:extLst>
              <a:ext uri="{FF2B5EF4-FFF2-40B4-BE49-F238E27FC236}">
                <a16:creationId xmlns:a16="http://schemas.microsoft.com/office/drawing/2014/main" id="{DEB0FC77-C27C-44F1-905D-18222D61E792}"/>
              </a:ext>
            </a:extLst>
          </p:cNvPr>
          <p:cNvPicPr>
            <a:picLocks noChangeAspect="1"/>
          </p:cNvPicPr>
          <p:nvPr/>
        </p:nvPicPr>
        <p:blipFill>
          <a:blip r:embed="rId4"/>
          <a:stretch>
            <a:fillRect/>
          </a:stretch>
        </p:blipFill>
        <p:spPr>
          <a:xfrm>
            <a:off x="368046" y="1140947"/>
            <a:ext cx="4944456" cy="2456195"/>
          </a:xfrm>
          <a:prstGeom prst="rect">
            <a:avLst/>
          </a:prstGeom>
        </p:spPr>
      </p:pic>
      <p:pic>
        <p:nvPicPr>
          <p:cNvPr id="11" name="Imagen 10">
            <a:extLst>
              <a:ext uri="{FF2B5EF4-FFF2-40B4-BE49-F238E27FC236}">
                <a16:creationId xmlns:a16="http://schemas.microsoft.com/office/drawing/2014/main" id="{4412C72B-B768-4050-8C36-89D0BE492274}"/>
              </a:ext>
            </a:extLst>
          </p:cNvPr>
          <p:cNvPicPr>
            <a:picLocks noChangeAspect="1"/>
          </p:cNvPicPr>
          <p:nvPr/>
        </p:nvPicPr>
        <p:blipFill>
          <a:blip r:embed="rId5"/>
          <a:stretch>
            <a:fillRect/>
          </a:stretch>
        </p:blipFill>
        <p:spPr>
          <a:xfrm>
            <a:off x="7295132" y="1447674"/>
            <a:ext cx="1438476" cy="1409897"/>
          </a:xfrm>
          <a:prstGeom prst="rect">
            <a:avLst/>
          </a:prstGeom>
        </p:spPr>
      </p:pic>
      <p:pic>
        <p:nvPicPr>
          <p:cNvPr id="13" name="Imagen 12">
            <a:extLst>
              <a:ext uri="{FF2B5EF4-FFF2-40B4-BE49-F238E27FC236}">
                <a16:creationId xmlns:a16="http://schemas.microsoft.com/office/drawing/2014/main" id="{46E02FA5-127A-4B87-8DDB-11DF77C6DA48}"/>
              </a:ext>
            </a:extLst>
          </p:cNvPr>
          <p:cNvPicPr>
            <a:picLocks noChangeAspect="1"/>
          </p:cNvPicPr>
          <p:nvPr/>
        </p:nvPicPr>
        <p:blipFill>
          <a:blip r:embed="rId6"/>
          <a:stretch>
            <a:fillRect/>
          </a:stretch>
        </p:blipFill>
        <p:spPr>
          <a:xfrm>
            <a:off x="4356016" y="4248290"/>
            <a:ext cx="4737665" cy="1576994"/>
          </a:xfrm>
          <a:prstGeom prst="rect">
            <a:avLst/>
          </a:prstGeom>
        </p:spPr>
      </p:pic>
      <p:sp>
        <p:nvSpPr>
          <p:cNvPr id="16" name="Rectángulo 15">
            <a:extLst>
              <a:ext uri="{FF2B5EF4-FFF2-40B4-BE49-F238E27FC236}">
                <a16:creationId xmlns:a16="http://schemas.microsoft.com/office/drawing/2014/main" id="{B2359808-9762-4793-81E4-4397FE9BEA46}"/>
              </a:ext>
            </a:extLst>
          </p:cNvPr>
          <p:cNvSpPr/>
          <p:nvPr/>
        </p:nvSpPr>
        <p:spPr>
          <a:xfrm>
            <a:off x="-2262" y="4206579"/>
            <a:ext cx="3995010" cy="954107"/>
          </a:xfrm>
          <a:prstGeom prst="rect">
            <a:avLst/>
          </a:prstGeom>
        </p:spPr>
        <p:txBody>
          <a:bodyPr wrap="square">
            <a:spAutoFit/>
          </a:bodyPr>
          <a:lstStyle/>
          <a:p>
            <a:r>
              <a:rPr lang="es-ES" sz="1400" dirty="0">
                <a:solidFill>
                  <a:srgbClr val="C00000"/>
                </a:solidFill>
                <a:latin typeface="Arial"/>
                <a:cs typeface="Arial"/>
                <a:sym typeface="Times New Roman"/>
              </a:rPr>
              <a:t>Termopar: </a:t>
            </a:r>
            <a:r>
              <a:rPr lang="es-ES" sz="1400" dirty="0">
                <a:solidFill>
                  <a:srgbClr val="2C5697"/>
                </a:solidFill>
                <a:latin typeface="Arial"/>
                <a:cs typeface="Arial"/>
                <a:sym typeface="Times New Roman"/>
              </a:rPr>
              <a:t>dispositivo formado por dos hilos conductores de materiales diferentes, unidos en un extremo. Produce una tensión proporcional a la diferencia de temperaturas.</a:t>
            </a:r>
          </a:p>
        </p:txBody>
      </p:sp>
      <p:sp>
        <p:nvSpPr>
          <p:cNvPr id="17" name="Rectángulo 16">
            <a:extLst>
              <a:ext uri="{FF2B5EF4-FFF2-40B4-BE49-F238E27FC236}">
                <a16:creationId xmlns:a16="http://schemas.microsoft.com/office/drawing/2014/main" id="{198BFA95-D8F2-48CE-97F7-4A1EE34F69F8}"/>
              </a:ext>
            </a:extLst>
          </p:cNvPr>
          <p:cNvSpPr/>
          <p:nvPr/>
        </p:nvSpPr>
        <p:spPr>
          <a:xfrm>
            <a:off x="5851567" y="3592837"/>
            <a:ext cx="3242115" cy="461665"/>
          </a:xfrm>
          <a:prstGeom prst="rect">
            <a:avLst/>
          </a:prstGeom>
        </p:spPr>
        <p:txBody>
          <a:bodyPr wrap="square">
            <a:spAutoFit/>
          </a:bodyPr>
          <a:lstStyle/>
          <a:p>
            <a:r>
              <a:rPr lang="es-ES" sz="1200" i="1" dirty="0">
                <a:latin typeface="Arial"/>
                <a:cs typeface="Arial"/>
                <a:sym typeface="Times New Roman"/>
              </a:rPr>
              <a:t>K, </a:t>
            </a:r>
            <a:r>
              <a:rPr lang="es-ES" sz="1200" dirty="0">
                <a:latin typeface="Arial"/>
                <a:cs typeface="Arial"/>
                <a:sym typeface="Times New Roman"/>
              </a:rPr>
              <a:t>constante que depende del par de materiales. </a:t>
            </a:r>
            <a:r>
              <a:rPr lang="es-ES" sz="1200" dirty="0">
                <a:latin typeface="Arial"/>
                <a:cs typeface="Arial"/>
              </a:rPr>
              <a:t>Suele ser bajo (de 5 a 50 µV/°C)</a:t>
            </a:r>
            <a:endParaRPr lang="es-CO" sz="1200" dirty="0">
              <a:latin typeface="Arial"/>
              <a:cs typeface="Arial"/>
            </a:endParaRPr>
          </a:p>
        </p:txBody>
      </p:sp>
      <p:pic>
        <p:nvPicPr>
          <p:cNvPr id="1026" name="Picture 2" descr="Símbolos de Termoacopladores">
            <a:extLst>
              <a:ext uri="{FF2B5EF4-FFF2-40B4-BE49-F238E27FC236}">
                <a16:creationId xmlns:a16="http://schemas.microsoft.com/office/drawing/2014/main" id="{2B11E9B0-813F-457D-9EB3-2FB86C3442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2366" y="764394"/>
            <a:ext cx="1238250" cy="12382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ímbolos de Termoacopladores">
            <a:extLst>
              <a:ext uri="{FF2B5EF4-FFF2-40B4-BE49-F238E27FC236}">
                <a16:creationId xmlns:a16="http://schemas.microsoft.com/office/drawing/2014/main" id="{277ABE59-9881-4528-B0B2-835F57A395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2366" y="1517981"/>
            <a:ext cx="1238250" cy="12382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ímbolos de Termoacopladores">
            <a:extLst>
              <a:ext uri="{FF2B5EF4-FFF2-40B4-BE49-F238E27FC236}">
                <a16:creationId xmlns:a16="http://schemas.microsoft.com/office/drawing/2014/main" id="{EF5C21BB-2F20-4B10-9480-40F3D6D3A10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7018" y="2169129"/>
            <a:ext cx="1238250" cy="123825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7A6C5E82-9F1D-44FB-A515-E219612AE4A1}"/>
              </a:ext>
            </a:extLst>
          </p:cNvPr>
          <p:cNvSpPr/>
          <p:nvPr/>
        </p:nvSpPr>
        <p:spPr>
          <a:xfrm>
            <a:off x="5897749" y="3068598"/>
            <a:ext cx="824265" cy="276999"/>
          </a:xfrm>
          <a:prstGeom prst="rect">
            <a:avLst/>
          </a:prstGeom>
        </p:spPr>
        <p:txBody>
          <a:bodyPr wrap="none">
            <a:spAutoFit/>
          </a:bodyPr>
          <a:lstStyle/>
          <a:p>
            <a:r>
              <a:rPr lang="es-ES" sz="1200" dirty="0">
                <a:solidFill>
                  <a:srgbClr val="2C5697"/>
                </a:solidFill>
                <a:latin typeface="Arial"/>
                <a:cs typeface="Arial"/>
                <a:sym typeface="Times New Roman"/>
              </a:rPr>
              <a:t>Símbolos</a:t>
            </a:r>
            <a:endParaRPr lang="es-CO" sz="1200" dirty="0"/>
          </a:p>
        </p:txBody>
      </p:sp>
    </p:spTree>
    <p:custDataLst>
      <p:tags r:id="rId1"/>
    </p:custDataLst>
    <p:extLst>
      <p:ext uri="{BB962C8B-B14F-4D97-AF65-F5344CB8AC3E}">
        <p14:creationId xmlns:p14="http://schemas.microsoft.com/office/powerpoint/2010/main" val="3581922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2FF1D1-C8B0-5F04-65AB-CE2D20F06CA1}"/>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668A65D5-45ED-1D7B-D56F-0844F66F0453}"/>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378BD06D-31C0-E335-E3F5-76D13EF47A3C}"/>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FFCFAF35-A091-3C0C-A536-9B42DAC5C4B1}"/>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Curvas de calibración del platino, el níquel y el cobre</a:t>
            </a:r>
          </a:p>
        </p:txBody>
      </p:sp>
      <p:sp>
        <p:nvSpPr>
          <p:cNvPr id="18" name="Marcador de número de diapositiva 3">
            <a:extLst>
              <a:ext uri="{FF2B5EF4-FFF2-40B4-BE49-F238E27FC236}">
                <a16:creationId xmlns:a16="http://schemas.microsoft.com/office/drawing/2014/main" id="{D114C66E-7729-0210-E017-F64BB0E73EE7}"/>
              </a:ext>
            </a:extLst>
          </p:cNvPr>
          <p:cNvSpPr txBox="1">
            <a:spLocks/>
          </p:cNvSpPr>
          <p:nvPr/>
        </p:nvSpPr>
        <p:spPr>
          <a:xfrm>
            <a:off x="8682182" y="5885920"/>
            <a:ext cx="41150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sp>
        <p:nvSpPr>
          <p:cNvPr id="7" name="TextBox 32">
            <a:extLst>
              <a:ext uri="{FF2B5EF4-FFF2-40B4-BE49-F238E27FC236}">
                <a16:creationId xmlns:a16="http://schemas.microsoft.com/office/drawing/2014/main" id="{281583FA-70E5-AB08-5ED2-0A2A9BD30F7A}"/>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6" name="Imagen 5">
            <a:extLst>
              <a:ext uri="{FF2B5EF4-FFF2-40B4-BE49-F238E27FC236}">
                <a16:creationId xmlns:a16="http://schemas.microsoft.com/office/drawing/2014/main" id="{02A91AEA-A040-DADF-1B41-DAF8C5BFB604}"/>
              </a:ext>
            </a:extLst>
          </p:cNvPr>
          <p:cNvPicPr>
            <a:picLocks noChangeAspect="1"/>
          </p:cNvPicPr>
          <p:nvPr/>
        </p:nvPicPr>
        <p:blipFill>
          <a:blip r:embed="rId4"/>
          <a:stretch>
            <a:fillRect/>
          </a:stretch>
        </p:blipFill>
        <p:spPr>
          <a:xfrm>
            <a:off x="473815" y="1280429"/>
            <a:ext cx="3750713" cy="3897512"/>
          </a:xfrm>
          <a:prstGeom prst="rect">
            <a:avLst/>
          </a:prstGeom>
        </p:spPr>
      </p:pic>
      <p:sp>
        <p:nvSpPr>
          <p:cNvPr id="15" name="CuadroTexto 14">
            <a:extLst>
              <a:ext uri="{FF2B5EF4-FFF2-40B4-BE49-F238E27FC236}">
                <a16:creationId xmlns:a16="http://schemas.microsoft.com/office/drawing/2014/main" id="{CE6BFF47-2DE6-2704-2543-2F52959D59B7}"/>
              </a:ext>
            </a:extLst>
          </p:cNvPr>
          <p:cNvSpPr txBox="1"/>
          <p:nvPr/>
        </p:nvSpPr>
        <p:spPr>
          <a:xfrm>
            <a:off x="5103495" y="867597"/>
            <a:ext cx="3337560" cy="2585323"/>
          </a:xfrm>
          <a:prstGeom prst="rect">
            <a:avLst/>
          </a:prstGeom>
          <a:noFill/>
        </p:spPr>
        <p:txBody>
          <a:bodyPr wrap="square">
            <a:spAutoFit/>
          </a:bodyPr>
          <a:lstStyle/>
          <a:p>
            <a:r>
              <a:rPr lang="es-ES" sz="1800" b="1" i="0" u="none" strike="noStrike" baseline="0" dirty="0">
                <a:latin typeface="ITCStoneSerifStdBold"/>
              </a:rPr>
              <a:t>Diferentes aspectos de los RTD</a:t>
            </a:r>
          </a:p>
          <a:p>
            <a:endParaRPr lang="es-ES" b="1" dirty="0">
              <a:latin typeface="ITCStoneSerifStdBold"/>
            </a:endParaRPr>
          </a:p>
          <a:p>
            <a:r>
              <a:rPr lang="es-CO" dirty="0">
                <a:latin typeface="ITCStoneSerifStdMedium"/>
              </a:rPr>
              <a:t>Tipo de metal.</a:t>
            </a:r>
          </a:p>
          <a:p>
            <a:r>
              <a:rPr lang="es-CO" dirty="0">
                <a:latin typeface="ITCStoneSerifStdMedium"/>
              </a:rPr>
              <a:t>• Su forma o encapsulado.</a:t>
            </a:r>
          </a:p>
          <a:p>
            <a:r>
              <a:rPr lang="es-CO" dirty="0">
                <a:latin typeface="ITCStoneSerifStdMedium"/>
              </a:rPr>
              <a:t>• Características del medio.</a:t>
            </a:r>
          </a:p>
          <a:p>
            <a:r>
              <a:rPr lang="es-CO" dirty="0">
                <a:latin typeface="ITCStoneSerifStdMedium"/>
              </a:rPr>
              <a:t>• Su medida.</a:t>
            </a:r>
          </a:p>
          <a:p>
            <a:r>
              <a:rPr lang="es-CO" dirty="0">
                <a:latin typeface="ITCStoneSerifStdMedium"/>
              </a:rPr>
              <a:t>• El valor resistivo </a:t>
            </a:r>
            <a:r>
              <a:rPr lang="es-CO" i="1" dirty="0">
                <a:latin typeface="ITCStoneSerifStdMedium,Italic"/>
              </a:rPr>
              <a:t>R</a:t>
            </a:r>
            <a:r>
              <a:rPr lang="es-CO" sz="800" dirty="0">
                <a:latin typeface="ITCStoneSerifStdMedium"/>
              </a:rPr>
              <a:t>0</a:t>
            </a:r>
            <a:r>
              <a:rPr lang="es-CO" dirty="0">
                <a:latin typeface="ITCStoneSerifStdMedium"/>
              </a:rPr>
              <a:t>.</a:t>
            </a:r>
          </a:p>
          <a:p>
            <a:r>
              <a:rPr lang="es-CO" dirty="0">
                <a:latin typeface="ITCStoneSerifStdMedium"/>
              </a:rPr>
              <a:t>• La tolerancia.</a:t>
            </a:r>
            <a:endParaRPr lang="es-CO" dirty="0"/>
          </a:p>
          <a:p>
            <a:endParaRPr lang="es-CO" dirty="0"/>
          </a:p>
        </p:txBody>
      </p:sp>
      <p:pic>
        <p:nvPicPr>
          <p:cNvPr id="20" name="Imagen 19">
            <a:extLst>
              <a:ext uri="{FF2B5EF4-FFF2-40B4-BE49-F238E27FC236}">
                <a16:creationId xmlns:a16="http://schemas.microsoft.com/office/drawing/2014/main" id="{6687B493-C66E-7FDE-9DF8-9880075DE343}"/>
              </a:ext>
            </a:extLst>
          </p:cNvPr>
          <p:cNvPicPr>
            <a:picLocks noChangeAspect="1"/>
          </p:cNvPicPr>
          <p:nvPr/>
        </p:nvPicPr>
        <p:blipFill>
          <a:blip r:embed="rId5"/>
          <a:stretch>
            <a:fillRect/>
          </a:stretch>
        </p:blipFill>
        <p:spPr>
          <a:xfrm>
            <a:off x="4739731" y="3649592"/>
            <a:ext cx="3942451" cy="1177301"/>
          </a:xfrm>
          <a:prstGeom prst="rect">
            <a:avLst/>
          </a:prstGeom>
        </p:spPr>
      </p:pic>
      <p:sp>
        <p:nvSpPr>
          <p:cNvPr id="22" name="CuadroTexto 21">
            <a:extLst>
              <a:ext uri="{FF2B5EF4-FFF2-40B4-BE49-F238E27FC236}">
                <a16:creationId xmlns:a16="http://schemas.microsoft.com/office/drawing/2014/main" id="{D7EF77FB-45BF-3852-8991-69168C8518D3}"/>
              </a:ext>
            </a:extLst>
          </p:cNvPr>
          <p:cNvSpPr txBox="1"/>
          <p:nvPr/>
        </p:nvSpPr>
        <p:spPr>
          <a:xfrm>
            <a:off x="5035486" y="5078173"/>
            <a:ext cx="3473577" cy="276999"/>
          </a:xfrm>
          <a:prstGeom prst="rect">
            <a:avLst/>
          </a:prstGeom>
          <a:noFill/>
        </p:spPr>
        <p:txBody>
          <a:bodyPr wrap="square">
            <a:spAutoFit/>
          </a:bodyPr>
          <a:lstStyle/>
          <a:p>
            <a:r>
              <a:rPr lang="es-ES" sz="1200" dirty="0">
                <a:latin typeface="ITCStoneSerifStdMedium"/>
              </a:rPr>
              <a:t>a. Unión a masa. b. Unión aislada. c. Unión desnuda.</a:t>
            </a:r>
            <a:endParaRPr lang="es-CO" sz="1200" dirty="0">
              <a:latin typeface="ITCStoneSerifStdMedium"/>
            </a:endParaRPr>
          </a:p>
        </p:txBody>
      </p:sp>
    </p:spTree>
    <p:custDataLst>
      <p:tags r:id="rId1"/>
    </p:custDataLst>
    <p:extLst>
      <p:ext uri="{BB962C8B-B14F-4D97-AF65-F5344CB8AC3E}">
        <p14:creationId xmlns:p14="http://schemas.microsoft.com/office/powerpoint/2010/main" val="2831787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Sensores generadores de señal | Termopares</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2182" y="5885920"/>
            <a:ext cx="41150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7" name="TextBox 32">
            <a:extLst>
              <a:ext uri="{FF2B5EF4-FFF2-40B4-BE49-F238E27FC236}">
                <a16:creationId xmlns:a16="http://schemas.microsoft.com/office/drawing/2014/main" id="{A0E7D1E0-B6AA-4EC6-BAAB-FC15CB2AC458}"/>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4" name="Imagen 3">
            <a:extLst>
              <a:ext uri="{FF2B5EF4-FFF2-40B4-BE49-F238E27FC236}">
                <a16:creationId xmlns:a16="http://schemas.microsoft.com/office/drawing/2014/main" id="{02DEA412-57A0-456F-809F-6DD7810F63E2}"/>
              </a:ext>
            </a:extLst>
          </p:cNvPr>
          <p:cNvPicPr>
            <a:picLocks noChangeAspect="1"/>
          </p:cNvPicPr>
          <p:nvPr/>
        </p:nvPicPr>
        <p:blipFill>
          <a:blip r:embed="rId4"/>
          <a:stretch>
            <a:fillRect/>
          </a:stretch>
        </p:blipFill>
        <p:spPr>
          <a:xfrm>
            <a:off x="1316594" y="684971"/>
            <a:ext cx="6510812" cy="3055400"/>
          </a:xfrm>
          <a:prstGeom prst="rect">
            <a:avLst/>
          </a:prstGeom>
        </p:spPr>
      </p:pic>
      <p:pic>
        <p:nvPicPr>
          <p:cNvPr id="5" name="Imagen 4">
            <a:extLst>
              <a:ext uri="{FF2B5EF4-FFF2-40B4-BE49-F238E27FC236}">
                <a16:creationId xmlns:a16="http://schemas.microsoft.com/office/drawing/2014/main" id="{6F8E0DE7-720E-444C-8516-EF4D5B66A5BA}"/>
              </a:ext>
            </a:extLst>
          </p:cNvPr>
          <p:cNvPicPr>
            <a:picLocks noChangeAspect="1"/>
          </p:cNvPicPr>
          <p:nvPr/>
        </p:nvPicPr>
        <p:blipFill>
          <a:blip r:embed="rId5"/>
          <a:stretch>
            <a:fillRect/>
          </a:stretch>
        </p:blipFill>
        <p:spPr>
          <a:xfrm>
            <a:off x="1316594" y="3964122"/>
            <a:ext cx="6510812" cy="1704001"/>
          </a:xfrm>
          <a:prstGeom prst="rect">
            <a:avLst/>
          </a:prstGeom>
        </p:spPr>
      </p:pic>
    </p:spTree>
    <p:custDataLst>
      <p:tags r:id="rId1"/>
    </p:custDataLst>
    <p:extLst>
      <p:ext uri="{BB962C8B-B14F-4D97-AF65-F5344CB8AC3E}">
        <p14:creationId xmlns:p14="http://schemas.microsoft.com/office/powerpoint/2010/main" val="3047780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Sensores generadores de señal | Termopares</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2182" y="5885920"/>
            <a:ext cx="41150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sp>
        <p:nvSpPr>
          <p:cNvPr id="7" name="TextBox 32">
            <a:extLst>
              <a:ext uri="{FF2B5EF4-FFF2-40B4-BE49-F238E27FC236}">
                <a16:creationId xmlns:a16="http://schemas.microsoft.com/office/drawing/2014/main" id="{A0E7D1E0-B6AA-4EC6-BAAB-FC15CB2AC458}"/>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pic>
        <p:nvPicPr>
          <p:cNvPr id="2" name="Imagen 1">
            <a:extLst>
              <a:ext uri="{FF2B5EF4-FFF2-40B4-BE49-F238E27FC236}">
                <a16:creationId xmlns:a16="http://schemas.microsoft.com/office/drawing/2014/main" id="{E8F58B11-0F6F-41B5-B729-105FFDBF0E4A}"/>
              </a:ext>
            </a:extLst>
          </p:cNvPr>
          <p:cNvPicPr>
            <a:picLocks noChangeAspect="1"/>
          </p:cNvPicPr>
          <p:nvPr/>
        </p:nvPicPr>
        <p:blipFill>
          <a:blip r:embed="rId4"/>
          <a:stretch>
            <a:fillRect/>
          </a:stretch>
        </p:blipFill>
        <p:spPr>
          <a:xfrm>
            <a:off x="1646779" y="474144"/>
            <a:ext cx="5850442" cy="1896191"/>
          </a:xfrm>
          <a:prstGeom prst="rect">
            <a:avLst/>
          </a:prstGeom>
        </p:spPr>
      </p:pic>
      <p:pic>
        <p:nvPicPr>
          <p:cNvPr id="6" name="Imagen 5">
            <a:extLst>
              <a:ext uri="{FF2B5EF4-FFF2-40B4-BE49-F238E27FC236}">
                <a16:creationId xmlns:a16="http://schemas.microsoft.com/office/drawing/2014/main" id="{EFAA3953-B99F-433A-BAA6-D4FF061554F9}"/>
              </a:ext>
            </a:extLst>
          </p:cNvPr>
          <p:cNvPicPr>
            <a:picLocks noChangeAspect="1"/>
          </p:cNvPicPr>
          <p:nvPr/>
        </p:nvPicPr>
        <p:blipFill>
          <a:blip r:embed="rId5"/>
          <a:stretch>
            <a:fillRect/>
          </a:stretch>
        </p:blipFill>
        <p:spPr>
          <a:xfrm>
            <a:off x="261463" y="2848025"/>
            <a:ext cx="5379968" cy="2792224"/>
          </a:xfrm>
          <a:prstGeom prst="rect">
            <a:avLst/>
          </a:prstGeom>
        </p:spPr>
      </p:pic>
      <p:pic>
        <p:nvPicPr>
          <p:cNvPr id="1026" name="Picture 2" descr="Imagen de códigos de color de termopar tipo k">
            <a:extLst>
              <a:ext uri="{FF2B5EF4-FFF2-40B4-BE49-F238E27FC236}">
                <a16:creationId xmlns:a16="http://schemas.microsoft.com/office/drawing/2014/main" id="{D67DEA9E-548F-419D-95BC-6E2108AC20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5114" y="2905752"/>
            <a:ext cx="3057236" cy="10456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n tabla codigo de color termopar J">
            <a:extLst>
              <a:ext uri="{FF2B5EF4-FFF2-40B4-BE49-F238E27FC236}">
                <a16:creationId xmlns:a16="http://schemas.microsoft.com/office/drawing/2014/main" id="{0F8216D8-8DB9-41B4-A742-78A553EAFB3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25133"/>
          <a:stretch/>
        </p:blipFill>
        <p:spPr bwMode="auto">
          <a:xfrm>
            <a:off x="5822103" y="4312196"/>
            <a:ext cx="3223259" cy="108118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966636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Otros sensores de temperatura</a:t>
            </a:r>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2182" y="5885920"/>
            <a:ext cx="41150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17</a:t>
            </a:fld>
            <a:endParaRPr lang="es-CO" sz="1200" dirty="0">
              <a:solidFill>
                <a:schemeClr val="bg1"/>
              </a:solidFill>
            </a:endParaRPr>
          </a:p>
        </p:txBody>
      </p:sp>
      <p:sp>
        <p:nvSpPr>
          <p:cNvPr id="7" name="TextBox 32">
            <a:extLst>
              <a:ext uri="{FF2B5EF4-FFF2-40B4-BE49-F238E27FC236}">
                <a16:creationId xmlns:a16="http://schemas.microsoft.com/office/drawing/2014/main" id="{A0E7D1E0-B6AA-4EC6-BAAB-FC15CB2AC458}"/>
              </a:ext>
            </a:extLst>
          </p:cNvPr>
          <p:cNvSpPr txBox="1"/>
          <p:nvPr/>
        </p:nvSpPr>
        <p:spPr>
          <a:xfrm>
            <a:off x="4500418" y="2915478"/>
            <a:ext cx="309337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latin typeface="Arial"/>
              </a:rPr>
              <a:t>Fuente: https://es.wikipedia.org/wiki/C%C3%A1mara_t%C3%A9rmica</a:t>
            </a:r>
            <a:endParaRPr lang="en-US" sz="700" dirty="0">
              <a:cs typeface="Calibri"/>
            </a:endParaRPr>
          </a:p>
        </p:txBody>
      </p:sp>
      <p:sp>
        <p:nvSpPr>
          <p:cNvPr id="4" name="Rectángulo 3">
            <a:extLst>
              <a:ext uri="{FF2B5EF4-FFF2-40B4-BE49-F238E27FC236}">
                <a16:creationId xmlns:a16="http://schemas.microsoft.com/office/drawing/2014/main" id="{10B96990-5D03-4CFC-9126-F164E4A928C2}"/>
              </a:ext>
            </a:extLst>
          </p:cNvPr>
          <p:cNvSpPr/>
          <p:nvPr/>
        </p:nvSpPr>
        <p:spPr>
          <a:xfrm>
            <a:off x="695572" y="1139835"/>
            <a:ext cx="1196097" cy="307777"/>
          </a:xfrm>
          <a:prstGeom prst="rect">
            <a:avLst/>
          </a:prstGeom>
        </p:spPr>
        <p:txBody>
          <a:bodyPr wrap="none">
            <a:spAutoFit/>
          </a:bodyPr>
          <a:lstStyle/>
          <a:p>
            <a:r>
              <a:rPr lang="es-ES" sz="1400" dirty="0">
                <a:solidFill>
                  <a:srgbClr val="2C5697"/>
                </a:solidFill>
                <a:latin typeface="Arial"/>
                <a:cs typeface="Arial"/>
                <a:sym typeface="Times New Roman"/>
              </a:rPr>
              <a:t>¿Y el LM35?</a:t>
            </a:r>
            <a:endParaRPr lang="es-CO" sz="1400" dirty="0"/>
          </a:p>
        </p:txBody>
      </p:sp>
      <p:pic>
        <p:nvPicPr>
          <p:cNvPr id="2052" name="Picture 4" descr="LM35 Sensor de Temperatura Original TO-92">
            <a:extLst>
              <a:ext uri="{FF2B5EF4-FFF2-40B4-BE49-F238E27FC236}">
                <a16:creationId xmlns:a16="http://schemas.microsoft.com/office/drawing/2014/main" id="{AD3A96F6-6BC6-4C08-95B3-D906286358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55" y="1447612"/>
            <a:ext cx="1206414" cy="120641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ensor temperatura Infrarrojo MLX90614 - Moviltronics">
            <a:extLst>
              <a:ext uri="{FF2B5EF4-FFF2-40B4-BE49-F238E27FC236}">
                <a16:creationId xmlns:a16="http://schemas.microsoft.com/office/drawing/2014/main" id="{12B4AADA-9580-4F95-89D8-D77878FB37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8997" y="3507582"/>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4DE6E1D5-D852-4861-9076-C8B6D5D0780F}"/>
              </a:ext>
            </a:extLst>
          </p:cNvPr>
          <p:cNvSpPr/>
          <p:nvPr/>
        </p:nvSpPr>
        <p:spPr>
          <a:xfrm>
            <a:off x="2707522" y="3487633"/>
            <a:ext cx="1197764" cy="307777"/>
          </a:xfrm>
          <a:prstGeom prst="rect">
            <a:avLst/>
          </a:prstGeom>
        </p:spPr>
        <p:txBody>
          <a:bodyPr wrap="none">
            <a:spAutoFit/>
          </a:bodyPr>
          <a:lstStyle/>
          <a:p>
            <a:r>
              <a:rPr lang="es-ES" sz="1400" dirty="0">
                <a:solidFill>
                  <a:srgbClr val="2C5697"/>
                </a:solidFill>
                <a:latin typeface="Arial"/>
                <a:cs typeface="Arial"/>
                <a:sym typeface="Times New Roman"/>
              </a:rPr>
              <a:t>¿Infrarrojos?</a:t>
            </a:r>
            <a:endParaRPr lang="es-CO" sz="1400" dirty="0"/>
          </a:p>
        </p:txBody>
      </p:sp>
      <p:pic>
        <p:nvPicPr>
          <p:cNvPr id="2056" name="Picture 8" descr="https://upload.wikimedia.org/wikipedia/commons/thumb/0/0c/Infrared_dog.jpg/400px-Infrared_dog.jpg">
            <a:extLst>
              <a:ext uri="{FF2B5EF4-FFF2-40B4-BE49-F238E27FC236}">
                <a16:creationId xmlns:a16="http://schemas.microsoft.com/office/drawing/2014/main" id="{49A63E36-6485-4899-BD94-A8178AEB97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873840"/>
            <a:ext cx="3810000" cy="1943100"/>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1BE69B29-D985-4918-967F-F849339BBB54}"/>
              </a:ext>
            </a:extLst>
          </p:cNvPr>
          <p:cNvSpPr/>
          <p:nvPr/>
        </p:nvSpPr>
        <p:spPr>
          <a:xfrm>
            <a:off x="4829187" y="566063"/>
            <a:ext cx="1845377" cy="307777"/>
          </a:xfrm>
          <a:prstGeom prst="rect">
            <a:avLst/>
          </a:prstGeom>
        </p:spPr>
        <p:txBody>
          <a:bodyPr wrap="none">
            <a:spAutoFit/>
          </a:bodyPr>
          <a:lstStyle/>
          <a:p>
            <a:r>
              <a:rPr lang="es-ES" sz="1400" dirty="0">
                <a:solidFill>
                  <a:srgbClr val="2C5697"/>
                </a:solidFill>
                <a:latin typeface="Arial"/>
                <a:cs typeface="Arial"/>
                <a:sym typeface="Times New Roman"/>
              </a:rPr>
              <a:t>¿Cámaras térmicas?</a:t>
            </a:r>
            <a:endParaRPr lang="es-CO" sz="1400" dirty="0"/>
          </a:p>
        </p:txBody>
      </p:sp>
      <p:pic>
        <p:nvPicPr>
          <p:cNvPr id="2058" name="Picture 10" descr="https://upload.wikimedia.org/wikipedia/commons/thumb/a/a7/Sea_surface_temperature_2001.png/350px-Sea_surface_temperature_2001.png">
            <a:extLst>
              <a:ext uri="{FF2B5EF4-FFF2-40B4-BE49-F238E27FC236}">
                <a16:creationId xmlns:a16="http://schemas.microsoft.com/office/drawing/2014/main" id="{FEC7BDB2-0303-4188-909C-72B5C235DE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59242" y="3398936"/>
            <a:ext cx="2921014" cy="2028018"/>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32">
            <a:extLst>
              <a:ext uri="{FF2B5EF4-FFF2-40B4-BE49-F238E27FC236}">
                <a16:creationId xmlns:a16="http://schemas.microsoft.com/office/drawing/2014/main" id="{08DABF9B-6207-4F1E-964A-198FC26F60AB}"/>
              </a:ext>
            </a:extLst>
          </p:cNvPr>
          <p:cNvSpPr txBox="1"/>
          <p:nvPr/>
        </p:nvSpPr>
        <p:spPr>
          <a:xfrm>
            <a:off x="5586886" y="5454259"/>
            <a:ext cx="3493896"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latin typeface="Arial"/>
              </a:rPr>
              <a:t>Fuente: https://es.wikipedia.org/wiki/Temperatura_de_la_superficie_del_mar</a:t>
            </a:r>
            <a:endParaRPr lang="en-US" sz="700" dirty="0">
              <a:cs typeface="Calibri"/>
            </a:endParaRPr>
          </a:p>
        </p:txBody>
      </p:sp>
      <p:pic>
        <p:nvPicPr>
          <p:cNvPr id="3074" name="Picture 2" descr="DHT 22 | Joy-IT">
            <a:extLst>
              <a:ext uri="{FF2B5EF4-FFF2-40B4-BE49-F238E27FC236}">
                <a16:creationId xmlns:a16="http://schemas.microsoft.com/office/drawing/2014/main" id="{EE8EA3CF-2E00-7C33-013C-3070D14881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5400000">
            <a:off x="43520" y="4612350"/>
            <a:ext cx="1526917" cy="54979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0890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026689-CB6D-3D03-ACEF-928066AB8623}"/>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64DED08E-4CC2-81AE-FCB5-BAA1A053AA48}"/>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4636EEC9-8A64-7575-748E-CDA70B00832A}"/>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7F76D953-B4C6-96E7-23C8-A8474733F9CC}"/>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Aplicaciones generales</a:t>
            </a:r>
          </a:p>
        </p:txBody>
      </p:sp>
      <p:sp>
        <p:nvSpPr>
          <p:cNvPr id="18" name="Marcador de número de diapositiva 3">
            <a:extLst>
              <a:ext uri="{FF2B5EF4-FFF2-40B4-BE49-F238E27FC236}">
                <a16:creationId xmlns:a16="http://schemas.microsoft.com/office/drawing/2014/main" id="{C47DB7D8-BF13-410E-8EEA-930FCF1E30C0}"/>
              </a:ext>
            </a:extLst>
          </p:cNvPr>
          <p:cNvSpPr txBox="1">
            <a:spLocks/>
          </p:cNvSpPr>
          <p:nvPr/>
        </p:nvSpPr>
        <p:spPr>
          <a:xfrm>
            <a:off x="8682182" y="5885920"/>
            <a:ext cx="41150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18</a:t>
            </a:fld>
            <a:endParaRPr lang="es-CO" sz="1200" dirty="0">
              <a:solidFill>
                <a:schemeClr val="bg1"/>
              </a:solidFill>
            </a:endParaRPr>
          </a:p>
        </p:txBody>
      </p:sp>
      <p:sp>
        <p:nvSpPr>
          <p:cNvPr id="5" name="CuadroTexto 4">
            <a:extLst>
              <a:ext uri="{FF2B5EF4-FFF2-40B4-BE49-F238E27FC236}">
                <a16:creationId xmlns:a16="http://schemas.microsoft.com/office/drawing/2014/main" id="{0B80B1ED-0E5B-AD2E-BF04-F13883552636}"/>
              </a:ext>
            </a:extLst>
          </p:cNvPr>
          <p:cNvSpPr txBox="1"/>
          <p:nvPr/>
        </p:nvSpPr>
        <p:spPr>
          <a:xfrm>
            <a:off x="180309" y="917569"/>
            <a:ext cx="4608576" cy="1446550"/>
          </a:xfrm>
          <a:prstGeom prst="rect">
            <a:avLst/>
          </a:prstGeom>
          <a:noFill/>
        </p:spPr>
        <p:txBody>
          <a:bodyPr wrap="square">
            <a:spAutoFit/>
          </a:bodyPr>
          <a:lstStyle/>
          <a:p>
            <a:pPr algn="l">
              <a:buNone/>
            </a:pPr>
            <a:r>
              <a:rPr lang="es-CO" sz="1400" b="1" i="0" dirty="0">
                <a:solidFill>
                  <a:srgbClr val="000000"/>
                </a:solidFill>
                <a:effectLst/>
                <a:latin typeface="arial" panose="020B0604020202020204" pitchFamily="34" charset="0"/>
              </a:rPr>
              <a:t>Aplicaciones para el hogar</a:t>
            </a:r>
          </a:p>
          <a:p>
            <a:pPr algn="l">
              <a:buNone/>
            </a:pPr>
            <a:endParaRPr lang="es-CO" sz="1400" b="1" i="0" dirty="0">
              <a:solidFill>
                <a:srgbClr val="000000"/>
              </a:solidFill>
              <a:effectLst/>
              <a:latin typeface="arial" panose="020B0604020202020204" pitchFamily="34" charset="0"/>
            </a:endParaRPr>
          </a:p>
          <a:p>
            <a:pPr marL="285750" indent="-285750">
              <a:buFont typeface="Wingdings" panose="05000000000000000000" pitchFamily="2" charset="2"/>
              <a:buChar char="§"/>
            </a:pPr>
            <a:r>
              <a:rPr lang="es-CO" sz="1200" dirty="0"/>
              <a:t>Acondicionadores de Aire</a:t>
            </a:r>
          </a:p>
          <a:p>
            <a:pPr marL="285750" indent="-285750">
              <a:buFont typeface="Wingdings" panose="05000000000000000000" pitchFamily="2" charset="2"/>
              <a:buChar char="§"/>
            </a:pPr>
            <a:r>
              <a:rPr lang="es-CO" sz="1200" dirty="0"/>
              <a:t>Refrigeradores y congeladores</a:t>
            </a:r>
          </a:p>
          <a:p>
            <a:pPr marL="285750" indent="-285750">
              <a:buFont typeface="Wingdings" panose="05000000000000000000" pitchFamily="2" charset="2"/>
              <a:buChar char="§"/>
            </a:pPr>
            <a:r>
              <a:rPr lang="es-CO" sz="1200" dirty="0"/>
              <a:t>Calentadores de agua</a:t>
            </a:r>
          </a:p>
          <a:p>
            <a:pPr marL="285750" indent="-285750">
              <a:buFont typeface="Wingdings" panose="05000000000000000000" pitchFamily="2" charset="2"/>
              <a:buChar char="§"/>
            </a:pPr>
            <a:r>
              <a:rPr lang="es-CO" sz="1200" dirty="0"/>
              <a:t>Electrodomésticos de cocina</a:t>
            </a:r>
          </a:p>
          <a:p>
            <a:pPr marL="285750" indent="-285750">
              <a:buFont typeface="Wingdings" panose="05000000000000000000" pitchFamily="2" charset="2"/>
              <a:buChar char="§"/>
            </a:pPr>
            <a:r>
              <a:rPr lang="es-CO" sz="1200" dirty="0"/>
              <a:t>Lavavajillas y lavadoras</a:t>
            </a:r>
            <a:endParaRPr lang="es-CO" sz="1400" b="1" i="0" dirty="0">
              <a:solidFill>
                <a:srgbClr val="000000"/>
              </a:solidFill>
              <a:effectLst/>
              <a:latin typeface="NotoSans"/>
            </a:endParaRPr>
          </a:p>
        </p:txBody>
      </p:sp>
      <p:sp>
        <p:nvSpPr>
          <p:cNvPr id="8" name="CuadroTexto 7">
            <a:extLst>
              <a:ext uri="{FF2B5EF4-FFF2-40B4-BE49-F238E27FC236}">
                <a16:creationId xmlns:a16="http://schemas.microsoft.com/office/drawing/2014/main" id="{9C153C32-7743-E915-25C1-E0BF01126549}"/>
              </a:ext>
            </a:extLst>
          </p:cNvPr>
          <p:cNvSpPr txBox="1"/>
          <p:nvPr/>
        </p:nvSpPr>
        <p:spPr>
          <a:xfrm>
            <a:off x="133279" y="2507215"/>
            <a:ext cx="3685033" cy="1692771"/>
          </a:xfrm>
          <a:prstGeom prst="rect">
            <a:avLst/>
          </a:prstGeom>
          <a:noFill/>
        </p:spPr>
        <p:txBody>
          <a:bodyPr wrap="square">
            <a:spAutoFit/>
          </a:bodyPr>
          <a:lstStyle/>
          <a:p>
            <a:pPr algn="l">
              <a:buNone/>
            </a:pPr>
            <a:r>
              <a:rPr lang="es-CO" sz="1400" b="1" i="0" dirty="0">
                <a:solidFill>
                  <a:srgbClr val="000000"/>
                </a:solidFill>
                <a:effectLst/>
                <a:latin typeface="arial" panose="020B0604020202020204" pitchFamily="34" charset="0"/>
              </a:rPr>
              <a:t>Aplicaciones </a:t>
            </a:r>
            <a:r>
              <a:rPr lang="es-CO" sz="1400" b="1" dirty="0">
                <a:solidFill>
                  <a:srgbClr val="000000"/>
                </a:solidFill>
                <a:latin typeface="arial" panose="020B0604020202020204" pitchFamily="34" charset="0"/>
              </a:rPr>
              <a:t>industriales</a:t>
            </a:r>
            <a:endParaRPr lang="es-CO" sz="1400" b="1" i="0" dirty="0">
              <a:solidFill>
                <a:srgbClr val="000000"/>
              </a:solidFill>
              <a:effectLst/>
              <a:latin typeface="arial" panose="020B0604020202020204" pitchFamily="34" charset="0"/>
            </a:endParaRPr>
          </a:p>
          <a:p>
            <a:pPr algn="l">
              <a:buNone/>
            </a:pPr>
            <a:endParaRPr lang="es-CO" sz="1400" b="1" dirty="0">
              <a:solidFill>
                <a:srgbClr val="000000"/>
              </a:solidFill>
              <a:latin typeface="arial" panose="020B0604020202020204" pitchFamily="34" charset="0"/>
            </a:endParaRPr>
          </a:p>
          <a:p>
            <a:pPr marL="285750" indent="-285750">
              <a:buFont typeface="Wingdings" panose="05000000000000000000" pitchFamily="2" charset="2"/>
              <a:buChar char="§"/>
            </a:pPr>
            <a:r>
              <a:rPr lang="es-CO" sz="1200" dirty="0"/>
              <a:t>Monitoreo de temperatura de motores</a:t>
            </a:r>
          </a:p>
          <a:p>
            <a:pPr marL="285750" indent="-285750">
              <a:buFont typeface="Wingdings" panose="05000000000000000000" pitchFamily="2" charset="2"/>
              <a:buChar char="§"/>
            </a:pPr>
            <a:r>
              <a:rPr lang="es-CO" sz="1200" dirty="0"/>
              <a:t>Sistemas de climatización</a:t>
            </a:r>
          </a:p>
          <a:p>
            <a:pPr marL="285750" indent="-285750">
              <a:buFont typeface="Wingdings" panose="05000000000000000000" pitchFamily="2" charset="2"/>
              <a:buChar char="§"/>
            </a:pPr>
            <a:r>
              <a:rPr lang="es-CO" sz="1200" dirty="0"/>
              <a:t>Procesos de manufactura</a:t>
            </a:r>
          </a:p>
          <a:p>
            <a:pPr marL="285750" indent="-285750">
              <a:buFont typeface="Wingdings" panose="05000000000000000000" pitchFamily="2" charset="2"/>
              <a:buChar char="§"/>
            </a:pPr>
            <a:r>
              <a:rPr lang="es-CO" sz="1200" dirty="0"/>
              <a:t>Industria de alimentos y bebidas</a:t>
            </a:r>
          </a:p>
          <a:p>
            <a:pPr marL="285750" indent="-285750">
              <a:buFont typeface="Wingdings" panose="05000000000000000000" pitchFamily="2" charset="2"/>
              <a:buChar char="§"/>
            </a:pPr>
            <a:r>
              <a:rPr lang="es-CO" sz="1200" dirty="0"/>
              <a:t>Industria química</a:t>
            </a:r>
          </a:p>
          <a:p>
            <a:pPr algn="l">
              <a:buNone/>
            </a:pPr>
            <a:endParaRPr lang="es-CO" sz="1400" b="1" i="0" dirty="0">
              <a:solidFill>
                <a:srgbClr val="000000"/>
              </a:solidFill>
              <a:effectLst/>
              <a:latin typeface="NotoSans"/>
            </a:endParaRPr>
          </a:p>
        </p:txBody>
      </p:sp>
      <p:sp>
        <p:nvSpPr>
          <p:cNvPr id="10" name="CuadroTexto 9">
            <a:extLst>
              <a:ext uri="{FF2B5EF4-FFF2-40B4-BE49-F238E27FC236}">
                <a16:creationId xmlns:a16="http://schemas.microsoft.com/office/drawing/2014/main" id="{8858726C-A031-3304-196A-F886874067C7}"/>
              </a:ext>
            </a:extLst>
          </p:cNvPr>
          <p:cNvSpPr txBox="1"/>
          <p:nvPr/>
        </p:nvSpPr>
        <p:spPr>
          <a:xfrm>
            <a:off x="133279" y="4030945"/>
            <a:ext cx="3441573" cy="1138773"/>
          </a:xfrm>
          <a:prstGeom prst="rect">
            <a:avLst/>
          </a:prstGeom>
          <a:noFill/>
        </p:spPr>
        <p:txBody>
          <a:bodyPr wrap="square">
            <a:spAutoFit/>
          </a:bodyPr>
          <a:lstStyle/>
          <a:p>
            <a:pPr algn="l">
              <a:buNone/>
            </a:pPr>
            <a:r>
              <a:rPr lang="es-CO" sz="1400" b="1" i="0" dirty="0">
                <a:solidFill>
                  <a:srgbClr val="000000"/>
                </a:solidFill>
                <a:effectLst/>
                <a:latin typeface="arial" panose="020B0604020202020204" pitchFamily="34" charset="0"/>
              </a:rPr>
              <a:t>Aplicaciones médicas</a:t>
            </a:r>
          </a:p>
          <a:p>
            <a:pPr>
              <a:buNone/>
            </a:pPr>
            <a:endParaRPr lang="es-CO" sz="1400" b="1" dirty="0">
              <a:solidFill>
                <a:srgbClr val="000000"/>
              </a:solidFill>
              <a:latin typeface="arial" panose="020B0604020202020204" pitchFamily="34" charset="0"/>
            </a:endParaRPr>
          </a:p>
          <a:p>
            <a:pPr marL="285750" indent="-285750">
              <a:buFont typeface="Wingdings" panose="05000000000000000000" pitchFamily="2" charset="2"/>
              <a:buChar char="§"/>
            </a:pPr>
            <a:r>
              <a:rPr lang="es-CO" sz="1200" dirty="0"/>
              <a:t>Monitoreo del paciente</a:t>
            </a:r>
          </a:p>
          <a:p>
            <a:pPr marL="285750" indent="-285750">
              <a:buFont typeface="Wingdings" panose="05000000000000000000" pitchFamily="2" charset="2"/>
              <a:buChar char="§"/>
            </a:pPr>
            <a:r>
              <a:rPr lang="es-CO" sz="1200" dirty="0"/>
              <a:t>Equipos de laboratorio clínico</a:t>
            </a:r>
          </a:p>
          <a:p>
            <a:pPr algn="l">
              <a:buNone/>
            </a:pPr>
            <a:endParaRPr lang="es-CO" sz="1400" b="1" i="0" dirty="0">
              <a:solidFill>
                <a:srgbClr val="000000"/>
              </a:solidFill>
              <a:effectLst/>
              <a:latin typeface="NotoSans"/>
            </a:endParaRPr>
          </a:p>
        </p:txBody>
      </p:sp>
      <p:sp>
        <p:nvSpPr>
          <p:cNvPr id="13" name="CuadroTexto 12">
            <a:extLst>
              <a:ext uri="{FF2B5EF4-FFF2-40B4-BE49-F238E27FC236}">
                <a16:creationId xmlns:a16="http://schemas.microsoft.com/office/drawing/2014/main" id="{222CAC51-60EE-5AD9-2FBF-8E831B381CD0}"/>
              </a:ext>
            </a:extLst>
          </p:cNvPr>
          <p:cNvSpPr txBox="1"/>
          <p:nvPr/>
        </p:nvSpPr>
        <p:spPr>
          <a:xfrm>
            <a:off x="180309" y="5000678"/>
            <a:ext cx="2599467" cy="1138773"/>
          </a:xfrm>
          <a:prstGeom prst="rect">
            <a:avLst/>
          </a:prstGeom>
          <a:noFill/>
        </p:spPr>
        <p:txBody>
          <a:bodyPr wrap="square">
            <a:spAutoFit/>
          </a:bodyPr>
          <a:lstStyle/>
          <a:p>
            <a:pPr algn="l">
              <a:buNone/>
            </a:pPr>
            <a:r>
              <a:rPr lang="es-CO" sz="1400" b="1" i="0" dirty="0">
                <a:solidFill>
                  <a:srgbClr val="000000"/>
                </a:solidFill>
                <a:effectLst/>
                <a:latin typeface="arial" panose="020B0604020202020204" pitchFamily="34" charset="0"/>
              </a:rPr>
              <a:t>Monitoreo ambiental</a:t>
            </a:r>
          </a:p>
          <a:p>
            <a:pPr algn="l">
              <a:buNone/>
            </a:pPr>
            <a:endParaRPr lang="es-CO" sz="1400" b="1" dirty="0">
              <a:solidFill>
                <a:srgbClr val="000000"/>
              </a:solidFill>
              <a:latin typeface="arial" panose="020B0604020202020204" pitchFamily="34" charset="0"/>
            </a:endParaRPr>
          </a:p>
          <a:p>
            <a:pPr marL="285750" indent="-285750">
              <a:buFont typeface="Wingdings" panose="05000000000000000000" pitchFamily="2" charset="2"/>
              <a:buChar char="§"/>
            </a:pPr>
            <a:r>
              <a:rPr lang="es-CO" sz="1200" dirty="0"/>
              <a:t>Estaciones meteorológicas</a:t>
            </a:r>
          </a:p>
          <a:p>
            <a:pPr marL="285750" indent="-285750">
              <a:buFont typeface="Wingdings" panose="05000000000000000000" pitchFamily="2" charset="2"/>
              <a:buChar char="§"/>
            </a:pPr>
            <a:r>
              <a:rPr lang="es-CO" sz="1200" dirty="0"/>
              <a:t>Monitoreo de invernadero</a:t>
            </a:r>
          </a:p>
          <a:p>
            <a:pPr algn="l">
              <a:buNone/>
            </a:pPr>
            <a:endParaRPr lang="es-CO" sz="1400" b="1" i="0" dirty="0">
              <a:solidFill>
                <a:srgbClr val="000000"/>
              </a:solidFill>
              <a:effectLst/>
              <a:latin typeface="NotoSans"/>
            </a:endParaRPr>
          </a:p>
        </p:txBody>
      </p:sp>
      <p:pic>
        <p:nvPicPr>
          <p:cNvPr id="5122" name="Picture 2" descr="Cadena de frio">
            <a:extLst>
              <a:ext uri="{FF2B5EF4-FFF2-40B4-BE49-F238E27FC236}">
                <a16:creationId xmlns:a16="http://schemas.microsoft.com/office/drawing/2014/main" id="{34556589-7746-8638-D663-84239DD0A4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3147" y="1242492"/>
            <a:ext cx="5394785" cy="376244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19947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700D0A-66BB-B38A-4642-7684206CCF52}"/>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E92D475-F788-01E4-DABE-CF94941FFC89}"/>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E1D87E43-1F28-B590-1CEC-91AF68F48C66}"/>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999B1305-F62B-9681-6167-2D9B41290402}"/>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Estructura general de un sistema electrónico de medida y control</a:t>
            </a:r>
          </a:p>
        </p:txBody>
      </p:sp>
      <p:sp>
        <p:nvSpPr>
          <p:cNvPr id="18" name="Marcador de número de diapositiva 3">
            <a:extLst>
              <a:ext uri="{FF2B5EF4-FFF2-40B4-BE49-F238E27FC236}">
                <a16:creationId xmlns:a16="http://schemas.microsoft.com/office/drawing/2014/main" id="{72B6D9B5-9AAB-3EA7-EC34-C122142AA1FF}"/>
              </a:ext>
            </a:extLst>
          </p:cNvPr>
          <p:cNvSpPr txBox="1">
            <a:spLocks/>
          </p:cNvSpPr>
          <p:nvPr/>
        </p:nvSpPr>
        <p:spPr>
          <a:xfrm>
            <a:off x="8682182" y="5885920"/>
            <a:ext cx="41150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19</a:t>
            </a:fld>
            <a:endParaRPr lang="es-CO" sz="1200" dirty="0">
              <a:solidFill>
                <a:schemeClr val="bg1"/>
              </a:solidFill>
            </a:endParaRPr>
          </a:p>
        </p:txBody>
      </p:sp>
      <p:grpSp>
        <p:nvGrpSpPr>
          <p:cNvPr id="21" name="Grupo 20">
            <a:extLst>
              <a:ext uri="{FF2B5EF4-FFF2-40B4-BE49-F238E27FC236}">
                <a16:creationId xmlns:a16="http://schemas.microsoft.com/office/drawing/2014/main" id="{54E38A42-3B59-CEAA-2659-968960683668}"/>
              </a:ext>
            </a:extLst>
          </p:cNvPr>
          <p:cNvGrpSpPr/>
          <p:nvPr/>
        </p:nvGrpSpPr>
        <p:grpSpPr>
          <a:xfrm>
            <a:off x="339078" y="759065"/>
            <a:ext cx="8560282" cy="4928208"/>
            <a:chOff x="533400" y="630654"/>
            <a:chExt cx="8560282" cy="4928208"/>
          </a:xfrm>
        </p:grpSpPr>
        <p:pic>
          <p:nvPicPr>
            <p:cNvPr id="4116" name="Picture 20" descr="Lite-On2.6 V Red LED 5mm Through Hole, LTL-307P">
              <a:extLst>
                <a:ext uri="{FF2B5EF4-FFF2-40B4-BE49-F238E27FC236}">
                  <a16:creationId xmlns:a16="http://schemas.microsoft.com/office/drawing/2014/main" id="{000E26B3-36DB-DB53-D5FD-5805A3DC4B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9049" y="2229280"/>
              <a:ext cx="758883" cy="75888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C4C9E86E-4B7F-4109-6792-47CF7DCB17E4}"/>
                </a:ext>
              </a:extLst>
            </p:cNvPr>
            <p:cNvPicPr>
              <a:picLocks noChangeAspect="1"/>
            </p:cNvPicPr>
            <p:nvPr/>
          </p:nvPicPr>
          <p:blipFill>
            <a:blip r:embed="rId5"/>
            <a:stretch>
              <a:fillRect/>
            </a:stretch>
          </p:blipFill>
          <p:spPr>
            <a:xfrm>
              <a:off x="1418785" y="1385151"/>
              <a:ext cx="6306430" cy="3515216"/>
            </a:xfrm>
            <a:prstGeom prst="rect">
              <a:avLst/>
            </a:prstGeom>
          </p:spPr>
        </p:pic>
        <p:pic>
          <p:nvPicPr>
            <p:cNvPr id="4098" name="Picture 2" descr="How Do You Tell a Thermocouple From an RTD? - Thermal Corporation">
              <a:extLst>
                <a:ext uri="{FF2B5EF4-FFF2-40B4-BE49-F238E27FC236}">
                  <a16:creationId xmlns:a16="http://schemas.microsoft.com/office/drawing/2014/main" id="{E0F6F52A-6AEB-CC50-549B-EC1D03B1AA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652771"/>
              <a:ext cx="2273808" cy="75888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Venta de Ventiladores para circuitos eléctricos| Steren Tienda en Línea">
              <a:extLst>
                <a:ext uri="{FF2B5EF4-FFF2-40B4-BE49-F238E27FC236}">
                  <a16:creationId xmlns:a16="http://schemas.microsoft.com/office/drawing/2014/main" id="{8FF52019-C5F6-4CB8-0A29-EEB138125E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29116" y="3886199"/>
              <a:ext cx="758883" cy="75888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BF857EED-F7B2-2E10-816D-FDB330CFEC5A}"/>
                </a:ext>
              </a:extLst>
            </p:cNvPr>
            <p:cNvPicPr>
              <a:picLocks noChangeAspect="1"/>
            </p:cNvPicPr>
            <p:nvPr/>
          </p:nvPicPr>
          <p:blipFill>
            <a:blip r:embed="rId8"/>
            <a:stretch>
              <a:fillRect/>
            </a:stretch>
          </p:blipFill>
          <p:spPr>
            <a:xfrm>
              <a:off x="3617453" y="1907525"/>
              <a:ext cx="1128283" cy="836854"/>
            </a:xfrm>
            <a:prstGeom prst="rect">
              <a:avLst/>
            </a:prstGeom>
          </p:spPr>
        </p:pic>
        <p:pic>
          <p:nvPicPr>
            <p:cNvPr id="4102" name="Picture 6" descr="3.5-5.5V Standard Passive Buzzer Module For Arduino">
              <a:extLst>
                <a:ext uri="{FF2B5EF4-FFF2-40B4-BE49-F238E27FC236}">
                  <a16:creationId xmlns:a16="http://schemas.microsoft.com/office/drawing/2014/main" id="{CD55340A-CDF5-4C83-EB55-06E8F3B0B43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6267" t="9519" r="12800" b="15200"/>
            <a:stretch>
              <a:fillRect/>
            </a:stretch>
          </p:blipFill>
          <p:spPr bwMode="auto">
            <a:xfrm>
              <a:off x="7530836" y="2029920"/>
              <a:ext cx="768096" cy="714459"/>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Amazon.com: Arduino Uno REV3 [A000066] – ATmega328P Microcontroller, 16MHz,  14 Digital I/O Pins, 6 Analog Inputs, 32KB Flash, USB Connectivity,  Compatible with Arduino IDE for DIY Projects and Prototyping : Electronics">
              <a:extLst>
                <a:ext uri="{FF2B5EF4-FFF2-40B4-BE49-F238E27FC236}">
                  <a16:creationId xmlns:a16="http://schemas.microsoft.com/office/drawing/2014/main" id="{432443F7-9C12-F563-D00F-034350D42B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37695" y="4241872"/>
              <a:ext cx="1755987" cy="131699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84675A30-4E28-D5D1-32D4-F3F0BA2DA89A}"/>
                </a:ext>
              </a:extLst>
            </p:cNvPr>
            <p:cNvPicPr>
              <a:picLocks noChangeAspect="1"/>
            </p:cNvPicPr>
            <p:nvPr/>
          </p:nvPicPr>
          <p:blipFill>
            <a:blip r:embed="rId11"/>
            <a:stretch>
              <a:fillRect/>
            </a:stretch>
          </p:blipFill>
          <p:spPr>
            <a:xfrm>
              <a:off x="4619219" y="1166666"/>
              <a:ext cx="1690143" cy="244988"/>
            </a:xfrm>
            <a:prstGeom prst="rect">
              <a:avLst/>
            </a:prstGeom>
          </p:spPr>
        </p:pic>
        <p:pic>
          <p:nvPicPr>
            <p:cNvPr id="20" name="Imagen 19">
              <a:extLst>
                <a:ext uri="{FF2B5EF4-FFF2-40B4-BE49-F238E27FC236}">
                  <a16:creationId xmlns:a16="http://schemas.microsoft.com/office/drawing/2014/main" id="{9018245B-53E1-EA8B-7C53-9D9A3306679D}"/>
                </a:ext>
              </a:extLst>
            </p:cNvPr>
            <p:cNvPicPr>
              <a:picLocks noChangeAspect="1"/>
            </p:cNvPicPr>
            <p:nvPr/>
          </p:nvPicPr>
          <p:blipFill>
            <a:blip r:embed="rId12"/>
            <a:stretch>
              <a:fillRect/>
            </a:stretch>
          </p:blipFill>
          <p:spPr>
            <a:xfrm>
              <a:off x="7682678" y="630654"/>
              <a:ext cx="877390" cy="860016"/>
            </a:xfrm>
            <a:prstGeom prst="rect">
              <a:avLst/>
            </a:prstGeom>
          </p:spPr>
        </p:pic>
        <p:pic>
          <p:nvPicPr>
            <p:cNvPr id="4114" name="Picture 18" descr="sicompc: simulador para control predictivo basado en modelos">
              <a:extLst>
                <a:ext uri="{FF2B5EF4-FFF2-40B4-BE49-F238E27FC236}">
                  <a16:creationId xmlns:a16="http://schemas.microsoft.com/office/drawing/2014/main" id="{CE8B31C8-E566-63D9-3CCC-EE1F4DC3EDE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47510" y="3266753"/>
              <a:ext cx="1309898" cy="97593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3271735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99367A-0F3D-D263-7295-FC03C6101813}"/>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207C642B-D04F-AA77-4A13-D6B4DD72F066}"/>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DA43B4F5-8A4C-CCCA-16B1-0247E96B2E3A}"/>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temperatura</a:t>
            </a:r>
            <a:endParaRPr lang="en-US" dirty="0">
              <a:solidFill>
                <a:schemeClr val="bg1"/>
              </a:solidFill>
            </a:endParaRPr>
          </a:p>
        </p:txBody>
      </p:sp>
      <p:sp>
        <p:nvSpPr>
          <p:cNvPr id="12" name="Rectángulo 6">
            <a:extLst>
              <a:ext uri="{FF2B5EF4-FFF2-40B4-BE49-F238E27FC236}">
                <a16:creationId xmlns:a16="http://schemas.microsoft.com/office/drawing/2014/main" id="{8CB45CC9-9250-7F9D-2899-C533C3744AE8}"/>
              </a:ext>
            </a:extLst>
          </p:cNvPr>
          <p:cNvSpPr/>
          <p:nvPr/>
        </p:nvSpPr>
        <p:spPr>
          <a:xfrm>
            <a:off x="2673236" y="2967316"/>
            <a:ext cx="3797527" cy="461665"/>
          </a:xfrm>
          <a:prstGeom prst="rect">
            <a:avLst/>
          </a:prstGeom>
        </p:spPr>
        <p:txBody>
          <a:bodyPr wrap="square" lIns="91440" tIns="45720" rIns="91440" bIns="45720" anchor="t">
            <a:spAutoFit/>
          </a:bodyPr>
          <a:lstStyle/>
          <a:p>
            <a:r>
              <a:rPr lang="es-ES" sz="2400" b="1" dirty="0">
                <a:solidFill>
                  <a:srgbClr val="2C5697"/>
                </a:solidFill>
                <a:latin typeface="Arial"/>
                <a:cs typeface="Arial"/>
                <a:sym typeface="Times New Roman"/>
              </a:rPr>
              <a:t>Gracias por su atención</a:t>
            </a:r>
          </a:p>
        </p:txBody>
      </p:sp>
      <p:sp>
        <p:nvSpPr>
          <p:cNvPr id="18" name="Marcador de número de diapositiva 3">
            <a:extLst>
              <a:ext uri="{FF2B5EF4-FFF2-40B4-BE49-F238E27FC236}">
                <a16:creationId xmlns:a16="http://schemas.microsoft.com/office/drawing/2014/main" id="{74E2FE0D-0126-864E-DC2A-6A51D0ACE304}"/>
              </a:ext>
            </a:extLst>
          </p:cNvPr>
          <p:cNvSpPr txBox="1">
            <a:spLocks/>
          </p:cNvSpPr>
          <p:nvPr/>
        </p:nvSpPr>
        <p:spPr>
          <a:xfrm>
            <a:off x="8682182" y="5885920"/>
            <a:ext cx="41150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20</a:t>
            </a:fld>
            <a:endParaRPr lang="es-CO" sz="1200" dirty="0">
              <a:solidFill>
                <a:schemeClr val="bg1"/>
              </a:solidFill>
            </a:endParaRPr>
          </a:p>
        </p:txBody>
      </p:sp>
    </p:spTree>
    <p:custDataLst>
      <p:tags r:id="rId1"/>
    </p:custDataLst>
    <p:extLst>
      <p:ext uri="{BB962C8B-B14F-4D97-AF65-F5344CB8AC3E}">
        <p14:creationId xmlns:p14="http://schemas.microsoft.com/office/powerpoint/2010/main" val="26409262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ags/tag15.xml><?xml version="1.0" encoding="utf-8"?>
<p:tagLst xmlns:a="http://schemas.openxmlformats.org/drawingml/2006/main" xmlns:r="http://schemas.openxmlformats.org/officeDocument/2006/relationships" xmlns:p="http://schemas.openxmlformats.org/presentationml/2006/main">
  <p:tag name="TIMING" val="|2.7"/>
</p:tagLst>
</file>

<file path=ppt/tags/tag16.xml><?xml version="1.0" encoding="utf-8"?>
<p:tagLst xmlns:a="http://schemas.openxmlformats.org/drawingml/2006/main" xmlns:r="http://schemas.openxmlformats.org/officeDocument/2006/relationships" xmlns:p="http://schemas.openxmlformats.org/presentationml/2006/main">
  <p:tag name="TIMING" val="|2.7"/>
</p:tagLst>
</file>

<file path=ppt/tags/tag17.xml><?xml version="1.0" encoding="utf-8"?>
<p:tagLst xmlns:a="http://schemas.openxmlformats.org/drawingml/2006/main" xmlns:r="http://schemas.openxmlformats.org/officeDocument/2006/relationships" xmlns:p="http://schemas.openxmlformats.org/presentationml/2006/main">
  <p:tag name="TIMING" val="|2.7"/>
</p:tagLst>
</file>

<file path=ppt/tags/tag18.xml><?xml version="1.0" encoding="utf-8"?>
<p:tagLst xmlns:a="http://schemas.openxmlformats.org/drawingml/2006/main" xmlns:r="http://schemas.openxmlformats.org/officeDocument/2006/relationships" xmlns:p="http://schemas.openxmlformats.org/presentationml/2006/main">
  <p:tag name="TIMING" val="|2.7"/>
</p:tagLst>
</file>

<file path=ppt/tags/tag19.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F68008-267B-42B0-9C9F-2DD9B1D5EE7A}">
  <ds:schemaRefs>
    <ds:schemaRef ds:uri="http://purl.org/dc/terms/"/>
    <ds:schemaRef ds:uri="http://purl.org/dc/elements/1.1/"/>
    <ds:schemaRef ds:uri="http://schemas.openxmlformats.org/package/2006/metadata/core-properties"/>
    <ds:schemaRef ds:uri="http://purl.org/dc/dcmitype/"/>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c0c46fdd-2a6c-49f1-bb4d-a6e06b52ee64"/>
  </ds:schemaRefs>
</ds:datastoreItem>
</file>

<file path=customXml/itemProps3.xml><?xml version="1.0" encoding="utf-8"?>
<ds:datastoreItem xmlns:ds="http://schemas.openxmlformats.org/officeDocument/2006/customXml" ds:itemID="{EB7352B7-29C2-4831-B08B-DA9095F029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3454</TotalTime>
  <Words>1131</Words>
  <Application>Microsoft Office PowerPoint</Application>
  <PresentationFormat>Presentación en pantalla (4:3)</PresentationFormat>
  <Paragraphs>149</Paragraphs>
  <Slides>20</Slides>
  <Notes>19</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20</vt:i4>
      </vt:variant>
    </vt:vector>
  </HeadingPairs>
  <TitlesOfParts>
    <vt:vector size="30" baseType="lpstr">
      <vt:lpstr>Arial</vt:lpstr>
      <vt:lpstr>Arial</vt:lpstr>
      <vt:lpstr>Calibri</vt:lpstr>
      <vt:lpstr>ITCStoneSerifStdBold</vt:lpstr>
      <vt:lpstr>ITCStoneSerifStdMedium</vt:lpstr>
      <vt:lpstr>ITCStoneSerifStdMedium,Italic</vt:lpstr>
      <vt:lpstr>Myriad Pro</vt:lpstr>
      <vt:lpstr>NotoSans</vt:lpstr>
      <vt:lpstr>Wingdings</vt:lpstr>
      <vt:lpstr>Tema de Office</vt:lpstr>
      <vt:lpstr>Instrumentación para temperatura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Instrumentación_Temp</dc:title>
  <dc:creator>Jenny Rojas</dc:creator>
  <cp:lastModifiedBy>Pedro Antonio Aya Parra</cp:lastModifiedBy>
  <cp:revision>1823</cp:revision>
  <dcterms:created xsi:type="dcterms:W3CDTF">2018-06-28T02:15:01Z</dcterms:created>
  <dcterms:modified xsi:type="dcterms:W3CDTF">2025-09-08T01:18:36Z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