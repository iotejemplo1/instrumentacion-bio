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6"/>
  </p:notesMasterIdLst>
  <p:handoutMasterIdLst>
    <p:handoutMasterId r:id="rId27"/>
  </p:handoutMasterIdLst>
  <p:sldIdLst>
    <p:sldId id="256" r:id="rId5"/>
    <p:sldId id="305" r:id="rId6"/>
    <p:sldId id="318" r:id="rId7"/>
    <p:sldId id="320" r:id="rId8"/>
    <p:sldId id="321" r:id="rId9"/>
    <p:sldId id="319" r:id="rId10"/>
    <p:sldId id="306" r:id="rId11"/>
    <p:sldId id="307" r:id="rId12"/>
    <p:sldId id="312" r:id="rId13"/>
    <p:sldId id="322" r:id="rId14"/>
    <p:sldId id="308" r:id="rId15"/>
    <p:sldId id="314" r:id="rId16"/>
    <p:sldId id="309" r:id="rId17"/>
    <p:sldId id="310" r:id="rId18"/>
    <p:sldId id="315" r:id="rId19"/>
    <p:sldId id="316" r:id="rId20"/>
    <p:sldId id="323" r:id="rId21"/>
    <p:sldId id="317" r:id="rId22"/>
    <p:sldId id="325" r:id="rId23"/>
    <p:sldId id="326" r:id="rId24"/>
    <p:sldId id="324" r:id="rId25"/>
  </p:sldIdLst>
  <p:sldSz cx="9144000" cy="6858000" type="screen4x3"/>
  <p:notesSz cx="6858000" cy="9144000"/>
  <p:defaultTex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5697"/>
    <a:srgbClr val="7B58A5"/>
    <a:srgbClr val="5286AB"/>
    <a:srgbClr val="9EC54C"/>
    <a:srgbClr val="52C77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25" autoAdjust="0"/>
    <p:restoredTop sz="94660"/>
  </p:normalViewPr>
  <p:slideViewPr>
    <p:cSldViewPr snapToGrid="0" snapToObjects="1">
      <p:cViewPr varScale="1">
        <p:scale>
          <a:sx n="64" d="100"/>
          <a:sy n="64" d="100"/>
        </p:scale>
        <p:origin x="1680" y="78"/>
      </p:cViewPr>
      <p:guideLst>
        <p:guide orient="horz" pos="216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Ricardo Rodríguez Dueñas" userId="ba4d89e2-4f4b-4d11-bd59-56b1da6828aa" providerId="ADAL" clId="{81130933-8268-4257-900A-7653F6490061}"/>
    <pc:docChg chg="modSld">
      <pc:chgData name="William Ricardo Rodríguez Dueñas" userId="ba4d89e2-4f4b-4d11-bd59-56b1da6828aa" providerId="ADAL" clId="{81130933-8268-4257-900A-7653F6490061}" dt="2024-04-08T16:22:35.249" v="21" actId="20577"/>
      <pc:docMkLst>
        <pc:docMk/>
      </pc:docMkLst>
      <pc:sldChg chg="modSp">
        <pc:chgData name="William Ricardo Rodríguez Dueñas" userId="ba4d89e2-4f4b-4d11-bd59-56b1da6828aa" providerId="ADAL" clId="{81130933-8268-4257-900A-7653F6490061}" dt="2024-04-08T16:22:35.249" v="21" actId="20577"/>
        <pc:sldMkLst>
          <pc:docMk/>
          <pc:sldMk cId="3908148806" sldId="256"/>
        </pc:sldMkLst>
        <pc:spChg chg="mod">
          <ac:chgData name="William Ricardo Rodríguez Dueñas" userId="ba4d89e2-4f4b-4d11-bd59-56b1da6828aa" providerId="ADAL" clId="{81130933-8268-4257-900A-7653F6490061}" dt="2024-04-08T16:22:35.249" v="21" actId="20577"/>
          <ac:spMkLst>
            <pc:docMk/>
            <pc:sldMk cId="3908148806" sldId="256"/>
            <ac:spMk id="3" creationId="{00000000-0000-0000-0000-000000000000}"/>
          </ac:spMkLst>
        </pc:spChg>
      </pc:sldChg>
    </pc:docChg>
  </pc:docChgLst>
  <pc:docChgLst>
    <pc:chgData name="William Ricardo Rodríguez Dueñas" userId="ba4d89e2-4f4b-4d11-bd59-56b1da6828aa" providerId="ADAL" clId="{7316EEF5-CC44-4D76-A1BC-DA3A6C16715F}"/>
    <pc:docChg chg="modSld">
      <pc:chgData name="William Ricardo Rodríguez Dueñas" userId="ba4d89e2-4f4b-4d11-bd59-56b1da6828aa" providerId="ADAL" clId="{7316EEF5-CC44-4D76-A1BC-DA3A6C16715F}" dt="2024-03-02T21:50:35.547" v="0" actId="1076"/>
      <pc:docMkLst>
        <pc:docMk/>
      </pc:docMkLst>
      <pc:sldChg chg="modSp mod">
        <pc:chgData name="William Ricardo Rodríguez Dueñas" userId="ba4d89e2-4f4b-4d11-bd59-56b1da6828aa" providerId="ADAL" clId="{7316EEF5-CC44-4D76-A1BC-DA3A6C16715F}" dt="2024-03-02T21:50:35.547" v="0" actId="1076"/>
        <pc:sldMkLst>
          <pc:docMk/>
          <pc:sldMk cId="631105196" sldId="314"/>
        </pc:sldMkLst>
        <pc:picChg chg="mod">
          <ac:chgData name="William Ricardo Rodríguez Dueñas" userId="ba4d89e2-4f4b-4d11-bd59-56b1da6828aa" providerId="ADAL" clId="{7316EEF5-CC44-4D76-A1BC-DA3A6C16715F}" dt="2024-03-02T21:50:35.547" v="0" actId="1076"/>
          <ac:picMkLst>
            <pc:docMk/>
            <pc:sldMk cId="631105196" sldId="314"/>
            <ac:picMk id="10" creationId="{9ED8301C-A305-F943-5DB4-624121706025}"/>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BC6F7A87-C9F9-4438-8515-ADC00D84CE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4380AEB3-679E-4EDB-97E5-68741A1D22B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84CDF3-C25B-4D82-8876-230C4457432F}" type="datetimeFigureOut">
              <a:rPr lang="es-CO" smtClean="0"/>
              <a:t>26/09/2025</a:t>
            </a:fld>
            <a:endParaRPr lang="es-CO"/>
          </a:p>
        </p:txBody>
      </p:sp>
      <p:sp>
        <p:nvSpPr>
          <p:cNvPr id="4" name="Marcador de pie de página 3">
            <a:extLst>
              <a:ext uri="{FF2B5EF4-FFF2-40B4-BE49-F238E27FC236}">
                <a16:creationId xmlns:a16="http://schemas.microsoft.com/office/drawing/2014/main" id="{A53DB6EB-B6BA-4BF6-96C8-EFF56A664C9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C31BE49A-EFD8-4E31-AD3E-0FE1971915F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19E2E4C-642A-49F7-B080-3A7846C669FE}" type="slidenum">
              <a:rPr lang="es-CO" smtClean="0"/>
              <a:t>‹Nº›</a:t>
            </a:fld>
            <a:endParaRPr lang="es-CO"/>
          </a:p>
        </p:txBody>
      </p:sp>
    </p:spTree>
    <p:extLst>
      <p:ext uri="{BB962C8B-B14F-4D97-AF65-F5344CB8AC3E}">
        <p14:creationId xmlns:p14="http://schemas.microsoft.com/office/powerpoint/2010/main" val="149853222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21FD47-7EFF-024D-9631-5B75CC065FC5}" type="datetimeFigureOut">
              <a:rPr lang="es-ES" smtClean="0"/>
              <a:t>26/09/2025</a:t>
            </a:fld>
            <a:endParaRPr lang="es-ES"/>
          </a:p>
        </p:txBody>
      </p:sp>
      <p:sp>
        <p:nvSpPr>
          <p:cNvPr id="4" name="Marcador de imagen de diapositiva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6" name="Marcador de pie de página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52F31C1-9AF2-B345-B791-B288D86C8352}" type="slidenum">
              <a:rPr lang="es-ES" smtClean="0"/>
              <a:t>‹Nº›</a:t>
            </a:fld>
            <a:endParaRPr lang="es-ES"/>
          </a:p>
        </p:txBody>
      </p:sp>
    </p:spTree>
    <p:extLst>
      <p:ext uri="{BB962C8B-B14F-4D97-AF65-F5344CB8AC3E}">
        <p14:creationId xmlns:p14="http://schemas.microsoft.com/office/powerpoint/2010/main" val="1068757352"/>
      </p:ext>
    </p:extLst>
  </p:cSld>
  <p:clrMap bg1="lt1" tx1="dk1" bg2="lt2" tx2="dk2" accent1="accent1" accent2="accent2" accent3="accent3" accent4="accent4" accent5="accent5" accent6="accent6" hlink="hlink" folHlink="folHlink"/>
  <p:hf sldNum="0"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7651635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50A2A-AE81-8555-E70E-035EB322278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1E64DDA-836F-D8A8-A867-85F098FD451A}"/>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2CDCF7BF-D434-AF21-2574-85718F61D799}"/>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8633909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486CC-F8FA-CBCB-229B-1AFB562C857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39078BD-02C9-6092-C4C5-B89BE2EAC184}"/>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88129735-804D-BDF9-3E65-3813E7228DDE}"/>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041113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049DD-35AC-FE45-A815-65EE9486507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B3C3B89-4723-3002-D663-24F18451E277}"/>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6E781CA9-5742-BDE6-0677-98F62E4CD702}"/>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677851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E9F22-8B8F-C9D1-6A57-738ECA2A744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E634DFE-13A8-F4BB-82EC-49C53C849EB4}"/>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16E3A83B-2A83-E11A-FC69-92D544DD7103}"/>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398760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9850795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5882901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40011976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E20D9-0B01-164B-8575-E8ED182DBED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59E4E01-DB5F-3770-586B-E2FB7088CDAE}"/>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2FABCF1A-3556-3C1E-CC96-700E8CC7C702}"/>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5254737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41651101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6826357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5678712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5432774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4744557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42281790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3C136-CBCD-820C-D944-1CA2E03F4D5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56B5CC8-0470-12DA-677B-2A54327882E1}"/>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594114AB-5438-5782-D995-861CDCAE83CB}"/>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6249043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371600" y="1143000"/>
            <a:ext cx="4114800" cy="3086100"/>
          </a:xfrm>
        </p:spPr>
      </p:sp>
      <p:sp>
        <p:nvSpPr>
          <p:cNvPr id="3" name="Marcador de notas 2"/>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7860165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A5DDA-4534-D092-4180-A9624B81963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DA2A475-7023-EC67-E909-CD1FAE1F5031}"/>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AB246762-4768-3E45-457D-0F05F4D0A115}"/>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17128072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56958-5B11-D764-983B-A48AAE8D1C9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14639FF-7444-0952-FCB2-8F17C4C1B8DE}"/>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99879571-CB1F-FA94-0BFC-2EC43EA6C352}"/>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27114758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4C59D-7FD1-EE70-255B-DC112F92767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4686291-D7E9-D16E-6324-FF79C96E57EC}"/>
              </a:ext>
            </a:extLst>
          </p:cNvPr>
          <p:cNvSpPr>
            <a:spLocks noGrp="1" noRot="1" noChangeAspect="1"/>
          </p:cNvSpPr>
          <p:nvPr>
            <p:ph type="sldImg"/>
          </p:nvPr>
        </p:nvSpPr>
        <p:spPr>
          <a:xfrm>
            <a:off x="1371600" y="1143000"/>
            <a:ext cx="4114800" cy="3086100"/>
          </a:xfrm>
        </p:spPr>
      </p:sp>
      <p:sp>
        <p:nvSpPr>
          <p:cNvPr id="3" name="Marcador de notas 2">
            <a:extLst>
              <a:ext uri="{FF2B5EF4-FFF2-40B4-BE49-F238E27FC236}">
                <a16:creationId xmlns:a16="http://schemas.microsoft.com/office/drawing/2014/main" id="{75F9FBB2-5837-7877-0094-C4ACF083AE4F}"/>
              </a:ext>
            </a:extLst>
          </p:cNvPr>
          <p:cNvSpPr>
            <a:spLocks noGrp="1"/>
          </p:cNvSpPr>
          <p:nvPr>
            <p:ph type="body" idx="1"/>
          </p:nvPr>
        </p:nvSpPr>
        <p:spPr/>
        <p:txBody>
          <a:bodyPr/>
          <a:lstStyle/>
          <a:p>
            <a:endParaRPr lang="es-CO" dirty="0"/>
          </a:p>
        </p:txBody>
      </p:sp>
    </p:spTree>
    <p:extLst>
      <p:ext uri="{BB962C8B-B14F-4D97-AF65-F5344CB8AC3E}">
        <p14:creationId xmlns:p14="http://schemas.microsoft.com/office/powerpoint/2010/main" val="3882825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Portada">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731341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p:cNvSpPr>
            <a:spLocks noGrp="1"/>
          </p:cNvSpPr>
          <p:nvPr>
            <p:ph type="title"/>
          </p:nvPr>
        </p:nvSpPr>
        <p:spPr>
          <a:xfrm>
            <a:off x="708902" y="636588"/>
            <a:ext cx="4874178" cy="760412"/>
          </a:xfrm>
        </p:spPr>
        <p:txBody>
          <a:bodyPr>
            <a:normAutofit/>
          </a:bodyPr>
          <a:lstStyle>
            <a:lvl1pPr>
              <a:defRPr sz="2400"/>
            </a:lvl1pPr>
          </a:lstStyle>
          <a:p>
            <a:r>
              <a:rPr lang="es-ES_tradnl" dirty="0"/>
              <a:t>Clic para editar título</a:t>
            </a:r>
            <a:endParaRPr lang="es-ES" dirty="0"/>
          </a:p>
        </p:txBody>
      </p:sp>
      <p:sp>
        <p:nvSpPr>
          <p:cNvPr id="4" name="Marcador de contenido 2"/>
          <p:cNvSpPr>
            <a:spLocks noGrp="1"/>
          </p:cNvSpPr>
          <p:nvPr>
            <p:ph idx="1"/>
          </p:nvPr>
        </p:nvSpPr>
        <p:spPr>
          <a:xfrm>
            <a:off x="708902" y="1506996"/>
            <a:ext cx="4874178" cy="3743175"/>
          </a:xfrm>
        </p:spPr>
        <p:txBody>
          <a:bodyPr>
            <a:normAutofit fontScale="92500" lnSpcReduction="10000"/>
          </a:bodyPr>
          <a:lstStyle/>
          <a:p>
            <a:pPr marL="0" indent="0">
              <a:buNone/>
            </a:pPr>
            <a:r>
              <a:rPr lang="pt-BR" sz="1800" dirty="0">
                <a:solidFill>
                  <a:schemeClr val="tx1">
                    <a:lumMod val="75000"/>
                    <a:lumOff val="25000"/>
                  </a:schemeClr>
                </a:solidFill>
                <a:latin typeface="Arial"/>
                <a:cs typeface="Arial"/>
              </a:rPr>
              <a:t>Lorem ipsum dolor sit amet, consectetuer adipiscing elit. Aenean commodo ligula eget dolor. Aenean massa. Cum sociis natoque penatibus et magnis dis parturient montes, nascetur ridiculus mus. Donec quam felis, ultricies nec, pellentesque eu, pretium quis, sem. Nulla consequat massa quis enim.</a:t>
            </a:r>
          </a:p>
          <a:p>
            <a:pPr marL="0" indent="0">
              <a:buNone/>
            </a:pPr>
            <a:endParaRPr lang="pt-BR" sz="1800" dirty="0">
              <a:solidFill>
                <a:schemeClr val="tx1">
                  <a:lumMod val="75000"/>
                  <a:lumOff val="25000"/>
                </a:schemeClr>
              </a:solidFill>
              <a:latin typeface="Arial"/>
              <a:cs typeface="Arial"/>
            </a:endParaRPr>
          </a:p>
          <a:p>
            <a:pPr marL="0" indent="0">
              <a:buNone/>
            </a:pPr>
            <a:r>
              <a:rPr lang="pt-BR" sz="1800" dirty="0">
                <a:solidFill>
                  <a:schemeClr val="tx1">
                    <a:lumMod val="75000"/>
                    <a:lumOff val="25000"/>
                  </a:schemeClr>
                </a:solidFill>
                <a:latin typeface="Arial"/>
                <a:cs typeface="Arial"/>
              </a:rPr>
              <a:t>Donec pede justo, fringilla vel, aliquet nec, vulputate eget, arcu. In enim justo, rhoncus ut, imperdiet a, venenatis vitae, justo. Nullam dictum felis eu pede mollis pretium. Integer tincidunt. Cras dapibus. Vivamus elementum semper nisi. Aenean vulputate eleifend tellus.</a:t>
            </a:r>
            <a:endParaRPr lang="es-ES" sz="1800" dirty="0">
              <a:solidFill>
                <a:schemeClr val="tx1">
                  <a:lumMod val="75000"/>
                  <a:lumOff val="25000"/>
                </a:schemeClr>
              </a:solidFill>
            </a:endParaRPr>
          </a:p>
        </p:txBody>
      </p:sp>
    </p:spTree>
    <p:extLst>
      <p:ext uri="{BB962C8B-B14F-4D97-AF65-F5344CB8AC3E}">
        <p14:creationId xmlns:p14="http://schemas.microsoft.com/office/powerpoint/2010/main" val="24366214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685800" y="2130425"/>
            <a:ext cx="7772400" cy="1470025"/>
          </a:xfrm>
        </p:spPr>
        <p:txBody>
          <a:bodyPr/>
          <a:lstStyle/>
          <a:p>
            <a:r>
              <a:rPr lang="es-ES_tradnl"/>
              <a:t>Clic para editar título</a:t>
            </a:r>
            <a:endParaRPr lang="es-ES"/>
          </a:p>
        </p:txBody>
      </p:sp>
      <p:sp>
        <p:nvSpPr>
          <p:cNvPr id="3" name="Subtítulo 2"/>
          <p:cNvSpPr>
            <a:spLocks noGrp="1"/>
          </p:cNvSpPr>
          <p:nvPr>
            <p:ph type="subTitle" idx="1"/>
          </p:nvPr>
        </p:nvSpPr>
        <p:spPr>
          <a:xfrm>
            <a:off x="685800" y="3886200"/>
            <a:ext cx="6400800" cy="1752600"/>
          </a:xfrm>
        </p:spPr>
        <p:txBody>
          <a:bodyPr/>
          <a:lstStyle>
            <a:lvl1pPr marL="0" indent="0" algn="l">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_tradnl" dirty="0"/>
              <a:t>Haga clic para modificar el estilo de subtítulo del patrón</a:t>
            </a:r>
            <a:endParaRPr lang="es-ES" dirty="0"/>
          </a:p>
        </p:txBody>
      </p:sp>
    </p:spTree>
    <p:extLst>
      <p:ext uri="{BB962C8B-B14F-4D97-AF65-F5344CB8AC3E}">
        <p14:creationId xmlns:p14="http://schemas.microsoft.com/office/powerpoint/2010/main" val="2602930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idx="1"/>
          </p:nvPr>
        </p:nvSpPr>
        <p:spPr/>
        <p:txBody>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Tree>
    <p:extLst>
      <p:ext uri="{BB962C8B-B14F-4D97-AF65-F5344CB8AC3E}">
        <p14:creationId xmlns:p14="http://schemas.microsoft.com/office/powerpoint/2010/main" val="1567623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722313" y="4406900"/>
            <a:ext cx="7772400" cy="1362075"/>
          </a:xfrm>
        </p:spPr>
        <p:txBody>
          <a:bodyPr anchor="t"/>
          <a:lstStyle>
            <a:lvl1pPr algn="l">
              <a:defRPr sz="4000" b="1" cap="all"/>
            </a:lvl1pPr>
          </a:lstStyle>
          <a:p>
            <a:r>
              <a:rPr lang="es-ES_tradnl"/>
              <a:t>Clic para editar título</a:t>
            </a:r>
            <a:endParaRPr lang="es-ES"/>
          </a:p>
        </p:txBody>
      </p:sp>
      <p:sp>
        <p:nvSpPr>
          <p:cNvPr id="3" name="Marcador de tex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_tradnl" dirty="0"/>
              <a:t>Haga clic para modificar el estilo de texto del patrón</a:t>
            </a:r>
          </a:p>
        </p:txBody>
      </p:sp>
    </p:spTree>
    <p:extLst>
      <p:ext uri="{BB962C8B-B14F-4D97-AF65-F5344CB8AC3E}">
        <p14:creationId xmlns:p14="http://schemas.microsoft.com/office/powerpoint/2010/main" val="1216406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a:xfrm>
            <a:off x="457200" y="636588"/>
            <a:ext cx="7596722" cy="760412"/>
          </a:xfrm>
        </p:spPr>
        <p:txBody>
          <a:bodyPr/>
          <a:lstStyle/>
          <a:p>
            <a:r>
              <a:rPr lang="es-ES_tradnl" dirty="0"/>
              <a:t>Clic para editar título</a:t>
            </a:r>
            <a:endParaRPr lang="es-ES" dirty="0"/>
          </a:p>
        </p:txBody>
      </p:sp>
      <p:sp>
        <p:nvSpPr>
          <p:cNvPr id="3" name="Marcador de contenido 2"/>
          <p:cNvSpPr>
            <a:spLocks noGrp="1"/>
          </p:cNvSpPr>
          <p:nvPr>
            <p:ph sz="half" idx="1"/>
          </p:nvPr>
        </p:nvSpPr>
        <p:spPr>
          <a:xfrm>
            <a:off x="457200" y="1600201"/>
            <a:ext cx="4038600" cy="4051300"/>
          </a:xfrm>
        </p:spPr>
        <p:txBody>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4" name="Marcador de contenido 3"/>
          <p:cNvSpPr>
            <a:spLocks noGrp="1"/>
          </p:cNvSpPr>
          <p:nvPr>
            <p:ph sz="half" idx="2"/>
          </p:nvPr>
        </p:nvSpPr>
        <p:spPr>
          <a:xfrm>
            <a:off x="4648200" y="1600200"/>
            <a:ext cx="4038600" cy="4051301"/>
          </a:xfrm>
        </p:spPr>
        <p:txBody>
          <a:bodyPr/>
          <a:lstStyle>
            <a:lvl1pPr>
              <a:defRPr sz="24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584344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457200" y="648759"/>
            <a:ext cx="7596722" cy="760412"/>
          </a:xfrm>
        </p:spPr>
        <p:txBody>
          <a:bodyPr/>
          <a:lstStyle>
            <a:lvl1pPr>
              <a:defRPr/>
            </a:lvl1pPr>
          </a:lstStyle>
          <a:p>
            <a:r>
              <a:rPr lang="es-ES_tradnl" dirty="0"/>
              <a:t>Clic para editar título</a:t>
            </a:r>
            <a:endParaRPr lang="es-ES" dirty="0"/>
          </a:p>
        </p:txBody>
      </p:sp>
      <p:sp>
        <p:nvSpPr>
          <p:cNvPr id="3" name="Marcador de texto 2"/>
          <p:cNvSpPr>
            <a:spLocks noGrp="1"/>
          </p:cNvSpPr>
          <p:nvPr>
            <p:ph type="body" idx="1"/>
          </p:nvPr>
        </p:nvSpPr>
        <p:spPr>
          <a:xfrm>
            <a:off x="457200" y="1535113"/>
            <a:ext cx="4040188"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dirty="0"/>
              <a:t>Haga clic para modificar el estilo de texto del patrón</a:t>
            </a:r>
          </a:p>
        </p:txBody>
      </p:sp>
      <p:sp>
        <p:nvSpPr>
          <p:cNvPr id="4" name="Marcador de contenido 3"/>
          <p:cNvSpPr>
            <a:spLocks noGrp="1"/>
          </p:cNvSpPr>
          <p:nvPr>
            <p:ph sz="half" idx="2"/>
          </p:nvPr>
        </p:nvSpPr>
        <p:spPr>
          <a:xfrm>
            <a:off x="457200" y="2174875"/>
            <a:ext cx="4040188" cy="34448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5" name="Marcador de texto 4"/>
          <p:cNvSpPr>
            <a:spLocks noGrp="1"/>
          </p:cNvSpPr>
          <p:nvPr>
            <p:ph type="body" sz="quarter" idx="3"/>
          </p:nvPr>
        </p:nvSpPr>
        <p:spPr>
          <a:xfrm>
            <a:off x="4645025" y="1535113"/>
            <a:ext cx="4041775"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dirty="0"/>
              <a:t>Haga clic para modificar el estilo de texto del patrón</a:t>
            </a:r>
          </a:p>
        </p:txBody>
      </p:sp>
      <p:sp>
        <p:nvSpPr>
          <p:cNvPr id="6" name="Marcador de contenido 5"/>
          <p:cNvSpPr>
            <a:spLocks noGrp="1"/>
          </p:cNvSpPr>
          <p:nvPr>
            <p:ph sz="quarter" idx="4"/>
          </p:nvPr>
        </p:nvSpPr>
        <p:spPr>
          <a:xfrm>
            <a:off x="4645025" y="2174875"/>
            <a:ext cx="4041775" cy="34448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Tree>
    <p:extLst>
      <p:ext uri="{BB962C8B-B14F-4D97-AF65-F5344CB8AC3E}">
        <p14:creationId xmlns:p14="http://schemas.microsoft.com/office/powerpoint/2010/main" val="4022811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Tree>
    <p:extLst>
      <p:ext uri="{BB962C8B-B14F-4D97-AF65-F5344CB8AC3E}">
        <p14:creationId xmlns:p14="http://schemas.microsoft.com/office/powerpoint/2010/main" val="703157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9994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73050"/>
            <a:ext cx="3008313" cy="1162050"/>
          </a:xfrm>
        </p:spPr>
        <p:txBody>
          <a:bodyPr anchor="b"/>
          <a:lstStyle>
            <a:lvl1pPr algn="l">
              <a:defRPr sz="2000" b="1"/>
            </a:lvl1pPr>
          </a:lstStyle>
          <a:p>
            <a:r>
              <a:rPr lang="es-ES_tradnl"/>
              <a:t>Clic para editar título</a:t>
            </a:r>
            <a:endParaRPr lang="es-ES"/>
          </a:p>
        </p:txBody>
      </p:sp>
      <p:sp>
        <p:nvSpPr>
          <p:cNvPr id="3" name="Marcador de contenido 2"/>
          <p:cNvSpPr>
            <a:spLocks noGrp="1"/>
          </p:cNvSpPr>
          <p:nvPr>
            <p:ph idx="1"/>
          </p:nvPr>
        </p:nvSpPr>
        <p:spPr>
          <a:xfrm>
            <a:off x="3575050" y="1435100"/>
            <a:ext cx="5111750" cy="4121151"/>
          </a:xfrm>
        </p:spPr>
        <p:txBody>
          <a:bodyPr/>
          <a:lstStyle>
            <a:lvl1pPr>
              <a:defRPr sz="28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4" name="Marcador de texto 3"/>
          <p:cNvSpPr>
            <a:spLocks noGrp="1"/>
          </p:cNvSpPr>
          <p:nvPr>
            <p:ph type="body" sz="half" idx="2"/>
          </p:nvPr>
        </p:nvSpPr>
        <p:spPr>
          <a:xfrm>
            <a:off x="457200" y="1435101"/>
            <a:ext cx="3008313" cy="4121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Haga clic para modificar el estilo de texto del patrón</a:t>
            </a:r>
          </a:p>
        </p:txBody>
      </p:sp>
    </p:spTree>
    <p:extLst>
      <p:ext uri="{BB962C8B-B14F-4D97-AF65-F5344CB8AC3E}">
        <p14:creationId xmlns:p14="http://schemas.microsoft.com/office/powerpoint/2010/main" val="1539801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792288" y="4800600"/>
            <a:ext cx="5486400" cy="353483"/>
          </a:xfrm>
        </p:spPr>
        <p:txBody>
          <a:bodyPr anchor="t">
            <a:normAutofit/>
          </a:bodyPr>
          <a:lstStyle>
            <a:lvl1pPr algn="r">
              <a:defRPr sz="1600" b="1"/>
            </a:lvl1pPr>
          </a:lstStyle>
          <a:p>
            <a:r>
              <a:rPr lang="es-ES_tradnl" dirty="0"/>
              <a:t>Clic para editar título</a:t>
            </a:r>
            <a:endParaRPr lang="es-ES" dirty="0"/>
          </a:p>
        </p:txBody>
      </p:sp>
      <p:sp>
        <p:nvSpPr>
          <p:cNvPr id="3" name="Marcador de posición de imagen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Marcador de texto 3"/>
          <p:cNvSpPr>
            <a:spLocks noGrp="1"/>
          </p:cNvSpPr>
          <p:nvPr>
            <p:ph type="body" sz="half" idx="2"/>
          </p:nvPr>
        </p:nvSpPr>
        <p:spPr>
          <a:xfrm>
            <a:off x="1792288" y="5167048"/>
            <a:ext cx="5486400" cy="400579"/>
          </a:xfrm>
        </p:spPr>
        <p:txBody>
          <a:bodyPr anchor="t">
            <a:normAutofit/>
          </a:bodyPr>
          <a:lstStyle>
            <a:lvl1pPr marL="0" indent="0" algn="r">
              <a:buNone/>
              <a:defRPr sz="1300">
                <a:solidFill>
                  <a:srgbClr val="40404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dirty="0"/>
              <a:t>Haga clic para modificar el estilo de texto del patrón</a:t>
            </a:r>
          </a:p>
        </p:txBody>
      </p:sp>
    </p:spTree>
    <p:extLst>
      <p:ext uri="{BB962C8B-B14F-4D97-AF65-F5344CB8AC3E}">
        <p14:creationId xmlns:p14="http://schemas.microsoft.com/office/powerpoint/2010/main" val="18165035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texto vertical 2"/>
          <p:cNvSpPr>
            <a:spLocks noGrp="1"/>
          </p:cNvSpPr>
          <p:nvPr>
            <p:ph type="body" orient="vert" idx="1"/>
          </p:nvPr>
        </p:nvSpPr>
        <p:spPr>
          <a:xfrm rot="10800000">
            <a:off x="626528" y="1600200"/>
            <a:ext cx="7596722" cy="3966633"/>
          </a:xfrm>
        </p:spPr>
        <p:txBody>
          <a:bodyPr vert="eaVert"/>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3550998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rot="10800000">
            <a:off x="457200" y="274639"/>
            <a:ext cx="2057400" cy="5186363"/>
          </a:xfrm>
        </p:spPr>
        <p:txBody>
          <a:bodyPr vert="eaVert"/>
          <a:lstStyle/>
          <a:p>
            <a:r>
              <a:rPr lang="es-ES_tradnl" dirty="0"/>
              <a:t>Clic para editar título</a:t>
            </a:r>
            <a:endParaRPr lang="es-ES" dirty="0"/>
          </a:p>
        </p:txBody>
      </p:sp>
      <p:sp>
        <p:nvSpPr>
          <p:cNvPr id="3" name="Marcador de texto vertical 2"/>
          <p:cNvSpPr>
            <a:spLocks noGrp="1"/>
          </p:cNvSpPr>
          <p:nvPr>
            <p:ph type="body" orient="vert" idx="1"/>
          </p:nvPr>
        </p:nvSpPr>
        <p:spPr>
          <a:xfrm rot="10800000">
            <a:off x="2690283" y="274640"/>
            <a:ext cx="6019800" cy="5186362"/>
          </a:xfrm>
        </p:spPr>
        <p:txBody>
          <a:bodyPr vert="eaVert"/>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38408385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2"/>
        <p:cNvGrpSpPr/>
        <p:nvPr/>
      </p:nvGrpSpPr>
      <p:grpSpPr>
        <a:xfrm>
          <a:off x="0" y="0"/>
          <a:ext cx="0" cy="0"/>
          <a:chOff x="0" y="0"/>
          <a:chExt cx="0" cy="0"/>
        </a:xfrm>
      </p:grpSpPr>
      <p:sp>
        <p:nvSpPr>
          <p:cNvPr id="163" name="Google Shape;163;p42"/>
          <p:cNvSpPr txBox="1">
            <a:spLocks noGrp="1"/>
          </p:cNvSpPr>
          <p:nvPr>
            <p:ph type="title"/>
          </p:nvPr>
        </p:nvSpPr>
        <p:spPr>
          <a:xfrm>
            <a:off x="311700" y="593367"/>
            <a:ext cx="85206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64" name="Google Shape;164;p42"/>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65" name="Google Shape;165;p42"/>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s-CO" smtClean="0"/>
              <a:pPr algn="r"/>
              <a:t>‹Nº›</a:t>
            </a:fld>
            <a:endParaRPr lang="es-CO"/>
          </a:p>
        </p:txBody>
      </p:sp>
    </p:spTree>
    <p:extLst>
      <p:ext uri="{BB962C8B-B14F-4D97-AF65-F5344CB8AC3E}">
        <p14:creationId xmlns:p14="http://schemas.microsoft.com/office/powerpoint/2010/main" val="3179630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emf"/><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626528" y="636588"/>
            <a:ext cx="7596722" cy="760412"/>
          </a:xfrm>
          <a:prstGeom prst="rect">
            <a:avLst/>
          </a:prstGeom>
        </p:spPr>
        <p:txBody>
          <a:bodyPr vert="horz" lIns="91440" tIns="45720" rIns="91440" bIns="45720" rtlCol="0" anchor="t">
            <a:normAutofit/>
          </a:bodyPr>
          <a:lstStyle/>
          <a:p>
            <a:r>
              <a:rPr lang="es-ES_tradnl" dirty="0"/>
              <a:t>Clic para editar título</a:t>
            </a:r>
            <a:endParaRPr lang="es-ES" dirty="0"/>
          </a:p>
        </p:txBody>
      </p:sp>
      <p:sp>
        <p:nvSpPr>
          <p:cNvPr id="3" name="Marcador de texto 2"/>
          <p:cNvSpPr>
            <a:spLocks noGrp="1"/>
          </p:cNvSpPr>
          <p:nvPr>
            <p:ph type="body" idx="1"/>
          </p:nvPr>
        </p:nvSpPr>
        <p:spPr>
          <a:xfrm>
            <a:off x="626528" y="1600200"/>
            <a:ext cx="7596722" cy="3966633"/>
          </a:xfrm>
          <a:prstGeom prst="rect">
            <a:avLst/>
          </a:prstGeom>
        </p:spPr>
        <p:txBody>
          <a:bodyPr vert="horz" lIns="91440" tIns="45720" rIns="91440" bIns="45720" rtlCol="0">
            <a:normAutofit/>
          </a:body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pic>
        <p:nvPicPr>
          <p:cNvPr id="12" name="Imagen 11" descr="cuadrado_azul.png"/>
          <p:cNvPicPr>
            <a:picLocks/>
          </p:cNvPicPr>
          <p:nvPr/>
        </p:nvPicPr>
        <p:blipFill>
          <a:blip r:embed="rId16">
            <a:extLst>
              <a:ext uri="{28A0092B-C50C-407E-A947-70E740481C1C}">
                <a14:useLocalDpi xmlns:a14="http://schemas.microsoft.com/office/drawing/2010/main" val="0"/>
              </a:ext>
            </a:extLst>
          </a:blip>
          <a:stretch>
            <a:fillRect/>
          </a:stretch>
        </p:blipFill>
        <p:spPr>
          <a:xfrm>
            <a:off x="-18000" y="5860583"/>
            <a:ext cx="9180001" cy="1008000"/>
          </a:xfrm>
          <a:prstGeom prst="rect">
            <a:avLst/>
          </a:prstGeom>
          <a:ln>
            <a:noFill/>
          </a:ln>
        </p:spPr>
      </p:pic>
      <p:pic>
        <p:nvPicPr>
          <p:cNvPr id="13" name="Imagen 12" descr="escudoPUJ_lateral.eps"/>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6993548" y="5914584"/>
            <a:ext cx="1918488" cy="899999"/>
          </a:xfrm>
          <a:prstGeom prst="rect">
            <a:avLst/>
          </a:prstGeom>
        </p:spPr>
      </p:pic>
      <p:sp>
        <p:nvSpPr>
          <p:cNvPr id="14" name="Subtítulo 2"/>
          <p:cNvSpPr txBox="1">
            <a:spLocks/>
          </p:cNvSpPr>
          <p:nvPr userDrawn="1"/>
        </p:nvSpPr>
        <p:spPr>
          <a:xfrm>
            <a:off x="5247178" y="6126163"/>
            <a:ext cx="1605280" cy="523771"/>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pt-BR" sz="1200" dirty="0">
                <a:solidFill>
                  <a:schemeClr val="bg1"/>
                </a:solidFill>
                <a:latin typeface="Arial"/>
                <a:cs typeface="Arial"/>
              </a:rPr>
              <a:t>Nombre o logo</a:t>
            </a:r>
          </a:p>
          <a:p>
            <a:r>
              <a:rPr lang="pt-BR" sz="1200" dirty="0">
                <a:solidFill>
                  <a:schemeClr val="bg1"/>
                </a:solidFill>
                <a:latin typeface="Arial"/>
                <a:cs typeface="Arial"/>
              </a:rPr>
              <a:t>de la dependencia</a:t>
            </a:r>
            <a:endParaRPr lang="es-ES" sz="1200" dirty="0">
              <a:solidFill>
                <a:schemeClr val="bg1"/>
              </a:solidFill>
              <a:latin typeface="Arial"/>
              <a:cs typeface="Arial"/>
            </a:endParaRPr>
          </a:p>
        </p:txBody>
      </p:sp>
      <p:sp>
        <p:nvSpPr>
          <p:cNvPr id="15" name="Título 1"/>
          <p:cNvSpPr txBox="1">
            <a:spLocks/>
          </p:cNvSpPr>
          <p:nvPr userDrawn="1"/>
        </p:nvSpPr>
        <p:spPr>
          <a:xfrm>
            <a:off x="300928" y="6178263"/>
            <a:ext cx="4331548" cy="368789"/>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s-ES_tradnl" sz="1300" b="1" dirty="0">
                <a:solidFill>
                  <a:srgbClr val="FFFFFF"/>
                </a:solidFill>
                <a:latin typeface="Arial"/>
                <a:cs typeface="Arial"/>
              </a:rPr>
              <a:t>Título de la presentación</a:t>
            </a:r>
          </a:p>
        </p:txBody>
      </p:sp>
    </p:spTree>
    <p:extLst>
      <p:ext uri="{BB962C8B-B14F-4D97-AF65-F5344CB8AC3E}">
        <p14:creationId xmlns:p14="http://schemas.microsoft.com/office/powerpoint/2010/main" val="1833914475"/>
      </p:ext>
    </p:extLst>
  </p:cSld>
  <p:clrMap bg1="lt1" tx1="dk1" bg2="lt2" tx2="dk2" accent1="accent1" accent2="accent2" accent3="accent3" accent4="accent4" accent5="accent5" accent6="accent6" hlink="hlink" folHlink="folHlink"/>
  <p:sldLayoutIdLst>
    <p:sldLayoutId id="2147483661" r:id="rId1"/>
    <p:sldLayoutId id="2147483660"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2" r:id="rId14"/>
  </p:sldLayoutIdLst>
  <p:hf hdr="0" ftr="0" dt="0"/>
  <p:txStyles>
    <p:titleStyle>
      <a:lvl1pPr algn="l" defTabSz="457200" rtl="0" eaLnBrk="1" latinLnBrk="0" hangingPunct="1">
        <a:spcBef>
          <a:spcPct val="0"/>
        </a:spcBef>
        <a:buNone/>
        <a:defRPr sz="3000" b="1" kern="1200">
          <a:solidFill>
            <a:srgbClr val="2C5697"/>
          </a:solidFill>
          <a:latin typeface="Arial"/>
          <a:ea typeface="+mj-ea"/>
          <a:cs typeface="Arial"/>
        </a:defRPr>
      </a:lvl1pPr>
    </p:titleStyle>
    <p:bodyStyle>
      <a:lvl1pPr marL="0" indent="0" algn="l" defTabSz="457200" rtl="0" eaLnBrk="1" latinLnBrk="0" hangingPunct="1">
        <a:spcBef>
          <a:spcPct val="20000"/>
        </a:spcBef>
        <a:buFont typeface="Arial"/>
        <a:buNone/>
        <a:defRPr sz="2400" kern="1200">
          <a:solidFill>
            <a:srgbClr val="404040"/>
          </a:solidFill>
          <a:latin typeface="Arial"/>
          <a:ea typeface="+mn-ea"/>
          <a:cs typeface="Arial"/>
        </a:defRPr>
      </a:lvl1pPr>
      <a:lvl2pPr marL="742950" indent="-285750" algn="l" defTabSz="457200" rtl="0" eaLnBrk="1" latinLnBrk="0" hangingPunct="1">
        <a:spcBef>
          <a:spcPct val="20000"/>
        </a:spcBef>
        <a:buClr>
          <a:srgbClr val="2C5697"/>
        </a:buClr>
        <a:buSzPct val="90000"/>
        <a:buFont typeface="Arial"/>
        <a:buChar char="•"/>
        <a:defRPr sz="2400" kern="1200">
          <a:solidFill>
            <a:srgbClr val="404040"/>
          </a:solidFill>
          <a:latin typeface="Arial"/>
          <a:ea typeface="+mn-ea"/>
          <a:cs typeface="Arial"/>
        </a:defRPr>
      </a:lvl2pPr>
      <a:lvl3pPr marL="1143000" indent="-228600" algn="l" defTabSz="457200" rtl="0" eaLnBrk="1" latinLnBrk="0" hangingPunct="1">
        <a:spcBef>
          <a:spcPct val="20000"/>
        </a:spcBef>
        <a:buClr>
          <a:srgbClr val="2C5697"/>
        </a:buClr>
        <a:buSzPct val="80000"/>
        <a:buFont typeface="Wingdings" charset="2"/>
        <a:buChar char="§"/>
        <a:defRPr sz="2200" kern="1200">
          <a:solidFill>
            <a:schemeClr val="tx1">
              <a:lumMod val="75000"/>
              <a:lumOff val="25000"/>
            </a:schemeClr>
          </a:solidFill>
          <a:latin typeface="Arial"/>
          <a:ea typeface="+mn-ea"/>
          <a:cs typeface="Arial"/>
        </a:defRPr>
      </a:lvl3pPr>
      <a:lvl4pPr marL="1600200" indent="-228600" algn="l" defTabSz="457200" rtl="0" eaLnBrk="1" latinLnBrk="0" hangingPunct="1">
        <a:spcBef>
          <a:spcPct val="20000"/>
        </a:spcBef>
        <a:buClr>
          <a:srgbClr val="2C5697"/>
        </a:buClr>
        <a:buSzPct val="80000"/>
        <a:buFont typeface="Arial"/>
        <a:buChar char="–"/>
        <a:defRPr sz="2000" kern="1200">
          <a:solidFill>
            <a:srgbClr val="404040"/>
          </a:solidFill>
          <a:latin typeface="Arial"/>
          <a:ea typeface="+mn-ea"/>
          <a:cs typeface="Arial"/>
        </a:defRPr>
      </a:lvl4pPr>
      <a:lvl5pPr marL="2057400" indent="-228600" algn="l" defTabSz="457200" rtl="0" eaLnBrk="1" latinLnBrk="0" hangingPunct="1">
        <a:spcBef>
          <a:spcPct val="20000"/>
        </a:spcBef>
        <a:buClr>
          <a:srgbClr val="2C5697"/>
        </a:buClr>
        <a:buFont typeface="Arial"/>
        <a:buChar char="»"/>
        <a:defRPr sz="1800" kern="1200">
          <a:solidFill>
            <a:srgbClr val="404040"/>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emf"/></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1.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3.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14.png"/><Relationship Id="rId2" Type="http://schemas.openxmlformats.org/officeDocument/2006/relationships/slideLayout" Target="../slideLayouts/slideLayout4.xml"/><Relationship Id="rId1" Type="http://schemas.openxmlformats.org/officeDocument/2006/relationships/tags" Target="../tags/tag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18.jpeg"/><Relationship Id="rId2" Type="http://schemas.openxmlformats.org/officeDocument/2006/relationships/slideLayout" Target="../slideLayouts/slideLayout4.xml"/><Relationship Id="rId1" Type="http://schemas.openxmlformats.org/officeDocument/2006/relationships/tags" Target="../tags/tag5.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tags" Target="../tags/tag6.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24.png"/><Relationship Id="rId2" Type="http://schemas.openxmlformats.org/officeDocument/2006/relationships/slideLayout" Target="../slideLayouts/slideLayout4.xml"/><Relationship Id="rId1" Type="http://schemas.openxmlformats.org/officeDocument/2006/relationships/tags" Target="../tags/tag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8.xml"/><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9.xml"/><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10.xml"/><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32.png"/><Relationship Id="rId2" Type="http://schemas.openxmlformats.org/officeDocument/2006/relationships/slideLayout" Target="../slideLayouts/slideLayout4.xml"/><Relationship Id="rId1" Type="http://schemas.openxmlformats.org/officeDocument/2006/relationships/tags" Target="../tags/tag1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12.xml"/><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13.xml"/><Relationship Id="rId5" Type="http://schemas.openxmlformats.org/officeDocument/2006/relationships/image" Target="../media/image35.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hyperlink" Target="https://www.youtube.com/watch?v=I1Bdp2tMFsY" TargetMode="External"/><Relationship Id="rId2" Type="http://schemas.openxmlformats.org/officeDocument/2006/relationships/slideLayout" Target="../slideLayouts/slideLayout4.xml"/><Relationship Id="rId1" Type="http://schemas.openxmlformats.org/officeDocument/2006/relationships/tags" Target="../tags/tag14.xml"/><Relationship Id="rId6" Type="http://schemas.openxmlformats.org/officeDocument/2006/relationships/image" Target="../media/image38.jpeg"/><Relationship Id="rId5" Type="http://schemas.openxmlformats.org/officeDocument/2006/relationships/image" Target="../media/image37.png"/><Relationship Id="rId4" Type="http://schemas.openxmlformats.org/officeDocument/2006/relationships/image" Target="../media/image36.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15.xml"/><Relationship Id="rId5" Type="http://schemas.openxmlformats.org/officeDocument/2006/relationships/image" Target="../media/image40.jpeg"/><Relationship Id="rId4" Type="http://schemas.openxmlformats.org/officeDocument/2006/relationships/image" Target="../media/image39.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16.xml"/><Relationship Id="rId4" Type="http://schemas.openxmlformats.org/officeDocument/2006/relationships/image" Target="../media/image4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17.xml"/><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18.xml"/><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19.xml"/><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20.xml"/><Relationship Id="rId5" Type="http://schemas.openxmlformats.org/officeDocument/2006/relationships/image" Target="../media/image18.jpeg"/><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0" y="0"/>
            <a:ext cx="9144000" cy="6858000"/>
          </a:xfrm>
          <a:prstGeom prst="rect">
            <a:avLst/>
          </a:prstGeom>
          <a:ln>
            <a:noFill/>
          </a:ln>
          <a:effectLst/>
        </p:spPr>
        <p:style>
          <a:lnRef idx="1">
            <a:schemeClr val="dk1"/>
          </a:lnRef>
          <a:fillRef idx="2">
            <a:schemeClr val="dk1"/>
          </a:fillRef>
          <a:effectRef idx="1">
            <a:schemeClr val="dk1"/>
          </a:effectRef>
          <a:fontRef idx="minor">
            <a:schemeClr val="dk1"/>
          </a:fontRef>
        </p:style>
        <p:txBody>
          <a:bodyPr rtlCol="0" anchor="ctr"/>
          <a:lstStyle/>
          <a:p>
            <a:pPr algn="ctr"/>
            <a:endParaRPr lang="es-ES"/>
          </a:p>
        </p:txBody>
      </p:sp>
      <p:sp>
        <p:nvSpPr>
          <p:cNvPr id="10" name="Rectángulo 9"/>
          <p:cNvSpPr/>
          <p:nvPr/>
        </p:nvSpPr>
        <p:spPr>
          <a:xfrm>
            <a:off x="1920240" y="3636382"/>
            <a:ext cx="5303520" cy="1593164"/>
          </a:xfrm>
          <a:prstGeom prst="rect">
            <a:avLst/>
          </a:prstGeom>
          <a:solidFill>
            <a:schemeClr val="bg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p>
        </p:txBody>
      </p:sp>
      <p:sp>
        <p:nvSpPr>
          <p:cNvPr id="2" name="Título 1"/>
          <p:cNvSpPr>
            <a:spLocks noGrp="1"/>
          </p:cNvSpPr>
          <p:nvPr>
            <p:ph type="ctrTitle" idx="4294967295"/>
          </p:nvPr>
        </p:nvSpPr>
        <p:spPr>
          <a:xfrm>
            <a:off x="1920240" y="3770313"/>
            <a:ext cx="5303520" cy="593725"/>
          </a:xfrm>
        </p:spPr>
        <p:txBody>
          <a:bodyPr>
            <a:normAutofit/>
          </a:bodyPr>
          <a:lstStyle/>
          <a:p>
            <a:pPr algn="ctr"/>
            <a:r>
              <a:rPr lang="es-ES_tradnl" sz="2800" dirty="0"/>
              <a:t>Sensores piezoeléctricos</a:t>
            </a:r>
            <a:endParaRPr lang="es-ES_tradnl" sz="2800" b="1" dirty="0">
              <a:solidFill>
                <a:srgbClr val="2C5697"/>
              </a:solidFill>
              <a:latin typeface="Arial"/>
              <a:cs typeface="Arial"/>
            </a:endParaRPr>
          </a:p>
        </p:txBody>
      </p:sp>
      <p:sp>
        <p:nvSpPr>
          <p:cNvPr id="3" name="Subtítulo 2"/>
          <p:cNvSpPr>
            <a:spLocks noGrp="1"/>
          </p:cNvSpPr>
          <p:nvPr>
            <p:ph type="subTitle" idx="4294967295"/>
          </p:nvPr>
        </p:nvSpPr>
        <p:spPr>
          <a:xfrm>
            <a:off x="2103438" y="4556370"/>
            <a:ext cx="4937125" cy="674670"/>
          </a:xfrm>
        </p:spPr>
        <p:txBody>
          <a:bodyPr>
            <a:normAutofit/>
          </a:bodyPr>
          <a:lstStyle/>
          <a:p>
            <a:pPr algn="ctr"/>
            <a:r>
              <a:rPr lang="pt-BR" sz="1600" dirty="0">
                <a:solidFill>
                  <a:srgbClr val="2C5697"/>
                </a:solidFill>
              </a:rPr>
              <a:t>Pedro Antonio Aya Parra</a:t>
            </a:r>
          </a:p>
          <a:p>
            <a:pPr algn="ctr"/>
            <a:r>
              <a:rPr lang="pt-BR" sz="1600" dirty="0" err="1">
                <a:solidFill>
                  <a:srgbClr val="2C5697"/>
                </a:solidFill>
                <a:latin typeface="Arial"/>
                <a:cs typeface="Arial"/>
              </a:rPr>
              <a:t>Facultad</a:t>
            </a:r>
            <a:r>
              <a:rPr lang="pt-BR" sz="1600" dirty="0">
                <a:solidFill>
                  <a:srgbClr val="2C5697"/>
                </a:solidFill>
                <a:latin typeface="Arial"/>
                <a:cs typeface="Arial"/>
              </a:rPr>
              <a:t> de </a:t>
            </a:r>
            <a:r>
              <a:rPr lang="pt-BR" sz="1600" dirty="0" err="1">
                <a:solidFill>
                  <a:srgbClr val="2C5697"/>
                </a:solidFill>
                <a:latin typeface="Arial"/>
                <a:cs typeface="Arial"/>
              </a:rPr>
              <a:t>ingeniería</a:t>
            </a:r>
            <a:endParaRPr lang="es-ES" sz="1600" dirty="0">
              <a:solidFill>
                <a:srgbClr val="2C5697"/>
              </a:solidFill>
              <a:latin typeface="Arial"/>
              <a:cs typeface="Arial"/>
            </a:endParaRPr>
          </a:p>
        </p:txBody>
      </p:sp>
      <p:grpSp>
        <p:nvGrpSpPr>
          <p:cNvPr id="17" name="Agrupar 16"/>
          <p:cNvGrpSpPr/>
          <p:nvPr/>
        </p:nvGrpSpPr>
        <p:grpSpPr>
          <a:xfrm>
            <a:off x="3495041" y="0"/>
            <a:ext cx="2153920" cy="2590800"/>
            <a:chOff x="3495041" y="0"/>
            <a:chExt cx="2153920" cy="2590800"/>
          </a:xfrm>
        </p:grpSpPr>
        <p:pic>
          <p:nvPicPr>
            <p:cNvPr id="9" name="Imagen 8" descr="cuadrado_azul.png"/>
            <p:cNvPicPr>
              <a:picLocks/>
            </p:cNvPicPr>
            <p:nvPr/>
          </p:nvPicPr>
          <p:blipFill>
            <a:blip r:embed="rId2">
              <a:extLst>
                <a:ext uri="{28A0092B-C50C-407E-A947-70E740481C1C}">
                  <a14:useLocalDpi xmlns:a14="http://schemas.microsoft.com/office/drawing/2010/main" val="0"/>
                </a:ext>
              </a:extLst>
            </a:blip>
            <a:stretch>
              <a:fillRect/>
            </a:stretch>
          </p:blipFill>
          <p:spPr>
            <a:xfrm>
              <a:off x="3495041" y="0"/>
              <a:ext cx="2153920" cy="2590800"/>
            </a:xfrm>
            <a:prstGeom prst="rect">
              <a:avLst/>
            </a:prstGeom>
          </p:spPr>
        </p:pic>
        <p:pic>
          <p:nvPicPr>
            <p:cNvPr id="13" name="Imagen 12" descr="escudoPUJ_central.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2003" y="200909"/>
              <a:ext cx="1979996" cy="2118596"/>
            </a:xfrm>
            <a:prstGeom prst="rect">
              <a:avLst/>
            </a:prstGeom>
          </p:spPr>
        </p:pic>
        <p:pic>
          <p:nvPicPr>
            <p:cNvPr id="16" name="Imagen 15" descr="texto_vigilada_mineducacion_rgb-negativo.eps"/>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14001" y="2382779"/>
              <a:ext cx="1116000" cy="84717"/>
            </a:xfrm>
            <a:prstGeom prst="rect">
              <a:avLst/>
            </a:prstGeom>
          </p:spPr>
        </p:pic>
      </p:grpSp>
      <p:sp>
        <p:nvSpPr>
          <p:cNvPr id="5" name="CuadroTexto 4"/>
          <p:cNvSpPr txBox="1"/>
          <p:nvPr/>
        </p:nvSpPr>
        <p:spPr>
          <a:xfrm>
            <a:off x="6040703" y="6258730"/>
            <a:ext cx="184666" cy="369332"/>
          </a:xfrm>
          <a:prstGeom prst="rect">
            <a:avLst/>
          </a:prstGeom>
          <a:noFill/>
        </p:spPr>
        <p:txBody>
          <a:bodyPr wrap="none" rtlCol="0">
            <a:spAutoFit/>
          </a:bodyPr>
          <a:lstStyle/>
          <a:p>
            <a:endParaRPr lang="es-ES" dirty="0"/>
          </a:p>
        </p:txBody>
      </p:sp>
      <p:sp>
        <p:nvSpPr>
          <p:cNvPr id="7" name="CuadroTexto 6"/>
          <p:cNvSpPr txBox="1"/>
          <p:nvPr/>
        </p:nvSpPr>
        <p:spPr>
          <a:xfrm>
            <a:off x="1498735" y="6052775"/>
            <a:ext cx="184666" cy="369332"/>
          </a:xfrm>
          <a:prstGeom prst="rect">
            <a:avLst/>
          </a:prstGeom>
          <a:noFill/>
        </p:spPr>
        <p:txBody>
          <a:bodyPr wrap="none" rtlCol="0">
            <a:spAutoFit/>
          </a:bodyPr>
          <a:lstStyle/>
          <a:p>
            <a:endParaRPr lang="es-ES" dirty="0"/>
          </a:p>
        </p:txBody>
      </p:sp>
    </p:spTree>
    <p:extLst>
      <p:ext uri="{BB962C8B-B14F-4D97-AF65-F5344CB8AC3E}">
        <p14:creationId xmlns:p14="http://schemas.microsoft.com/office/powerpoint/2010/main" val="3908148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Sensores piezoeléctricos</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Piezoelectricidad</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2</a:t>
            </a:fld>
            <a:endParaRPr lang="es-CO" sz="1200" dirty="0">
              <a:solidFill>
                <a:schemeClr val="bg1"/>
              </a:solidFill>
            </a:endParaRPr>
          </a:p>
        </p:txBody>
      </p:sp>
      <p:sp>
        <p:nvSpPr>
          <p:cNvPr id="5" name="CuadroTexto 4">
            <a:extLst>
              <a:ext uri="{FF2B5EF4-FFF2-40B4-BE49-F238E27FC236}">
                <a16:creationId xmlns:a16="http://schemas.microsoft.com/office/drawing/2014/main" id="{47FDDD06-4FDD-E25E-6087-BBD5CD82D116}"/>
              </a:ext>
            </a:extLst>
          </p:cNvPr>
          <p:cNvSpPr txBox="1"/>
          <p:nvPr/>
        </p:nvSpPr>
        <p:spPr>
          <a:xfrm>
            <a:off x="261462" y="590833"/>
            <a:ext cx="8690513" cy="646331"/>
          </a:xfrm>
          <a:prstGeom prst="rect">
            <a:avLst/>
          </a:prstGeom>
          <a:noFill/>
        </p:spPr>
        <p:txBody>
          <a:bodyPr wrap="square">
            <a:spAutoFit/>
          </a:bodyPr>
          <a:lstStyle/>
          <a:p>
            <a:r>
              <a:rPr lang="es-ES" dirty="0"/>
              <a:t>Los </a:t>
            </a:r>
            <a:r>
              <a:rPr lang="es-ES" dirty="0">
                <a:solidFill>
                  <a:srgbClr val="C00000"/>
                </a:solidFill>
              </a:rPr>
              <a:t>cationes</a:t>
            </a:r>
            <a:r>
              <a:rPr lang="es-ES" dirty="0"/>
              <a:t> se desplazan en la dirección del campo eléctrico y los </a:t>
            </a:r>
            <a:r>
              <a:rPr lang="es-ES" dirty="0">
                <a:solidFill>
                  <a:srgbClr val="C00000"/>
                </a:solidFill>
              </a:rPr>
              <a:t>aniones </a:t>
            </a:r>
            <a:r>
              <a:rPr lang="es-ES" dirty="0"/>
              <a:t>en la dirección opuesta, lo que resulta en una </a:t>
            </a:r>
            <a:r>
              <a:rPr lang="es-ES" dirty="0">
                <a:solidFill>
                  <a:srgbClr val="C00000"/>
                </a:solidFill>
              </a:rPr>
              <a:t>deformación neta del material</a:t>
            </a:r>
            <a:r>
              <a:rPr lang="es-ES" dirty="0"/>
              <a:t>. </a:t>
            </a:r>
            <a:endParaRPr lang="es-MX" dirty="0"/>
          </a:p>
        </p:txBody>
      </p:sp>
      <p:sp>
        <p:nvSpPr>
          <p:cNvPr id="6" name="CuadroTexto 5">
            <a:extLst>
              <a:ext uri="{FF2B5EF4-FFF2-40B4-BE49-F238E27FC236}">
                <a16:creationId xmlns:a16="http://schemas.microsoft.com/office/drawing/2014/main" id="{72F3AB2F-E016-900C-0C6B-246ADD0F8A29}"/>
              </a:ext>
            </a:extLst>
          </p:cNvPr>
          <p:cNvSpPr txBox="1"/>
          <p:nvPr/>
        </p:nvSpPr>
        <p:spPr>
          <a:xfrm>
            <a:off x="226743" y="5028602"/>
            <a:ext cx="8690513" cy="923330"/>
          </a:xfrm>
          <a:prstGeom prst="rect">
            <a:avLst/>
          </a:prstGeom>
          <a:noFill/>
        </p:spPr>
        <p:txBody>
          <a:bodyPr wrap="square">
            <a:spAutoFit/>
          </a:bodyPr>
          <a:lstStyle/>
          <a:p>
            <a:r>
              <a:rPr lang="es-ES" dirty="0"/>
              <a:t>En este caso, la deformación es proporcional al cuadrado del campo eléctrico. Es decir, la </a:t>
            </a:r>
            <a:r>
              <a:rPr lang="es-ES" dirty="0">
                <a:solidFill>
                  <a:srgbClr val="C00000"/>
                </a:solidFill>
              </a:rPr>
              <a:t>deformación es independiente de la dirección del campo eléctrico aplicado</a:t>
            </a:r>
            <a:r>
              <a:rPr lang="es-ES" dirty="0"/>
              <a:t>. El efecto se denomina efecto </a:t>
            </a:r>
            <a:r>
              <a:rPr lang="es-ES" dirty="0" err="1">
                <a:solidFill>
                  <a:srgbClr val="C00000"/>
                </a:solidFill>
              </a:rPr>
              <a:t>electroestrictivo</a:t>
            </a:r>
            <a:r>
              <a:rPr lang="es-ES" dirty="0"/>
              <a:t>.</a:t>
            </a:r>
            <a:endParaRPr lang="es-MX" dirty="0"/>
          </a:p>
        </p:txBody>
      </p:sp>
      <p:sp>
        <p:nvSpPr>
          <p:cNvPr id="10" name="TextBox 32">
            <a:extLst>
              <a:ext uri="{FF2B5EF4-FFF2-40B4-BE49-F238E27FC236}">
                <a16:creationId xmlns:a16="http://schemas.microsoft.com/office/drawing/2014/main" id="{1B893A10-9D4D-2A32-22E3-3DD546488735}"/>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00" dirty="0">
                <a:solidFill>
                  <a:schemeClr val="bg1"/>
                </a:solidFill>
                <a:latin typeface="Arial"/>
              </a:rPr>
              <a:t>Piezoelectric Materials and Devices: Practice and Applications</a:t>
            </a:r>
            <a:endParaRPr lang="en-US" sz="700" dirty="0">
              <a:solidFill>
                <a:schemeClr val="bg1"/>
              </a:solidFill>
              <a:cs typeface="Calibri"/>
            </a:endParaRPr>
          </a:p>
        </p:txBody>
      </p:sp>
      <p:pic>
        <p:nvPicPr>
          <p:cNvPr id="7" name="Imagen 6" descr="Diagrama&#10;&#10;El contenido generado por IA puede ser incorrecto.">
            <a:extLst>
              <a:ext uri="{FF2B5EF4-FFF2-40B4-BE49-F238E27FC236}">
                <a16:creationId xmlns:a16="http://schemas.microsoft.com/office/drawing/2014/main" id="{B2E808CF-4FAA-93A7-C384-FEE3B98BD817}"/>
              </a:ext>
            </a:extLst>
          </p:cNvPr>
          <p:cNvPicPr>
            <a:picLocks noChangeAspect="1"/>
          </p:cNvPicPr>
          <p:nvPr/>
        </p:nvPicPr>
        <p:blipFill>
          <a:blip r:embed="rId4"/>
          <a:stretch>
            <a:fillRect/>
          </a:stretch>
        </p:blipFill>
        <p:spPr>
          <a:xfrm>
            <a:off x="2354330" y="1397968"/>
            <a:ext cx="4417945" cy="3516324"/>
          </a:xfrm>
          <a:prstGeom prst="rect">
            <a:avLst/>
          </a:prstGeom>
        </p:spPr>
      </p:pic>
    </p:spTree>
    <p:custDataLst>
      <p:tags r:id="rId1"/>
    </p:custDataLst>
    <p:extLst>
      <p:ext uri="{BB962C8B-B14F-4D97-AF65-F5344CB8AC3E}">
        <p14:creationId xmlns:p14="http://schemas.microsoft.com/office/powerpoint/2010/main" val="3076905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3ECCBB-A1D5-67BA-5E6E-14674E6E15CC}"/>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91E1A4CB-BB28-986A-BAF4-C496E074F862}"/>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49B9B9DB-C5CD-F383-8F14-F9FB96FAD670}"/>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Sensores piezoeléctricos</a:t>
            </a:r>
            <a:endParaRPr lang="en-US" dirty="0">
              <a:solidFill>
                <a:schemeClr val="bg1"/>
              </a:solidFill>
            </a:endParaRPr>
          </a:p>
        </p:txBody>
      </p:sp>
      <p:sp>
        <p:nvSpPr>
          <p:cNvPr id="12" name="Rectángulo 6">
            <a:extLst>
              <a:ext uri="{FF2B5EF4-FFF2-40B4-BE49-F238E27FC236}">
                <a16:creationId xmlns:a16="http://schemas.microsoft.com/office/drawing/2014/main" id="{1B5594D8-4F63-195D-A2C0-A285C4E7DD29}"/>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Piezoelectricidad</a:t>
            </a:r>
            <a:endParaRPr lang="en-US" dirty="0"/>
          </a:p>
        </p:txBody>
      </p:sp>
      <p:sp>
        <p:nvSpPr>
          <p:cNvPr id="18" name="Marcador de número de diapositiva 3">
            <a:extLst>
              <a:ext uri="{FF2B5EF4-FFF2-40B4-BE49-F238E27FC236}">
                <a16:creationId xmlns:a16="http://schemas.microsoft.com/office/drawing/2014/main" id="{5B91C427-25C9-2723-2863-48880930F922}"/>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3</a:t>
            </a:fld>
            <a:endParaRPr lang="es-CO" sz="1200" dirty="0">
              <a:solidFill>
                <a:schemeClr val="bg1"/>
              </a:solidFill>
            </a:endParaRP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41944CAC-9ABF-D21E-121F-2DA8DA6A5F59}"/>
                  </a:ext>
                </a:extLst>
              </p:cNvPr>
              <p:cNvSpPr txBox="1"/>
              <p:nvPr/>
            </p:nvSpPr>
            <p:spPr>
              <a:xfrm>
                <a:off x="261462" y="590833"/>
                <a:ext cx="8690513" cy="923330"/>
              </a:xfrm>
              <a:prstGeom prst="rect">
                <a:avLst/>
              </a:prstGeom>
              <a:noFill/>
            </p:spPr>
            <p:txBody>
              <a:bodyPr wrap="square">
                <a:spAutoFit/>
              </a:bodyPr>
              <a:lstStyle/>
              <a:p>
                <a:r>
                  <a:rPr lang="es-ES" dirty="0"/>
                  <a:t>En un átomo o una molécula, cuando los centros de las </a:t>
                </a:r>
                <a:r>
                  <a:rPr lang="es-ES" dirty="0">
                    <a:solidFill>
                      <a:srgbClr val="C00000"/>
                    </a:solidFill>
                  </a:rPr>
                  <a:t>cargas positivas</a:t>
                </a:r>
                <a:r>
                  <a:rPr lang="es-ES" dirty="0"/>
                  <a:t> y </a:t>
                </a:r>
                <a:r>
                  <a:rPr lang="es-ES" dirty="0">
                    <a:solidFill>
                      <a:srgbClr val="C00000"/>
                    </a:solidFill>
                  </a:rPr>
                  <a:t>negativas </a:t>
                </a:r>
                <a:r>
                  <a:rPr lang="es-ES" dirty="0"/>
                  <a:t>se encuentran separados por una cierta distancia </a:t>
                </a:r>
                <a14:m>
                  <m:oMath xmlns:m="http://schemas.openxmlformats.org/officeDocument/2006/math">
                    <m:r>
                      <a:rPr lang="es-ES" i="1">
                        <a:latin typeface="Cambria Math" panose="02040503050406030204" pitchFamily="18" charset="0"/>
                      </a:rPr>
                      <m:t>𝑑</m:t>
                    </m:r>
                  </m:oMath>
                </a14:m>
                <a:r>
                  <a:rPr lang="es-ES" dirty="0"/>
                  <a:t>, el átomo o la molécula posee un </a:t>
                </a:r>
                <a:r>
                  <a:rPr lang="es-ES" dirty="0">
                    <a:solidFill>
                      <a:srgbClr val="C00000"/>
                    </a:solidFill>
                  </a:rPr>
                  <a:t>momento dipolar eléctrico </a:t>
                </a:r>
                <a:r>
                  <a:rPr lang="es-ES" dirty="0"/>
                  <a:t>dado por:</a:t>
                </a:r>
                <a:endParaRPr lang="es-MX" dirty="0"/>
              </a:p>
            </p:txBody>
          </p:sp>
        </mc:Choice>
        <mc:Fallback xmlns="">
          <p:sp>
            <p:nvSpPr>
              <p:cNvPr id="5" name="CuadroTexto 4">
                <a:extLst>
                  <a:ext uri="{FF2B5EF4-FFF2-40B4-BE49-F238E27FC236}">
                    <a16:creationId xmlns:a16="http://schemas.microsoft.com/office/drawing/2014/main" id="{41944CAC-9ABF-D21E-121F-2DA8DA6A5F59}"/>
                  </a:ext>
                </a:extLst>
              </p:cNvPr>
              <p:cNvSpPr txBox="1">
                <a:spLocks noRot="1" noChangeAspect="1" noMove="1" noResize="1" noEditPoints="1" noAdjustHandles="1" noChangeArrowheads="1" noChangeShapeType="1" noTextEdit="1"/>
              </p:cNvSpPr>
              <p:nvPr/>
            </p:nvSpPr>
            <p:spPr>
              <a:xfrm>
                <a:off x="261462" y="590833"/>
                <a:ext cx="8690513" cy="923330"/>
              </a:xfrm>
              <a:prstGeom prst="rect">
                <a:avLst/>
              </a:prstGeom>
              <a:blipFill>
                <a:blip r:embed="rId4"/>
                <a:stretch>
                  <a:fillRect l="-632" t="-3974" b="-9934"/>
                </a:stretch>
              </a:blipFill>
            </p:spPr>
            <p:txBody>
              <a:bodyPr/>
              <a:lstStyle/>
              <a:p>
                <a:r>
                  <a:rPr lang="es-CO">
                    <a:noFill/>
                  </a:rPr>
                  <a:t> </a:t>
                </a:r>
              </a:p>
            </p:txBody>
          </p:sp>
        </mc:Fallback>
      </mc:AlternateContent>
      <p:pic>
        <p:nvPicPr>
          <p:cNvPr id="7" name="Imagen 6">
            <a:extLst>
              <a:ext uri="{FF2B5EF4-FFF2-40B4-BE49-F238E27FC236}">
                <a16:creationId xmlns:a16="http://schemas.microsoft.com/office/drawing/2014/main" id="{4094515F-C8F8-4EE4-7424-E9F60C1227B6}"/>
              </a:ext>
            </a:extLst>
          </p:cNvPr>
          <p:cNvPicPr>
            <a:picLocks noChangeAspect="1"/>
          </p:cNvPicPr>
          <p:nvPr/>
        </p:nvPicPr>
        <p:blipFill>
          <a:blip r:embed="rId5"/>
          <a:stretch>
            <a:fillRect/>
          </a:stretch>
        </p:blipFill>
        <p:spPr>
          <a:xfrm>
            <a:off x="1030370" y="2675970"/>
            <a:ext cx="1458475" cy="553215"/>
          </a:xfrm>
          <a:prstGeom prst="rect">
            <a:avLst/>
          </a:prstGeom>
        </p:spPr>
      </p:pic>
      <p:sp>
        <p:nvSpPr>
          <p:cNvPr id="8" name="Rectangle 1">
            <a:extLst>
              <a:ext uri="{FF2B5EF4-FFF2-40B4-BE49-F238E27FC236}">
                <a16:creationId xmlns:a16="http://schemas.microsoft.com/office/drawing/2014/main" id="{784B2795-736C-0D6C-62B7-F7A7B14209F9}"/>
              </a:ext>
            </a:extLst>
          </p:cNvPr>
          <p:cNvSpPr>
            <a:spLocks noChangeArrowheads="1"/>
          </p:cNvSpPr>
          <p:nvPr/>
        </p:nvSpPr>
        <p:spPr bwMode="auto">
          <a:xfrm>
            <a:off x="385408" y="4497106"/>
            <a:ext cx="785022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latin typeface="Arial" panose="020B0604020202020204" pitchFamily="34" charset="0"/>
              </a:rPr>
              <a:t>q = magnitud de la carga,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latin typeface="Arial" panose="020B0604020202020204" pitchFamily="34" charset="0"/>
              </a:rPr>
              <a:t>d = vector desplazamiento entre los centros de carga positiva y negativa,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800" b="0" i="0" u="none" strike="noStrike" cap="none" normalizeH="0" baseline="0" dirty="0">
                <a:ln>
                  <a:noFill/>
                </a:ln>
                <a:solidFill>
                  <a:schemeClr val="tx1"/>
                </a:solidFill>
                <a:effectLst/>
                <a:latin typeface="Arial" panose="020B0604020202020204" pitchFamily="34" charset="0"/>
              </a:rPr>
              <a:t>p⃗= momento dipolar eléctrico</a:t>
            </a:r>
          </a:p>
        </p:txBody>
      </p:sp>
      <p:pic>
        <p:nvPicPr>
          <p:cNvPr id="14" name="Imagen 13">
            <a:extLst>
              <a:ext uri="{FF2B5EF4-FFF2-40B4-BE49-F238E27FC236}">
                <a16:creationId xmlns:a16="http://schemas.microsoft.com/office/drawing/2014/main" id="{941E18C3-1E47-C167-BB1E-02B960B4C559}"/>
              </a:ext>
            </a:extLst>
          </p:cNvPr>
          <p:cNvPicPr>
            <a:picLocks noChangeAspect="1"/>
          </p:cNvPicPr>
          <p:nvPr/>
        </p:nvPicPr>
        <p:blipFill>
          <a:blip r:embed="rId6"/>
          <a:stretch>
            <a:fillRect/>
          </a:stretch>
        </p:blipFill>
        <p:spPr>
          <a:xfrm>
            <a:off x="4310521" y="2045229"/>
            <a:ext cx="3381847" cy="2353003"/>
          </a:xfrm>
          <a:prstGeom prst="rect">
            <a:avLst/>
          </a:prstGeom>
        </p:spPr>
      </p:pic>
      <p:sp>
        <p:nvSpPr>
          <p:cNvPr id="15" name="TextBox 32">
            <a:extLst>
              <a:ext uri="{FF2B5EF4-FFF2-40B4-BE49-F238E27FC236}">
                <a16:creationId xmlns:a16="http://schemas.microsoft.com/office/drawing/2014/main" id="{EFC59E33-1E3C-D188-41E3-17640A00744C}"/>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00" dirty="0">
                <a:solidFill>
                  <a:schemeClr val="bg1"/>
                </a:solidFill>
                <a:latin typeface="Arial"/>
              </a:rPr>
              <a:t>Piezoelectric Materials and Devices: Practice and Applications</a:t>
            </a:r>
            <a:endParaRPr lang="en-US" sz="700" dirty="0">
              <a:solidFill>
                <a:schemeClr val="bg1"/>
              </a:solidFill>
              <a:cs typeface="Calibri"/>
            </a:endParaRPr>
          </a:p>
        </p:txBody>
      </p:sp>
    </p:spTree>
    <p:custDataLst>
      <p:tags r:id="rId1"/>
    </p:custDataLst>
    <p:extLst>
      <p:ext uri="{BB962C8B-B14F-4D97-AF65-F5344CB8AC3E}">
        <p14:creationId xmlns:p14="http://schemas.microsoft.com/office/powerpoint/2010/main" val="3103961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BE42A8-13DF-EBD2-617C-A560B9F77A38}"/>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D7715A2F-DC7D-B7DB-ECEA-575D99FF956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07E87FC-2945-6E33-8946-BE6EC3A5A4F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Sensores piezoeléctricos</a:t>
            </a:r>
            <a:endParaRPr lang="en-US" dirty="0">
              <a:solidFill>
                <a:schemeClr val="bg1"/>
              </a:solidFill>
            </a:endParaRPr>
          </a:p>
        </p:txBody>
      </p:sp>
      <p:sp>
        <p:nvSpPr>
          <p:cNvPr id="12" name="Rectángulo 6">
            <a:extLst>
              <a:ext uri="{FF2B5EF4-FFF2-40B4-BE49-F238E27FC236}">
                <a16:creationId xmlns:a16="http://schemas.microsoft.com/office/drawing/2014/main" id="{8594D3E6-19B0-4DF8-4707-97573C6932C6}"/>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Piezoelectricidad</a:t>
            </a:r>
            <a:endParaRPr lang="en-US" dirty="0"/>
          </a:p>
        </p:txBody>
      </p:sp>
      <p:sp>
        <p:nvSpPr>
          <p:cNvPr id="18" name="Marcador de número de diapositiva 3">
            <a:extLst>
              <a:ext uri="{FF2B5EF4-FFF2-40B4-BE49-F238E27FC236}">
                <a16:creationId xmlns:a16="http://schemas.microsoft.com/office/drawing/2014/main" id="{2185245C-61CA-A8BB-2B61-07766E4B8C15}"/>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4</a:t>
            </a:fld>
            <a:endParaRPr lang="es-CO" sz="1200" dirty="0">
              <a:solidFill>
                <a:schemeClr val="bg1"/>
              </a:solidFill>
            </a:endParaRP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91BE8420-6E0A-05A8-9C8E-E045E2D74767}"/>
                  </a:ext>
                </a:extLst>
              </p:cNvPr>
              <p:cNvSpPr txBox="1"/>
              <p:nvPr/>
            </p:nvSpPr>
            <p:spPr>
              <a:xfrm>
                <a:off x="261462" y="590833"/>
                <a:ext cx="8690513" cy="1477328"/>
              </a:xfrm>
              <a:prstGeom prst="rect">
                <a:avLst/>
              </a:prstGeom>
              <a:noFill/>
            </p:spPr>
            <p:txBody>
              <a:bodyPr wrap="square">
                <a:spAutoFit/>
              </a:bodyPr>
              <a:lstStyle/>
              <a:p>
                <a:r>
                  <a:rPr lang="es-CO" dirty="0"/>
                  <a:t>La </a:t>
                </a:r>
                <a:r>
                  <a:rPr lang="es-CO" dirty="0">
                    <a:solidFill>
                      <a:srgbClr val="C00000"/>
                    </a:solidFill>
                  </a:rPr>
                  <a:t>deformación (</a:t>
                </a:r>
                <a:r>
                  <a:rPr lang="es-CO" dirty="0" err="1">
                    <a:solidFill>
                      <a:srgbClr val="C00000"/>
                    </a:solidFill>
                  </a:rPr>
                  <a:t>strain</a:t>
                </a:r>
                <a:r>
                  <a:rPr lang="es-CO" dirty="0">
                    <a:solidFill>
                      <a:srgbClr val="C00000"/>
                    </a:solidFill>
                  </a:rPr>
                  <a:t>) </a:t>
                </a:r>
                <a:r>
                  <a:rPr lang="es-CO" dirty="0"/>
                  <a:t>resultante es </a:t>
                </a:r>
                <a:r>
                  <a:rPr lang="es-CO" dirty="0">
                    <a:solidFill>
                      <a:srgbClr val="C00000"/>
                    </a:solidFill>
                  </a:rPr>
                  <a:t>directamente proporcional </a:t>
                </a:r>
                <a:r>
                  <a:rPr lang="es-CO" dirty="0"/>
                  <a:t>al campo eléctrico aplicado, a diferencia de los </a:t>
                </a:r>
                <a:r>
                  <a:rPr lang="es-CO" dirty="0">
                    <a:solidFill>
                      <a:srgbClr val="C00000"/>
                    </a:solidFill>
                  </a:rPr>
                  <a:t>materiales </a:t>
                </a:r>
                <a:r>
                  <a:rPr lang="es-CO" dirty="0" err="1">
                    <a:solidFill>
                      <a:srgbClr val="C00000"/>
                    </a:solidFill>
                  </a:rPr>
                  <a:t>electrostrictivos</a:t>
                </a:r>
                <a:r>
                  <a:rPr lang="es-CO" dirty="0"/>
                  <a:t>, en los que la deformación es proporcional a </a:t>
                </a: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𝐸</m:t>
                        </m:r>
                      </m:e>
                      <m:sup>
                        <m:r>
                          <a:rPr lang="ar-AE">
                            <a:latin typeface="Cambria Math" panose="02040503050406030204" pitchFamily="18" charset="0"/>
                          </a:rPr>
                          <m:t>2</m:t>
                        </m:r>
                      </m:sup>
                    </m:sSup>
                  </m:oMath>
                </a14:m>
                <a:r>
                  <a:rPr lang="ar-AE" dirty="0"/>
                  <a:t>.</a:t>
                </a:r>
                <a:br>
                  <a:rPr lang="ar-AE" dirty="0"/>
                </a:br>
                <a:r>
                  <a:rPr lang="es-CO" dirty="0"/>
                  <a:t>La deformación en un material piezoeléctrico puede ser </a:t>
                </a:r>
                <a:r>
                  <a:rPr lang="es-CO" dirty="0">
                    <a:solidFill>
                      <a:srgbClr val="C00000"/>
                    </a:solidFill>
                  </a:rPr>
                  <a:t>extensiva o compresiva</a:t>
                </a:r>
                <a:r>
                  <a:rPr lang="es-CO" dirty="0"/>
                  <a:t>, dependiendo de la </a:t>
                </a:r>
                <a:r>
                  <a:rPr lang="es-CO" dirty="0">
                    <a:solidFill>
                      <a:srgbClr val="C00000"/>
                    </a:solidFill>
                  </a:rPr>
                  <a:t>polaridad del campo aplicado</a:t>
                </a:r>
                <a:r>
                  <a:rPr lang="es-CO" dirty="0"/>
                  <a:t>.</a:t>
                </a:r>
                <a:endParaRPr lang="es-MX" dirty="0"/>
              </a:p>
            </p:txBody>
          </p:sp>
        </mc:Choice>
        <mc:Fallback xmlns="">
          <p:sp>
            <p:nvSpPr>
              <p:cNvPr id="5" name="CuadroTexto 4">
                <a:extLst>
                  <a:ext uri="{FF2B5EF4-FFF2-40B4-BE49-F238E27FC236}">
                    <a16:creationId xmlns:a16="http://schemas.microsoft.com/office/drawing/2014/main" id="{91BE8420-6E0A-05A8-9C8E-E045E2D74767}"/>
                  </a:ext>
                </a:extLst>
              </p:cNvPr>
              <p:cNvSpPr txBox="1">
                <a:spLocks noRot="1" noChangeAspect="1" noMove="1" noResize="1" noEditPoints="1" noAdjustHandles="1" noChangeArrowheads="1" noChangeShapeType="1" noTextEdit="1"/>
              </p:cNvSpPr>
              <p:nvPr/>
            </p:nvSpPr>
            <p:spPr>
              <a:xfrm>
                <a:off x="261462" y="590833"/>
                <a:ext cx="8690513" cy="1477328"/>
              </a:xfrm>
              <a:prstGeom prst="rect">
                <a:avLst/>
              </a:prstGeom>
              <a:blipFill>
                <a:blip r:embed="rId4"/>
                <a:stretch>
                  <a:fillRect l="-632" t="-2479" b="-6198"/>
                </a:stretch>
              </a:blipFill>
            </p:spPr>
            <p:txBody>
              <a:bodyPr/>
              <a:lstStyle/>
              <a:p>
                <a:r>
                  <a:rPr lang="es-CO">
                    <a:noFill/>
                  </a:rPr>
                  <a:t> </a:t>
                </a:r>
              </a:p>
            </p:txBody>
          </p:sp>
        </mc:Fallback>
      </mc:AlternateContent>
      <p:sp>
        <p:nvSpPr>
          <p:cNvPr id="9" name="CuadroTexto 8">
            <a:extLst>
              <a:ext uri="{FF2B5EF4-FFF2-40B4-BE49-F238E27FC236}">
                <a16:creationId xmlns:a16="http://schemas.microsoft.com/office/drawing/2014/main" id="{C2706E22-4A73-FBEB-8054-B408965AC7A3}"/>
              </a:ext>
            </a:extLst>
          </p:cNvPr>
          <p:cNvSpPr txBox="1"/>
          <p:nvPr/>
        </p:nvSpPr>
        <p:spPr>
          <a:xfrm>
            <a:off x="51821" y="5324822"/>
            <a:ext cx="9109794" cy="646331"/>
          </a:xfrm>
          <a:prstGeom prst="rect">
            <a:avLst/>
          </a:prstGeom>
          <a:noFill/>
        </p:spPr>
        <p:txBody>
          <a:bodyPr wrap="square">
            <a:spAutoFit/>
          </a:bodyPr>
          <a:lstStyle/>
          <a:p>
            <a:pPr algn="ctr"/>
            <a:r>
              <a:rPr lang="es-CO" dirty="0"/>
              <a:t>Este fenómeno se denomina </a:t>
            </a:r>
            <a:r>
              <a:rPr lang="es-CO" dirty="0">
                <a:solidFill>
                  <a:srgbClr val="C00000"/>
                </a:solidFill>
              </a:rPr>
              <a:t>efecto piezoeléctrico </a:t>
            </a:r>
            <a:r>
              <a:rPr lang="es-CO" dirty="0"/>
              <a:t>o, más precisamente, </a:t>
            </a:r>
            <a:r>
              <a:rPr lang="es-CO" dirty="0">
                <a:solidFill>
                  <a:srgbClr val="C00000"/>
                </a:solidFill>
              </a:rPr>
              <a:t>efecto piezoeléctrico indirecto.</a:t>
            </a:r>
          </a:p>
        </p:txBody>
      </p:sp>
      <p:grpSp>
        <p:nvGrpSpPr>
          <p:cNvPr id="22" name="Grupo 21">
            <a:extLst>
              <a:ext uri="{FF2B5EF4-FFF2-40B4-BE49-F238E27FC236}">
                <a16:creationId xmlns:a16="http://schemas.microsoft.com/office/drawing/2014/main" id="{BD15B398-3DC1-8567-220B-47FB81415B0A}"/>
              </a:ext>
            </a:extLst>
          </p:cNvPr>
          <p:cNvGrpSpPr/>
          <p:nvPr/>
        </p:nvGrpSpPr>
        <p:grpSpPr>
          <a:xfrm>
            <a:off x="1617755" y="2327821"/>
            <a:ext cx="5856097" cy="2847205"/>
            <a:chOff x="1617755" y="2327821"/>
            <a:chExt cx="5856097" cy="2847205"/>
          </a:xfrm>
        </p:grpSpPr>
        <p:pic>
          <p:nvPicPr>
            <p:cNvPr id="4" name="Imagen 3">
              <a:extLst>
                <a:ext uri="{FF2B5EF4-FFF2-40B4-BE49-F238E27FC236}">
                  <a16:creationId xmlns:a16="http://schemas.microsoft.com/office/drawing/2014/main" id="{A96E4855-CAF9-7CCC-173C-92DF0BF8F928}"/>
                </a:ext>
              </a:extLst>
            </p:cNvPr>
            <p:cNvPicPr>
              <a:picLocks noChangeAspect="1"/>
            </p:cNvPicPr>
            <p:nvPr/>
          </p:nvPicPr>
          <p:blipFill>
            <a:blip r:embed="rId5"/>
            <a:stretch>
              <a:fillRect/>
            </a:stretch>
          </p:blipFill>
          <p:spPr>
            <a:xfrm>
              <a:off x="1869500" y="2327821"/>
              <a:ext cx="5404999" cy="2242136"/>
            </a:xfrm>
            <a:prstGeom prst="rect">
              <a:avLst/>
            </a:prstGeom>
          </p:spPr>
        </p:pic>
        <p:sp>
          <p:nvSpPr>
            <p:cNvPr id="16" name="CuadroTexto 15">
              <a:extLst>
                <a:ext uri="{FF2B5EF4-FFF2-40B4-BE49-F238E27FC236}">
                  <a16:creationId xmlns:a16="http://schemas.microsoft.com/office/drawing/2014/main" id="{64FD8995-D650-E988-EF7D-9B3396BF5FBA}"/>
                </a:ext>
              </a:extLst>
            </p:cNvPr>
            <p:cNvSpPr txBox="1"/>
            <p:nvPr/>
          </p:nvSpPr>
          <p:spPr>
            <a:xfrm>
              <a:off x="1617755" y="4717190"/>
              <a:ext cx="1567338" cy="400110"/>
            </a:xfrm>
            <a:prstGeom prst="rect">
              <a:avLst/>
            </a:prstGeom>
            <a:noFill/>
          </p:spPr>
          <p:txBody>
            <a:bodyPr wrap="square">
              <a:spAutoFit/>
            </a:bodyPr>
            <a:lstStyle/>
            <a:p>
              <a:pPr algn="ctr"/>
              <a:r>
                <a:rPr lang="es-CO" sz="1000" b="1" dirty="0"/>
                <a:t>Material piezoeléctrico polarizado</a:t>
              </a:r>
              <a:endParaRPr lang="es-CO" sz="1000" dirty="0"/>
            </a:p>
          </p:txBody>
        </p:sp>
        <p:sp>
          <p:nvSpPr>
            <p:cNvPr id="19" name="CuadroTexto 18">
              <a:extLst>
                <a:ext uri="{FF2B5EF4-FFF2-40B4-BE49-F238E27FC236}">
                  <a16:creationId xmlns:a16="http://schemas.microsoft.com/office/drawing/2014/main" id="{8F78E4F0-81F6-98BC-B301-E81CA3B57459}"/>
                </a:ext>
              </a:extLst>
            </p:cNvPr>
            <p:cNvSpPr txBox="1"/>
            <p:nvPr/>
          </p:nvSpPr>
          <p:spPr>
            <a:xfrm>
              <a:off x="3506886" y="4612907"/>
              <a:ext cx="1567338" cy="553998"/>
            </a:xfrm>
            <a:prstGeom prst="rect">
              <a:avLst/>
            </a:prstGeom>
            <a:noFill/>
          </p:spPr>
          <p:txBody>
            <a:bodyPr wrap="square">
              <a:spAutoFit/>
            </a:bodyPr>
            <a:lstStyle/>
            <a:p>
              <a:pPr algn="ctr"/>
              <a:r>
                <a:rPr lang="es-ES" sz="1000" b="1" dirty="0"/>
                <a:t>Se aplica esfuerzo de tracción al material. Se genera un voltaje positivo</a:t>
              </a:r>
              <a:endParaRPr lang="es-CO" sz="1000" dirty="0"/>
            </a:p>
          </p:txBody>
        </p:sp>
        <p:sp>
          <p:nvSpPr>
            <p:cNvPr id="21" name="CuadroTexto 20">
              <a:extLst>
                <a:ext uri="{FF2B5EF4-FFF2-40B4-BE49-F238E27FC236}">
                  <a16:creationId xmlns:a16="http://schemas.microsoft.com/office/drawing/2014/main" id="{246FCB71-A7EF-8F2B-EF05-88945ACC9065}"/>
                </a:ext>
              </a:extLst>
            </p:cNvPr>
            <p:cNvSpPr txBox="1"/>
            <p:nvPr/>
          </p:nvSpPr>
          <p:spPr>
            <a:xfrm rot="10800000" flipV="1">
              <a:off x="5634578" y="4621028"/>
              <a:ext cx="1839274" cy="553998"/>
            </a:xfrm>
            <a:prstGeom prst="rect">
              <a:avLst/>
            </a:prstGeom>
            <a:noFill/>
          </p:spPr>
          <p:txBody>
            <a:bodyPr wrap="square">
              <a:spAutoFit/>
            </a:bodyPr>
            <a:lstStyle>
              <a:defPPr>
                <a:defRPr lang="es-ES"/>
              </a:defPPr>
              <a:lvl1pPr algn="ctr">
                <a:defRPr sz="1000" b="1"/>
              </a:lvl1pPr>
            </a:lstStyle>
            <a:p>
              <a:r>
                <a:rPr lang="es-ES" dirty="0"/>
                <a:t>Se aplica esfuerzo de compresión al material. Se genera un voltaje negativo</a:t>
              </a:r>
              <a:endParaRPr lang="es-CO" dirty="0"/>
            </a:p>
          </p:txBody>
        </p:sp>
      </p:grpSp>
      <p:sp>
        <p:nvSpPr>
          <p:cNvPr id="23" name="TextBox 32">
            <a:extLst>
              <a:ext uri="{FF2B5EF4-FFF2-40B4-BE49-F238E27FC236}">
                <a16:creationId xmlns:a16="http://schemas.microsoft.com/office/drawing/2014/main" id="{E586EBD0-099A-E259-2C2E-A90853CB8237}"/>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00" dirty="0">
                <a:solidFill>
                  <a:schemeClr val="bg1"/>
                </a:solidFill>
                <a:latin typeface="Arial"/>
              </a:rPr>
              <a:t>Piezoelectric Materials and Devices: Practice and Applications</a:t>
            </a:r>
            <a:endParaRPr lang="en-US" sz="700" dirty="0">
              <a:solidFill>
                <a:schemeClr val="bg1"/>
              </a:solidFill>
              <a:cs typeface="Calibri"/>
            </a:endParaRPr>
          </a:p>
        </p:txBody>
      </p:sp>
    </p:spTree>
    <p:custDataLst>
      <p:tags r:id="rId1"/>
    </p:custDataLst>
    <p:extLst>
      <p:ext uri="{BB962C8B-B14F-4D97-AF65-F5344CB8AC3E}">
        <p14:creationId xmlns:p14="http://schemas.microsoft.com/office/powerpoint/2010/main" val="2007807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402CA5-E5B6-692C-FA09-BAB5DA99F79F}"/>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ECACAF92-EB22-DFD3-ECA8-567F5B1E0EA0}"/>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5472C143-D237-236D-9926-A2DBEF716D5B}"/>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Sensores piezoeléctricos</a:t>
            </a:r>
            <a:endParaRPr lang="en-US" dirty="0">
              <a:solidFill>
                <a:schemeClr val="bg1"/>
              </a:solidFill>
            </a:endParaRPr>
          </a:p>
        </p:txBody>
      </p:sp>
      <p:sp>
        <p:nvSpPr>
          <p:cNvPr id="12" name="Rectángulo 6">
            <a:extLst>
              <a:ext uri="{FF2B5EF4-FFF2-40B4-BE49-F238E27FC236}">
                <a16:creationId xmlns:a16="http://schemas.microsoft.com/office/drawing/2014/main" id="{201F7A0E-1F24-52B6-60F6-BCA063F8CDBE}"/>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Piezoelectricidad</a:t>
            </a:r>
            <a:endParaRPr lang="en-US" dirty="0"/>
          </a:p>
        </p:txBody>
      </p:sp>
      <p:sp>
        <p:nvSpPr>
          <p:cNvPr id="18" name="Marcador de número de diapositiva 3">
            <a:extLst>
              <a:ext uri="{FF2B5EF4-FFF2-40B4-BE49-F238E27FC236}">
                <a16:creationId xmlns:a16="http://schemas.microsoft.com/office/drawing/2014/main" id="{BD959C8C-DB35-466A-EA76-1DD7B1ABAC08}"/>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5</a:t>
            </a:fld>
            <a:endParaRPr lang="es-CO" sz="1200" dirty="0">
              <a:solidFill>
                <a:schemeClr val="bg1"/>
              </a:solidFill>
            </a:endParaRPr>
          </a:p>
        </p:txBody>
      </p:sp>
      <p:sp>
        <p:nvSpPr>
          <p:cNvPr id="5" name="CuadroTexto 4">
            <a:extLst>
              <a:ext uri="{FF2B5EF4-FFF2-40B4-BE49-F238E27FC236}">
                <a16:creationId xmlns:a16="http://schemas.microsoft.com/office/drawing/2014/main" id="{D588BCB1-FCC7-B905-44FE-E26E600AAAA7}"/>
              </a:ext>
            </a:extLst>
          </p:cNvPr>
          <p:cNvSpPr txBox="1"/>
          <p:nvPr/>
        </p:nvSpPr>
        <p:spPr>
          <a:xfrm>
            <a:off x="261462" y="590833"/>
            <a:ext cx="8690513" cy="646331"/>
          </a:xfrm>
          <a:prstGeom prst="rect">
            <a:avLst/>
          </a:prstGeom>
          <a:noFill/>
        </p:spPr>
        <p:txBody>
          <a:bodyPr wrap="square">
            <a:spAutoFit/>
          </a:bodyPr>
          <a:lstStyle/>
          <a:p>
            <a:r>
              <a:rPr lang="es-ES" dirty="0"/>
              <a:t>Los efectos piezoeléctricos </a:t>
            </a:r>
            <a:r>
              <a:rPr lang="es-ES" dirty="0">
                <a:solidFill>
                  <a:srgbClr val="C00000"/>
                </a:solidFill>
              </a:rPr>
              <a:t>directo e indirecto </a:t>
            </a:r>
            <a:r>
              <a:rPr lang="es-ES" dirty="0"/>
              <a:t>tienen múltiples aplicaciones, ya que permiten la </a:t>
            </a:r>
            <a:r>
              <a:rPr lang="es-ES" dirty="0">
                <a:solidFill>
                  <a:srgbClr val="C00000"/>
                </a:solidFill>
              </a:rPr>
              <a:t>conversión de energía mecánica en energía eléctrica y viceversa</a:t>
            </a:r>
            <a:r>
              <a:rPr lang="es-ES" dirty="0"/>
              <a:t>.</a:t>
            </a:r>
            <a:endParaRPr lang="es-MX" dirty="0"/>
          </a:p>
        </p:txBody>
      </p:sp>
      <p:sp>
        <p:nvSpPr>
          <p:cNvPr id="6" name="CuadroTexto 5">
            <a:extLst>
              <a:ext uri="{FF2B5EF4-FFF2-40B4-BE49-F238E27FC236}">
                <a16:creationId xmlns:a16="http://schemas.microsoft.com/office/drawing/2014/main" id="{E5417DE6-9B8B-078E-B681-448EC0CB750B}"/>
              </a:ext>
            </a:extLst>
          </p:cNvPr>
          <p:cNvSpPr txBox="1"/>
          <p:nvPr/>
        </p:nvSpPr>
        <p:spPr>
          <a:xfrm>
            <a:off x="226743" y="5470535"/>
            <a:ext cx="8690513" cy="369332"/>
          </a:xfrm>
          <a:prstGeom prst="rect">
            <a:avLst/>
          </a:prstGeom>
          <a:noFill/>
        </p:spPr>
        <p:txBody>
          <a:bodyPr wrap="square">
            <a:spAutoFit/>
          </a:bodyPr>
          <a:lstStyle/>
          <a:p>
            <a:r>
              <a:rPr lang="es-ES" dirty="0"/>
              <a:t>Usos: generación y detección de ondas ultrasónicas, </a:t>
            </a:r>
            <a:r>
              <a:rPr lang="es-CO" dirty="0"/>
              <a:t>sensores de presión, actuadores</a:t>
            </a:r>
            <a:endParaRPr lang="es-MX" dirty="0"/>
          </a:p>
        </p:txBody>
      </p:sp>
      <p:grpSp>
        <p:nvGrpSpPr>
          <p:cNvPr id="15" name="Grupo 14">
            <a:extLst>
              <a:ext uri="{FF2B5EF4-FFF2-40B4-BE49-F238E27FC236}">
                <a16:creationId xmlns:a16="http://schemas.microsoft.com/office/drawing/2014/main" id="{722A1728-0FF9-18F7-352F-1D8E54B7C624}"/>
              </a:ext>
            </a:extLst>
          </p:cNvPr>
          <p:cNvGrpSpPr/>
          <p:nvPr/>
        </p:nvGrpSpPr>
        <p:grpSpPr>
          <a:xfrm>
            <a:off x="226743" y="1622578"/>
            <a:ext cx="4946168" cy="3647289"/>
            <a:chOff x="1389880" y="1622578"/>
            <a:chExt cx="4946168" cy="3647289"/>
          </a:xfrm>
        </p:grpSpPr>
        <p:pic>
          <p:nvPicPr>
            <p:cNvPr id="7" name="Imagen 6">
              <a:extLst>
                <a:ext uri="{FF2B5EF4-FFF2-40B4-BE49-F238E27FC236}">
                  <a16:creationId xmlns:a16="http://schemas.microsoft.com/office/drawing/2014/main" id="{0EFE0451-1671-3B5A-91E4-DCDED7812BD2}"/>
                </a:ext>
              </a:extLst>
            </p:cNvPr>
            <p:cNvPicPr>
              <a:picLocks noChangeAspect="1"/>
            </p:cNvPicPr>
            <p:nvPr/>
          </p:nvPicPr>
          <p:blipFill>
            <a:blip r:embed="rId4"/>
            <a:stretch>
              <a:fillRect/>
            </a:stretch>
          </p:blipFill>
          <p:spPr>
            <a:xfrm>
              <a:off x="2268305" y="1622578"/>
              <a:ext cx="4067743" cy="2991267"/>
            </a:xfrm>
            <a:prstGeom prst="rect">
              <a:avLst/>
            </a:prstGeom>
          </p:spPr>
        </p:pic>
        <p:sp>
          <p:nvSpPr>
            <p:cNvPr id="11" name="CuadroTexto 10">
              <a:extLst>
                <a:ext uri="{FF2B5EF4-FFF2-40B4-BE49-F238E27FC236}">
                  <a16:creationId xmlns:a16="http://schemas.microsoft.com/office/drawing/2014/main" id="{6D706A5D-A86A-29A5-B425-EF08B4C53469}"/>
                </a:ext>
              </a:extLst>
            </p:cNvPr>
            <p:cNvSpPr txBox="1"/>
            <p:nvPr/>
          </p:nvSpPr>
          <p:spPr>
            <a:xfrm>
              <a:off x="1389880" y="4746647"/>
              <a:ext cx="2087838" cy="246221"/>
            </a:xfrm>
            <a:prstGeom prst="rect">
              <a:avLst/>
            </a:prstGeom>
            <a:noFill/>
          </p:spPr>
          <p:txBody>
            <a:bodyPr wrap="square">
              <a:spAutoFit/>
            </a:bodyPr>
            <a:lstStyle>
              <a:defPPr>
                <a:defRPr lang="es-ES"/>
              </a:defPPr>
              <a:lvl1pPr algn="ctr">
                <a:defRPr sz="1000" b="1"/>
              </a:lvl1pPr>
            </a:lstStyle>
            <a:p>
              <a:r>
                <a:rPr lang="es-ES" dirty="0"/>
                <a:t>Material piezoeléctrico polarizado.</a:t>
              </a:r>
              <a:endParaRPr lang="es-CO" dirty="0"/>
            </a:p>
          </p:txBody>
        </p:sp>
        <p:sp>
          <p:nvSpPr>
            <p:cNvPr id="14" name="CuadroTexto 13">
              <a:extLst>
                <a:ext uri="{FF2B5EF4-FFF2-40B4-BE49-F238E27FC236}">
                  <a16:creationId xmlns:a16="http://schemas.microsoft.com/office/drawing/2014/main" id="{C52C0B9E-9CF0-9588-4A8D-7A4C60797E29}"/>
                </a:ext>
              </a:extLst>
            </p:cNvPr>
            <p:cNvSpPr txBox="1"/>
            <p:nvPr/>
          </p:nvSpPr>
          <p:spPr>
            <a:xfrm>
              <a:off x="3836441" y="4592759"/>
              <a:ext cx="2499607" cy="677108"/>
            </a:xfrm>
            <a:prstGeom prst="rect">
              <a:avLst/>
            </a:prstGeom>
            <a:noFill/>
          </p:spPr>
          <p:txBody>
            <a:bodyPr wrap="square">
              <a:spAutoFit/>
            </a:bodyPr>
            <a:lstStyle/>
            <a:p>
              <a:pPr algn="ctr"/>
              <a:r>
                <a:rPr lang="es-ES" sz="1000" b="1" dirty="0"/>
                <a:t>Se</a:t>
              </a:r>
              <a:r>
                <a:rPr lang="es-ES" dirty="0"/>
                <a:t> </a:t>
              </a:r>
              <a:r>
                <a:rPr lang="es-ES" sz="1000" b="1" dirty="0"/>
                <a:t>aplica corriente alterna (CA) al material. El material vibra, produciendo un campo acústico.</a:t>
              </a:r>
              <a:endParaRPr lang="es-CO" sz="1000" b="1" dirty="0"/>
            </a:p>
          </p:txBody>
        </p:sp>
      </p:grpSp>
      <p:pic>
        <p:nvPicPr>
          <p:cNvPr id="17" name="Imagen 16">
            <a:extLst>
              <a:ext uri="{FF2B5EF4-FFF2-40B4-BE49-F238E27FC236}">
                <a16:creationId xmlns:a16="http://schemas.microsoft.com/office/drawing/2014/main" id="{39BEF385-ACA5-EACB-F5FD-10AE6B65784D}"/>
              </a:ext>
            </a:extLst>
          </p:cNvPr>
          <p:cNvPicPr>
            <a:picLocks noChangeAspect="1"/>
          </p:cNvPicPr>
          <p:nvPr/>
        </p:nvPicPr>
        <p:blipFill>
          <a:blip r:embed="rId5"/>
          <a:stretch>
            <a:fillRect/>
          </a:stretch>
        </p:blipFill>
        <p:spPr>
          <a:xfrm>
            <a:off x="6645271" y="1510652"/>
            <a:ext cx="1049419" cy="850510"/>
          </a:xfrm>
          <a:prstGeom prst="rect">
            <a:avLst/>
          </a:prstGeom>
        </p:spPr>
      </p:pic>
      <p:pic>
        <p:nvPicPr>
          <p:cNvPr id="20" name="Imagen 19">
            <a:extLst>
              <a:ext uri="{FF2B5EF4-FFF2-40B4-BE49-F238E27FC236}">
                <a16:creationId xmlns:a16="http://schemas.microsoft.com/office/drawing/2014/main" id="{8EDACFCD-ADB2-0FAD-B332-EB5B80DB76C2}"/>
              </a:ext>
            </a:extLst>
          </p:cNvPr>
          <p:cNvPicPr>
            <a:picLocks noChangeAspect="1"/>
          </p:cNvPicPr>
          <p:nvPr/>
        </p:nvPicPr>
        <p:blipFill>
          <a:blip r:embed="rId6"/>
          <a:stretch>
            <a:fillRect/>
          </a:stretch>
        </p:blipFill>
        <p:spPr>
          <a:xfrm>
            <a:off x="6427645" y="2659257"/>
            <a:ext cx="1484669" cy="1445253"/>
          </a:xfrm>
          <a:prstGeom prst="rect">
            <a:avLst/>
          </a:prstGeom>
        </p:spPr>
      </p:pic>
      <p:pic>
        <p:nvPicPr>
          <p:cNvPr id="22" name="Imagen 21">
            <a:extLst>
              <a:ext uri="{FF2B5EF4-FFF2-40B4-BE49-F238E27FC236}">
                <a16:creationId xmlns:a16="http://schemas.microsoft.com/office/drawing/2014/main" id="{37D9EE27-ED73-E344-5CBA-6D47394978FA}"/>
              </a:ext>
            </a:extLst>
          </p:cNvPr>
          <p:cNvPicPr>
            <a:picLocks noChangeAspect="1"/>
          </p:cNvPicPr>
          <p:nvPr/>
        </p:nvPicPr>
        <p:blipFill>
          <a:blip r:embed="rId7"/>
          <a:stretch>
            <a:fillRect/>
          </a:stretch>
        </p:blipFill>
        <p:spPr>
          <a:xfrm>
            <a:off x="6645271" y="4393611"/>
            <a:ext cx="1049419" cy="825994"/>
          </a:xfrm>
          <a:prstGeom prst="rect">
            <a:avLst/>
          </a:prstGeom>
        </p:spPr>
      </p:pic>
      <p:sp>
        <p:nvSpPr>
          <p:cNvPr id="23" name="CuadroTexto 22">
            <a:extLst>
              <a:ext uri="{FF2B5EF4-FFF2-40B4-BE49-F238E27FC236}">
                <a16:creationId xmlns:a16="http://schemas.microsoft.com/office/drawing/2014/main" id="{F34CA840-5FD7-737F-36E5-8BC1181AF4D8}"/>
              </a:ext>
            </a:extLst>
          </p:cNvPr>
          <p:cNvSpPr txBox="1"/>
          <p:nvPr/>
        </p:nvSpPr>
        <p:spPr>
          <a:xfrm>
            <a:off x="6126060" y="2382602"/>
            <a:ext cx="2087838" cy="246221"/>
          </a:xfrm>
          <a:prstGeom prst="rect">
            <a:avLst/>
          </a:prstGeom>
          <a:noFill/>
        </p:spPr>
        <p:txBody>
          <a:bodyPr wrap="square">
            <a:spAutoFit/>
          </a:bodyPr>
          <a:lstStyle>
            <a:defPPr>
              <a:defRPr lang="es-ES"/>
            </a:defPPr>
            <a:lvl1pPr algn="ctr">
              <a:defRPr sz="1000" b="1"/>
            </a:lvl1pPr>
          </a:lstStyle>
          <a:p>
            <a:r>
              <a:rPr lang="es-ES" dirty="0"/>
              <a:t>Estado no polarizado</a:t>
            </a:r>
            <a:endParaRPr lang="es-CO" dirty="0"/>
          </a:p>
        </p:txBody>
      </p:sp>
      <p:sp>
        <p:nvSpPr>
          <p:cNvPr id="24" name="CuadroTexto 23">
            <a:extLst>
              <a:ext uri="{FF2B5EF4-FFF2-40B4-BE49-F238E27FC236}">
                <a16:creationId xmlns:a16="http://schemas.microsoft.com/office/drawing/2014/main" id="{519ABD31-415B-ACE5-1A58-FC6000EAB478}"/>
              </a:ext>
            </a:extLst>
          </p:cNvPr>
          <p:cNvSpPr txBox="1"/>
          <p:nvPr/>
        </p:nvSpPr>
        <p:spPr>
          <a:xfrm>
            <a:off x="6126060" y="4125950"/>
            <a:ext cx="2087838" cy="246221"/>
          </a:xfrm>
          <a:prstGeom prst="rect">
            <a:avLst/>
          </a:prstGeom>
          <a:noFill/>
        </p:spPr>
        <p:txBody>
          <a:bodyPr wrap="square">
            <a:spAutoFit/>
          </a:bodyPr>
          <a:lstStyle>
            <a:defPPr>
              <a:defRPr lang="es-ES"/>
            </a:defPPr>
            <a:lvl1pPr algn="ctr">
              <a:defRPr sz="1000" b="1"/>
            </a:lvl1pPr>
          </a:lstStyle>
          <a:p>
            <a:r>
              <a:rPr lang="es-ES" dirty="0"/>
              <a:t>Estado polarizado</a:t>
            </a:r>
            <a:endParaRPr lang="es-CO" dirty="0"/>
          </a:p>
        </p:txBody>
      </p:sp>
      <p:sp>
        <p:nvSpPr>
          <p:cNvPr id="25" name="CuadroTexto 24">
            <a:extLst>
              <a:ext uri="{FF2B5EF4-FFF2-40B4-BE49-F238E27FC236}">
                <a16:creationId xmlns:a16="http://schemas.microsoft.com/office/drawing/2014/main" id="{F8A4FC93-29FE-6545-392C-F5051B37A109}"/>
              </a:ext>
            </a:extLst>
          </p:cNvPr>
          <p:cNvSpPr txBox="1"/>
          <p:nvPr/>
        </p:nvSpPr>
        <p:spPr>
          <a:xfrm>
            <a:off x="6170082" y="5219605"/>
            <a:ext cx="2087838" cy="246221"/>
          </a:xfrm>
          <a:prstGeom prst="rect">
            <a:avLst/>
          </a:prstGeom>
          <a:noFill/>
        </p:spPr>
        <p:txBody>
          <a:bodyPr wrap="square">
            <a:spAutoFit/>
          </a:bodyPr>
          <a:lstStyle>
            <a:defPPr>
              <a:defRPr lang="es-ES"/>
            </a:defPPr>
            <a:lvl1pPr algn="ctr">
              <a:defRPr sz="1000" b="1"/>
            </a:lvl1pPr>
          </a:lstStyle>
          <a:p>
            <a:r>
              <a:rPr lang="es-ES" dirty="0"/>
              <a:t>Estado despolarizado</a:t>
            </a:r>
            <a:endParaRPr lang="es-CO" dirty="0"/>
          </a:p>
        </p:txBody>
      </p:sp>
      <p:sp>
        <p:nvSpPr>
          <p:cNvPr id="26" name="TextBox 32">
            <a:extLst>
              <a:ext uri="{FF2B5EF4-FFF2-40B4-BE49-F238E27FC236}">
                <a16:creationId xmlns:a16="http://schemas.microsoft.com/office/drawing/2014/main" id="{F1943FB6-1CFD-AE97-8351-35CCE4E93224}"/>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00" dirty="0">
                <a:solidFill>
                  <a:schemeClr val="bg1"/>
                </a:solidFill>
                <a:latin typeface="Arial"/>
              </a:rPr>
              <a:t>Piezoelectric Materials and Devices: Practice and Applications</a:t>
            </a:r>
            <a:endParaRPr lang="en-US" sz="700" dirty="0">
              <a:solidFill>
                <a:schemeClr val="bg1"/>
              </a:solidFill>
              <a:cs typeface="Calibri"/>
            </a:endParaRPr>
          </a:p>
        </p:txBody>
      </p:sp>
    </p:spTree>
    <p:custDataLst>
      <p:tags r:id="rId1"/>
    </p:custDataLst>
    <p:extLst>
      <p:ext uri="{BB962C8B-B14F-4D97-AF65-F5344CB8AC3E}">
        <p14:creationId xmlns:p14="http://schemas.microsoft.com/office/powerpoint/2010/main" val="2467432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41F23F-CCE6-C1D6-9D8D-8D0F507D903B}"/>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61776A9B-847F-9743-66D4-C577B89468EE}"/>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514DA98D-28D5-8705-3576-8EE9E59D9EAD}"/>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Sensores piezoeléctricos</a:t>
            </a:r>
            <a:endParaRPr lang="en-US" dirty="0">
              <a:solidFill>
                <a:schemeClr val="bg1"/>
              </a:solidFill>
            </a:endParaRPr>
          </a:p>
        </p:txBody>
      </p:sp>
      <p:sp>
        <p:nvSpPr>
          <p:cNvPr id="12" name="Rectángulo 6">
            <a:extLst>
              <a:ext uri="{FF2B5EF4-FFF2-40B4-BE49-F238E27FC236}">
                <a16:creationId xmlns:a16="http://schemas.microsoft.com/office/drawing/2014/main" id="{7E7C13BF-F90A-FAF0-C359-9671329186BA}"/>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Piezoelectricidad</a:t>
            </a:r>
            <a:endParaRPr lang="en-US" dirty="0"/>
          </a:p>
        </p:txBody>
      </p:sp>
      <p:sp>
        <p:nvSpPr>
          <p:cNvPr id="18" name="Marcador de número de diapositiva 3">
            <a:extLst>
              <a:ext uri="{FF2B5EF4-FFF2-40B4-BE49-F238E27FC236}">
                <a16:creationId xmlns:a16="http://schemas.microsoft.com/office/drawing/2014/main" id="{C4C6CC3B-A4F9-E7F4-1FEF-C5356A20EEF2}"/>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6</a:t>
            </a:fld>
            <a:endParaRPr lang="es-CO" sz="1200" dirty="0">
              <a:solidFill>
                <a:schemeClr val="bg1"/>
              </a:solidFill>
            </a:endParaRPr>
          </a:p>
        </p:txBody>
      </p:sp>
      <p:pic>
        <p:nvPicPr>
          <p:cNvPr id="2" name="Imagen 1">
            <a:extLst>
              <a:ext uri="{FF2B5EF4-FFF2-40B4-BE49-F238E27FC236}">
                <a16:creationId xmlns:a16="http://schemas.microsoft.com/office/drawing/2014/main" id="{93204703-041D-3BE6-CEE3-3776ABC6AA73}"/>
              </a:ext>
            </a:extLst>
          </p:cNvPr>
          <p:cNvPicPr>
            <a:picLocks noChangeAspect="1"/>
          </p:cNvPicPr>
          <p:nvPr/>
        </p:nvPicPr>
        <p:blipFill>
          <a:blip r:embed="rId4"/>
          <a:stretch>
            <a:fillRect/>
          </a:stretch>
        </p:blipFill>
        <p:spPr>
          <a:xfrm>
            <a:off x="1627092" y="1359313"/>
            <a:ext cx="5889815" cy="2220244"/>
          </a:xfrm>
          <a:prstGeom prst="rect">
            <a:avLst/>
          </a:prstGeom>
        </p:spPr>
      </p:pic>
      <p:sp>
        <p:nvSpPr>
          <p:cNvPr id="5" name="CuadroTexto 4">
            <a:extLst>
              <a:ext uri="{FF2B5EF4-FFF2-40B4-BE49-F238E27FC236}">
                <a16:creationId xmlns:a16="http://schemas.microsoft.com/office/drawing/2014/main" id="{B664D235-C91E-A166-4E75-93C4F89D08DD}"/>
              </a:ext>
            </a:extLst>
          </p:cNvPr>
          <p:cNvSpPr txBox="1"/>
          <p:nvPr/>
        </p:nvSpPr>
        <p:spPr>
          <a:xfrm>
            <a:off x="261462" y="590833"/>
            <a:ext cx="8690513" cy="646331"/>
          </a:xfrm>
          <a:prstGeom prst="rect">
            <a:avLst/>
          </a:prstGeom>
          <a:noFill/>
        </p:spPr>
        <p:txBody>
          <a:bodyPr wrap="square">
            <a:spAutoFit/>
          </a:bodyPr>
          <a:lstStyle/>
          <a:p>
            <a:r>
              <a:rPr lang="es-ES_tradnl" sz="1800" b="0" dirty="0">
                <a:solidFill>
                  <a:srgbClr val="C00000"/>
                </a:solidFill>
              </a:rPr>
              <a:t>Efecto piezoeléctrico</a:t>
            </a:r>
            <a:r>
              <a:rPr lang="es-ES_tradnl" sz="1800" b="0" dirty="0"/>
              <a:t>: consiste en la aparición de </a:t>
            </a:r>
            <a:r>
              <a:rPr lang="es-ES_tradnl" sz="1800" b="0" dirty="0">
                <a:solidFill>
                  <a:srgbClr val="C00000"/>
                </a:solidFill>
              </a:rPr>
              <a:t>cargas eléctricas </a:t>
            </a:r>
            <a:r>
              <a:rPr lang="es-ES_tradnl" sz="1800" b="0" dirty="0"/>
              <a:t>sobre determinadas estructuras cristalinas cuando sobre ellas se </a:t>
            </a:r>
            <a:r>
              <a:rPr lang="es-ES_tradnl" sz="1800" b="0" dirty="0">
                <a:solidFill>
                  <a:srgbClr val="C00000"/>
                </a:solidFill>
              </a:rPr>
              <a:t>ejerce una fuerza </a:t>
            </a:r>
            <a:r>
              <a:rPr lang="es-ES_tradnl" sz="1800" b="0" dirty="0"/>
              <a:t>(efecto </a:t>
            </a:r>
            <a:r>
              <a:rPr lang="es-ES_tradnl" sz="1800" b="0" dirty="0">
                <a:solidFill>
                  <a:srgbClr val="C00000"/>
                </a:solidFill>
              </a:rPr>
              <a:t>reversible</a:t>
            </a:r>
            <a:r>
              <a:rPr lang="es-ES_tradnl" sz="1800" b="0" dirty="0"/>
              <a:t>).  </a:t>
            </a:r>
            <a:endParaRPr lang="es-MX" dirty="0"/>
          </a:p>
        </p:txBody>
      </p:sp>
      <p:sp>
        <p:nvSpPr>
          <p:cNvPr id="6" name="CuadroTexto 5">
            <a:extLst>
              <a:ext uri="{FF2B5EF4-FFF2-40B4-BE49-F238E27FC236}">
                <a16:creationId xmlns:a16="http://schemas.microsoft.com/office/drawing/2014/main" id="{617C0F5A-FAEB-3E39-2297-5CA7EE35D854}"/>
              </a:ext>
            </a:extLst>
          </p:cNvPr>
          <p:cNvSpPr txBox="1"/>
          <p:nvPr/>
        </p:nvSpPr>
        <p:spPr>
          <a:xfrm>
            <a:off x="226743" y="5470535"/>
            <a:ext cx="8690513" cy="369332"/>
          </a:xfrm>
          <a:prstGeom prst="rect">
            <a:avLst/>
          </a:prstGeom>
          <a:noFill/>
        </p:spPr>
        <p:txBody>
          <a:bodyPr wrap="square">
            <a:spAutoFit/>
          </a:bodyPr>
          <a:lstStyle/>
          <a:p>
            <a:r>
              <a:rPr lang="es-ES_tradnl" dirty="0"/>
              <a:t>Este efecto aparece en cristales naturales como: </a:t>
            </a:r>
            <a:r>
              <a:rPr lang="es-ES_tradnl" dirty="0">
                <a:solidFill>
                  <a:srgbClr val="C00000"/>
                </a:solidFill>
              </a:rPr>
              <a:t>cuarzo</a:t>
            </a:r>
            <a:r>
              <a:rPr lang="es-ES_tradnl" dirty="0"/>
              <a:t>, </a:t>
            </a:r>
            <a:r>
              <a:rPr lang="es-ES_tradnl" dirty="0">
                <a:solidFill>
                  <a:srgbClr val="C00000"/>
                </a:solidFill>
              </a:rPr>
              <a:t>berlinita</a:t>
            </a:r>
            <a:r>
              <a:rPr lang="es-ES_tradnl" dirty="0"/>
              <a:t>, </a:t>
            </a:r>
            <a:r>
              <a:rPr lang="es-ES_tradnl" dirty="0">
                <a:solidFill>
                  <a:srgbClr val="C00000"/>
                </a:solidFill>
              </a:rPr>
              <a:t>sacarosa</a:t>
            </a:r>
            <a:r>
              <a:rPr lang="es-ES_tradnl" dirty="0"/>
              <a:t>, </a:t>
            </a:r>
            <a:r>
              <a:rPr lang="es-ES_tradnl" dirty="0">
                <a:solidFill>
                  <a:srgbClr val="C00000"/>
                </a:solidFill>
              </a:rPr>
              <a:t>topacio</a:t>
            </a:r>
            <a:r>
              <a:rPr lang="es-ES_tradnl" dirty="0"/>
              <a:t>, etc.</a:t>
            </a:r>
            <a:endParaRPr lang="es-MX" dirty="0"/>
          </a:p>
        </p:txBody>
      </p:sp>
      <p:pic>
        <p:nvPicPr>
          <p:cNvPr id="1026" name="Picture 2" descr="Usos de los cristales piezoeléctricos en la vida cotidiana">
            <a:extLst>
              <a:ext uri="{FF2B5EF4-FFF2-40B4-BE49-F238E27FC236}">
                <a16:creationId xmlns:a16="http://schemas.microsoft.com/office/drawing/2014/main" id="{71F5F3F9-EE1F-4258-ACEB-28DAA6F2F3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16120" y="3857385"/>
            <a:ext cx="2601136" cy="142035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RISTAL PIEZOELECTRICO 3.579545 Mhz (HC49/S)">
            <a:extLst>
              <a:ext uri="{FF2B5EF4-FFF2-40B4-BE49-F238E27FC236}">
                <a16:creationId xmlns:a16="http://schemas.microsoft.com/office/drawing/2014/main" id="{034C5DC5-9CBE-480C-D2C1-FD404C895F8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9269" y="4118779"/>
            <a:ext cx="1251172" cy="125117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ensores Piezoelectricos | Washer necklace, Necklace, Jewelry">
            <a:extLst>
              <a:ext uri="{FF2B5EF4-FFF2-40B4-BE49-F238E27FC236}">
                <a16:creationId xmlns:a16="http://schemas.microsoft.com/office/drawing/2014/main" id="{C8EC5634-D4EF-B88C-E80D-5605128A06E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33393" y="3912981"/>
            <a:ext cx="1456970" cy="1456970"/>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983DCAEA-368C-C1FB-C5AB-39CC264AF560}"/>
              </a:ext>
            </a:extLst>
          </p:cNvPr>
          <p:cNvSpPr txBox="1"/>
          <p:nvPr/>
        </p:nvSpPr>
        <p:spPr>
          <a:xfrm>
            <a:off x="6487642" y="5277742"/>
            <a:ext cx="2569464" cy="230832"/>
          </a:xfrm>
          <a:prstGeom prst="rect">
            <a:avLst/>
          </a:prstGeom>
          <a:noFill/>
        </p:spPr>
        <p:txBody>
          <a:bodyPr wrap="square">
            <a:spAutoFit/>
          </a:bodyPr>
          <a:lstStyle/>
          <a:p>
            <a:r>
              <a:rPr lang="es-MX" sz="900" dirty="0"/>
              <a:t>Fuente: Beijing </a:t>
            </a:r>
            <a:r>
              <a:rPr lang="es-MX" sz="900" dirty="0" err="1"/>
              <a:t>ultrasonic</a:t>
            </a:r>
            <a:r>
              <a:rPr lang="es-MX" sz="900" dirty="0"/>
              <a:t>,  www.bjultrasonic.com</a:t>
            </a:r>
          </a:p>
        </p:txBody>
      </p:sp>
      <p:sp>
        <p:nvSpPr>
          <p:cNvPr id="10" name="TextBox 32">
            <a:extLst>
              <a:ext uri="{FF2B5EF4-FFF2-40B4-BE49-F238E27FC236}">
                <a16:creationId xmlns:a16="http://schemas.microsoft.com/office/drawing/2014/main" id="{BE9DD987-E8AE-0841-435D-5C4E62E08A67}"/>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Tree>
    <p:custDataLst>
      <p:tags r:id="rId1"/>
    </p:custDataLst>
    <p:extLst>
      <p:ext uri="{BB962C8B-B14F-4D97-AF65-F5344CB8AC3E}">
        <p14:creationId xmlns:p14="http://schemas.microsoft.com/office/powerpoint/2010/main" val="2906186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Sensores piezoeléctricos</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Modelo de un sensor piezoeléctrico | Zonas de uso</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7</a:t>
            </a:fld>
            <a:endParaRPr lang="es-CO" sz="1200" dirty="0">
              <a:solidFill>
                <a:schemeClr val="bg1"/>
              </a:solidFill>
            </a:endParaRPr>
          </a:p>
        </p:txBody>
      </p:sp>
      <p:pic>
        <p:nvPicPr>
          <p:cNvPr id="4" name="Imagen 3">
            <a:extLst>
              <a:ext uri="{FF2B5EF4-FFF2-40B4-BE49-F238E27FC236}">
                <a16:creationId xmlns:a16="http://schemas.microsoft.com/office/drawing/2014/main" id="{6E821749-FA1D-4754-9E06-2A144EF700FA}"/>
              </a:ext>
            </a:extLst>
          </p:cNvPr>
          <p:cNvPicPr>
            <a:picLocks noChangeAspect="1"/>
          </p:cNvPicPr>
          <p:nvPr/>
        </p:nvPicPr>
        <p:blipFill>
          <a:blip r:embed="rId4"/>
          <a:stretch>
            <a:fillRect/>
          </a:stretch>
        </p:blipFill>
        <p:spPr>
          <a:xfrm>
            <a:off x="1525497" y="2027386"/>
            <a:ext cx="6093005" cy="2369062"/>
          </a:xfrm>
          <a:prstGeom prst="rect">
            <a:avLst/>
          </a:prstGeom>
        </p:spPr>
      </p:pic>
      <p:sp>
        <p:nvSpPr>
          <p:cNvPr id="2" name="CuadroTexto 1">
            <a:extLst>
              <a:ext uri="{FF2B5EF4-FFF2-40B4-BE49-F238E27FC236}">
                <a16:creationId xmlns:a16="http://schemas.microsoft.com/office/drawing/2014/main" id="{60D6D549-7B99-0F01-D20E-ADA05C443E7B}"/>
              </a:ext>
            </a:extLst>
          </p:cNvPr>
          <p:cNvSpPr txBox="1"/>
          <p:nvPr/>
        </p:nvSpPr>
        <p:spPr>
          <a:xfrm>
            <a:off x="261462" y="590833"/>
            <a:ext cx="8690513" cy="646331"/>
          </a:xfrm>
          <a:prstGeom prst="rect">
            <a:avLst/>
          </a:prstGeom>
          <a:noFill/>
        </p:spPr>
        <p:txBody>
          <a:bodyPr wrap="square">
            <a:spAutoFit/>
          </a:bodyPr>
          <a:lstStyle/>
          <a:p>
            <a:r>
              <a:rPr lang="es-ES_tradnl" sz="1800" b="0" dirty="0"/>
              <a:t>Incluye la </a:t>
            </a:r>
            <a:r>
              <a:rPr lang="es-ES_tradnl" sz="1800" b="0" dirty="0">
                <a:solidFill>
                  <a:srgbClr val="C00000"/>
                </a:solidFill>
              </a:rPr>
              <a:t>disipación</a:t>
            </a:r>
            <a:r>
              <a:rPr lang="es-ES_tradnl" sz="1800" b="0" dirty="0"/>
              <a:t> y </a:t>
            </a:r>
            <a:r>
              <a:rPr lang="es-ES_tradnl" sz="1800" b="0" dirty="0">
                <a:solidFill>
                  <a:srgbClr val="C00000"/>
                </a:solidFill>
              </a:rPr>
              <a:t>almacenamiento</a:t>
            </a:r>
            <a:r>
              <a:rPr lang="es-ES_tradnl" sz="1800" b="0" dirty="0"/>
              <a:t> de energía. El </a:t>
            </a:r>
            <a:r>
              <a:rPr lang="es-ES_tradnl" sz="1800" b="0" dirty="0">
                <a:solidFill>
                  <a:srgbClr val="C00000"/>
                </a:solidFill>
              </a:rPr>
              <a:t>voltaje</a:t>
            </a:r>
            <a:r>
              <a:rPr lang="es-ES_tradnl" sz="1800" b="0" dirty="0"/>
              <a:t> </a:t>
            </a:r>
            <a:r>
              <a:rPr lang="es-ES_tradnl" sz="1800" b="0" i="1" dirty="0"/>
              <a:t>V</a:t>
            </a:r>
            <a:r>
              <a:rPr lang="es-ES_tradnl" sz="1800" b="0" dirty="0"/>
              <a:t> generado es proporcional a la </a:t>
            </a:r>
            <a:r>
              <a:rPr lang="es-ES_tradnl" sz="1800" b="0" dirty="0">
                <a:solidFill>
                  <a:srgbClr val="C00000"/>
                </a:solidFill>
              </a:rPr>
              <a:t>fuerza</a:t>
            </a:r>
            <a:r>
              <a:rPr lang="es-ES_tradnl" sz="1800" b="0" dirty="0"/>
              <a:t> aplicada </a:t>
            </a:r>
            <a:r>
              <a:rPr lang="es-ES_tradnl" sz="1800" b="0" i="1" dirty="0"/>
              <a:t>F</a:t>
            </a:r>
            <a:r>
              <a:rPr lang="es-ES_tradnl" sz="1800" b="0" dirty="0"/>
              <a:t>, y </a:t>
            </a:r>
            <a:r>
              <a:rPr lang="el-GR" sz="1800" b="0" i="1" dirty="0"/>
              <a:t>λ</a:t>
            </a:r>
            <a:r>
              <a:rPr lang="es-MX" sz="1800" b="0" dirty="0"/>
              <a:t> es</a:t>
            </a:r>
            <a:r>
              <a:rPr lang="es-ES_tradnl" sz="1800" b="0" dirty="0"/>
              <a:t> la </a:t>
            </a:r>
            <a:r>
              <a:rPr lang="es-ES_tradnl" sz="1800" b="0" dirty="0">
                <a:solidFill>
                  <a:srgbClr val="C00000"/>
                </a:solidFill>
              </a:rPr>
              <a:t>sensibilidad</a:t>
            </a:r>
            <a:r>
              <a:rPr lang="es-ES_tradnl" sz="1800" b="0" dirty="0"/>
              <a:t> del dispositivo:</a:t>
            </a:r>
            <a:endParaRPr lang="es-MX" dirty="0"/>
          </a:p>
        </p:txBody>
      </p:sp>
      <p:pic>
        <p:nvPicPr>
          <p:cNvPr id="6" name="Imagen 5">
            <a:extLst>
              <a:ext uri="{FF2B5EF4-FFF2-40B4-BE49-F238E27FC236}">
                <a16:creationId xmlns:a16="http://schemas.microsoft.com/office/drawing/2014/main" id="{802F6B66-AB75-C701-2ED0-01BB127E90A9}"/>
              </a:ext>
            </a:extLst>
          </p:cNvPr>
          <p:cNvPicPr>
            <a:picLocks noChangeAspect="1"/>
          </p:cNvPicPr>
          <p:nvPr/>
        </p:nvPicPr>
        <p:blipFill>
          <a:blip r:embed="rId5"/>
          <a:stretch>
            <a:fillRect/>
          </a:stretch>
        </p:blipFill>
        <p:spPr>
          <a:xfrm>
            <a:off x="4011342" y="1267576"/>
            <a:ext cx="1121316" cy="467887"/>
          </a:xfrm>
          <a:prstGeom prst="rect">
            <a:avLst/>
          </a:prstGeom>
        </p:spPr>
      </p:pic>
      <p:sp>
        <p:nvSpPr>
          <p:cNvPr id="7" name="CuadroTexto 6">
            <a:extLst>
              <a:ext uri="{FF2B5EF4-FFF2-40B4-BE49-F238E27FC236}">
                <a16:creationId xmlns:a16="http://schemas.microsoft.com/office/drawing/2014/main" id="{8132D0E4-C92E-4463-52E0-C18C5656D6A6}"/>
              </a:ext>
            </a:extLst>
          </p:cNvPr>
          <p:cNvSpPr txBox="1"/>
          <p:nvPr/>
        </p:nvSpPr>
        <p:spPr>
          <a:xfrm>
            <a:off x="226743" y="4861697"/>
            <a:ext cx="8690513" cy="923330"/>
          </a:xfrm>
          <a:prstGeom prst="rect">
            <a:avLst/>
          </a:prstGeom>
          <a:noFill/>
        </p:spPr>
        <p:txBody>
          <a:bodyPr wrap="square">
            <a:spAutoFit/>
          </a:bodyPr>
          <a:lstStyle/>
          <a:p>
            <a:r>
              <a:rPr lang="es-MX" sz="1800" b="0" dirty="0"/>
              <a:t>La inductancia </a:t>
            </a:r>
            <a:r>
              <a:rPr lang="es-MX" sz="1800" b="0" i="1" dirty="0">
                <a:solidFill>
                  <a:srgbClr val="C00000"/>
                </a:solidFill>
              </a:rPr>
              <a:t>L</a:t>
            </a:r>
            <a:r>
              <a:rPr lang="es-MX" sz="1800" b="0" dirty="0"/>
              <a:t> se asocia a la </a:t>
            </a:r>
            <a:r>
              <a:rPr lang="es-MX" sz="1800" b="0" dirty="0">
                <a:solidFill>
                  <a:srgbClr val="C00000"/>
                </a:solidFill>
              </a:rPr>
              <a:t>masa inerte</a:t>
            </a:r>
            <a:r>
              <a:rPr lang="es-MX" sz="1800" b="0" dirty="0"/>
              <a:t> del sensor, </a:t>
            </a:r>
            <a:r>
              <a:rPr lang="es-MX" sz="1800" b="0" i="1" dirty="0">
                <a:solidFill>
                  <a:srgbClr val="C00000"/>
                </a:solidFill>
              </a:rPr>
              <a:t>C</a:t>
            </a:r>
            <a:r>
              <a:rPr lang="es-MX" sz="1800" b="0" i="1" baseline="-25000" dirty="0">
                <a:solidFill>
                  <a:srgbClr val="C00000"/>
                </a:solidFill>
              </a:rPr>
              <a:t>1</a:t>
            </a:r>
            <a:r>
              <a:rPr lang="es-MX" sz="1800" b="0" dirty="0"/>
              <a:t> a la </a:t>
            </a:r>
            <a:r>
              <a:rPr lang="es-MX" sz="1800" b="0" dirty="0">
                <a:solidFill>
                  <a:srgbClr val="C00000"/>
                </a:solidFill>
              </a:rPr>
              <a:t>elasticidad</a:t>
            </a:r>
            <a:r>
              <a:rPr lang="es-MX" sz="1800" b="0" dirty="0"/>
              <a:t>, </a:t>
            </a:r>
            <a:r>
              <a:rPr lang="es-MX" sz="1800" b="0" i="1" dirty="0">
                <a:solidFill>
                  <a:srgbClr val="C00000"/>
                </a:solidFill>
              </a:rPr>
              <a:t>C</a:t>
            </a:r>
            <a:r>
              <a:rPr lang="es-MX" sz="1800" b="0" i="1" baseline="-25000" dirty="0">
                <a:solidFill>
                  <a:srgbClr val="C00000"/>
                </a:solidFill>
              </a:rPr>
              <a:t>2</a:t>
            </a:r>
            <a:r>
              <a:rPr lang="es-MX" sz="1800" b="0" dirty="0"/>
              <a:t> </a:t>
            </a:r>
            <a:r>
              <a:rPr lang="es-MX" sz="1800" b="0" dirty="0">
                <a:solidFill>
                  <a:srgbClr val="C00000"/>
                </a:solidFill>
              </a:rPr>
              <a:t>capacidad estática</a:t>
            </a:r>
            <a:r>
              <a:rPr lang="es-MX" sz="1800" b="0" dirty="0"/>
              <a:t> del dispositivo (cristal entre dos placas), </a:t>
            </a:r>
            <a:r>
              <a:rPr lang="es-MX" sz="1800" b="0" i="1" dirty="0">
                <a:solidFill>
                  <a:srgbClr val="C00000"/>
                </a:solidFill>
              </a:rPr>
              <a:t>R</a:t>
            </a:r>
            <a:r>
              <a:rPr lang="es-MX" sz="1800" b="0" i="1" baseline="-25000" dirty="0">
                <a:solidFill>
                  <a:srgbClr val="C00000"/>
                </a:solidFill>
              </a:rPr>
              <a:t>1</a:t>
            </a:r>
            <a:r>
              <a:rPr lang="es-MX" sz="1800" b="0" dirty="0"/>
              <a:t> representa los efectos no conservativos ligados a la </a:t>
            </a:r>
            <a:r>
              <a:rPr lang="es-MX" sz="1800" b="0" dirty="0">
                <a:solidFill>
                  <a:srgbClr val="C00000"/>
                </a:solidFill>
              </a:rPr>
              <a:t>viscosidad</a:t>
            </a:r>
            <a:r>
              <a:rPr lang="es-MX" sz="1800" b="0" dirty="0"/>
              <a:t>, y </a:t>
            </a:r>
            <a:r>
              <a:rPr lang="es-MX" sz="1800" b="0" i="1" dirty="0">
                <a:solidFill>
                  <a:srgbClr val="C00000"/>
                </a:solidFill>
              </a:rPr>
              <a:t>R</a:t>
            </a:r>
            <a:r>
              <a:rPr lang="es-MX" sz="1800" b="0" i="1" baseline="-25000" dirty="0">
                <a:solidFill>
                  <a:srgbClr val="C00000"/>
                </a:solidFill>
              </a:rPr>
              <a:t>2</a:t>
            </a:r>
            <a:r>
              <a:rPr lang="es-MX" sz="1800" b="0" i="1" dirty="0">
                <a:solidFill>
                  <a:srgbClr val="C00000"/>
                </a:solidFill>
              </a:rPr>
              <a:t> </a:t>
            </a:r>
            <a:r>
              <a:rPr lang="es-MX" sz="1800" b="0" dirty="0"/>
              <a:t>modela la </a:t>
            </a:r>
            <a:r>
              <a:rPr lang="es-MX" sz="1800" b="0" dirty="0">
                <a:solidFill>
                  <a:srgbClr val="C00000"/>
                </a:solidFill>
              </a:rPr>
              <a:t>resistencia de fugas</a:t>
            </a:r>
            <a:r>
              <a:rPr lang="es-MX" sz="1800" b="0" dirty="0"/>
              <a:t>.</a:t>
            </a:r>
            <a:endParaRPr lang="es-MX" dirty="0"/>
          </a:p>
        </p:txBody>
      </p:sp>
      <p:sp>
        <p:nvSpPr>
          <p:cNvPr id="8" name="TextBox 32">
            <a:extLst>
              <a:ext uri="{FF2B5EF4-FFF2-40B4-BE49-F238E27FC236}">
                <a16:creationId xmlns:a16="http://schemas.microsoft.com/office/drawing/2014/main" id="{3C999C4A-45A3-658C-CD1C-2A3424349605}"/>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Tree>
    <p:custDataLst>
      <p:tags r:id="rId1"/>
    </p:custDataLst>
    <p:extLst>
      <p:ext uri="{BB962C8B-B14F-4D97-AF65-F5344CB8AC3E}">
        <p14:creationId xmlns:p14="http://schemas.microsoft.com/office/powerpoint/2010/main" val="3084415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Sensores piezoeléctricos</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Respuesta en frecuencia</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8</a:t>
            </a:fld>
            <a:endParaRPr lang="es-CO" sz="1200" dirty="0">
              <a:solidFill>
                <a:schemeClr val="bg1"/>
              </a:solidFill>
            </a:endParaRPr>
          </a:p>
        </p:txBody>
      </p:sp>
      <p:pic>
        <p:nvPicPr>
          <p:cNvPr id="2" name="Imagen 1">
            <a:extLst>
              <a:ext uri="{FF2B5EF4-FFF2-40B4-BE49-F238E27FC236}">
                <a16:creationId xmlns:a16="http://schemas.microsoft.com/office/drawing/2014/main" id="{E1D7F459-E8CD-40A4-BB11-CB5ECDB40114}"/>
              </a:ext>
            </a:extLst>
          </p:cNvPr>
          <p:cNvPicPr>
            <a:picLocks noChangeAspect="1"/>
          </p:cNvPicPr>
          <p:nvPr/>
        </p:nvPicPr>
        <p:blipFill>
          <a:blip r:embed="rId4"/>
          <a:stretch>
            <a:fillRect/>
          </a:stretch>
        </p:blipFill>
        <p:spPr>
          <a:xfrm>
            <a:off x="4320504" y="113796"/>
            <a:ext cx="4698339" cy="2169941"/>
          </a:xfrm>
          <a:prstGeom prst="rect">
            <a:avLst/>
          </a:prstGeom>
        </p:spPr>
      </p:pic>
      <p:pic>
        <p:nvPicPr>
          <p:cNvPr id="5" name="Imagen 4">
            <a:extLst>
              <a:ext uri="{FF2B5EF4-FFF2-40B4-BE49-F238E27FC236}">
                <a16:creationId xmlns:a16="http://schemas.microsoft.com/office/drawing/2014/main" id="{86B27E26-048B-424C-9188-D45AB0DD9807}"/>
              </a:ext>
            </a:extLst>
          </p:cNvPr>
          <p:cNvPicPr>
            <a:picLocks noChangeAspect="1"/>
          </p:cNvPicPr>
          <p:nvPr/>
        </p:nvPicPr>
        <p:blipFill>
          <a:blip r:embed="rId5"/>
          <a:stretch>
            <a:fillRect/>
          </a:stretch>
        </p:blipFill>
        <p:spPr>
          <a:xfrm>
            <a:off x="4510456" y="2792674"/>
            <a:ext cx="4607229" cy="1826899"/>
          </a:xfrm>
          <a:prstGeom prst="rect">
            <a:avLst/>
          </a:prstGeom>
        </p:spPr>
      </p:pic>
      <p:sp>
        <p:nvSpPr>
          <p:cNvPr id="6" name="CuadroTexto 5">
            <a:extLst>
              <a:ext uri="{FF2B5EF4-FFF2-40B4-BE49-F238E27FC236}">
                <a16:creationId xmlns:a16="http://schemas.microsoft.com/office/drawing/2014/main" id="{4E401DEE-CE31-ACCB-E678-4164BD6DB44F}"/>
              </a:ext>
            </a:extLst>
          </p:cNvPr>
          <p:cNvSpPr txBox="1"/>
          <p:nvPr/>
        </p:nvSpPr>
        <p:spPr>
          <a:xfrm>
            <a:off x="74829" y="720832"/>
            <a:ext cx="4608576" cy="646331"/>
          </a:xfrm>
          <a:prstGeom prst="rect">
            <a:avLst/>
          </a:prstGeom>
          <a:noFill/>
        </p:spPr>
        <p:txBody>
          <a:bodyPr wrap="square">
            <a:spAutoFit/>
          </a:bodyPr>
          <a:lstStyle/>
          <a:p>
            <a:r>
              <a:rPr lang="es-ES_tradnl" sz="1800" b="0" dirty="0">
                <a:solidFill>
                  <a:srgbClr val="C00000"/>
                </a:solidFill>
              </a:rPr>
              <a:t>Zona baja frecuencia</a:t>
            </a:r>
            <a:r>
              <a:rPr lang="es-ES_tradnl" sz="1800" b="0" dirty="0"/>
              <a:t>: </a:t>
            </a:r>
            <a:r>
              <a:rPr lang="es-ES_tradnl" sz="1800" b="0" i="1" dirty="0"/>
              <a:t>R</a:t>
            </a:r>
            <a:r>
              <a:rPr lang="es-ES_tradnl" sz="1800" b="0" i="1" baseline="-25000" dirty="0"/>
              <a:t>2</a:t>
            </a:r>
            <a:r>
              <a:rPr lang="es-ES_tradnl" sz="1800" b="0" dirty="0"/>
              <a:t> establece la frecuencia de corte, por debajo de esta la señal es nula.</a:t>
            </a:r>
            <a:endParaRPr lang="es-MX" dirty="0"/>
          </a:p>
        </p:txBody>
      </p:sp>
      <p:sp>
        <p:nvSpPr>
          <p:cNvPr id="7" name="TextBox 32">
            <a:extLst>
              <a:ext uri="{FF2B5EF4-FFF2-40B4-BE49-F238E27FC236}">
                <a16:creationId xmlns:a16="http://schemas.microsoft.com/office/drawing/2014/main" id="{9B66B114-E7D7-A1C9-038D-7BEC7B907326}"/>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8" name="CuadroTexto 7">
            <a:extLst>
              <a:ext uri="{FF2B5EF4-FFF2-40B4-BE49-F238E27FC236}">
                <a16:creationId xmlns:a16="http://schemas.microsoft.com/office/drawing/2014/main" id="{A8294F2A-98F0-2F39-D560-BA60DB51F3CF}"/>
              </a:ext>
            </a:extLst>
          </p:cNvPr>
          <p:cNvSpPr txBox="1"/>
          <p:nvPr/>
        </p:nvSpPr>
        <p:spPr>
          <a:xfrm>
            <a:off x="125157" y="2207510"/>
            <a:ext cx="4698339" cy="923330"/>
          </a:xfrm>
          <a:prstGeom prst="rect">
            <a:avLst/>
          </a:prstGeom>
          <a:noFill/>
        </p:spPr>
        <p:txBody>
          <a:bodyPr wrap="square">
            <a:spAutoFit/>
          </a:bodyPr>
          <a:lstStyle/>
          <a:p>
            <a:r>
              <a:rPr lang="es-ES_tradnl" sz="1800" b="0" dirty="0">
                <a:solidFill>
                  <a:srgbClr val="C00000"/>
                </a:solidFill>
              </a:rPr>
              <a:t>Zona plana</a:t>
            </a:r>
            <a:r>
              <a:rPr lang="es-ES_tradnl" sz="1800" b="0" dirty="0"/>
              <a:t>: </a:t>
            </a:r>
            <a:r>
              <a:rPr lang="es-ES_tradnl" dirty="0"/>
              <a:t>funciona como sensor en relación directa a la fuerza aplicada. Aquí funciona como sensor de fuerza y vibraciones.</a:t>
            </a:r>
            <a:endParaRPr lang="es-MX" dirty="0"/>
          </a:p>
        </p:txBody>
      </p:sp>
      <p:cxnSp>
        <p:nvCxnSpPr>
          <p:cNvPr id="10" name="Conector: angular 9">
            <a:extLst>
              <a:ext uri="{FF2B5EF4-FFF2-40B4-BE49-F238E27FC236}">
                <a16:creationId xmlns:a16="http://schemas.microsoft.com/office/drawing/2014/main" id="{A45ED08E-8890-C9C8-D4FA-C3123512D72E}"/>
              </a:ext>
            </a:extLst>
          </p:cNvPr>
          <p:cNvCxnSpPr>
            <a:cxnSpLocks/>
            <a:stCxn id="8" idx="3"/>
          </p:cNvCxnSpPr>
          <p:nvPr/>
        </p:nvCxnSpPr>
        <p:spPr>
          <a:xfrm>
            <a:off x="4823496" y="2669175"/>
            <a:ext cx="1453897" cy="507072"/>
          </a:xfrm>
          <a:prstGeom prst="bentConnector3">
            <a:avLst>
              <a:gd name="adj1" fmla="val 99686"/>
            </a:avLst>
          </a:prstGeom>
          <a:ln>
            <a:tailEnd type="triangle"/>
          </a:ln>
        </p:spPr>
        <p:style>
          <a:lnRef idx="2">
            <a:schemeClr val="accent1"/>
          </a:lnRef>
          <a:fillRef idx="0">
            <a:schemeClr val="accent1"/>
          </a:fillRef>
          <a:effectRef idx="1">
            <a:schemeClr val="accent1"/>
          </a:effectRef>
          <a:fontRef idx="minor">
            <a:schemeClr val="tx1"/>
          </a:fontRef>
        </p:style>
      </p:cxnSp>
      <p:pic>
        <p:nvPicPr>
          <p:cNvPr id="20" name="Imagen 19">
            <a:extLst>
              <a:ext uri="{FF2B5EF4-FFF2-40B4-BE49-F238E27FC236}">
                <a16:creationId xmlns:a16="http://schemas.microsoft.com/office/drawing/2014/main" id="{B4F41A19-FF5E-B358-2874-9DFD190E00AB}"/>
              </a:ext>
            </a:extLst>
          </p:cNvPr>
          <p:cNvPicPr>
            <a:picLocks noChangeAspect="1"/>
          </p:cNvPicPr>
          <p:nvPr/>
        </p:nvPicPr>
        <p:blipFill>
          <a:blip r:embed="rId6"/>
          <a:stretch>
            <a:fillRect/>
          </a:stretch>
        </p:blipFill>
        <p:spPr>
          <a:xfrm>
            <a:off x="261649" y="3167416"/>
            <a:ext cx="3882022" cy="1859145"/>
          </a:xfrm>
          <a:prstGeom prst="rect">
            <a:avLst/>
          </a:prstGeom>
        </p:spPr>
      </p:pic>
      <p:sp>
        <p:nvSpPr>
          <p:cNvPr id="21" name="CuadroTexto 20">
            <a:extLst>
              <a:ext uri="{FF2B5EF4-FFF2-40B4-BE49-F238E27FC236}">
                <a16:creationId xmlns:a16="http://schemas.microsoft.com/office/drawing/2014/main" id="{FEF4C015-AF12-CB52-C474-A9898143DEB3}"/>
              </a:ext>
            </a:extLst>
          </p:cNvPr>
          <p:cNvSpPr txBox="1"/>
          <p:nvPr/>
        </p:nvSpPr>
        <p:spPr>
          <a:xfrm>
            <a:off x="74828" y="5165031"/>
            <a:ext cx="8794851" cy="646331"/>
          </a:xfrm>
          <a:prstGeom prst="rect">
            <a:avLst/>
          </a:prstGeom>
          <a:noFill/>
        </p:spPr>
        <p:txBody>
          <a:bodyPr wrap="square">
            <a:spAutoFit/>
          </a:bodyPr>
          <a:lstStyle/>
          <a:p>
            <a:r>
              <a:rPr lang="es-ES_tradnl" sz="1800" b="0" dirty="0">
                <a:solidFill>
                  <a:srgbClr val="C00000"/>
                </a:solidFill>
              </a:rPr>
              <a:t>Zona de resonancia</a:t>
            </a:r>
            <a:r>
              <a:rPr lang="es-ES_tradnl" sz="1800" b="0" dirty="0"/>
              <a:t>: Máxima transferencia de energía con aplicación en la emisión y recepción de ultrasonidos.</a:t>
            </a:r>
            <a:endParaRPr lang="es-MX" dirty="0"/>
          </a:p>
        </p:txBody>
      </p:sp>
      <p:pic>
        <p:nvPicPr>
          <p:cNvPr id="25" name="Imagen 24">
            <a:extLst>
              <a:ext uri="{FF2B5EF4-FFF2-40B4-BE49-F238E27FC236}">
                <a16:creationId xmlns:a16="http://schemas.microsoft.com/office/drawing/2014/main" id="{371920F2-2409-7F7E-05FF-6F6A45803CF2}"/>
              </a:ext>
            </a:extLst>
          </p:cNvPr>
          <p:cNvPicPr>
            <a:picLocks noChangeAspect="1"/>
          </p:cNvPicPr>
          <p:nvPr/>
        </p:nvPicPr>
        <p:blipFill>
          <a:blip r:embed="rId7"/>
          <a:stretch>
            <a:fillRect/>
          </a:stretch>
        </p:blipFill>
        <p:spPr>
          <a:xfrm>
            <a:off x="7477628" y="2308080"/>
            <a:ext cx="1322222" cy="676167"/>
          </a:xfrm>
          <a:prstGeom prst="rect">
            <a:avLst/>
          </a:prstGeom>
        </p:spPr>
      </p:pic>
    </p:spTree>
    <p:custDataLst>
      <p:tags r:id="rId1"/>
    </p:custDataLst>
    <p:extLst>
      <p:ext uri="{BB962C8B-B14F-4D97-AF65-F5344CB8AC3E}">
        <p14:creationId xmlns:p14="http://schemas.microsoft.com/office/powerpoint/2010/main" val="1020236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9BE05D30-8AB6-01B0-DFD2-8F04CAA74F80}"/>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a:t>
            </a:r>
            <a:r>
              <a:rPr lang="es-ES" sz="700" dirty="0" err="1">
                <a:solidFill>
                  <a:schemeClr val="bg1"/>
                </a:solidFill>
                <a:latin typeface="Arial"/>
              </a:rPr>
              <a:t>Signal</a:t>
            </a:r>
            <a:r>
              <a:rPr lang="es-ES" sz="700" dirty="0">
                <a:solidFill>
                  <a:schemeClr val="bg1"/>
                </a:solidFill>
                <a:latin typeface="Arial"/>
              </a:rPr>
              <a:t> </a:t>
            </a:r>
            <a:r>
              <a:rPr lang="es-ES" sz="700" dirty="0" err="1">
                <a:solidFill>
                  <a:schemeClr val="bg1"/>
                </a:solidFill>
                <a:latin typeface="Arial"/>
              </a:rPr>
              <a:t>Conditioning</a:t>
            </a:r>
            <a:r>
              <a:rPr lang="es-ES" sz="700" dirty="0">
                <a:solidFill>
                  <a:schemeClr val="bg1"/>
                </a:solidFill>
                <a:latin typeface="Arial"/>
              </a:rPr>
              <a:t> </a:t>
            </a:r>
            <a:r>
              <a:rPr lang="es-ES" sz="700" dirty="0" err="1">
                <a:solidFill>
                  <a:schemeClr val="bg1"/>
                </a:solidFill>
                <a:latin typeface="Arial"/>
              </a:rPr>
              <a:t>Piezoelectric</a:t>
            </a:r>
            <a:r>
              <a:rPr lang="es-ES" sz="700" dirty="0">
                <a:solidFill>
                  <a:schemeClr val="bg1"/>
                </a:solidFill>
                <a:latin typeface="Arial"/>
              </a:rPr>
              <a:t> </a:t>
            </a:r>
            <a:r>
              <a:rPr lang="es-ES" sz="700" dirty="0" err="1">
                <a:solidFill>
                  <a:schemeClr val="bg1"/>
                </a:solidFill>
                <a:latin typeface="Arial"/>
              </a:rPr>
              <a:t>Sensors</a:t>
            </a:r>
            <a:r>
              <a:rPr lang="es-ES" sz="700" dirty="0">
                <a:solidFill>
                  <a:schemeClr val="bg1"/>
                </a:solidFill>
                <a:latin typeface="Arial"/>
              </a:rPr>
              <a:t>, </a:t>
            </a:r>
            <a:r>
              <a:rPr lang="es-ES" sz="700" dirty="0" err="1">
                <a:solidFill>
                  <a:schemeClr val="bg1"/>
                </a:solidFill>
                <a:latin typeface="Arial"/>
              </a:rPr>
              <a:t>Application</a:t>
            </a:r>
            <a:r>
              <a:rPr lang="es-ES" sz="700" dirty="0">
                <a:solidFill>
                  <a:schemeClr val="bg1"/>
                </a:solidFill>
                <a:latin typeface="Arial"/>
              </a:rPr>
              <a:t> </a:t>
            </a:r>
            <a:r>
              <a:rPr lang="es-ES" sz="700" dirty="0" err="1">
                <a:solidFill>
                  <a:schemeClr val="bg1"/>
                </a:solidFill>
                <a:latin typeface="Arial"/>
              </a:rPr>
              <a:t>Report</a:t>
            </a:r>
            <a:r>
              <a:rPr lang="es-ES" sz="700" dirty="0">
                <a:solidFill>
                  <a:schemeClr val="bg1"/>
                </a:solidFill>
                <a:latin typeface="Arial"/>
              </a:rPr>
              <a:t> SLOA033A - </a:t>
            </a:r>
            <a:r>
              <a:rPr lang="es-ES" sz="700" dirty="0" err="1">
                <a:solidFill>
                  <a:schemeClr val="bg1"/>
                </a:solidFill>
                <a:latin typeface="Arial"/>
              </a:rPr>
              <a:t>September</a:t>
            </a:r>
            <a:r>
              <a:rPr lang="es-ES" sz="700" dirty="0">
                <a:solidFill>
                  <a:schemeClr val="bg1"/>
                </a:solidFill>
                <a:latin typeface="Arial"/>
              </a:rPr>
              <a:t> 2000, Texas Instruments.</a:t>
            </a:r>
            <a:endParaRPr lang="en-US" sz="700" dirty="0">
              <a:solidFill>
                <a:schemeClr val="bg1"/>
              </a:solidFill>
              <a:cs typeface="Calibri"/>
            </a:endParaRPr>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Sensores piezoeléctricos</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Aplicaciones en la ingeniería (materiales piezoeléctricos) </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9</a:t>
            </a:fld>
            <a:endParaRPr lang="es-CO" sz="1200" dirty="0">
              <a:solidFill>
                <a:schemeClr val="bg1"/>
              </a:solidFill>
            </a:endParaRPr>
          </a:p>
        </p:txBody>
      </p:sp>
      <p:pic>
        <p:nvPicPr>
          <p:cNvPr id="4" name="Imagen 3">
            <a:extLst>
              <a:ext uri="{FF2B5EF4-FFF2-40B4-BE49-F238E27FC236}">
                <a16:creationId xmlns:a16="http://schemas.microsoft.com/office/drawing/2014/main" id="{5524999F-E4B4-30BE-2FCA-AAF825010421}"/>
              </a:ext>
            </a:extLst>
          </p:cNvPr>
          <p:cNvPicPr>
            <a:picLocks noChangeAspect="1"/>
          </p:cNvPicPr>
          <p:nvPr/>
        </p:nvPicPr>
        <p:blipFill>
          <a:blip r:embed="rId4"/>
          <a:stretch>
            <a:fillRect/>
          </a:stretch>
        </p:blipFill>
        <p:spPr>
          <a:xfrm>
            <a:off x="1904321" y="793189"/>
            <a:ext cx="5529412" cy="5085761"/>
          </a:xfrm>
          <a:prstGeom prst="rect">
            <a:avLst/>
          </a:prstGeom>
        </p:spPr>
      </p:pic>
    </p:spTree>
    <p:custDataLst>
      <p:tags r:id="rId1"/>
    </p:custDataLst>
    <p:extLst>
      <p:ext uri="{BB962C8B-B14F-4D97-AF65-F5344CB8AC3E}">
        <p14:creationId xmlns:p14="http://schemas.microsoft.com/office/powerpoint/2010/main" val="3716689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B28819-D4D5-18A9-17DB-B31FBFA66F3B}"/>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C8703350-5B0E-5764-31CB-CF7E7BAD4D40}"/>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TextBox 32">
            <a:extLst>
              <a:ext uri="{FF2B5EF4-FFF2-40B4-BE49-F238E27FC236}">
                <a16:creationId xmlns:a16="http://schemas.microsoft.com/office/drawing/2014/main" id="{05BF7AF8-0B34-66D1-90FD-7635DF5BD0E3}"/>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a:t>
            </a:r>
            <a:r>
              <a:rPr lang="es-ES" sz="700" dirty="0" err="1">
                <a:solidFill>
                  <a:schemeClr val="bg1"/>
                </a:solidFill>
                <a:latin typeface="Arial"/>
              </a:rPr>
              <a:t>Signal</a:t>
            </a:r>
            <a:r>
              <a:rPr lang="es-ES" sz="700" dirty="0">
                <a:solidFill>
                  <a:schemeClr val="bg1"/>
                </a:solidFill>
                <a:latin typeface="Arial"/>
              </a:rPr>
              <a:t> </a:t>
            </a:r>
            <a:r>
              <a:rPr lang="es-ES" sz="700" dirty="0" err="1">
                <a:solidFill>
                  <a:schemeClr val="bg1"/>
                </a:solidFill>
                <a:latin typeface="Arial"/>
              </a:rPr>
              <a:t>Conditioning</a:t>
            </a:r>
            <a:r>
              <a:rPr lang="es-ES" sz="700" dirty="0">
                <a:solidFill>
                  <a:schemeClr val="bg1"/>
                </a:solidFill>
                <a:latin typeface="Arial"/>
              </a:rPr>
              <a:t> </a:t>
            </a:r>
            <a:r>
              <a:rPr lang="es-ES" sz="700" dirty="0" err="1">
                <a:solidFill>
                  <a:schemeClr val="bg1"/>
                </a:solidFill>
                <a:latin typeface="Arial"/>
              </a:rPr>
              <a:t>Piezoelectric</a:t>
            </a:r>
            <a:r>
              <a:rPr lang="es-ES" sz="700" dirty="0">
                <a:solidFill>
                  <a:schemeClr val="bg1"/>
                </a:solidFill>
                <a:latin typeface="Arial"/>
              </a:rPr>
              <a:t> </a:t>
            </a:r>
            <a:r>
              <a:rPr lang="es-ES" sz="700" dirty="0" err="1">
                <a:solidFill>
                  <a:schemeClr val="bg1"/>
                </a:solidFill>
                <a:latin typeface="Arial"/>
              </a:rPr>
              <a:t>Sensors</a:t>
            </a:r>
            <a:r>
              <a:rPr lang="es-ES" sz="700" dirty="0">
                <a:solidFill>
                  <a:schemeClr val="bg1"/>
                </a:solidFill>
                <a:latin typeface="Arial"/>
              </a:rPr>
              <a:t>, </a:t>
            </a:r>
            <a:r>
              <a:rPr lang="es-ES" sz="700" dirty="0" err="1">
                <a:solidFill>
                  <a:schemeClr val="bg1"/>
                </a:solidFill>
                <a:latin typeface="Arial"/>
              </a:rPr>
              <a:t>Application</a:t>
            </a:r>
            <a:r>
              <a:rPr lang="es-ES" sz="700" dirty="0">
                <a:solidFill>
                  <a:schemeClr val="bg1"/>
                </a:solidFill>
                <a:latin typeface="Arial"/>
              </a:rPr>
              <a:t> </a:t>
            </a:r>
            <a:r>
              <a:rPr lang="es-ES" sz="700" dirty="0" err="1">
                <a:solidFill>
                  <a:schemeClr val="bg1"/>
                </a:solidFill>
                <a:latin typeface="Arial"/>
              </a:rPr>
              <a:t>Report</a:t>
            </a:r>
            <a:r>
              <a:rPr lang="es-ES" sz="700" dirty="0">
                <a:solidFill>
                  <a:schemeClr val="bg1"/>
                </a:solidFill>
                <a:latin typeface="Arial"/>
              </a:rPr>
              <a:t> SLOA033A - </a:t>
            </a:r>
            <a:r>
              <a:rPr lang="es-ES" sz="700" dirty="0" err="1">
                <a:solidFill>
                  <a:schemeClr val="bg1"/>
                </a:solidFill>
                <a:latin typeface="Arial"/>
              </a:rPr>
              <a:t>September</a:t>
            </a:r>
            <a:r>
              <a:rPr lang="es-ES" sz="700" dirty="0">
                <a:solidFill>
                  <a:schemeClr val="bg1"/>
                </a:solidFill>
                <a:latin typeface="Arial"/>
              </a:rPr>
              <a:t> 2000, Texas Instruments.</a:t>
            </a:r>
            <a:endParaRPr lang="en-US" sz="700" dirty="0">
              <a:solidFill>
                <a:schemeClr val="bg1"/>
              </a:solidFill>
              <a:cs typeface="Calibri"/>
            </a:endParaRPr>
          </a:p>
        </p:txBody>
      </p:sp>
      <p:sp>
        <p:nvSpPr>
          <p:cNvPr id="3" name="Título 1">
            <a:extLst>
              <a:ext uri="{FF2B5EF4-FFF2-40B4-BE49-F238E27FC236}">
                <a16:creationId xmlns:a16="http://schemas.microsoft.com/office/drawing/2014/main" id="{7879D2A4-D0EC-BEFF-7A64-F6D437024AD2}"/>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Sensores piezoeléctricos</a:t>
            </a:r>
            <a:endParaRPr lang="en-US" dirty="0">
              <a:solidFill>
                <a:schemeClr val="bg1"/>
              </a:solidFill>
            </a:endParaRPr>
          </a:p>
        </p:txBody>
      </p:sp>
      <p:sp>
        <p:nvSpPr>
          <p:cNvPr id="12" name="Rectángulo 6">
            <a:extLst>
              <a:ext uri="{FF2B5EF4-FFF2-40B4-BE49-F238E27FC236}">
                <a16:creationId xmlns:a16="http://schemas.microsoft.com/office/drawing/2014/main" id="{F197C482-F4D4-6FCC-A3E9-D6F4792DE9AC}"/>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¿Cómo amplificar? | Amplificador de voltaje</a:t>
            </a:r>
            <a:endParaRPr lang="en-US" dirty="0"/>
          </a:p>
        </p:txBody>
      </p:sp>
      <p:sp>
        <p:nvSpPr>
          <p:cNvPr id="18" name="Marcador de número de diapositiva 3">
            <a:extLst>
              <a:ext uri="{FF2B5EF4-FFF2-40B4-BE49-F238E27FC236}">
                <a16:creationId xmlns:a16="http://schemas.microsoft.com/office/drawing/2014/main" id="{C17E5E44-6240-711B-B85C-E6074EFFC203}"/>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10</a:t>
            </a:fld>
            <a:endParaRPr lang="es-CO" sz="1200" dirty="0">
              <a:solidFill>
                <a:schemeClr val="bg1"/>
              </a:solidFill>
            </a:endParaRPr>
          </a:p>
        </p:txBody>
      </p:sp>
      <p:pic>
        <p:nvPicPr>
          <p:cNvPr id="7" name="Imagen 6">
            <a:extLst>
              <a:ext uri="{FF2B5EF4-FFF2-40B4-BE49-F238E27FC236}">
                <a16:creationId xmlns:a16="http://schemas.microsoft.com/office/drawing/2014/main" id="{7114C232-A8D2-6354-9611-FDD06B2DA0E5}"/>
              </a:ext>
            </a:extLst>
          </p:cNvPr>
          <p:cNvPicPr>
            <a:picLocks noChangeAspect="1"/>
          </p:cNvPicPr>
          <p:nvPr/>
        </p:nvPicPr>
        <p:blipFill>
          <a:blip r:embed="rId4"/>
          <a:stretch>
            <a:fillRect/>
          </a:stretch>
        </p:blipFill>
        <p:spPr>
          <a:xfrm>
            <a:off x="589139" y="799475"/>
            <a:ext cx="8010144" cy="4606927"/>
          </a:xfrm>
          <a:prstGeom prst="rect">
            <a:avLst/>
          </a:prstGeom>
        </p:spPr>
      </p:pic>
    </p:spTree>
    <p:custDataLst>
      <p:tags r:id="rId1"/>
    </p:custDataLst>
    <p:extLst>
      <p:ext uri="{BB962C8B-B14F-4D97-AF65-F5344CB8AC3E}">
        <p14:creationId xmlns:p14="http://schemas.microsoft.com/office/powerpoint/2010/main" val="2182153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Sensores piezoeléctricos</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Aplicación en la medida de fuerzas</a:t>
            </a:r>
            <a:r>
              <a:rPr lang="es-ES" sz="1600" dirty="0">
                <a:solidFill>
                  <a:srgbClr val="2C5697"/>
                </a:solidFill>
                <a:latin typeface="Arial"/>
                <a:cs typeface="Arial"/>
                <a:sym typeface="Times New Roman"/>
              </a:rPr>
              <a:t> (fuerza, presión, aceleración)</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11</a:t>
            </a:fld>
            <a:endParaRPr lang="es-CO" sz="1200" dirty="0">
              <a:solidFill>
                <a:schemeClr val="bg1"/>
              </a:solidFill>
            </a:endParaRPr>
          </a:p>
        </p:txBody>
      </p:sp>
      <p:pic>
        <p:nvPicPr>
          <p:cNvPr id="4" name="Imagen 3">
            <a:extLst>
              <a:ext uri="{FF2B5EF4-FFF2-40B4-BE49-F238E27FC236}">
                <a16:creationId xmlns:a16="http://schemas.microsoft.com/office/drawing/2014/main" id="{8A75E30C-2788-4240-B468-8EC8E5F47F32}"/>
              </a:ext>
            </a:extLst>
          </p:cNvPr>
          <p:cNvPicPr>
            <a:picLocks noChangeAspect="1"/>
          </p:cNvPicPr>
          <p:nvPr/>
        </p:nvPicPr>
        <p:blipFill>
          <a:blip r:embed="rId4"/>
          <a:stretch>
            <a:fillRect/>
          </a:stretch>
        </p:blipFill>
        <p:spPr>
          <a:xfrm>
            <a:off x="127303" y="1714729"/>
            <a:ext cx="5935103" cy="3252218"/>
          </a:xfrm>
          <a:prstGeom prst="rect">
            <a:avLst/>
          </a:prstGeom>
        </p:spPr>
      </p:pic>
      <p:sp>
        <p:nvSpPr>
          <p:cNvPr id="2" name="TextBox 32">
            <a:extLst>
              <a:ext uri="{FF2B5EF4-FFF2-40B4-BE49-F238E27FC236}">
                <a16:creationId xmlns:a16="http://schemas.microsoft.com/office/drawing/2014/main" id="{E73FC90F-EC0B-3157-0026-8396CC4892FC}"/>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5" name="CuadroTexto 4">
            <a:extLst>
              <a:ext uri="{FF2B5EF4-FFF2-40B4-BE49-F238E27FC236}">
                <a16:creationId xmlns:a16="http://schemas.microsoft.com/office/drawing/2014/main" id="{973177CD-33D3-A8EF-E250-340E81A5E0D6}"/>
              </a:ext>
            </a:extLst>
          </p:cNvPr>
          <p:cNvSpPr txBox="1"/>
          <p:nvPr/>
        </p:nvSpPr>
        <p:spPr>
          <a:xfrm>
            <a:off x="127303" y="808261"/>
            <a:ext cx="8755234" cy="646331"/>
          </a:xfrm>
          <a:prstGeom prst="rect">
            <a:avLst/>
          </a:prstGeom>
          <a:noFill/>
        </p:spPr>
        <p:txBody>
          <a:bodyPr wrap="square">
            <a:spAutoFit/>
          </a:bodyPr>
          <a:lstStyle/>
          <a:p>
            <a:r>
              <a:rPr lang="es-ES_tradnl" dirty="0"/>
              <a:t>Se usan en la región plana, pero la tensión de salida estará afectada por las </a:t>
            </a:r>
            <a:r>
              <a:rPr lang="es-ES_tradnl" dirty="0">
                <a:solidFill>
                  <a:srgbClr val="C00000"/>
                </a:solidFill>
              </a:rPr>
              <a:t>cargas parásitas de las conexiones </a:t>
            </a:r>
            <a:r>
              <a:rPr lang="es-ES_tradnl" dirty="0"/>
              <a:t>y la </a:t>
            </a:r>
            <a:r>
              <a:rPr lang="es-ES_tradnl" dirty="0">
                <a:solidFill>
                  <a:srgbClr val="C00000"/>
                </a:solidFill>
              </a:rPr>
              <a:t>impedancia de entrada</a:t>
            </a:r>
            <a:r>
              <a:rPr lang="es-ES_tradnl" dirty="0"/>
              <a:t> del OPAM.</a:t>
            </a:r>
            <a:endParaRPr lang="es-MX" dirty="0"/>
          </a:p>
        </p:txBody>
      </p:sp>
      <p:pic>
        <p:nvPicPr>
          <p:cNvPr id="8" name="Imagen 7">
            <a:extLst>
              <a:ext uri="{FF2B5EF4-FFF2-40B4-BE49-F238E27FC236}">
                <a16:creationId xmlns:a16="http://schemas.microsoft.com/office/drawing/2014/main" id="{145A171B-3AD3-BF49-C19E-E52A3310F8A6}"/>
              </a:ext>
            </a:extLst>
          </p:cNvPr>
          <p:cNvPicPr>
            <a:picLocks noChangeAspect="1"/>
          </p:cNvPicPr>
          <p:nvPr/>
        </p:nvPicPr>
        <p:blipFill>
          <a:blip r:embed="rId5"/>
          <a:stretch>
            <a:fillRect/>
          </a:stretch>
        </p:blipFill>
        <p:spPr>
          <a:xfrm>
            <a:off x="5908842" y="2797273"/>
            <a:ext cx="2973695" cy="988825"/>
          </a:xfrm>
          <a:prstGeom prst="rect">
            <a:avLst/>
          </a:prstGeom>
        </p:spPr>
      </p:pic>
      <p:sp>
        <p:nvSpPr>
          <p:cNvPr id="9" name="CuadroTexto 8">
            <a:extLst>
              <a:ext uri="{FF2B5EF4-FFF2-40B4-BE49-F238E27FC236}">
                <a16:creationId xmlns:a16="http://schemas.microsoft.com/office/drawing/2014/main" id="{A5042E71-D06B-56E3-5FC1-46822D63DBFC}"/>
              </a:ext>
            </a:extLst>
          </p:cNvPr>
          <p:cNvSpPr txBox="1"/>
          <p:nvPr/>
        </p:nvSpPr>
        <p:spPr>
          <a:xfrm>
            <a:off x="21249" y="5346698"/>
            <a:ext cx="8755234" cy="369332"/>
          </a:xfrm>
          <a:prstGeom prst="rect">
            <a:avLst/>
          </a:prstGeom>
          <a:noFill/>
        </p:spPr>
        <p:txBody>
          <a:bodyPr wrap="square">
            <a:spAutoFit/>
          </a:bodyPr>
          <a:lstStyle/>
          <a:p>
            <a:r>
              <a:rPr lang="es-ES_tradnl" dirty="0"/>
              <a:t>¡Una solución puede ser usar sensores integrados con el amplificador!</a:t>
            </a:r>
            <a:endParaRPr lang="es-MX" dirty="0"/>
          </a:p>
        </p:txBody>
      </p:sp>
    </p:spTree>
    <p:custDataLst>
      <p:tags r:id="rId1"/>
    </p:custDataLst>
    <p:extLst>
      <p:ext uri="{BB962C8B-B14F-4D97-AF65-F5344CB8AC3E}">
        <p14:creationId xmlns:p14="http://schemas.microsoft.com/office/powerpoint/2010/main" val="2059839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340619"/>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Sensores piezoeléctricos</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Aplicación en la medida de fuerzas</a:t>
            </a:r>
            <a:r>
              <a:rPr lang="es-ES" sz="1600" dirty="0">
                <a:solidFill>
                  <a:srgbClr val="2C5697"/>
                </a:solidFill>
                <a:latin typeface="Arial"/>
                <a:cs typeface="Arial"/>
                <a:sym typeface="Times New Roman"/>
              </a:rPr>
              <a:t> (fuerza, presión, aceleración)</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12</a:t>
            </a:fld>
            <a:endParaRPr lang="es-CO" sz="1200" dirty="0">
              <a:solidFill>
                <a:schemeClr val="bg1"/>
              </a:solidFill>
            </a:endParaRPr>
          </a:p>
        </p:txBody>
      </p:sp>
      <p:pic>
        <p:nvPicPr>
          <p:cNvPr id="6" name="Imagen 5">
            <a:extLst>
              <a:ext uri="{FF2B5EF4-FFF2-40B4-BE49-F238E27FC236}">
                <a16:creationId xmlns:a16="http://schemas.microsoft.com/office/drawing/2014/main" id="{F8CD7BFE-B28A-49A8-A2BD-79CF4C49139D}"/>
              </a:ext>
            </a:extLst>
          </p:cNvPr>
          <p:cNvPicPr>
            <a:picLocks noChangeAspect="1"/>
          </p:cNvPicPr>
          <p:nvPr/>
        </p:nvPicPr>
        <p:blipFill>
          <a:blip r:embed="rId4"/>
          <a:stretch>
            <a:fillRect/>
          </a:stretch>
        </p:blipFill>
        <p:spPr>
          <a:xfrm>
            <a:off x="81794" y="1173814"/>
            <a:ext cx="5259912" cy="2257206"/>
          </a:xfrm>
          <a:prstGeom prst="rect">
            <a:avLst/>
          </a:prstGeom>
        </p:spPr>
      </p:pic>
      <p:sp>
        <p:nvSpPr>
          <p:cNvPr id="2" name="TextBox 32">
            <a:extLst>
              <a:ext uri="{FF2B5EF4-FFF2-40B4-BE49-F238E27FC236}">
                <a16:creationId xmlns:a16="http://schemas.microsoft.com/office/drawing/2014/main" id="{E73FC90F-EC0B-3157-0026-8396CC4892FC}"/>
              </a:ext>
            </a:extLst>
          </p:cNvPr>
          <p:cNvSpPr txBox="1"/>
          <p:nvPr/>
        </p:nvSpPr>
        <p:spPr>
          <a:xfrm>
            <a:off x="21249" y="5890885"/>
            <a:ext cx="597810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[1] M. Pérez, Instrumentación electrónica, Paraninfo, 2014.</a:t>
            </a:r>
          </a:p>
          <a:p>
            <a:r>
              <a:rPr lang="es-ES" sz="700" dirty="0">
                <a:solidFill>
                  <a:schemeClr val="bg1"/>
                </a:solidFill>
                <a:latin typeface="Arial"/>
                <a:cs typeface="Calibri"/>
              </a:rPr>
              <a:t>[2] https://revistapesquisa.fapesp.br/es/sonidos-submarinos/</a:t>
            </a:r>
          </a:p>
          <a:p>
            <a:r>
              <a:rPr lang="en-US" sz="700" dirty="0">
                <a:solidFill>
                  <a:schemeClr val="bg1"/>
                </a:solidFill>
                <a:cs typeface="Calibri"/>
              </a:rPr>
              <a:t>[3] </a:t>
            </a:r>
            <a:r>
              <a:rPr lang="en-US" sz="700" dirty="0" err="1">
                <a:solidFill>
                  <a:schemeClr val="bg1"/>
                </a:solidFill>
                <a:cs typeface="Calibri"/>
              </a:rPr>
              <a:t>Musicalecer,Midrófonos</a:t>
            </a:r>
            <a:r>
              <a:rPr lang="en-US" sz="700" dirty="0">
                <a:solidFill>
                  <a:schemeClr val="bg1"/>
                </a:solidFill>
                <a:cs typeface="Calibri"/>
              </a:rPr>
              <a:t>, web: https://musicalecer.com/el-equipo-digital/microfonos/concepto-y-clases/</a:t>
            </a:r>
          </a:p>
          <a:p>
            <a:endParaRPr lang="en-US" sz="700" dirty="0">
              <a:solidFill>
                <a:schemeClr val="bg1"/>
              </a:solidFill>
              <a:cs typeface="Calibri"/>
            </a:endParaRPr>
          </a:p>
        </p:txBody>
      </p:sp>
      <p:sp>
        <p:nvSpPr>
          <p:cNvPr id="5" name="CuadroTexto 4">
            <a:extLst>
              <a:ext uri="{FF2B5EF4-FFF2-40B4-BE49-F238E27FC236}">
                <a16:creationId xmlns:a16="http://schemas.microsoft.com/office/drawing/2014/main" id="{973177CD-33D3-A8EF-E250-340E81A5E0D6}"/>
              </a:ext>
            </a:extLst>
          </p:cNvPr>
          <p:cNvSpPr txBox="1"/>
          <p:nvPr/>
        </p:nvSpPr>
        <p:spPr>
          <a:xfrm>
            <a:off x="138640" y="485702"/>
            <a:ext cx="8866719" cy="646331"/>
          </a:xfrm>
          <a:prstGeom prst="rect">
            <a:avLst/>
          </a:prstGeom>
          <a:noFill/>
        </p:spPr>
        <p:txBody>
          <a:bodyPr wrap="square">
            <a:spAutoFit/>
          </a:bodyPr>
          <a:lstStyle/>
          <a:p>
            <a:r>
              <a:rPr lang="es-ES_tradnl" dirty="0"/>
              <a:t>Si se mide </a:t>
            </a:r>
            <a:r>
              <a:rPr lang="es-ES_tradnl" dirty="0">
                <a:solidFill>
                  <a:srgbClr val="C00000"/>
                </a:solidFill>
              </a:rPr>
              <a:t>presión</a:t>
            </a:r>
            <a:r>
              <a:rPr lang="es-ES_tradnl" dirty="0"/>
              <a:t> o una </a:t>
            </a:r>
            <a:r>
              <a:rPr lang="es-ES_tradnl" dirty="0">
                <a:solidFill>
                  <a:srgbClr val="C00000"/>
                </a:solidFill>
              </a:rPr>
              <a:t>aceleración</a:t>
            </a:r>
            <a:r>
              <a:rPr lang="es-ES_tradnl" dirty="0"/>
              <a:t>, se necesita de un mecanismo que realice la transformación correspondiente.</a:t>
            </a:r>
            <a:endParaRPr lang="es-MX" dirty="0"/>
          </a:p>
        </p:txBody>
      </p:sp>
      <p:pic>
        <p:nvPicPr>
          <p:cNvPr id="10" name="Imagen 9">
            <a:extLst>
              <a:ext uri="{FF2B5EF4-FFF2-40B4-BE49-F238E27FC236}">
                <a16:creationId xmlns:a16="http://schemas.microsoft.com/office/drawing/2014/main" id="{9ED8301C-A305-F943-5DB4-624121706025}"/>
              </a:ext>
            </a:extLst>
          </p:cNvPr>
          <p:cNvPicPr>
            <a:picLocks noChangeAspect="1"/>
          </p:cNvPicPr>
          <p:nvPr/>
        </p:nvPicPr>
        <p:blipFill>
          <a:blip r:embed="rId5"/>
          <a:stretch>
            <a:fillRect/>
          </a:stretch>
        </p:blipFill>
        <p:spPr>
          <a:xfrm>
            <a:off x="3375685" y="3803507"/>
            <a:ext cx="1686983" cy="1879220"/>
          </a:xfrm>
          <a:prstGeom prst="rect">
            <a:avLst/>
          </a:prstGeom>
        </p:spPr>
      </p:pic>
      <p:pic>
        <p:nvPicPr>
          <p:cNvPr id="13" name="Imagen 12">
            <a:extLst>
              <a:ext uri="{FF2B5EF4-FFF2-40B4-BE49-F238E27FC236}">
                <a16:creationId xmlns:a16="http://schemas.microsoft.com/office/drawing/2014/main" id="{6FC79AB2-DDEE-6786-2E4C-3E0176BCB239}"/>
              </a:ext>
            </a:extLst>
          </p:cNvPr>
          <p:cNvPicPr>
            <a:picLocks noChangeAspect="1"/>
          </p:cNvPicPr>
          <p:nvPr/>
        </p:nvPicPr>
        <p:blipFill>
          <a:blip r:embed="rId6"/>
          <a:stretch>
            <a:fillRect/>
          </a:stretch>
        </p:blipFill>
        <p:spPr>
          <a:xfrm>
            <a:off x="5609666" y="1486986"/>
            <a:ext cx="3534334" cy="4285063"/>
          </a:xfrm>
          <a:prstGeom prst="rect">
            <a:avLst/>
          </a:prstGeom>
        </p:spPr>
      </p:pic>
      <p:sp>
        <p:nvSpPr>
          <p:cNvPr id="15" name="CuadroTexto 14">
            <a:extLst>
              <a:ext uri="{FF2B5EF4-FFF2-40B4-BE49-F238E27FC236}">
                <a16:creationId xmlns:a16="http://schemas.microsoft.com/office/drawing/2014/main" id="{82883ABF-84AA-E515-632B-F78B852847B3}"/>
              </a:ext>
            </a:extLst>
          </p:cNvPr>
          <p:cNvSpPr txBox="1"/>
          <p:nvPr/>
        </p:nvSpPr>
        <p:spPr>
          <a:xfrm>
            <a:off x="240800" y="5416669"/>
            <a:ext cx="2697982" cy="338554"/>
          </a:xfrm>
          <a:prstGeom prst="rect">
            <a:avLst/>
          </a:prstGeom>
          <a:noFill/>
        </p:spPr>
        <p:txBody>
          <a:bodyPr wrap="square">
            <a:spAutoFit/>
          </a:bodyPr>
          <a:lstStyle/>
          <a:p>
            <a:r>
              <a:rPr lang="es-ES_tradnl" sz="1600" dirty="0"/>
              <a:t>Aplicación en hidrófonos</a:t>
            </a:r>
            <a:endParaRPr lang="es-MX" sz="1600" dirty="0"/>
          </a:p>
        </p:txBody>
      </p:sp>
      <p:pic>
        <p:nvPicPr>
          <p:cNvPr id="16" name="Picture 10" descr="Micrófono piezoeléctrico o de cristal">
            <a:extLst>
              <a:ext uri="{FF2B5EF4-FFF2-40B4-BE49-F238E27FC236}">
                <a16:creationId xmlns:a16="http://schemas.microsoft.com/office/drawing/2014/main" id="{4C9B3919-DC86-012F-3E57-D171BB532BD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5000" y="3768084"/>
            <a:ext cx="2256750" cy="1504500"/>
          </a:xfrm>
          <a:prstGeom prst="rect">
            <a:avLst/>
          </a:prstGeom>
          <a:noFill/>
          <a:extLst>
            <a:ext uri="{909E8E84-426E-40DD-AFC4-6F175D3DCCD1}">
              <a14:hiddenFill xmlns:a14="http://schemas.microsoft.com/office/drawing/2010/main">
                <a:solidFill>
                  <a:srgbClr val="FFFFFF"/>
                </a:solidFill>
              </a14:hiddenFill>
            </a:ext>
          </a:extLst>
        </p:spPr>
      </p:pic>
      <p:sp>
        <p:nvSpPr>
          <p:cNvPr id="19" name="CuadroTexto 18">
            <a:extLst>
              <a:ext uri="{FF2B5EF4-FFF2-40B4-BE49-F238E27FC236}">
                <a16:creationId xmlns:a16="http://schemas.microsoft.com/office/drawing/2014/main" id="{3723D087-E9B9-E8C2-9706-4506DE3611BA}"/>
              </a:ext>
            </a:extLst>
          </p:cNvPr>
          <p:cNvSpPr txBox="1"/>
          <p:nvPr/>
        </p:nvSpPr>
        <p:spPr>
          <a:xfrm>
            <a:off x="4975946" y="3226580"/>
            <a:ext cx="365760" cy="246221"/>
          </a:xfrm>
          <a:prstGeom prst="rect">
            <a:avLst/>
          </a:prstGeom>
          <a:noFill/>
        </p:spPr>
        <p:txBody>
          <a:bodyPr wrap="square">
            <a:spAutoFit/>
          </a:bodyPr>
          <a:lstStyle/>
          <a:p>
            <a:r>
              <a:rPr lang="es-ES_tradnl" sz="1000" dirty="0"/>
              <a:t>[1]</a:t>
            </a:r>
            <a:endParaRPr lang="es-MX" sz="1000" dirty="0"/>
          </a:p>
        </p:txBody>
      </p:sp>
      <p:sp>
        <p:nvSpPr>
          <p:cNvPr id="20" name="CuadroTexto 19">
            <a:extLst>
              <a:ext uri="{FF2B5EF4-FFF2-40B4-BE49-F238E27FC236}">
                <a16:creationId xmlns:a16="http://schemas.microsoft.com/office/drawing/2014/main" id="{78FC3A3E-CEF0-5C4E-53EC-BB48D937923C}"/>
              </a:ext>
            </a:extLst>
          </p:cNvPr>
          <p:cNvSpPr txBox="1"/>
          <p:nvPr/>
        </p:nvSpPr>
        <p:spPr>
          <a:xfrm>
            <a:off x="8822479" y="5610485"/>
            <a:ext cx="365760" cy="246221"/>
          </a:xfrm>
          <a:prstGeom prst="rect">
            <a:avLst/>
          </a:prstGeom>
          <a:noFill/>
        </p:spPr>
        <p:txBody>
          <a:bodyPr wrap="square">
            <a:spAutoFit/>
          </a:bodyPr>
          <a:lstStyle/>
          <a:p>
            <a:r>
              <a:rPr lang="es-ES_tradnl" sz="1000" dirty="0"/>
              <a:t>[2]</a:t>
            </a:r>
            <a:endParaRPr lang="es-MX" sz="1000" dirty="0"/>
          </a:p>
        </p:txBody>
      </p:sp>
      <p:sp>
        <p:nvSpPr>
          <p:cNvPr id="21" name="CuadroTexto 20">
            <a:extLst>
              <a:ext uri="{FF2B5EF4-FFF2-40B4-BE49-F238E27FC236}">
                <a16:creationId xmlns:a16="http://schemas.microsoft.com/office/drawing/2014/main" id="{662BE426-B46C-9384-ABE4-47694C08144D}"/>
              </a:ext>
            </a:extLst>
          </p:cNvPr>
          <p:cNvSpPr txBox="1"/>
          <p:nvPr/>
        </p:nvSpPr>
        <p:spPr>
          <a:xfrm>
            <a:off x="2468854" y="5200526"/>
            <a:ext cx="365760" cy="246221"/>
          </a:xfrm>
          <a:prstGeom prst="rect">
            <a:avLst/>
          </a:prstGeom>
          <a:noFill/>
        </p:spPr>
        <p:txBody>
          <a:bodyPr wrap="square">
            <a:spAutoFit/>
          </a:bodyPr>
          <a:lstStyle/>
          <a:p>
            <a:r>
              <a:rPr lang="es-ES_tradnl" sz="1000" dirty="0"/>
              <a:t>[3]</a:t>
            </a:r>
            <a:endParaRPr lang="es-MX" sz="1000" dirty="0"/>
          </a:p>
        </p:txBody>
      </p:sp>
    </p:spTree>
    <p:custDataLst>
      <p:tags r:id="rId1"/>
    </p:custDataLst>
    <p:extLst>
      <p:ext uri="{BB962C8B-B14F-4D97-AF65-F5344CB8AC3E}">
        <p14:creationId xmlns:p14="http://schemas.microsoft.com/office/powerpoint/2010/main" val="631105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Sensores piezoeléctricos</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Piezoelectricidad</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99850" y="5885920"/>
            <a:ext cx="293832"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13</a:t>
            </a:fld>
            <a:endParaRPr lang="es-CO" sz="1200" dirty="0">
              <a:solidFill>
                <a:schemeClr val="bg1"/>
              </a:solidFill>
            </a:endParaRPr>
          </a:p>
        </p:txBody>
      </p:sp>
      <p:pic>
        <p:nvPicPr>
          <p:cNvPr id="2" name="Imagen 1">
            <a:extLst>
              <a:ext uri="{FF2B5EF4-FFF2-40B4-BE49-F238E27FC236}">
                <a16:creationId xmlns:a16="http://schemas.microsoft.com/office/drawing/2014/main" id="{F6C58BD9-AC6D-43BD-BF37-C0AD123FC900}"/>
              </a:ext>
            </a:extLst>
          </p:cNvPr>
          <p:cNvPicPr>
            <a:picLocks noChangeAspect="1"/>
          </p:cNvPicPr>
          <p:nvPr/>
        </p:nvPicPr>
        <p:blipFill>
          <a:blip r:embed="rId4"/>
          <a:stretch>
            <a:fillRect/>
          </a:stretch>
        </p:blipFill>
        <p:spPr>
          <a:xfrm>
            <a:off x="1311121" y="1053408"/>
            <a:ext cx="6510812" cy="4470871"/>
          </a:xfrm>
          <a:prstGeom prst="rect">
            <a:avLst/>
          </a:prstGeom>
        </p:spPr>
      </p:pic>
      <p:sp>
        <p:nvSpPr>
          <p:cNvPr id="4" name="TextBox 32">
            <a:extLst>
              <a:ext uri="{FF2B5EF4-FFF2-40B4-BE49-F238E27FC236}">
                <a16:creationId xmlns:a16="http://schemas.microsoft.com/office/drawing/2014/main" id="{4E30A90E-B7FB-3E18-8A2A-951B938C5A90}"/>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
        <p:nvSpPr>
          <p:cNvPr id="5" name="CuadroTexto 4">
            <a:extLst>
              <a:ext uri="{FF2B5EF4-FFF2-40B4-BE49-F238E27FC236}">
                <a16:creationId xmlns:a16="http://schemas.microsoft.com/office/drawing/2014/main" id="{FD1C8EC4-19BD-86B4-8924-401F5447C014}"/>
              </a:ext>
            </a:extLst>
          </p:cNvPr>
          <p:cNvSpPr txBox="1"/>
          <p:nvPr/>
        </p:nvSpPr>
        <p:spPr>
          <a:xfrm>
            <a:off x="133167" y="472321"/>
            <a:ext cx="8866719" cy="646331"/>
          </a:xfrm>
          <a:prstGeom prst="rect">
            <a:avLst/>
          </a:prstGeom>
          <a:noFill/>
        </p:spPr>
        <p:txBody>
          <a:bodyPr wrap="square">
            <a:spAutoFit/>
          </a:bodyPr>
          <a:lstStyle/>
          <a:p>
            <a:r>
              <a:rPr lang="es-ES_tradnl" dirty="0"/>
              <a:t>Con un array de hidrófonos se pueden detectar objetos, su velocidad, aceleración, ángulos, etc.</a:t>
            </a:r>
            <a:endParaRPr lang="es-MX" dirty="0"/>
          </a:p>
        </p:txBody>
      </p:sp>
    </p:spTree>
    <p:custDataLst>
      <p:tags r:id="rId1"/>
    </p:custDataLst>
    <p:extLst>
      <p:ext uri="{BB962C8B-B14F-4D97-AF65-F5344CB8AC3E}">
        <p14:creationId xmlns:p14="http://schemas.microsoft.com/office/powerpoint/2010/main" val="2639396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Sensores piezoeléctricos</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Piezoelectricidad | Imagen médica | Efecto Doppler</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677656" y="5885920"/>
            <a:ext cx="416026"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14</a:t>
            </a:fld>
            <a:endParaRPr lang="es-CO" sz="1200" dirty="0">
              <a:solidFill>
                <a:schemeClr val="bg1"/>
              </a:solidFill>
            </a:endParaRPr>
          </a:p>
        </p:txBody>
      </p:sp>
      <p:pic>
        <p:nvPicPr>
          <p:cNvPr id="4" name="Imagen 3">
            <a:extLst>
              <a:ext uri="{FF2B5EF4-FFF2-40B4-BE49-F238E27FC236}">
                <a16:creationId xmlns:a16="http://schemas.microsoft.com/office/drawing/2014/main" id="{4129FCA7-1540-409F-A361-0956B3E63AF3}"/>
              </a:ext>
            </a:extLst>
          </p:cNvPr>
          <p:cNvPicPr>
            <a:picLocks noChangeAspect="1"/>
          </p:cNvPicPr>
          <p:nvPr/>
        </p:nvPicPr>
        <p:blipFill>
          <a:blip r:embed="rId4"/>
          <a:stretch>
            <a:fillRect/>
          </a:stretch>
        </p:blipFill>
        <p:spPr>
          <a:xfrm>
            <a:off x="1668299" y="547690"/>
            <a:ext cx="5765434" cy="2149823"/>
          </a:xfrm>
          <a:prstGeom prst="rect">
            <a:avLst/>
          </a:prstGeom>
        </p:spPr>
      </p:pic>
      <p:pic>
        <p:nvPicPr>
          <p:cNvPr id="5" name="Imagen 4">
            <a:extLst>
              <a:ext uri="{FF2B5EF4-FFF2-40B4-BE49-F238E27FC236}">
                <a16:creationId xmlns:a16="http://schemas.microsoft.com/office/drawing/2014/main" id="{B2C81F3A-4A5E-4771-A38B-EF0ABEAACC64}"/>
              </a:ext>
            </a:extLst>
          </p:cNvPr>
          <p:cNvPicPr>
            <a:picLocks noChangeAspect="1"/>
          </p:cNvPicPr>
          <p:nvPr/>
        </p:nvPicPr>
        <p:blipFill>
          <a:blip r:embed="rId5"/>
          <a:stretch>
            <a:fillRect/>
          </a:stretch>
        </p:blipFill>
        <p:spPr>
          <a:xfrm>
            <a:off x="1533302" y="3123440"/>
            <a:ext cx="5626450" cy="2423814"/>
          </a:xfrm>
          <a:prstGeom prst="rect">
            <a:avLst/>
          </a:prstGeom>
        </p:spPr>
      </p:pic>
      <p:sp>
        <p:nvSpPr>
          <p:cNvPr id="2" name="TextBox 32">
            <a:extLst>
              <a:ext uri="{FF2B5EF4-FFF2-40B4-BE49-F238E27FC236}">
                <a16:creationId xmlns:a16="http://schemas.microsoft.com/office/drawing/2014/main" id="{468E25BD-14B2-3A3F-2B3F-F35FF2DDC7DE}"/>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M. Pérez, Instrumentación electrónica, Paraninfo, 2014.</a:t>
            </a:r>
            <a:endParaRPr lang="en-US" sz="700" dirty="0">
              <a:solidFill>
                <a:schemeClr val="bg1"/>
              </a:solidFill>
              <a:cs typeface="Calibri"/>
            </a:endParaRPr>
          </a:p>
        </p:txBody>
      </p:sp>
    </p:spTree>
    <p:custDataLst>
      <p:tags r:id="rId1"/>
    </p:custDataLst>
    <p:extLst>
      <p:ext uri="{BB962C8B-B14F-4D97-AF65-F5344CB8AC3E}">
        <p14:creationId xmlns:p14="http://schemas.microsoft.com/office/powerpoint/2010/main" val="1002397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Sensores piezoeléctricos</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Ultrasonidos | Imagen médica | Efecto Doppler</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705088" y="5885920"/>
            <a:ext cx="388594"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15</a:t>
            </a:fld>
            <a:endParaRPr lang="es-CO" sz="1200" dirty="0">
              <a:solidFill>
                <a:schemeClr val="bg1"/>
              </a:solidFill>
            </a:endParaRPr>
          </a:p>
        </p:txBody>
      </p:sp>
      <p:sp>
        <p:nvSpPr>
          <p:cNvPr id="2" name="TextBox 32">
            <a:extLst>
              <a:ext uri="{FF2B5EF4-FFF2-40B4-BE49-F238E27FC236}">
                <a16:creationId xmlns:a16="http://schemas.microsoft.com/office/drawing/2014/main" id="{468E25BD-14B2-3A3F-2B3F-F35FF2DDC7DE}"/>
              </a:ext>
            </a:extLst>
          </p:cNvPr>
          <p:cNvSpPr txBox="1"/>
          <p:nvPr/>
        </p:nvSpPr>
        <p:spPr>
          <a:xfrm>
            <a:off x="21249" y="5909173"/>
            <a:ext cx="597810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https://www.varix.cl/diagnostico/eco-doppler-venoso (derecha)</a:t>
            </a:r>
          </a:p>
          <a:p>
            <a:r>
              <a:rPr lang="en-US" sz="700" dirty="0">
                <a:solidFill>
                  <a:schemeClr val="bg1"/>
                </a:solidFill>
                <a:cs typeface="Calibri"/>
              </a:rPr>
              <a:t>https://www.topdoctors.es/diccionario-medico/ecografia-4d-tratamiento#</a:t>
            </a:r>
          </a:p>
        </p:txBody>
      </p:sp>
      <p:sp>
        <p:nvSpPr>
          <p:cNvPr id="6" name="CuadroTexto 5">
            <a:extLst>
              <a:ext uri="{FF2B5EF4-FFF2-40B4-BE49-F238E27FC236}">
                <a16:creationId xmlns:a16="http://schemas.microsoft.com/office/drawing/2014/main" id="{801C540E-09DE-DCFA-46C5-183D5110473E}"/>
              </a:ext>
            </a:extLst>
          </p:cNvPr>
          <p:cNvSpPr txBox="1"/>
          <p:nvPr/>
        </p:nvSpPr>
        <p:spPr>
          <a:xfrm>
            <a:off x="133167" y="472321"/>
            <a:ext cx="8866719" cy="369332"/>
          </a:xfrm>
          <a:prstGeom prst="rect">
            <a:avLst/>
          </a:prstGeom>
          <a:noFill/>
        </p:spPr>
        <p:txBody>
          <a:bodyPr wrap="square">
            <a:spAutoFit/>
          </a:bodyPr>
          <a:lstStyle/>
          <a:p>
            <a:r>
              <a:rPr lang="es-ES_tradnl" dirty="0"/>
              <a:t>Diferentes aplicaciones de los US en salud | Imagen</a:t>
            </a:r>
            <a:endParaRPr lang="es-MX" dirty="0"/>
          </a:p>
        </p:txBody>
      </p:sp>
      <p:pic>
        <p:nvPicPr>
          <p:cNvPr id="4100" name="Picture 4" descr="La doctora Gamón nos explica la diferencia entre las ecografías 2D, 3D y 4D y las ventajas que incorporan los últimos avances en el área de la ecografía.">
            <a:extLst>
              <a:ext uri="{FF2B5EF4-FFF2-40B4-BE49-F238E27FC236}">
                <a16:creationId xmlns:a16="http://schemas.microsoft.com/office/drawing/2014/main" id="{76A5AE0A-DE90-FC1B-1EB0-976DF6347A5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9313" y="913553"/>
            <a:ext cx="2947244" cy="2217801"/>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B842BEEE-6B66-1FCA-3F82-97A820B84B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77143" y="1375075"/>
            <a:ext cx="4722242" cy="3556439"/>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Ecografías 4D a domicilio">
            <a:extLst>
              <a:ext uri="{FF2B5EF4-FFF2-40B4-BE49-F238E27FC236}">
                <a16:creationId xmlns:a16="http://schemas.microsoft.com/office/drawing/2014/main" id="{AEB8D6F3-017D-D7EE-10BF-60CA84C1462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0481" y="3299131"/>
            <a:ext cx="2425954" cy="2432885"/>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EED59615-78BF-105A-8C9B-479A2DF5DA37}"/>
              </a:ext>
            </a:extLst>
          </p:cNvPr>
          <p:cNvSpPr txBox="1"/>
          <p:nvPr/>
        </p:nvSpPr>
        <p:spPr>
          <a:xfrm>
            <a:off x="4096512" y="5121779"/>
            <a:ext cx="4608576" cy="830997"/>
          </a:xfrm>
          <a:prstGeom prst="rect">
            <a:avLst/>
          </a:prstGeom>
          <a:noFill/>
        </p:spPr>
        <p:txBody>
          <a:bodyPr wrap="square">
            <a:spAutoFit/>
          </a:bodyPr>
          <a:lstStyle/>
          <a:p>
            <a:r>
              <a:rPr lang="es-MX" sz="1200" dirty="0"/>
              <a:t>Material de apoyo:</a:t>
            </a:r>
          </a:p>
          <a:p>
            <a:r>
              <a:rPr lang="es-MX" sz="1200" dirty="0">
                <a:solidFill>
                  <a:srgbClr val="0000FF"/>
                </a:solidFill>
                <a:hlinkClick r:id="rId7"/>
              </a:rPr>
              <a:t>https://www.youtube.com/watch?v=I1Bdp2tMFsY</a:t>
            </a:r>
            <a:endParaRPr lang="es-MX" sz="1200" dirty="0">
              <a:solidFill>
                <a:srgbClr val="0000FF"/>
              </a:solidFill>
            </a:endParaRPr>
          </a:p>
          <a:p>
            <a:r>
              <a:rPr lang="es-MX" sz="1200" dirty="0">
                <a:solidFill>
                  <a:srgbClr val="0000FF"/>
                </a:solidFill>
              </a:rPr>
              <a:t>https://www.youtube.com/watch?v=JL-SB3JWmr0</a:t>
            </a:r>
          </a:p>
          <a:p>
            <a:r>
              <a:rPr lang="es-MX" sz="1200" dirty="0">
                <a:solidFill>
                  <a:srgbClr val="0000FF"/>
                </a:solidFill>
              </a:rPr>
              <a:t>             </a:t>
            </a:r>
          </a:p>
        </p:txBody>
      </p:sp>
    </p:spTree>
    <p:custDataLst>
      <p:tags r:id="rId1"/>
    </p:custDataLst>
    <p:extLst>
      <p:ext uri="{BB962C8B-B14F-4D97-AF65-F5344CB8AC3E}">
        <p14:creationId xmlns:p14="http://schemas.microsoft.com/office/powerpoint/2010/main" val="4235736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Sensores piezoeléctricos</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Ultrasonidos | Imagen médica | Efecto Doppler</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494776" y="5885920"/>
            <a:ext cx="598906"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16</a:t>
            </a:fld>
            <a:endParaRPr lang="es-CO" sz="1200" dirty="0">
              <a:solidFill>
                <a:schemeClr val="bg1"/>
              </a:solidFill>
            </a:endParaRPr>
          </a:p>
        </p:txBody>
      </p:sp>
      <p:sp>
        <p:nvSpPr>
          <p:cNvPr id="2" name="TextBox 32">
            <a:extLst>
              <a:ext uri="{FF2B5EF4-FFF2-40B4-BE49-F238E27FC236}">
                <a16:creationId xmlns:a16="http://schemas.microsoft.com/office/drawing/2014/main" id="{468E25BD-14B2-3A3F-2B3F-F35FF2DDC7DE}"/>
              </a:ext>
            </a:extLst>
          </p:cNvPr>
          <p:cNvSpPr txBox="1"/>
          <p:nvPr/>
        </p:nvSpPr>
        <p:spPr>
          <a:xfrm>
            <a:off x="21249" y="5909173"/>
            <a:ext cx="597810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700" dirty="0">
                <a:solidFill>
                  <a:schemeClr val="bg1"/>
                </a:solidFill>
                <a:latin typeface="Arial"/>
              </a:rPr>
              <a:t>Fuente: https://fisagt.com/terapia-de-ultra-sonido/ (izquierda)</a:t>
            </a:r>
          </a:p>
          <a:p>
            <a:r>
              <a:rPr lang="en-US" sz="700" dirty="0">
                <a:solidFill>
                  <a:schemeClr val="bg1"/>
                </a:solidFill>
                <a:cs typeface="Calibri"/>
              </a:rPr>
              <a:t>https://www.quironsalud.com/blogs/es/nigota/litotricia-extracorporea-ondas-choque-leoc-tratar-piedras-r</a:t>
            </a:r>
            <a:r>
              <a:rPr lang="es-ES" sz="700" dirty="0">
                <a:solidFill>
                  <a:schemeClr val="bg1"/>
                </a:solidFill>
                <a:latin typeface="Arial"/>
                <a:cs typeface="Calibri"/>
              </a:rPr>
              <a:t> (derecha)</a:t>
            </a:r>
            <a:endParaRPr lang="en-US" sz="700" dirty="0">
              <a:solidFill>
                <a:schemeClr val="bg1"/>
              </a:solidFill>
              <a:cs typeface="Calibri"/>
            </a:endParaRPr>
          </a:p>
        </p:txBody>
      </p:sp>
      <p:sp>
        <p:nvSpPr>
          <p:cNvPr id="6" name="CuadroTexto 5">
            <a:extLst>
              <a:ext uri="{FF2B5EF4-FFF2-40B4-BE49-F238E27FC236}">
                <a16:creationId xmlns:a16="http://schemas.microsoft.com/office/drawing/2014/main" id="{801C540E-09DE-DCFA-46C5-183D5110473E}"/>
              </a:ext>
            </a:extLst>
          </p:cNvPr>
          <p:cNvSpPr txBox="1"/>
          <p:nvPr/>
        </p:nvSpPr>
        <p:spPr>
          <a:xfrm>
            <a:off x="133167" y="472321"/>
            <a:ext cx="8866719" cy="369332"/>
          </a:xfrm>
          <a:prstGeom prst="rect">
            <a:avLst/>
          </a:prstGeom>
          <a:noFill/>
        </p:spPr>
        <p:txBody>
          <a:bodyPr wrap="square">
            <a:spAutoFit/>
          </a:bodyPr>
          <a:lstStyle/>
          <a:p>
            <a:r>
              <a:rPr lang="es-ES_tradnl" dirty="0"/>
              <a:t>Diferentes aplicaciones de los US en salud | Terapia</a:t>
            </a:r>
            <a:endParaRPr lang="es-MX" dirty="0"/>
          </a:p>
        </p:txBody>
      </p:sp>
      <p:pic>
        <p:nvPicPr>
          <p:cNvPr id="6146" name="Picture 2">
            <a:extLst>
              <a:ext uri="{FF2B5EF4-FFF2-40B4-BE49-F238E27FC236}">
                <a16:creationId xmlns:a16="http://schemas.microsoft.com/office/drawing/2014/main" id="{28BC02DF-902F-A51C-DA37-6EE0D96B8C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7807" y="1536191"/>
            <a:ext cx="3038231" cy="3038231"/>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B1FD67F5-5D19-1EA5-450E-94BC68176E8D}"/>
              </a:ext>
            </a:extLst>
          </p:cNvPr>
          <p:cNvSpPr txBox="1"/>
          <p:nvPr/>
        </p:nvSpPr>
        <p:spPr>
          <a:xfrm>
            <a:off x="877824" y="4952477"/>
            <a:ext cx="1837944" cy="369332"/>
          </a:xfrm>
          <a:prstGeom prst="rect">
            <a:avLst/>
          </a:prstGeom>
          <a:noFill/>
        </p:spPr>
        <p:txBody>
          <a:bodyPr wrap="square">
            <a:spAutoFit/>
          </a:bodyPr>
          <a:lstStyle/>
          <a:p>
            <a:pPr algn="ctr"/>
            <a:r>
              <a:rPr lang="es-ES_tradnl" dirty="0"/>
              <a:t>Termoterapia</a:t>
            </a:r>
            <a:endParaRPr lang="es-MX" dirty="0"/>
          </a:p>
        </p:txBody>
      </p:sp>
      <p:pic>
        <p:nvPicPr>
          <p:cNvPr id="6148" name="Picture 4">
            <a:extLst>
              <a:ext uri="{FF2B5EF4-FFF2-40B4-BE49-F238E27FC236}">
                <a16:creationId xmlns:a16="http://schemas.microsoft.com/office/drawing/2014/main" id="{D28D3969-19BA-0095-E872-30F394A349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7350" y="1723984"/>
            <a:ext cx="4762500" cy="2905125"/>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2153313E-2106-7BB0-3B04-3AF2EF9A3C25}"/>
              </a:ext>
            </a:extLst>
          </p:cNvPr>
          <p:cNvSpPr txBox="1"/>
          <p:nvPr/>
        </p:nvSpPr>
        <p:spPr>
          <a:xfrm>
            <a:off x="4724400" y="4920211"/>
            <a:ext cx="3916680" cy="369332"/>
          </a:xfrm>
          <a:prstGeom prst="rect">
            <a:avLst/>
          </a:prstGeom>
          <a:noFill/>
        </p:spPr>
        <p:txBody>
          <a:bodyPr wrap="square">
            <a:spAutoFit/>
          </a:bodyPr>
          <a:lstStyle/>
          <a:p>
            <a:pPr algn="ctr"/>
            <a:r>
              <a:rPr lang="es-ES_tradnl" dirty="0"/>
              <a:t>Litotricia por ondas de choque</a:t>
            </a:r>
            <a:endParaRPr lang="es-MX" dirty="0"/>
          </a:p>
        </p:txBody>
      </p:sp>
    </p:spTree>
    <p:custDataLst>
      <p:tags r:id="rId1"/>
    </p:custDataLst>
    <p:extLst>
      <p:ext uri="{BB962C8B-B14F-4D97-AF65-F5344CB8AC3E}">
        <p14:creationId xmlns:p14="http://schemas.microsoft.com/office/powerpoint/2010/main" val="1613883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5D3CB8-98CF-0AF8-2C59-49B082B466BC}"/>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DBCF8236-38A6-E95B-2072-993F8FF35C41}"/>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56F254AE-0504-31BB-40E9-A3F9D902C4CF}"/>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Sensores piezoeléctricos</a:t>
            </a:r>
            <a:endParaRPr lang="en-US" dirty="0">
              <a:solidFill>
                <a:schemeClr val="bg1"/>
              </a:solidFill>
            </a:endParaRPr>
          </a:p>
        </p:txBody>
      </p:sp>
      <p:sp>
        <p:nvSpPr>
          <p:cNvPr id="12" name="Rectángulo 6">
            <a:extLst>
              <a:ext uri="{FF2B5EF4-FFF2-40B4-BE49-F238E27FC236}">
                <a16:creationId xmlns:a16="http://schemas.microsoft.com/office/drawing/2014/main" id="{C56E895F-A888-A374-13D7-B0932190E3A5}"/>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Aplicaciones médicas (materiales piezoeléctricos)</a:t>
            </a:r>
            <a:endParaRPr lang="en-US" dirty="0"/>
          </a:p>
        </p:txBody>
      </p:sp>
      <p:sp>
        <p:nvSpPr>
          <p:cNvPr id="18" name="Marcador de número de diapositiva 3">
            <a:extLst>
              <a:ext uri="{FF2B5EF4-FFF2-40B4-BE49-F238E27FC236}">
                <a16:creationId xmlns:a16="http://schemas.microsoft.com/office/drawing/2014/main" id="{C68980B4-6AB9-2B98-0016-EC72CE880339}"/>
              </a:ext>
            </a:extLst>
          </p:cNvPr>
          <p:cNvSpPr txBox="1">
            <a:spLocks/>
          </p:cNvSpPr>
          <p:nvPr/>
        </p:nvSpPr>
        <p:spPr>
          <a:xfrm>
            <a:off x="8494776" y="5885920"/>
            <a:ext cx="598906"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17</a:t>
            </a:fld>
            <a:endParaRPr lang="es-CO" sz="1200" dirty="0">
              <a:solidFill>
                <a:schemeClr val="bg1"/>
              </a:solidFill>
            </a:endParaRPr>
          </a:p>
        </p:txBody>
      </p:sp>
      <p:sp>
        <p:nvSpPr>
          <p:cNvPr id="2" name="TextBox 32">
            <a:extLst>
              <a:ext uri="{FF2B5EF4-FFF2-40B4-BE49-F238E27FC236}">
                <a16:creationId xmlns:a16="http://schemas.microsoft.com/office/drawing/2014/main" id="{6FF3AAD5-75D4-4D85-0686-A77B4C5BB24C}"/>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00" dirty="0">
                <a:solidFill>
                  <a:schemeClr val="bg1"/>
                </a:solidFill>
                <a:latin typeface="Arial"/>
              </a:rPr>
              <a:t>Compendium of Biomedical Instrumentation, 3 Volume</a:t>
            </a:r>
            <a:endParaRPr lang="es-ES" sz="700" dirty="0">
              <a:solidFill>
                <a:schemeClr val="bg1"/>
              </a:solidFill>
              <a:latin typeface="Arial"/>
            </a:endParaRPr>
          </a:p>
        </p:txBody>
      </p:sp>
      <p:pic>
        <p:nvPicPr>
          <p:cNvPr id="8" name="Imagen 7">
            <a:extLst>
              <a:ext uri="{FF2B5EF4-FFF2-40B4-BE49-F238E27FC236}">
                <a16:creationId xmlns:a16="http://schemas.microsoft.com/office/drawing/2014/main" id="{C74CE830-1054-50BE-8486-71DF235DC356}"/>
              </a:ext>
            </a:extLst>
          </p:cNvPr>
          <p:cNvPicPr>
            <a:picLocks noChangeAspect="1"/>
          </p:cNvPicPr>
          <p:nvPr/>
        </p:nvPicPr>
        <p:blipFill>
          <a:blip r:embed="rId4"/>
          <a:stretch>
            <a:fillRect/>
          </a:stretch>
        </p:blipFill>
        <p:spPr>
          <a:xfrm>
            <a:off x="981723" y="641050"/>
            <a:ext cx="7180553" cy="5178285"/>
          </a:xfrm>
          <a:prstGeom prst="rect">
            <a:avLst/>
          </a:prstGeom>
        </p:spPr>
      </p:pic>
    </p:spTree>
    <p:custDataLst>
      <p:tags r:id="rId1"/>
    </p:custDataLst>
    <p:extLst>
      <p:ext uri="{BB962C8B-B14F-4D97-AF65-F5344CB8AC3E}">
        <p14:creationId xmlns:p14="http://schemas.microsoft.com/office/powerpoint/2010/main" val="31256997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ángulo 3">
            <a:extLst>
              <a:ext uri="{FF2B5EF4-FFF2-40B4-BE49-F238E27FC236}">
                <a16:creationId xmlns:a16="http://schemas.microsoft.com/office/drawing/2014/main" id="{BA78C997-9AFA-617C-2246-1E5D696CD074}"/>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A4D1AAEC-93DE-C95C-08EF-CF9033451CE1}"/>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Sensores piezoeléctricos</a:t>
            </a:r>
            <a:endParaRPr lang="en-US" dirty="0">
              <a:solidFill>
                <a:schemeClr val="bg1"/>
              </a:solidFill>
            </a:endParaRPr>
          </a:p>
        </p:txBody>
      </p:sp>
      <p:sp>
        <p:nvSpPr>
          <p:cNvPr id="12" name="Rectángulo 6">
            <a:extLst>
              <a:ext uri="{FF2B5EF4-FFF2-40B4-BE49-F238E27FC236}">
                <a16:creationId xmlns:a16="http://schemas.microsoft.com/office/drawing/2014/main" id="{396E011B-4BAA-685E-2E9E-0082F05E8034}"/>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Medición de la presión arterial basado en los sonidos de Korotkoff</a:t>
            </a:r>
            <a:endParaRPr lang="en-US" dirty="0"/>
          </a:p>
        </p:txBody>
      </p:sp>
      <p:sp>
        <p:nvSpPr>
          <p:cNvPr id="18" name="Marcador de número de diapositiva 3">
            <a:extLst>
              <a:ext uri="{FF2B5EF4-FFF2-40B4-BE49-F238E27FC236}">
                <a16:creationId xmlns:a16="http://schemas.microsoft.com/office/drawing/2014/main" id="{05297B29-4A8C-4AAD-AF4F-01A7DE44607E}"/>
              </a:ext>
            </a:extLst>
          </p:cNvPr>
          <p:cNvSpPr txBox="1">
            <a:spLocks/>
          </p:cNvSpPr>
          <p:nvPr/>
        </p:nvSpPr>
        <p:spPr>
          <a:xfrm>
            <a:off x="8494776" y="5885920"/>
            <a:ext cx="598906"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18</a:t>
            </a:fld>
            <a:endParaRPr lang="es-CO" sz="1200" dirty="0">
              <a:solidFill>
                <a:schemeClr val="bg1"/>
              </a:solidFill>
            </a:endParaRPr>
          </a:p>
        </p:txBody>
      </p:sp>
      <p:pic>
        <p:nvPicPr>
          <p:cNvPr id="4" name="Imagen 3">
            <a:extLst>
              <a:ext uri="{FF2B5EF4-FFF2-40B4-BE49-F238E27FC236}">
                <a16:creationId xmlns:a16="http://schemas.microsoft.com/office/drawing/2014/main" id="{E6F2FC46-2723-4A74-64FF-32282CEADF2A}"/>
              </a:ext>
            </a:extLst>
          </p:cNvPr>
          <p:cNvPicPr>
            <a:picLocks noChangeAspect="1"/>
          </p:cNvPicPr>
          <p:nvPr/>
        </p:nvPicPr>
        <p:blipFill>
          <a:blip r:embed="rId4"/>
          <a:stretch>
            <a:fillRect/>
          </a:stretch>
        </p:blipFill>
        <p:spPr>
          <a:xfrm>
            <a:off x="1435777" y="859861"/>
            <a:ext cx="6014101" cy="4765411"/>
          </a:xfrm>
          <a:prstGeom prst="rect">
            <a:avLst/>
          </a:prstGeom>
        </p:spPr>
      </p:pic>
      <p:sp>
        <p:nvSpPr>
          <p:cNvPr id="5" name="TextBox 32">
            <a:extLst>
              <a:ext uri="{FF2B5EF4-FFF2-40B4-BE49-F238E27FC236}">
                <a16:creationId xmlns:a16="http://schemas.microsoft.com/office/drawing/2014/main" id="{81749E9D-9509-AA5F-D13D-899C1C93CCA7}"/>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00" dirty="0">
                <a:solidFill>
                  <a:schemeClr val="bg1"/>
                </a:solidFill>
                <a:latin typeface="Arial"/>
              </a:rPr>
              <a:t>Compendium of Biomedical Instrumentation, 3 Volume</a:t>
            </a:r>
            <a:endParaRPr lang="es-ES" sz="700" dirty="0">
              <a:solidFill>
                <a:schemeClr val="bg1"/>
              </a:solidFill>
              <a:latin typeface="Arial"/>
            </a:endParaRPr>
          </a:p>
        </p:txBody>
      </p:sp>
    </p:spTree>
    <p:custDataLst>
      <p:tags r:id="rId1"/>
    </p:custDataLst>
    <p:extLst>
      <p:ext uri="{BB962C8B-B14F-4D97-AF65-F5344CB8AC3E}">
        <p14:creationId xmlns:p14="http://schemas.microsoft.com/office/powerpoint/2010/main" val="11940349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A7FDE9-24D8-D27D-8AA1-69996E61B393}"/>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EF8F8E7E-2059-9F31-E26B-5178945C4249}"/>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218ABCBC-F168-6E27-59BB-631D5755CBB4}"/>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Sensores piezoeléctricos</a:t>
            </a:r>
            <a:endParaRPr lang="en-US" dirty="0">
              <a:solidFill>
                <a:schemeClr val="bg1"/>
              </a:solidFill>
            </a:endParaRPr>
          </a:p>
        </p:txBody>
      </p:sp>
      <p:sp>
        <p:nvSpPr>
          <p:cNvPr id="12" name="Rectángulo 6">
            <a:extLst>
              <a:ext uri="{FF2B5EF4-FFF2-40B4-BE49-F238E27FC236}">
                <a16:creationId xmlns:a16="http://schemas.microsoft.com/office/drawing/2014/main" id="{EB5C4183-95D8-E690-37D4-F2BD31922C7B}"/>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Método </a:t>
            </a:r>
            <a:r>
              <a:rPr lang="es-ES" b="1" dirty="0" err="1">
                <a:solidFill>
                  <a:srgbClr val="2C5697"/>
                </a:solidFill>
                <a:latin typeface="Arial"/>
                <a:cs typeface="Arial"/>
                <a:sym typeface="Times New Roman"/>
              </a:rPr>
              <a:t>oscilométrico</a:t>
            </a:r>
            <a:r>
              <a:rPr lang="es-ES" b="1" dirty="0">
                <a:solidFill>
                  <a:srgbClr val="2C5697"/>
                </a:solidFill>
                <a:latin typeface="Arial"/>
                <a:cs typeface="Arial"/>
                <a:sym typeface="Times New Roman"/>
              </a:rPr>
              <a:t> para la medición de la presión arterial</a:t>
            </a:r>
            <a:endParaRPr lang="en-US" dirty="0"/>
          </a:p>
        </p:txBody>
      </p:sp>
      <p:sp>
        <p:nvSpPr>
          <p:cNvPr id="18" name="Marcador de número de diapositiva 3">
            <a:extLst>
              <a:ext uri="{FF2B5EF4-FFF2-40B4-BE49-F238E27FC236}">
                <a16:creationId xmlns:a16="http://schemas.microsoft.com/office/drawing/2014/main" id="{3ADE8765-4D60-2176-7B89-E20225B87065}"/>
              </a:ext>
            </a:extLst>
          </p:cNvPr>
          <p:cNvSpPr txBox="1">
            <a:spLocks/>
          </p:cNvSpPr>
          <p:nvPr/>
        </p:nvSpPr>
        <p:spPr>
          <a:xfrm>
            <a:off x="8494776" y="5885920"/>
            <a:ext cx="598906"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19</a:t>
            </a:fld>
            <a:endParaRPr lang="es-CO" sz="1200" dirty="0">
              <a:solidFill>
                <a:schemeClr val="bg1"/>
              </a:solidFill>
            </a:endParaRPr>
          </a:p>
        </p:txBody>
      </p:sp>
      <p:pic>
        <p:nvPicPr>
          <p:cNvPr id="5" name="Imagen 4">
            <a:extLst>
              <a:ext uri="{FF2B5EF4-FFF2-40B4-BE49-F238E27FC236}">
                <a16:creationId xmlns:a16="http://schemas.microsoft.com/office/drawing/2014/main" id="{C4489FC8-9AFC-B249-8CA2-FB20C4AEF065}"/>
              </a:ext>
            </a:extLst>
          </p:cNvPr>
          <p:cNvPicPr>
            <a:picLocks noChangeAspect="1"/>
          </p:cNvPicPr>
          <p:nvPr/>
        </p:nvPicPr>
        <p:blipFill>
          <a:blip r:embed="rId4"/>
          <a:stretch>
            <a:fillRect/>
          </a:stretch>
        </p:blipFill>
        <p:spPr>
          <a:xfrm>
            <a:off x="326054" y="1577164"/>
            <a:ext cx="8505054" cy="2921982"/>
          </a:xfrm>
          <a:prstGeom prst="rect">
            <a:avLst/>
          </a:prstGeom>
        </p:spPr>
      </p:pic>
      <p:sp>
        <p:nvSpPr>
          <p:cNvPr id="7" name="CuadroTexto 6">
            <a:extLst>
              <a:ext uri="{FF2B5EF4-FFF2-40B4-BE49-F238E27FC236}">
                <a16:creationId xmlns:a16="http://schemas.microsoft.com/office/drawing/2014/main" id="{A6693FC9-C73E-897E-7034-C343AB3CF90F}"/>
              </a:ext>
            </a:extLst>
          </p:cNvPr>
          <p:cNvSpPr txBox="1"/>
          <p:nvPr/>
        </p:nvSpPr>
        <p:spPr>
          <a:xfrm>
            <a:off x="274627" y="4962590"/>
            <a:ext cx="8607909" cy="923330"/>
          </a:xfrm>
          <a:prstGeom prst="rect">
            <a:avLst/>
          </a:prstGeom>
          <a:noFill/>
        </p:spPr>
        <p:txBody>
          <a:bodyPr wrap="square">
            <a:spAutoFit/>
          </a:bodyPr>
          <a:lstStyle/>
          <a:p>
            <a:r>
              <a:rPr lang="es-ES" dirty="0"/>
              <a:t>(a) Inflado del manguito de forma convencional para la medición de la presión arterial, muy por encima del nivel de presión sistólica. (b) Generación de pulsos </a:t>
            </a:r>
            <a:r>
              <a:rPr lang="es-ES" dirty="0" err="1"/>
              <a:t>oscilométricos</a:t>
            </a:r>
            <a:r>
              <a:rPr lang="es-ES" dirty="0"/>
              <a:t> (de presión) generados en el manguito durante el inflado o desinflado.</a:t>
            </a:r>
            <a:endParaRPr lang="es-CO" dirty="0"/>
          </a:p>
        </p:txBody>
      </p:sp>
      <p:sp>
        <p:nvSpPr>
          <p:cNvPr id="8" name="TextBox 32">
            <a:extLst>
              <a:ext uri="{FF2B5EF4-FFF2-40B4-BE49-F238E27FC236}">
                <a16:creationId xmlns:a16="http://schemas.microsoft.com/office/drawing/2014/main" id="{8C55B1FA-7D9C-71EF-828B-DDB9C696CF4A}"/>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00" dirty="0">
                <a:solidFill>
                  <a:schemeClr val="bg1"/>
                </a:solidFill>
                <a:latin typeface="Arial"/>
              </a:rPr>
              <a:t>Compendium of Biomedical Instrumentation, 3 Volume</a:t>
            </a:r>
            <a:endParaRPr lang="es-ES" sz="700" dirty="0">
              <a:solidFill>
                <a:schemeClr val="bg1"/>
              </a:solidFill>
              <a:latin typeface="Arial"/>
            </a:endParaRPr>
          </a:p>
        </p:txBody>
      </p:sp>
    </p:spTree>
    <p:custDataLst>
      <p:tags r:id="rId1"/>
    </p:custDataLst>
    <p:extLst>
      <p:ext uri="{BB962C8B-B14F-4D97-AF65-F5344CB8AC3E}">
        <p14:creationId xmlns:p14="http://schemas.microsoft.com/office/powerpoint/2010/main" val="12123155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ED6FA3-E50B-B202-122F-903CD5EC5974}"/>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9CF5BD69-C6D9-D6A7-E84E-2EEBDEBF2412}"/>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5DB1B920-B376-E1EC-97C2-011B002EA2D8}"/>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Sensores piezoeléctricos</a:t>
            </a:r>
            <a:endParaRPr lang="en-US" dirty="0">
              <a:solidFill>
                <a:schemeClr val="bg1"/>
              </a:solidFill>
            </a:endParaRPr>
          </a:p>
        </p:txBody>
      </p:sp>
      <p:sp>
        <p:nvSpPr>
          <p:cNvPr id="12" name="Rectángulo 6">
            <a:extLst>
              <a:ext uri="{FF2B5EF4-FFF2-40B4-BE49-F238E27FC236}">
                <a16:creationId xmlns:a16="http://schemas.microsoft.com/office/drawing/2014/main" id="{21916590-AC1C-4B0B-1436-4DE2FABF9FBE}"/>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Método </a:t>
            </a:r>
            <a:r>
              <a:rPr lang="es-ES" b="1" dirty="0" err="1">
                <a:solidFill>
                  <a:srgbClr val="2C5697"/>
                </a:solidFill>
                <a:latin typeface="Arial"/>
                <a:cs typeface="Arial"/>
                <a:sym typeface="Times New Roman"/>
              </a:rPr>
              <a:t>oscilométrico</a:t>
            </a:r>
            <a:r>
              <a:rPr lang="es-ES" b="1" dirty="0">
                <a:solidFill>
                  <a:srgbClr val="2C5697"/>
                </a:solidFill>
                <a:latin typeface="Arial"/>
                <a:cs typeface="Arial"/>
                <a:sym typeface="Times New Roman"/>
              </a:rPr>
              <a:t> para la medición de la presión arterial</a:t>
            </a:r>
            <a:endParaRPr lang="en-US" dirty="0"/>
          </a:p>
        </p:txBody>
      </p:sp>
      <p:sp>
        <p:nvSpPr>
          <p:cNvPr id="18" name="Marcador de número de diapositiva 3">
            <a:extLst>
              <a:ext uri="{FF2B5EF4-FFF2-40B4-BE49-F238E27FC236}">
                <a16:creationId xmlns:a16="http://schemas.microsoft.com/office/drawing/2014/main" id="{B8688BAE-2446-35DD-BB56-993FE450DAD3}"/>
              </a:ext>
            </a:extLst>
          </p:cNvPr>
          <p:cNvSpPr txBox="1">
            <a:spLocks/>
          </p:cNvSpPr>
          <p:nvPr/>
        </p:nvSpPr>
        <p:spPr>
          <a:xfrm>
            <a:off x="8494776" y="5885920"/>
            <a:ext cx="598906"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20</a:t>
            </a:fld>
            <a:endParaRPr lang="es-CO" sz="1200" dirty="0">
              <a:solidFill>
                <a:schemeClr val="bg1"/>
              </a:solidFill>
            </a:endParaRPr>
          </a:p>
        </p:txBody>
      </p:sp>
      <p:sp>
        <p:nvSpPr>
          <p:cNvPr id="7" name="CuadroTexto 6">
            <a:extLst>
              <a:ext uri="{FF2B5EF4-FFF2-40B4-BE49-F238E27FC236}">
                <a16:creationId xmlns:a16="http://schemas.microsoft.com/office/drawing/2014/main" id="{9785A6AA-AA4C-8758-2F4D-B27C2DFF5E17}"/>
              </a:ext>
            </a:extLst>
          </p:cNvPr>
          <p:cNvSpPr txBox="1"/>
          <p:nvPr/>
        </p:nvSpPr>
        <p:spPr>
          <a:xfrm>
            <a:off x="653453" y="5009904"/>
            <a:ext cx="8607909" cy="369332"/>
          </a:xfrm>
          <a:prstGeom prst="rect">
            <a:avLst/>
          </a:prstGeom>
          <a:noFill/>
        </p:spPr>
        <p:txBody>
          <a:bodyPr wrap="square">
            <a:spAutoFit/>
          </a:bodyPr>
          <a:lstStyle/>
          <a:p>
            <a:r>
              <a:rPr lang="es-ES" dirty="0"/>
              <a:t>Principio de la técnica de descarga vascular para la medición de la presión arterial</a:t>
            </a:r>
            <a:endParaRPr lang="es-CO" dirty="0"/>
          </a:p>
        </p:txBody>
      </p:sp>
      <p:pic>
        <p:nvPicPr>
          <p:cNvPr id="4" name="Imagen 3">
            <a:extLst>
              <a:ext uri="{FF2B5EF4-FFF2-40B4-BE49-F238E27FC236}">
                <a16:creationId xmlns:a16="http://schemas.microsoft.com/office/drawing/2014/main" id="{8269F127-A3A9-CE1B-8BD3-7CB844980466}"/>
              </a:ext>
            </a:extLst>
          </p:cNvPr>
          <p:cNvPicPr>
            <a:picLocks noChangeAspect="1"/>
          </p:cNvPicPr>
          <p:nvPr/>
        </p:nvPicPr>
        <p:blipFill>
          <a:blip r:embed="rId4"/>
          <a:stretch>
            <a:fillRect/>
          </a:stretch>
        </p:blipFill>
        <p:spPr>
          <a:xfrm>
            <a:off x="1716876" y="1373615"/>
            <a:ext cx="5710248" cy="3320634"/>
          </a:xfrm>
          <a:prstGeom prst="rect">
            <a:avLst/>
          </a:prstGeom>
        </p:spPr>
      </p:pic>
      <p:sp>
        <p:nvSpPr>
          <p:cNvPr id="6" name="TextBox 32">
            <a:extLst>
              <a:ext uri="{FF2B5EF4-FFF2-40B4-BE49-F238E27FC236}">
                <a16:creationId xmlns:a16="http://schemas.microsoft.com/office/drawing/2014/main" id="{3D6F1987-3C03-675A-5973-44D0579723C9}"/>
              </a:ext>
            </a:extLst>
          </p:cNvPr>
          <p:cNvSpPr txBox="1"/>
          <p:nvPr/>
        </p:nvSpPr>
        <p:spPr>
          <a:xfrm>
            <a:off x="21249" y="5909173"/>
            <a:ext cx="5978105" cy="2000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700" dirty="0">
                <a:solidFill>
                  <a:schemeClr val="bg1"/>
                </a:solidFill>
                <a:latin typeface="Arial"/>
              </a:rPr>
              <a:t>Compendium of Biomedical Instrumentation, 3 Volume</a:t>
            </a:r>
            <a:endParaRPr lang="es-ES" sz="700" dirty="0">
              <a:solidFill>
                <a:schemeClr val="bg1"/>
              </a:solidFill>
              <a:latin typeface="Arial"/>
            </a:endParaRPr>
          </a:p>
        </p:txBody>
      </p:sp>
    </p:spTree>
    <p:custDataLst>
      <p:tags r:id="rId1"/>
    </p:custDataLst>
    <p:extLst>
      <p:ext uri="{BB962C8B-B14F-4D97-AF65-F5344CB8AC3E}">
        <p14:creationId xmlns:p14="http://schemas.microsoft.com/office/powerpoint/2010/main" val="6493964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396FC2-63D1-37B2-1AAB-70B4C1193691}"/>
            </a:ext>
          </a:extLst>
        </p:cNvPr>
        <p:cNvGrpSpPr/>
        <p:nvPr/>
      </p:nvGrpSpPr>
      <p:grpSpPr>
        <a:xfrm>
          <a:off x="0" y="0"/>
          <a:ext cx="0" cy="0"/>
          <a:chOff x="0" y="0"/>
          <a:chExt cx="0" cy="0"/>
        </a:xfrm>
      </p:grpSpPr>
      <p:sp>
        <p:nvSpPr>
          <p:cNvPr id="28" name="Rectángulo 3">
            <a:extLst>
              <a:ext uri="{FF2B5EF4-FFF2-40B4-BE49-F238E27FC236}">
                <a16:creationId xmlns:a16="http://schemas.microsoft.com/office/drawing/2014/main" id="{03091E4F-5AFF-CE0E-7957-E482AB637607}"/>
              </a:ext>
            </a:extLst>
          </p:cNvPr>
          <p:cNvSpPr/>
          <p:nvPr/>
        </p:nvSpPr>
        <p:spPr>
          <a:xfrm>
            <a:off x="261463" y="6076950"/>
            <a:ext cx="6510812" cy="571500"/>
          </a:xfrm>
          <a:prstGeom prst="rect">
            <a:avLst/>
          </a:prstGeom>
          <a:solidFill>
            <a:srgbClr val="2C5697"/>
          </a:solidFill>
          <a:ln>
            <a:solidFill>
              <a:srgbClr val="2C56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Título 1">
            <a:extLst>
              <a:ext uri="{FF2B5EF4-FFF2-40B4-BE49-F238E27FC236}">
                <a16:creationId xmlns:a16="http://schemas.microsoft.com/office/drawing/2014/main" id="{990420C7-00B4-0B5D-7E89-CF9C15A72555}"/>
              </a:ext>
            </a:extLst>
          </p:cNvPr>
          <p:cNvSpPr txBox="1">
            <a:spLocks/>
          </p:cNvSpPr>
          <p:nvPr/>
        </p:nvSpPr>
        <p:spPr>
          <a:xfrm>
            <a:off x="20283" y="6139451"/>
            <a:ext cx="4937125" cy="489949"/>
          </a:xfrm>
          <a:prstGeom prst="rect">
            <a:avLst/>
          </a:prstGeom>
        </p:spPr>
        <p:txBody>
          <a:bodyPr vert="horz" lIns="91440" tIns="45720" rIns="91440" bIns="45720" rtlCol="0" anchor="t">
            <a:noAutofit/>
          </a:bodyPr>
          <a:lstStyle>
            <a:lvl1pPr algn="l" defTabSz="457200" rtl="0" eaLnBrk="1" latinLnBrk="0" hangingPunct="1">
              <a:spcBef>
                <a:spcPct val="0"/>
              </a:spcBef>
              <a:buNone/>
              <a:defRPr sz="3000" b="1" kern="1200">
                <a:solidFill>
                  <a:srgbClr val="2C5697"/>
                </a:solidFill>
                <a:latin typeface="Arial"/>
                <a:ea typeface="+mj-ea"/>
                <a:cs typeface="Arial"/>
              </a:defRPr>
            </a:lvl1pPr>
          </a:lstStyle>
          <a:p>
            <a:r>
              <a:rPr lang="es-ES_tradnl" sz="1600" b="0" dirty="0">
                <a:solidFill>
                  <a:schemeClr val="bg1"/>
                </a:solidFill>
              </a:rPr>
              <a:t>Sensores piezoeléctricos</a:t>
            </a:r>
            <a:endParaRPr lang="en-US" dirty="0">
              <a:solidFill>
                <a:schemeClr val="bg1"/>
              </a:solidFill>
            </a:endParaRPr>
          </a:p>
        </p:txBody>
      </p:sp>
      <p:sp>
        <p:nvSpPr>
          <p:cNvPr id="12" name="Rectángulo 6">
            <a:extLst>
              <a:ext uri="{FF2B5EF4-FFF2-40B4-BE49-F238E27FC236}">
                <a16:creationId xmlns:a16="http://schemas.microsoft.com/office/drawing/2014/main" id="{6628F46D-0191-8182-6228-8ABC796804EC}"/>
              </a:ext>
            </a:extLst>
          </p:cNvPr>
          <p:cNvSpPr/>
          <p:nvPr/>
        </p:nvSpPr>
        <p:spPr>
          <a:xfrm>
            <a:off x="-2262" y="74589"/>
            <a:ext cx="7435995" cy="369332"/>
          </a:xfrm>
          <a:prstGeom prst="rect">
            <a:avLst/>
          </a:prstGeom>
        </p:spPr>
        <p:txBody>
          <a:bodyPr wrap="square" lIns="91440" tIns="45720" rIns="91440" bIns="45720" anchor="t">
            <a:spAutoFit/>
          </a:bodyPr>
          <a:lstStyle/>
          <a:p>
            <a:r>
              <a:rPr lang="es-ES" b="1" dirty="0">
                <a:solidFill>
                  <a:srgbClr val="2C5697"/>
                </a:solidFill>
                <a:latin typeface="Arial"/>
                <a:cs typeface="Arial"/>
                <a:sym typeface="Times New Roman"/>
              </a:rPr>
              <a:t>Ultrasonidos | Imagen médica | Efecto Doppler</a:t>
            </a:r>
            <a:endParaRPr lang="en-US" dirty="0"/>
          </a:p>
        </p:txBody>
      </p:sp>
      <p:sp>
        <p:nvSpPr>
          <p:cNvPr id="18" name="Marcador de número de diapositiva 3">
            <a:extLst>
              <a:ext uri="{FF2B5EF4-FFF2-40B4-BE49-F238E27FC236}">
                <a16:creationId xmlns:a16="http://schemas.microsoft.com/office/drawing/2014/main" id="{C2ADDC85-2AE3-5DB6-9FB2-FAA1F5E71518}"/>
              </a:ext>
            </a:extLst>
          </p:cNvPr>
          <p:cNvSpPr txBox="1">
            <a:spLocks/>
          </p:cNvSpPr>
          <p:nvPr/>
        </p:nvSpPr>
        <p:spPr>
          <a:xfrm>
            <a:off x="8494776" y="5885920"/>
            <a:ext cx="598906" cy="365125"/>
          </a:xfrm>
          <a:prstGeom prst="rect">
            <a:avLst/>
          </a:prstGeom>
        </p:spPr>
        <p:txBody>
          <a:bodyPr/>
          <a:lstStyle>
            <a:defPPr>
              <a:defRPr lang="es-E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BB2BE6C9-F3B7-42C6-B5E1-6B1202CD821D}" type="slidenum">
              <a:rPr lang="es-CO" sz="1200" smtClean="0">
                <a:solidFill>
                  <a:schemeClr val="bg1"/>
                </a:solidFill>
              </a:rPr>
              <a:pPr algn="r"/>
              <a:t>21</a:t>
            </a:fld>
            <a:endParaRPr lang="es-CO" sz="1200" dirty="0">
              <a:solidFill>
                <a:schemeClr val="bg1"/>
              </a:solidFill>
            </a:endParaRPr>
          </a:p>
        </p:txBody>
      </p:sp>
      <p:sp>
        <p:nvSpPr>
          <p:cNvPr id="6" name="CuadroTexto 5">
            <a:extLst>
              <a:ext uri="{FF2B5EF4-FFF2-40B4-BE49-F238E27FC236}">
                <a16:creationId xmlns:a16="http://schemas.microsoft.com/office/drawing/2014/main" id="{5C40C48E-354A-D2C9-2EA3-84CD91A6628C}"/>
              </a:ext>
            </a:extLst>
          </p:cNvPr>
          <p:cNvSpPr txBox="1"/>
          <p:nvPr/>
        </p:nvSpPr>
        <p:spPr>
          <a:xfrm>
            <a:off x="133167" y="656987"/>
            <a:ext cx="8866719" cy="369332"/>
          </a:xfrm>
          <a:prstGeom prst="rect">
            <a:avLst/>
          </a:prstGeom>
          <a:noFill/>
        </p:spPr>
        <p:txBody>
          <a:bodyPr wrap="square">
            <a:spAutoFit/>
          </a:bodyPr>
          <a:lstStyle/>
          <a:p>
            <a:r>
              <a:rPr lang="es-ES_tradnl" dirty="0"/>
              <a:t>Práctica de laboratorio </a:t>
            </a:r>
            <a:r>
              <a:rPr lang="es-ES_tradnl" dirty="0">
                <a:sym typeface="Wingdings" panose="05000000000000000000" pitchFamily="2" charset="2"/>
              </a:rPr>
              <a:t> Medición de la onda de pulso con sensor piezoeléctrico</a:t>
            </a:r>
            <a:endParaRPr lang="es-MX" dirty="0"/>
          </a:p>
        </p:txBody>
      </p:sp>
      <p:pic>
        <p:nvPicPr>
          <p:cNvPr id="8" name="Imagen 7" descr="Imagen que contiene Interfaz de usuario gráfica&#10;&#10;Descripción generada automáticamente">
            <a:extLst>
              <a:ext uri="{FF2B5EF4-FFF2-40B4-BE49-F238E27FC236}">
                <a16:creationId xmlns:a16="http://schemas.microsoft.com/office/drawing/2014/main" id="{BE755F35-A376-4456-D09E-2B35C5C11197}"/>
              </a:ext>
            </a:extLst>
          </p:cNvPr>
          <p:cNvPicPr>
            <a:picLocks noChangeAspect="1"/>
          </p:cNvPicPr>
          <p:nvPr/>
        </p:nvPicPr>
        <p:blipFill>
          <a:blip r:embed="rId4"/>
          <a:stretch>
            <a:fillRect/>
          </a:stretch>
        </p:blipFill>
        <p:spPr>
          <a:xfrm>
            <a:off x="3870960" y="1729665"/>
            <a:ext cx="4769847" cy="2999041"/>
          </a:xfrm>
          <a:prstGeom prst="rect">
            <a:avLst/>
          </a:prstGeom>
        </p:spPr>
      </p:pic>
      <p:pic>
        <p:nvPicPr>
          <p:cNvPr id="9" name="Picture 8" descr="Sensores Piezoelectricos | Washer necklace, Necklace, Jewelry">
            <a:extLst>
              <a:ext uri="{FF2B5EF4-FFF2-40B4-BE49-F238E27FC236}">
                <a16:creationId xmlns:a16="http://schemas.microsoft.com/office/drawing/2014/main" id="{8B1EA5BF-38CF-12C3-2FE4-26A4FFA5A3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4705" y="2727634"/>
            <a:ext cx="1456970" cy="1456970"/>
          </a:xfrm>
          <a:prstGeom prst="rect">
            <a:avLst/>
          </a:prstGeom>
          <a:noFill/>
          <a:extLst>
            <a:ext uri="{909E8E84-426E-40DD-AFC4-6F175D3DCCD1}">
              <a14:hiddenFill xmlns:a14="http://schemas.microsoft.com/office/drawing/2010/main">
                <a:solidFill>
                  <a:srgbClr val="FFFFFF"/>
                </a:solidFill>
              </a14:hiddenFill>
            </a:ext>
          </a:extLst>
        </p:spPr>
      </p:pic>
      <p:sp>
        <p:nvSpPr>
          <p:cNvPr id="10" name="Flecha: a la derecha 9">
            <a:extLst>
              <a:ext uri="{FF2B5EF4-FFF2-40B4-BE49-F238E27FC236}">
                <a16:creationId xmlns:a16="http://schemas.microsoft.com/office/drawing/2014/main" id="{6FF4FE60-3A13-3905-EEAE-4EA63115A6E9}"/>
              </a:ext>
            </a:extLst>
          </p:cNvPr>
          <p:cNvSpPr/>
          <p:nvPr/>
        </p:nvSpPr>
        <p:spPr>
          <a:xfrm>
            <a:off x="2488845" y="3429000"/>
            <a:ext cx="592683" cy="23774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s-MX"/>
          </a:p>
        </p:txBody>
      </p:sp>
    </p:spTree>
    <p:custDataLst>
      <p:tags r:id="rId1"/>
    </p:custDataLst>
    <p:extLst>
      <p:ext uri="{BB962C8B-B14F-4D97-AF65-F5344CB8AC3E}">
        <p14:creationId xmlns:p14="http://schemas.microsoft.com/office/powerpoint/2010/main" val="34750624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7"/>
</p:tagLst>
</file>

<file path=ppt/tags/tag2.xml><?xml version="1.0" encoding="utf-8"?>
<p:tagLst xmlns:a="http://schemas.openxmlformats.org/drawingml/2006/main" xmlns:r="http://schemas.openxmlformats.org/officeDocument/2006/relationships" xmlns:p="http://schemas.openxmlformats.org/presentationml/2006/main">
  <p:tag name="TIMING" val="|2.7"/>
</p:tagLst>
</file>

<file path=ppt/tags/tag3.xml><?xml version="1.0" encoding="utf-8"?>
<p:tagLst xmlns:a="http://schemas.openxmlformats.org/drawingml/2006/main" xmlns:r="http://schemas.openxmlformats.org/officeDocument/2006/relationships" xmlns:p="http://schemas.openxmlformats.org/presentationml/2006/main">
  <p:tag name="TIMING" val="|2.7"/>
</p:tagLst>
</file>

<file path=ppt/tags/tag4.xml><?xml version="1.0" encoding="utf-8"?>
<p:tagLst xmlns:a="http://schemas.openxmlformats.org/drawingml/2006/main" xmlns:r="http://schemas.openxmlformats.org/officeDocument/2006/relationships" xmlns:p="http://schemas.openxmlformats.org/presentationml/2006/main">
  <p:tag name="TIMING" val="|2.7"/>
</p:tagLst>
</file>

<file path=ppt/tags/tag5.xml><?xml version="1.0" encoding="utf-8"?>
<p:tagLst xmlns:a="http://schemas.openxmlformats.org/drawingml/2006/main" xmlns:r="http://schemas.openxmlformats.org/officeDocument/2006/relationships" xmlns:p="http://schemas.openxmlformats.org/presentationml/2006/main">
  <p:tag name="TIMING" val="|2.7"/>
</p:tagLst>
</file>

<file path=ppt/tags/tag6.xml><?xml version="1.0" encoding="utf-8"?>
<p:tagLst xmlns:a="http://schemas.openxmlformats.org/drawingml/2006/main" xmlns:r="http://schemas.openxmlformats.org/officeDocument/2006/relationships" xmlns:p="http://schemas.openxmlformats.org/presentationml/2006/main">
  <p:tag name="TIMING" val="|2.7"/>
</p:tagLst>
</file>

<file path=ppt/tags/tag7.xml><?xml version="1.0" encoding="utf-8"?>
<p:tagLst xmlns:a="http://schemas.openxmlformats.org/drawingml/2006/main" xmlns:r="http://schemas.openxmlformats.org/officeDocument/2006/relationships" xmlns:p="http://schemas.openxmlformats.org/presentationml/2006/main">
  <p:tag name="TIMING" val="|2.7"/>
</p:tagLst>
</file>

<file path=ppt/tags/tag8.xml><?xml version="1.0" encoding="utf-8"?>
<p:tagLst xmlns:a="http://schemas.openxmlformats.org/drawingml/2006/main" xmlns:r="http://schemas.openxmlformats.org/officeDocument/2006/relationships" xmlns:p="http://schemas.openxmlformats.org/presentationml/2006/main">
  <p:tag name="TIMING" val="|2.7"/>
</p:tagLst>
</file>

<file path=ppt/tags/tag9.xml><?xml version="1.0" encoding="utf-8"?>
<p:tagLst xmlns:a="http://schemas.openxmlformats.org/drawingml/2006/main" xmlns:r="http://schemas.openxmlformats.org/officeDocument/2006/relationships" xmlns:p="http://schemas.openxmlformats.org/presentationml/2006/main">
  <p:tag name="TIMING" val="|2.7"/>
</p:tagLst>
</file>

<file path=ppt/tags/tag10.xml><?xml version="1.0" encoding="utf-8"?>
<p:tagLst xmlns:a="http://schemas.openxmlformats.org/drawingml/2006/main" xmlns:r="http://schemas.openxmlformats.org/officeDocument/2006/relationships" xmlns:p="http://schemas.openxmlformats.org/presentationml/2006/main">
  <p:tag name="TIMING" val="|2.7"/>
</p:tagLst>
</file>

<file path=ppt/tags/tag11.xml><?xml version="1.0" encoding="utf-8"?>
<p:tagLst xmlns:a="http://schemas.openxmlformats.org/drawingml/2006/main" xmlns:r="http://schemas.openxmlformats.org/officeDocument/2006/relationships" xmlns:p="http://schemas.openxmlformats.org/presentationml/2006/main">
  <p:tag name="TIMING" val="|2.7"/>
</p:tagLst>
</file>

<file path=ppt/tags/tag12.xml><?xml version="1.0" encoding="utf-8"?>
<p:tagLst xmlns:a="http://schemas.openxmlformats.org/drawingml/2006/main" xmlns:r="http://schemas.openxmlformats.org/officeDocument/2006/relationships" xmlns:p="http://schemas.openxmlformats.org/presentationml/2006/main">
  <p:tag name="TIMING" val="|2.7"/>
</p:tagLst>
</file>

<file path=ppt/tags/tag13.xml><?xml version="1.0" encoding="utf-8"?>
<p:tagLst xmlns:a="http://schemas.openxmlformats.org/drawingml/2006/main" xmlns:r="http://schemas.openxmlformats.org/officeDocument/2006/relationships" xmlns:p="http://schemas.openxmlformats.org/presentationml/2006/main">
  <p:tag name="TIMING" val="|2.7"/>
</p:tagLst>
</file>

<file path=ppt/tags/tag14.xml><?xml version="1.0" encoding="utf-8"?>
<p:tagLst xmlns:a="http://schemas.openxmlformats.org/drawingml/2006/main" xmlns:r="http://schemas.openxmlformats.org/officeDocument/2006/relationships" xmlns:p="http://schemas.openxmlformats.org/presentationml/2006/main">
  <p:tag name="TIMING" val="|2.7"/>
</p:tagLst>
</file>

<file path=ppt/tags/tag15.xml><?xml version="1.0" encoding="utf-8"?>
<p:tagLst xmlns:a="http://schemas.openxmlformats.org/drawingml/2006/main" xmlns:r="http://schemas.openxmlformats.org/officeDocument/2006/relationships" xmlns:p="http://schemas.openxmlformats.org/presentationml/2006/main">
  <p:tag name="TIMING" val="|2.7"/>
</p:tagLst>
</file>

<file path=ppt/tags/tag16.xml><?xml version="1.0" encoding="utf-8"?>
<p:tagLst xmlns:a="http://schemas.openxmlformats.org/drawingml/2006/main" xmlns:r="http://schemas.openxmlformats.org/officeDocument/2006/relationships" xmlns:p="http://schemas.openxmlformats.org/presentationml/2006/main">
  <p:tag name="TIMING" val="|2.7"/>
</p:tagLst>
</file>

<file path=ppt/tags/tag17.xml><?xml version="1.0" encoding="utf-8"?>
<p:tagLst xmlns:a="http://schemas.openxmlformats.org/drawingml/2006/main" xmlns:r="http://schemas.openxmlformats.org/officeDocument/2006/relationships" xmlns:p="http://schemas.openxmlformats.org/presentationml/2006/main">
  <p:tag name="TIMING" val="|2.7"/>
</p:tagLst>
</file>

<file path=ppt/tags/tag18.xml><?xml version="1.0" encoding="utf-8"?>
<p:tagLst xmlns:a="http://schemas.openxmlformats.org/drawingml/2006/main" xmlns:r="http://schemas.openxmlformats.org/officeDocument/2006/relationships" xmlns:p="http://schemas.openxmlformats.org/presentationml/2006/main">
  <p:tag name="TIMING" val="|2.7"/>
</p:tagLst>
</file>

<file path=ppt/tags/tag19.xml><?xml version="1.0" encoding="utf-8"?>
<p:tagLst xmlns:a="http://schemas.openxmlformats.org/drawingml/2006/main" xmlns:r="http://schemas.openxmlformats.org/officeDocument/2006/relationships" xmlns:p="http://schemas.openxmlformats.org/presentationml/2006/main">
  <p:tag name="TIMING" val="|2.7"/>
</p:tagLst>
</file>

<file path=ppt/tags/tag20.xml><?xml version="1.0" encoding="utf-8"?>
<p:tagLst xmlns:a="http://schemas.openxmlformats.org/drawingml/2006/main" xmlns:r="http://schemas.openxmlformats.org/officeDocument/2006/relationships" xmlns:p="http://schemas.openxmlformats.org/presentationml/2006/main">
  <p:tag name="TIMING" val="|2.7"/>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2900F3A557F714198AE6C43099F60F5" ma:contentTypeVersion="8" ma:contentTypeDescription="Create a new document." ma:contentTypeScope="" ma:versionID="55cdc5e3aca1604c0bb86a11a9089b99">
  <xsd:schema xmlns:xsd="http://www.w3.org/2001/XMLSchema" xmlns:xs="http://www.w3.org/2001/XMLSchema" xmlns:p="http://schemas.microsoft.com/office/2006/metadata/properties" xmlns:ns3="c0c46fdd-2a6c-49f1-bb4d-a6e06b52ee64" targetNamespace="http://schemas.microsoft.com/office/2006/metadata/properties" ma:root="true" ma:fieldsID="e39a03982c3bb4093a616dd515f6b552" ns3:_="">
    <xsd:import namespace="c0c46fdd-2a6c-49f1-bb4d-a6e06b52ee64"/>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c46fdd-2a6c-49f1-bb4d-a6e06b52ee6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B7352B7-29C2-4831-B08B-DA9095F0296C}">
  <ds:schemaRefs>
    <ds:schemaRef ds:uri="http://schemas.microsoft.com/sharepoint/v3/contenttype/forms"/>
  </ds:schemaRefs>
</ds:datastoreItem>
</file>

<file path=customXml/itemProps2.xml><?xml version="1.0" encoding="utf-8"?>
<ds:datastoreItem xmlns:ds="http://schemas.openxmlformats.org/officeDocument/2006/customXml" ds:itemID="{D7EF6A44-0F3A-4D8D-83B8-7DB654162EC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c46fdd-2a6c-49f1-bb4d-a6e06b52ee6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EF68008-267B-42B0-9C9F-2DD9B1D5EE7A}">
  <ds:schemaRefs>
    <ds:schemaRef ds:uri="http://schemas.microsoft.com/office/2006/documentManagement/types"/>
    <ds:schemaRef ds:uri="http://schemas.microsoft.com/office/2006/metadata/properties"/>
    <ds:schemaRef ds:uri="http://www.w3.org/XML/1998/namespace"/>
    <ds:schemaRef ds:uri="http://purl.org/dc/elements/1.1/"/>
    <ds:schemaRef ds:uri="http://schemas.microsoft.com/office/infopath/2007/PartnerControls"/>
    <ds:schemaRef ds:uri="http://purl.org/dc/dcmitype/"/>
    <ds:schemaRef ds:uri="http://schemas.openxmlformats.org/package/2006/metadata/core-properties"/>
    <ds:schemaRef ds:uri="c0c46fdd-2a6c-49f1-bb4d-a6e06b52ee64"/>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2571</TotalTime>
  <Words>1176</Words>
  <Application>Microsoft Office PowerPoint</Application>
  <PresentationFormat>Presentación en pantalla (4:3)</PresentationFormat>
  <Paragraphs>131</Paragraphs>
  <Slides>21</Slides>
  <Notes>20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21</vt:i4>
      </vt:variant>
    </vt:vector>
  </HeadingPairs>
  <TitlesOfParts>
    <vt:vector size="26" baseType="lpstr">
      <vt:lpstr>Arial</vt:lpstr>
      <vt:lpstr>Calibri</vt:lpstr>
      <vt:lpstr>Cambria Math</vt:lpstr>
      <vt:lpstr>Wingdings</vt:lpstr>
      <vt:lpstr>Tema de Office</vt:lpstr>
      <vt:lpstr>Sensores piezoeléctricos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Vistad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Sensores piezoeléctricos</dc:title>
  <dc:creator>Jenny Rojas</dc:creator>
  <cp:lastModifiedBy>Pedro Antonio Aya Parra</cp:lastModifiedBy>
  <cp:revision>1823</cp:revision>
  <dcterms:created xsi:type="dcterms:W3CDTF">2018-06-28T02:15:01Z</dcterms:created>
  <dcterms:modified xsi:type="dcterms:W3CDTF">2025-09-26T12:13:43Z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0x01010092900F3A557F714198AE6C43099F60F5</vt:lpwstr>
  </property>
</Properties>
</file>