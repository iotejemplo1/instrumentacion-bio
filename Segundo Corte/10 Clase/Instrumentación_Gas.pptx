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307" r:id="rId6"/>
    <p:sldId id="319" r:id="rId7"/>
    <p:sldId id="309" r:id="rId8"/>
    <p:sldId id="310" r:id="rId9"/>
    <p:sldId id="311" r:id="rId10"/>
    <p:sldId id="321" r:id="rId11"/>
    <p:sldId id="313" r:id="rId12"/>
    <p:sldId id="323" r:id="rId13"/>
    <p:sldId id="312" r:id="rId14"/>
    <p:sldId id="306" r:id="rId15"/>
    <p:sldId id="318" r:id="rId16"/>
    <p:sldId id="320" r:id="rId17"/>
    <p:sldId id="322" r:id="rId18"/>
    <p:sldId id="326" r:id="rId19"/>
    <p:sldId id="325" r:id="rId20"/>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35" autoAdjust="0"/>
    <p:restoredTop sz="94660"/>
  </p:normalViewPr>
  <p:slideViewPr>
    <p:cSldViewPr snapToGrid="0" snapToObjects="1">
      <p:cViewPr varScale="1">
        <p:scale>
          <a:sx n="78" d="100"/>
          <a:sy n="78" d="100"/>
        </p:scale>
        <p:origin x="1834" y="6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15/10/2025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15/10/2025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232696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A22E-1638-87C2-4987-71DC7CD48C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C774EF-DF39-D5D6-D4BB-8122AA169A3B}"/>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9223D8DB-CC9D-4FDF-9EDF-138174519191}"/>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226675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79078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833819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570157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06B87-5D24-8755-4C64-594A070F1F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83792C-F9D3-364B-1D02-0D0A8C81BDE3}"/>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630F919D-5014-EB45-9F66-BB277A3059D9}"/>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864256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095842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1EEE-9019-3C6B-2F22-DE4596F908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184F4A-D9BB-2506-310E-6A557B2B15F6}"/>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1C2FC117-57BE-EE6F-1696-4785EB26137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160049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333224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62529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23066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F87F2-5FA7-4F0A-88E3-BA0D70D024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1AB6B2-2AF8-11D8-BB38-643349FF899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8EFA2988-171D-AA3D-DBC8-9DCFE795FB1F}"/>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73456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4A5E-DAA2-0B33-A962-C05405F1C2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380830-6DD5-F1F3-313D-6ADEC869B909}"/>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5B0497A4-AE8F-054D-B520-F1FFAB4CEDD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648263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9C919-308D-398B-22EA-B1A6AA81D3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2ECC97-04CE-E09C-EF9E-5E4477D66570}"/>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56B04196-A006-5979-AD8D-6E3E97D977B9}"/>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912102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6499-F51D-1B91-FC20-35E3DE5D9F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D23267-3AA6-01DC-D1A6-91E2C5C3161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C2A6D8D-0154-5F9F-F85F-D2B7807178A1}"/>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820412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8.em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16.jpeg"/><Relationship Id="rId5" Type="http://schemas.openxmlformats.org/officeDocument/2006/relationships/image" Target="../media/image15.jp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8.xml"/><Relationship Id="rId5" Type="http://schemas.openxmlformats.org/officeDocument/2006/relationships/image" Target="../media/image19.gif"/><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6.jpg"/><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5" Type="http://schemas.openxmlformats.org/officeDocument/2006/relationships/image" Target="../media/image31.jpeg"/><Relationship Id="rId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5" Type="http://schemas.openxmlformats.org/officeDocument/2006/relationships/image" Target="../media/image33.jpeg"/><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839239"/>
            <a:ext cx="5303520" cy="593725"/>
          </a:xfrm>
        </p:spPr>
        <p:txBody>
          <a:bodyPr>
            <a:noAutofit/>
          </a:bodyPr>
          <a:lstStyle/>
          <a:p>
            <a:pPr algn="ctr"/>
            <a:r>
              <a:rPr lang="es-ES_tradnl" sz="2000" dirty="0"/>
              <a:t>Instrumentación para detección gas</a:t>
            </a:r>
            <a:endParaRPr lang="es-ES_tradnl" sz="20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a:t>
            </a:r>
            <a:r>
              <a:rPr lang="es-ES" b="1" dirty="0">
                <a:solidFill>
                  <a:srgbClr val="2C5697"/>
                </a:solidFill>
                <a:latin typeface="Arial"/>
                <a:cs typeface="Arial"/>
              </a:rPr>
              <a:t>ensores de Gas: Principios, Funcionamiento y Aplicaciones</a:t>
            </a:r>
            <a:endParaRPr lang="en-US" b="1" dirty="0">
              <a:solidFill>
                <a:srgbClr val="2C5697"/>
              </a:solidFill>
              <a:latin typeface="Arial"/>
              <a:cs typeface="Arial"/>
            </a:endParaRP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dirty="0">
              <a:solidFill>
                <a:schemeClr val="bg1"/>
              </a:solidFill>
            </a:endParaRPr>
          </a:p>
        </p:txBody>
      </p:sp>
      <p:sp>
        <p:nvSpPr>
          <p:cNvPr id="10" name="Rectángulo 6">
            <a:extLst>
              <a:ext uri="{FF2B5EF4-FFF2-40B4-BE49-F238E27FC236}">
                <a16:creationId xmlns:a16="http://schemas.microsoft.com/office/drawing/2014/main" id="{0D957D53-D876-4504-A0C7-48862366631C}"/>
              </a:ext>
            </a:extLst>
          </p:cNvPr>
          <p:cNvSpPr/>
          <p:nvPr/>
        </p:nvSpPr>
        <p:spPr>
          <a:xfrm>
            <a:off x="130731" y="649386"/>
            <a:ext cx="8882537" cy="523220"/>
          </a:xfrm>
          <a:prstGeom prst="rect">
            <a:avLst/>
          </a:prstGeom>
        </p:spPr>
        <p:txBody>
          <a:bodyPr wrap="square" lIns="91440" tIns="45720" rIns="91440" bIns="45720" anchor="t">
            <a:spAutoFit/>
          </a:bodyPr>
          <a:lstStyle/>
          <a:p>
            <a:r>
              <a:rPr lang="es-ES" sz="1400" dirty="0"/>
              <a:t>Los </a:t>
            </a:r>
            <a:r>
              <a:rPr lang="es-ES" sz="1400" dirty="0">
                <a:solidFill>
                  <a:schemeClr val="accent2">
                    <a:lumMod val="75000"/>
                  </a:schemeClr>
                </a:solidFill>
                <a:latin typeface="Arial"/>
                <a:cs typeface="Arial"/>
              </a:rPr>
              <a:t>sensores de gas </a:t>
            </a:r>
            <a:r>
              <a:rPr lang="es-ES" sz="1400" dirty="0"/>
              <a:t>son dispositivos diseñados para detectar y medir la presencia o concentración de gases específicos en un entorno determinado.</a:t>
            </a:r>
            <a:endParaRPr lang="en-US" sz="1400" dirty="0">
              <a:solidFill>
                <a:schemeClr val="accent2">
                  <a:lumMod val="75000"/>
                </a:schemeClr>
              </a:solidFill>
              <a:latin typeface="Arial"/>
              <a:cs typeface="Arial"/>
            </a:endParaRPr>
          </a:p>
        </p:txBody>
      </p:sp>
      <p:sp>
        <p:nvSpPr>
          <p:cNvPr id="6" name="CuadroTexto 5">
            <a:extLst>
              <a:ext uri="{FF2B5EF4-FFF2-40B4-BE49-F238E27FC236}">
                <a16:creationId xmlns:a16="http://schemas.microsoft.com/office/drawing/2014/main" id="{F88851DD-A390-ED72-19B6-9DAF1C19B218}"/>
              </a:ext>
            </a:extLst>
          </p:cNvPr>
          <p:cNvSpPr txBox="1"/>
          <p:nvPr/>
        </p:nvSpPr>
        <p:spPr>
          <a:xfrm>
            <a:off x="261463" y="5010757"/>
            <a:ext cx="8882537" cy="738664"/>
          </a:xfrm>
          <a:prstGeom prst="rect">
            <a:avLst/>
          </a:prstGeom>
          <a:noFill/>
        </p:spPr>
        <p:txBody>
          <a:bodyPr wrap="square">
            <a:spAutoFit/>
          </a:bodyPr>
          <a:lstStyle/>
          <a:p>
            <a:r>
              <a:rPr lang="es-ES" sz="1400" dirty="0"/>
              <a:t>En conjunto, los sensores de gas representan un </a:t>
            </a:r>
            <a:r>
              <a:rPr lang="es-ES" sz="1400" dirty="0">
                <a:solidFill>
                  <a:schemeClr val="accent2">
                    <a:lumMod val="75000"/>
                  </a:schemeClr>
                </a:solidFill>
                <a:latin typeface="Arial"/>
                <a:cs typeface="Arial"/>
              </a:rPr>
              <a:t>punto de convergencia entre la electrónica, la química y la ingeniería biomédica</a:t>
            </a:r>
            <a:r>
              <a:rPr lang="es-ES" sz="1400" dirty="0"/>
              <a:t>, permitiendo desarrollar sistemas inteligentes de </a:t>
            </a:r>
            <a:r>
              <a:rPr lang="es-ES" sz="1400" dirty="0">
                <a:solidFill>
                  <a:schemeClr val="accent2">
                    <a:lumMod val="75000"/>
                  </a:schemeClr>
                </a:solidFill>
                <a:latin typeface="Arial"/>
                <a:cs typeface="Arial"/>
              </a:rPr>
              <a:t>detección, prevención y control </a:t>
            </a:r>
            <a:r>
              <a:rPr lang="es-ES" sz="1400" dirty="0"/>
              <a:t>tanto en entornos clínicos como industriales.</a:t>
            </a:r>
            <a:endParaRPr lang="es-CO" sz="1400" dirty="0"/>
          </a:p>
        </p:txBody>
      </p:sp>
      <p:pic>
        <p:nvPicPr>
          <p:cNvPr id="3" name="Imagen 2" descr="Diagrama&#10;&#10;El contenido generado por IA puede ser incorrecto.">
            <a:extLst>
              <a:ext uri="{FF2B5EF4-FFF2-40B4-BE49-F238E27FC236}">
                <a16:creationId xmlns:a16="http://schemas.microsoft.com/office/drawing/2014/main" id="{423E23D6-9892-48A2-D4C7-D8773389F29C}"/>
              </a:ext>
            </a:extLst>
          </p:cNvPr>
          <p:cNvPicPr>
            <a:picLocks noChangeAspect="1"/>
          </p:cNvPicPr>
          <p:nvPr/>
        </p:nvPicPr>
        <p:blipFill>
          <a:blip r:embed="rId4"/>
          <a:stretch>
            <a:fillRect/>
          </a:stretch>
        </p:blipFill>
        <p:spPr>
          <a:xfrm>
            <a:off x="1400961" y="1332358"/>
            <a:ext cx="6342076" cy="3644163"/>
          </a:xfrm>
          <a:prstGeom prst="rect">
            <a:avLst/>
          </a:prstGeom>
        </p:spPr>
      </p:pic>
    </p:spTree>
    <p:custDataLst>
      <p:tags r:id="rId1"/>
    </p:custDataLst>
    <p:extLst>
      <p:ext uri="{BB962C8B-B14F-4D97-AF65-F5344CB8AC3E}">
        <p14:creationId xmlns:p14="http://schemas.microsoft.com/office/powerpoint/2010/main" val="50281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A6005D-077D-4916-BD89-796D688C5D8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BA9BBC81-73AB-9AAF-579B-304BA2220BE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15116278-58CD-6756-B124-F24C185DCD1C}"/>
              </a:ext>
            </a:extLst>
          </p:cNvPr>
          <p:cNvSpPr/>
          <p:nvPr/>
        </p:nvSpPr>
        <p:spPr>
          <a:xfrm>
            <a:off x="-2262" y="74589"/>
            <a:ext cx="7435995" cy="646331"/>
          </a:xfrm>
          <a:prstGeom prst="rect">
            <a:avLst/>
          </a:prstGeom>
        </p:spPr>
        <p:txBody>
          <a:bodyPr wrap="square" lIns="91440" tIns="45720" rIns="91440" bIns="45720" anchor="t">
            <a:spAutoFit/>
          </a:bodyPr>
          <a:lstStyle/>
          <a:p>
            <a:r>
              <a:rPr lang="es-CO" b="1" dirty="0">
                <a:solidFill>
                  <a:srgbClr val="2C5697"/>
                </a:solidFill>
                <a:latin typeface="Arial"/>
                <a:cs typeface="Arial"/>
              </a:rPr>
              <a:t>Sensores electroquímicos de gas</a:t>
            </a:r>
          </a:p>
          <a:p>
            <a:endParaRPr lang="en-US" dirty="0"/>
          </a:p>
        </p:txBody>
      </p:sp>
      <p:sp>
        <p:nvSpPr>
          <p:cNvPr id="18" name="Marcador de número de diapositiva 3">
            <a:extLst>
              <a:ext uri="{FF2B5EF4-FFF2-40B4-BE49-F238E27FC236}">
                <a16:creationId xmlns:a16="http://schemas.microsoft.com/office/drawing/2014/main" id="{207B75A3-AE25-1EE6-7860-998EE59404E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7" name="TextBox 32">
            <a:extLst>
              <a:ext uri="{FF2B5EF4-FFF2-40B4-BE49-F238E27FC236}">
                <a16:creationId xmlns:a16="http://schemas.microsoft.com/office/drawing/2014/main" id="{9F6B6CA4-35B1-B0DF-C6D7-C76F6B17FAEB}"/>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A8643036-3831-DC3F-CFB7-8D8D61062125}"/>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0" name="Rectángulo 6">
            <a:extLst>
              <a:ext uri="{FF2B5EF4-FFF2-40B4-BE49-F238E27FC236}">
                <a16:creationId xmlns:a16="http://schemas.microsoft.com/office/drawing/2014/main" id="{21F700F6-B58B-315F-8534-803E58521221}"/>
              </a:ext>
            </a:extLst>
          </p:cNvPr>
          <p:cNvSpPr/>
          <p:nvPr/>
        </p:nvSpPr>
        <p:spPr>
          <a:xfrm>
            <a:off x="211145" y="414707"/>
            <a:ext cx="8882537" cy="738664"/>
          </a:xfrm>
          <a:prstGeom prst="rect">
            <a:avLst/>
          </a:prstGeom>
        </p:spPr>
        <p:txBody>
          <a:bodyPr wrap="square" lIns="91440" tIns="45720" rIns="91440" bIns="45720" anchor="t">
            <a:spAutoFit/>
          </a:bodyPr>
          <a:lstStyle/>
          <a:p>
            <a:r>
              <a:rPr lang="es-ES" sz="1400" dirty="0"/>
              <a:t>Su principio de operación se basa en una </a:t>
            </a:r>
            <a:r>
              <a:rPr lang="es-ES" sz="1400" dirty="0">
                <a:solidFill>
                  <a:schemeClr val="accent2">
                    <a:lumMod val="75000"/>
                  </a:schemeClr>
                </a:solidFill>
                <a:latin typeface="Arial"/>
                <a:cs typeface="Arial"/>
              </a:rPr>
              <a:t>interacción físico-química </a:t>
            </a:r>
            <a:r>
              <a:rPr lang="es-ES" sz="1400" dirty="0"/>
              <a:t>entre las moléculas del gas y el </a:t>
            </a:r>
            <a:r>
              <a:rPr lang="es-ES" sz="1400" dirty="0">
                <a:solidFill>
                  <a:schemeClr val="accent2">
                    <a:lumMod val="75000"/>
                  </a:schemeClr>
                </a:solidFill>
                <a:latin typeface="Arial"/>
                <a:cs typeface="Arial"/>
              </a:rPr>
              <a:t>material sensible </a:t>
            </a:r>
            <a:r>
              <a:rPr lang="es-ES" sz="1400" dirty="0"/>
              <a:t>(por ejemplo, un semiconductor, un catalizador o un electrodo), lo que provoca una variación medible en una propiedad eléctrica —como resistencia, corriente o voltaje</a:t>
            </a:r>
            <a:endParaRPr lang="en-US" sz="1400" dirty="0"/>
          </a:p>
        </p:txBody>
      </p:sp>
      <p:pic>
        <p:nvPicPr>
          <p:cNvPr id="9" name="Imagen 8" descr="Diagrama&#10;&#10;El contenido generado por IA puede ser incorrecto.">
            <a:extLst>
              <a:ext uri="{FF2B5EF4-FFF2-40B4-BE49-F238E27FC236}">
                <a16:creationId xmlns:a16="http://schemas.microsoft.com/office/drawing/2014/main" id="{F6E75AC1-572A-C3F4-2DA1-68F9F77C2B42}"/>
              </a:ext>
            </a:extLst>
          </p:cNvPr>
          <p:cNvPicPr>
            <a:picLocks noChangeAspect="1"/>
          </p:cNvPicPr>
          <p:nvPr/>
        </p:nvPicPr>
        <p:blipFill>
          <a:blip r:embed="rId4"/>
          <a:stretch>
            <a:fillRect/>
          </a:stretch>
        </p:blipFill>
        <p:spPr>
          <a:xfrm>
            <a:off x="504817" y="1592151"/>
            <a:ext cx="8134366" cy="3274068"/>
          </a:xfrm>
          <a:prstGeom prst="rect">
            <a:avLst/>
          </a:prstGeom>
        </p:spPr>
      </p:pic>
      <p:sp>
        <p:nvSpPr>
          <p:cNvPr id="14" name="Rectangle 1">
            <a:extLst>
              <a:ext uri="{FF2B5EF4-FFF2-40B4-BE49-F238E27FC236}">
                <a16:creationId xmlns:a16="http://schemas.microsoft.com/office/drawing/2014/main" id="{0ADE8E17-5D76-8566-13FC-C2CC73BE407E}"/>
              </a:ext>
            </a:extLst>
          </p:cNvPr>
          <p:cNvSpPr>
            <a:spLocks noChangeArrowheads="1"/>
          </p:cNvSpPr>
          <p:nvPr/>
        </p:nvSpPr>
        <p:spPr bwMode="auto">
          <a:xfrm>
            <a:off x="276453" y="5000618"/>
            <a:ext cx="587878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CO" altLang="es-CO" sz="1400" dirty="0"/>
              <a:t> </a:t>
            </a:r>
            <a:r>
              <a:rPr lang="es-CO" altLang="es-CO" sz="1400" dirty="0">
                <a:solidFill>
                  <a:schemeClr val="accent2">
                    <a:lumMod val="75000"/>
                  </a:schemeClr>
                </a:solidFill>
                <a:latin typeface="Arial"/>
                <a:cs typeface="Arial"/>
              </a:rPr>
              <a:t>Detección</a:t>
            </a:r>
            <a:r>
              <a:rPr lang="es-CO" altLang="es-CO" sz="1400" dirty="0"/>
              <a:t>: reconocer la presencia de un gas específico.</a:t>
            </a:r>
          </a:p>
          <a:p>
            <a:pPr marL="0" marR="0" lvl="0" indent="0" algn="l" defTabSz="914400" rtl="0" eaLnBrk="0" fontAlgn="base" latinLnBrk="0" hangingPunct="0">
              <a:lnSpc>
                <a:spcPct val="100000"/>
              </a:lnSpc>
              <a:spcBef>
                <a:spcPct val="0"/>
              </a:spcBef>
              <a:spcAft>
                <a:spcPct val="0"/>
              </a:spcAft>
              <a:buClrTx/>
              <a:buSzTx/>
              <a:buFontTx/>
              <a:buChar char="•"/>
              <a:tabLst/>
            </a:pPr>
            <a:r>
              <a:rPr lang="es-CO" altLang="es-CO" sz="1400" dirty="0"/>
              <a:t> </a:t>
            </a:r>
            <a:r>
              <a:rPr lang="es-CO" altLang="es-CO" sz="1400" dirty="0">
                <a:solidFill>
                  <a:schemeClr val="accent2">
                    <a:lumMod val="75000"/>
                  </a:schemeClr>
                </a:solidFill>
                <a:latin typeface="Arial"/>
                <a:cs typeface="Arial"/>
              </a:rPr>
              <a:t>Cuantificación</a:t>
            </a:r>
            <a:r>
              <a:rPr lang="es-CO" altLang="es-CO" sz="1400" dirty="0"/>
              <a:t>: medir su concentración en el ambiente o flujo.</a:t>
            </a:r>
          </a:p>
          <a:p>
            <a:pPr marL="0" marR="0" lvl="0" indent="0" algn="l" defTabSz="914400" rtl="0" eaLnBrk="0" fontAlgn="base" latinLnBrk="0" hangingPunct="0">
              <a:lnSpc>
                <a:spcPct val="100000"/>
              </a:lnSpc>
              <a:spcBef>
                <a:spcPct val="0"/>
              </a:spcBef>
              <a:spcAft>
                <a:spcPct val="0"/>
              </a:spcAft>
              <a:buClrTx/>
              <a:buSzTx/>
              <a:buFontTx/>
              <a:buChar char="•"/>
              <a:tabLst/>
            </a:pPr>
            <a:r>
              <a:rPr lang="es-CO" altLang="es-CO" sz="1400" dirty="0"/>
              <a:t> </a:t>
            </a:r>
            <a:r>
              <a:rPr lang="es-CO" altLang="es-CO" sz="1400" dirty="0">
                <a:solidFill>
                  <a:schemeClr val="accent2">
                    <a:lumMod val="75000"/>
                  </a:schemeClr>
                </a:solidFill>
                <a:latin typeface="Arial"/>
                <a:cs typeface="Arial"/>
              </a:rPr>
              <a:t>Transducción</a:t>
            </a:r>
            <a:r>
              <a:rPr lang="es-CO" altLang="es-CO" sz="1400" dirty="0"/>
              <a:t>: convertir la respuesta química o física en una señal eléctrica.</a:t>
            </a:r>
          </a:p>
        </p:txBody>
      </p:sp>
      <p:sp>
        <p:nvSpPr>
          <p:cNvPr id="15" name="TextBox 32">
            <a:extLst>
              <a:ext uri="{FF2B5EF4-FFF2-40B4-BE49-F238E27FC236}">
                <a16:creationId xmlns:a16="http://schemas.microsoft.com/office/drawing/2014/main" id="{1A13C123-3C42-FAEC-27D0-38852C74E07C}"/>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3116651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Principio de funcionamiento</a:t>
            </a:r>
            <a:endParaRPr lang="en-US" dirty="0"/>
          </a:p>
        </p:txBody>
      </p:sp>
      <p:sp>
        <p:nvSpPr>
          <p:cNvPr id="4" name="CuadroTexto 3">
            <a:extLst>
              <a:ext uri="{FF2B5EF4-FFF2-40B4-BE49-F238E27FC236}">
                <a16:creationId xmlns:a16="http://schemas.microsoft.com/office/drawing/2014/main" id="{2DBF9149-F9B4-8DAB-CCBE-30C813D2DF54}"/>
              </a:ext>
            </a:extLst>
          </p:cNvPr>
          <p:cNvSpPr txBox="1"/>
          <p:nvPr/>
        </p:nvSpPr>
        <p:spPr>
          <a:xfrm>
            <a:off x="347934" y="633944"/>
            <a:ext cx="8241430" cy="738664"/>
          </a:xfrm>
          <a:prstGeom prst="rect">
            <a:avLst/>
          </a:prstGeom>
          <a:noFill/>
        </p:spPr>
        <p:txBody>
          <a:bodyPr wrap="square">
            <a:spAutoFit/>
          </a:bodyPr>
          <a:lstStyle/>
          <a:p>
            <a:r>
              <a:rPr lang="es-ES" sz="1400" dirty="0"/>
              <a:t>Un sensor de </a:t>
            </a:r>
            <a:r>
              <a:rPr lang="es-ES" sz="1400" dirty="0">
                <a:solidFill>
                  <a:schemeClr val="accent2">
                    <a:lumMod val="75000"/>
                  </a:schemeClr>
                </a:solidFill>
                <a:latin typeface="Arial"/>
                <a:cs typeface="Arial"/>
              </a:rPr>
              <a:t>gas electroquímico </a:t>
            </a:r>
            <a:r>
              <a:rPr lang="es-ES" sz="1400" dirty="0"/>
              <a:t>se construye combinando un </a:t>
            </a:r>
            <a:r>
              <a:rPr lang="es-ES" sz="1400" dirty="0">
                <a:solidFill>
                  <a:schemeClr val="accent2">
                    <a:lumMod val="75000"/>
                  </a:schemeClr>
                </a:solidFill>
                <a:latin typeface="Arial"/>
                <a:cs typeface="Arial"/>
              </a:rPr>
              <a:t>electrolito sólido conductor de iones </a:t>
            </a:r>
            <a:r>
              <a:rPr lang="es-ES" sz="1400" dirty="0"/>
              <a:t>con </a:t>
            </a:r>
            <a:r>
              <a:rPr lang="es-ES" sz="1400" dirty="0">
                <a:solidFill>
                  <a:schemeClr val="accent2">
                    <a:lumMod val="75000"/>
                  </a:schemeClr>
                </a:solidFill>
                <a:latin typeface="Arial"/>
                <a:cs typeface="Arial"/>
              </a:rPr>
              <a:t>electrodos metálicos </a:t>
            </a:r>
            <a:r>
              <a:rPr lang="es-ES" sz="1400" dirty="0"/>
              <a:t>(generalmente de platino) que actúan como </a:t>
            </a:r>
            <a:r>
              <a:rPr lang="es-ES" sz="1400" dirty="0">
                <a:solidFill>
                  <a:schemeClr val="accent2">
                    <a:lumMod val="75000"/>
                  </a:schemeClr>
                </a:solidFill>
                <a:latin typeface="Arial"/>
                <a:cs typeface="Arial"/>
              </a:rPr>
              <a:t>sensor y referencia</a:t>
            </a:r>
            <a:r>
              <a:rPr lang="es-ES" sz="1400" dirty="0"/>
              <a:t>, montados sobre un soporte cerámico.</a:t>
            </a:r>
            <a:endParaRPr lang="es-CO" sz="1400" dirty="0"/>
          </a:p>
        </p:txBody>
      </p:sp>
      <p:pic>
        <p:nvPicPr>
          <p:cNvPr id="6" name="Imagen 5" descr="Diagrama&#10;&#10;El contenido generado por IA puede ser incorrecto.">
            <a:extLst>
              <a:ext uri="{FF2B5EF4-FFF2-40B4-BE49-F238E27FC236}">
                <a16:creationId xmlns:a16="http://schemas.microsoft.com/office/drawing/2014/main" id="{80551C29-67D6-0C2C-BF45-48200D8C1C95}"/>
              </a:ext>
            </a:extLst>
          </p:cNvPr>
          <p:cNvPicPr>
            <a:picLocks noChangeAspect="1"/>
          </p:cNvPicPr>
          <p:nvPr/>
        </p:nvPicPr>
        <p:blipFill>
          <a:blip r:embed="rId4"/>
          <a:stretch>
            <a:fillRect/>
          </a:stretch>
        </p:blipFill>
        <p:spPr>
          <a:xfrm>
            <a:off x="378651" y="1402831"/>
            <a:ext cx="4158775" cy="3460587"/>
          </a:xfrm>
          <a:prstGeom prst="rect">
            <a:avLst/>
          </a:prstGeom>
        </p:spPr>
      </p:pic>
      <p:sp>
        <p:nvSpPr>
          <p:cNvPr id="12" name="CuadroTexto 11">
            <a:extLst>
              <a:ext uri="{FF2B5EF4-FFF2-40B4-BE49-F238E27FC236}">
                <a16:creationId xmlns:a16="http://schemas.microsoft.com/office/drawing/2014/main" id="{CAF8BE03-52B3-8915-873A-568A69A6ADA9}"/>
              </a:ext>
            </a:extLst>
          </p:cNvPr>
          <p:cNvSpPr txBox="1"/>
          <p:nvPr/>
        </p:nvSpPr>
        <p:spPr>
          <a:xfrm>
            <a:off x="378651" y="5115278"/>
            <a:ext cx="8568115" cy="738664"/>
          </a:xfrm>
          <a:prstGeom prst="rect">
            <a:avLst/>
          </a:prstGeom>
          <a:noFill/>
        </p:spPr>
        <p:txBody>
          <a:bodyPr wrap="square">
            <a:spAutoFit/>
          </a:bodyPr>
          <a:lstStyle/>
          <a:p>
            <a:r>
              <a:rPr lang="es-CO" sz="1400" dirty="0">
                <a:solidFill>
                  <a:schemeClr val="accent2">
                    <a:lumMod val="75000"/>
                  </a:schemeClr>
                </a:solidFill>
                <a:latin typeface="Arial"/>
                <a:cs typeface="Arial"/>
              </a:rPr>
              <a:t>Sensores potenciométricos</a:t>
            </a:r>
            <a:r>
              <a:rPr lang="es-CO" sz="1400" dirty="0"/>
              <a:t>, que miden la FEM entre los electrodos (como los sensores de oxígeno tipo λ).</a:t>
            </a:r>
          </a:p>
          <a:p>
            <a:endParaRPr lang="es-CO" sz="1400" dirty="0"/>
          </a:p>
          <a:p>
            <a:r>
              <a:rPr lang="es-CO" sz="1400" dirty="0">
                <a:solidFill>
                  <a:schemeClr val="accent2">
                    <a:lumMod val="75000"/>
                  </a:schemeClr>
                </a:solidFill>
                <a:latin typeface="Arial"/>
                <a:cs typeface="Arial"/>
              </a:rPr>
              <a:t>Sensores amperométricos</a:t>
            </a:r>
            <a:r>
              <a:rPr lang="es-CO" sz="1400" dirty="0"/>
              <a:t>, que miden la corriente resultante de una reacción redox controlada.</a:t>
            </a:r>
          </a:p>
        </p:txBody>
      </p:sp>
      <p:pic>
        <p:nvPicPr>
          <p:cNvPr id="14" name="Imagen 13">
            <a:extLst>
              <a:ext uri="{FF2B5EF4-FFF2-40B4-BE49-F238E27FC236}">
                <a16:creationId xmlns:a16="http://schemas.microsoft.com/office/drawing/2014/main" id="{5BB47316-5635-3C51-75D4-B925E4922917}"/>
              </a:ext>
            </a:extLst>
          </p:cNvPr>
          <p:cNvPicPr>
            <a:picLocks noChangeAspect="1"/>
          </p:cNvPicPr>
          <p:nvPr/>
        </p:nvPicPr>
        <p:blipFill>
          <a:blip r:embed="rId5"/>
          <a:stretch>
            <a:fillRect/>
          </a:stretch>
        </p:blipFill>
        <p:spPr>
          <a:xfrm>
            <a:off x="4936938" y="2127815"/>
            <a:ext cx="3652426" cy="2327741"/>
          </a:xfrm>
          <a:prstGeom prst="rect">
            <a:avLst/>
          </a:prstGeom>
        </p:spPr>
      </p:pic>
      <p:sp>
        <p:nvSpPr>
          <p:cNvPr id="15" name="TextBox 32">
            <a:extLst>
              <a:ext uri="{FF2B5EF4-FFF2-40B4-BE49-F238E27FC236}">
                <a16:creationId xmlns:a16="http://schemas.microsoft.com/office/drawing/2014/main" id="{BA279F68-C008-441E-ADB6-855F63353296}"/>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593299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CO" b="1" dirty="0">
                <a:solidFill>
                  <a:srgbClr val="2C5697"/>
                </a:solidFill>
                <a:latin typeface="Arial"/>
                <a:cs typeface="Arial"/>
              </a:rPr>
              <a:t>Características de los sensores electroquímicos</a:t>
            </a:r>
            <a:endParaRPr lang="en-US" b="1" dirty="0">
              <a:solidFill>
                <a:srgbClr val="2C5697"/>
              </a:solidFill>
              <a:latin typeface="Arial"/>
              <a:cs typeface="Arial"/>
            </a:endParaRPr>
          </a:p>
        </p:txBody>
      </p:sp>
      <p:sp>
        <p:nvSpPr>
          <p:cNvPr id="4" name="CuadroTexto 3">
            <a:extLst>
              <a:ext uri="{FF2B5EF4-FFF2-40B4-BE49-F238E27FC236}">
                <a16:creationId xmlns:a16="http://schemas.microsoft.com/office/drawing/2014/main" id="{57EF742E-1659-8F94-5679-BC8FBACB6FF6}"/>
              </a:ext>
            </a:extLst>
          </p:cNvPr>
          <p:cNvSpPr txBox="1"/>
          <p:nvPr/>
        </p:nvSpPr>
        <p:spPr>
          <a:xfrm>
            <a:off x="347934" y="801258"/>
            <a:ext cx="8091528" cy="738664"/>
          </a:xfrm>
          <a:prstGeom prst="rect">
            <a:avLst/>
          </a:prstGeom>
          <a:noFill/>
        </p:spPr>
        <p:txBody>
          <a:bodyPr wrap="square">
            <a:spAutoFit/>
          </a:bodyPr>
          <a:lstStyle/>
          <a:p>
            <a:r>
              <a:rPr lang="es-ES" sz="1400" dirty="0"/>
              <a:t>Los </a:t>
            </a:r>
            <a:r>
              <a:rPr lang="es-ES" sz="1400" dirty="0">
                <a:solidFill>
                  <a:schemeClr val="accent2">
                    <a:lumMod val="75000"/>
                  </a:schemeClr>
                </a:solidFill>
                <a:latin typeface="Arial"/>
                <a:cs typeface="Arial"/>
              </a:rPr>
              <a:t>sensores electroquímicos </a:t>
            </a:r>
            <a:r>
              <a:rPr lang="es-ES" sz="1400" dirty="0"/>
              <a:t>permiten el diseño específico para la </a:t>
            </a:r>
            <a:r>
              <a:rPr lang="es-ES" sz="1400" dirty="0">
                <a:solidFill>
                  <a:schemeClr val="accent2">
                    <a:lumMod val="75000"/>
                  </a:schemeClr>
                </a:solidFill>
                <a:latin typeface="Arial"/>
                <a:cs typeface="Arial"/>
              </a:rPr>
              <a:t>detección de gases o vapores </a:t>
            </a:r>
            <a:r>
              <a:rPr lang="es-ES" sz="1400" dirty="0"/>
              <a:t>individuales en concentraciones del </a:t>
            </a:r>
            <a:r>
              <a:rPr lang="es-ES" sz="1400" dirty="0">
                <a:solidFill>
                  <a:schemeClr val="accent2">
                    <a:lumMod val="75000"/>
                  </a:schemeClr>
                </a:solidFill>
                <a:latin typeface="Arial"/>
                <a:cs typeface="Arial"/>
              </a:rPr>
              <a:t>orden de partes por millón</a:t>
            </a:r>
            <a:r>
              <a:rPr lang="es-ES" sz="1400" dirty="0"/>
              <a:t> (ppm), ofreciendo </a:t>
            </a:r>
            <a:r>
              <a:rPr lang="es-ES" sz="1400" dirty="0">
                <a:solidFill>
                  <a:schemeClr val="accent2">
                    <a:lumMod val="75000"/>
                  </a:schemeClr>
                </a:solidFill>
                <a:latin typeface="Arial"/>
                <a:cs typeface="Arial"/>
              </a:rPr>
              <a:t>alta selectividad, baja potencia </a:t>
            </a:r>
            <a:r>
              <a:rPr lang="es-ES" sz="1400" dirty="0"/>
              <a:t>de operación y una respuesta </a:t>
            </a:r>
            <a:r>
              <a:rPr lang="es-ES" sz="1400" dirty="0">
                <a:solidFill>
                  <a:schemeClr val="accent2">
                    <a:lumMod val="75000"/>
                  </a:schemeClr>
                </a:solidFill>
                <a:latin typeface="Arial"/>
                <a:cs typeface="Arial"/>
              </a:rPr>
              <a:t>lineal y estable</a:t>
            </a:r>
            <a:r>
              <a:rPr lang="es-ES" sz="1400" dirty="0"/>
              <a:t>.</a:t>
            </a:r>
            <a:endParaRPr lang="es-CO" sz="1400" dirty="0"/>
          </a:p>
        </p:txBody>
      </p:sp>
      <p:sp>
        <p:nvSpPr>
          <p:cNvPr id="10" name="CuadroTexto 9">
            <a:extLst>
              <a:ext uri="{FF2B5EF4-FFF2-40B4-BE49-F238E27FC236}">
                <a16:creationId xmlns:a16="http://schemas.microsoft.com/office/drawing/2014/main" id="{EBDDFF63-BF34-CC62-418C-C79CDC32C1D7}"/>
              </a:ext>
            </a:extLst>
          </p:cNvPr>
          <p:cNvSpPr txBox="1"/>
          <p:nvPr/>
        </p:nvSpPr>
        <p:spPr>
          <a:xfrm>
            <a:off x="526578" y="2337184"/>
            <a:ext cx="4609474" cy="1169551"/>
          </a:xfrm>
          <a:prstGeom prst="rect">
            <a:avLst/>
          </a:prstGeom>
          <a:noFill/>
        </p:spPr>
        <p:txBody>
          <a:bodyPr wrap="square">
            <a:spAutoFit/>
          </a:bodyPr>
          <a:lstStyle/>
          <a:p>
            <a:pPr>
              <a:buNone/>
            </a:pPr>
            <a:r>
              <a:rPr lang="es-ES" sz="1400" dirty="0"/>
              <a:t>Entre sus ventajas principales destacan:</a:t>
            </a:r>
          </a:p>
          <a:p>
            <a:pPr>
              <a:buNone/>
            </a:pPr>
            <a:endParaRPr lang="es-ES" sz="1400" dirty="0"/>
          </a:p>
          <a:p>
            <a:pPr>
              <a:buFont typeface="Arial" panose="020B0604020202020204" pitchFamily="34" charset="0"/>
              <a:buChar char="•"/>
            </a:pPr>
            <a:r>
              <a:rPr lang="es-ES" sz="1400" dirty="0"/>
              <a:t> Alta sensibilidad y resolución.</a:t>
            </a:r>
          </a:p>
          <a:p>
            <a:pPr>
              <a:buFont typeface="Arial" panose="020B0604020202020204" pitchFamily="34" charset="0"/>
              <a:buChar char="•"/>
            </a:pPr>
            <a:r>
              <a:rPr lang="es-ES" sz="1400" dirty="0"/>
              <a:t> Bajo consumo energético.</a:t>
            </a:r>
          </a:p>
          <a:p>
            <a:pPr>
              <a:buFont typeface="Arial" panose="020B0604020202020204" pitchFamily="34" charset="0"/>
              <a:buChar char="•"/>
            </a:pPr>
            <a:r>
              <a:rPr lang="es-ES" sz="1400" dirty="0"/>
              <a:t> Bajo costo y facilidad de reemplazo.</a:t>
            </a:r>
          </a:p>
        </p:txBody>
      </p:sp>
      <p:pic>
        <p:nvPicPr>
          <p:cNvPr id="13" name="Imagen 12" descr="Diagrama&#10;&#10;El contenido generado por IA puede ser incorrecto.">
            <a:extLst>
              <a:ext uri="{FF2B5EF4-FFF2-40B4-BE49-F238E27FC236}">
                <a16:creationId xmlns:a16="http://schemas.microsoft.com/office/drawing/2014/main" id="{37EFD5C1-49C4-8A81-703D-132A8C0E3694}"/>
              </a:ext>
            </a:extLst>
          </p:cNvPr>
          <p:cNvPicPr>
            <a:picLocks noChangeAspect="1"/>
          </p:cNvPicPr>
          <p:nvPr/>
        </p:nvPicPr>
        <p:blipFill>
          <a:blip r:embed="rId4"/>
          <a:stretch>
            <a:fillRect/>
          </a:stretch>
        </p:blipFill>
        <p:spPr>
          <a:xfrm>
            <a:off x="4663565" y="1352802"/>
            <a:ext cx="2671577" cy="2173228"/>
          </a:xfrm>
          <a:prstGeom prst="rect">
            <a:avLst/>
          </a:prstGeom>
        </p:spPr>
      </p:pic>
      <p:pic>
        <p:nvPicPr>
          <p:cNvPr id="15" name="Imagen 14" descr="Diagrama&#10;&#10;El contenido generado por IA puede ser incorrecto.">
            <a:extLst>
              <a:ext uri="{FF2B5EF4-FFF2-40B4-BE49-F238E27FC236}">
                <a16:creationId xmlns:a16="http://schemas.microsoft.com/office/drawing/2014/main" id="{DEAEFEB6-277E-8288-2949-03A51E35E6AA}"/>
              </a:ext>
            </a:extLst>
          </p:cNvPr>
          <p:cNvPicPr>
            <a:picLocks noChangeAspect="1"/>
          </p:cNvPicPr>
          <p:nvPr/>
        </p:nvPicPr>
        <p:blipFill>
          <a:blip r:embed="rId5"/>
          <a:stretch>
            <a:fillRect/>
          </a:stretch>
        </p:blipFill>
        <p:spPr>
          <a:xfrm>
            <a:off x="6540186" y="3304452"/>
            <a:ext cx="2553496" cy="2497580"/>
          </a:xfrm>
          <a:prstGeom prst="rect">
            <a:avLst/>
          </a:prstGeom>
        </p:spPr>
      </p:pic>
      <p:pic>
        <p:nvPicPr>
          <p:cNvPr id="17" name="Imagen 16" descr="Diagrama&#10;&#10;El contenido generado por IA puede ser incorrecto.">
            <a:extLst>
              <a:ext uri="{FF2B5EF4-FFF2-40B4-BE49-F238E27FC236}">
                <a16:creationId xmlns:a16="http://schemas.microsoft.com/office/drawing/2014/main" id="{9196C173-0913-5BAC-7A94-2F34E9F11420}"/>
              </a:ext>
            </a:extLst>
          </p:cNvPr>
          <p:cNvPicPr>
            <a:picLocks noChangeAspect="1"/>
          </p:cNvPicPr>
          <p:nvPr/>
        </p:nvPicPr>
        <p:blipFill>
          <a:blip r:embed="rId6"/>
          <a:stretch>
            <a:fillRect/>
          </a:stretch>
        </p:blipFill>
        <p:spPr>
          <a:xfrm>
            <a:off x="4091538" y="4065252"/>
            <a:ext cx="1858623" cy="1638385"/>
          </a:xfrm>
          <a:prstGeom prst="rect">
            <a:avLst/>
          </a:prstGeom>
        </p:spPr>
      </p:pic>
      <p:pic>
        <p:nvPicPr>
          <p:cNvPr id="21" name="Imagen 20" descr="Imagen que contiene tabla, firmar, medidor, diferente&#10;&#10;El contenido generado por IA puede ser incorrecto.">
            <a:extLst>
              <a:ext uri="{FF2B5EF4-FFF2-40B4-BE49-F238E27FC236}">
                <a16:creationId xmlns:a16="http://schemas.microsoft.com/office/drawing/2014/main" id="{B807D2CF-A599-2996-4E12-E9E8FBC6E0B9}"/>
              </a:ext>
            </a:extLst>
          </p:cNvPr>
          <p:cNvPicPr>
            <a:picLocks noChangeAspect="1"/>
          </p:cNvPicPr>
          <p:nvPr/>
        </p:nvPicPr>
        <p:blipFill>
          <a:blip r:embed="rId7"/>
          <a:srcRect t="21550"/>
          <a:stretch>
            <a:fillRect/>
          </a:stretch>
        </p:blipFill>
        <p:spPr>
          <a:xfrm>
            <a:off x="21249" y="4108071"/>
            <a:ext cx="3341511" cy="1638385"/>
          </a:xfrm>
          <a:prstGeom prst="rect">
            <a:avLst/>
          </a:prstGeom>
        </p:spPr>
      </p:pic>
      <p:sp>
        <p:nvSpPr>
          <p:cNvPr id="23" name="CuadroTexto 22">
            <a:extLst>
              <a:ext uri="{FF2B5EF4-FFF2-40B4-BE49-F238E27FC236}">
                <a16:creationId xmlns:a16="http://schemas.microsoft.com/office/drawing/2014/main" id="{17432534-1DF5-8CE8-37C5-DD2DF65E1C09}"/>
              </a:ext>
            </a:extLst>
          </p:cNvPr>
          <p:cNvSpPr txBox="1"/>
          <p:nvPr/>
        </p:nvSpPr>
        <p:spPr>
          <a:xfrm>
            <a:off x="68304" y="5682820"/>
            <a:ext cx="3341511" cy="215444"/>
          </a:xfrm>
          <a:prstGeom prst="rect">
            <a:avLst/>
          </a:prstGeom>
          <a:noFill/>
        </p:spPr>
        <p:txBody>
          <a:bodyPr wrap="square">
            <a:spAutoFit/>
          </a:bodyPr>
          <a:lstStyle/>
          <a:p>
            <a:r>
              <a:rPr lang="es-CO" sz="800" dirty="0"/>
              <a:t>https://www.transmittershop.com/blog/</a:t>
            </a:r>
          </a:p>
        </p:txBody>
      </p:sp>
      <p:sp>
        <p:nvSpPr>
          <p:cNvPr id="25" name="CuadroTexto 24">
            <a:extLst>
              <a:ext uri="{FF2B5EF4-FFF2-40B4-BE49-F238E27FC236}">
                <a16:creationId xmlns:a16="http://schemas.microsoft.com/office/drawing/2014/main" id="{94DB3ECE-8ABB-25AC-8D0D-CFAB9DE6217B}"/>
              </a:ext>
            </a:extLst>
          </p:cNvPr>
          <p:cNvSpPr txBox="1"/>
          <p:nvPr/>
        </p:nvSpPr>
        <p:spPr>
          <a:xfrm>
            <a:off x="3516869" y="5816464"/>
            <a:ext cx="4609474" cy="215444"/>
          </a:xfrm>
          <a:prstGeom prst="rect">
            <a:avLst/>
          </a:prstGeom>
          <a:noFill/>
        </p:spPr>
        <p:txBody>
          <a:bodyPr wrap="square">
            <a:spAutoFit/>
          </a:bodyPr>
          <a:lstStyle/>
          <a:p>
            <a:r>
              <a:rPr lang="es-CO" sz="800" dirty="0"/>
              <a:t>https://www.mdpi.com/2227-9040/10/9/363?utm_source=chatgpt.com</a:t>
            </a:r>
          </a:p>
        </p:txBody>
      </p:sp>
      <p:sp>
        <p:nvSpPr>
          <p:cNvPr id="27" name="CuadroTexto 26">
            <a:extLst>
              <a:ext uri="{FF2B5EF4-FFF2-40B4-BE49-F238E27FC236}">
                <a16:creationId xmlns:a16="http://schemas.microsoft.com/office/drawing/2014/main" id="{EB7B1E93-4B8B-CB52-FA18-C7DB64D34B9F}"/>
              </a:ext>
            </a:extLst>
          </p:cNvPr>
          <p:cNvSpPr txBox="1"/>
          <p:nvPr/>
        </p:nvSpPr>
        <p:spPr>
          <a:xfrm>
            <a:off x="7122674" y="5774429"/>
            <a:ext cx="2221445" cy="215444"/>
          </a:xfrm>
          <a:prstGeom prst="rect">
            <a:avLst/>
          </a:prstGeom>
          <a:noFill/>
        </p:spPr>
        <p:txBody>
          <a:bodyPr wrap="square">
            <a:spAutoFit/>
          </a:bodyPr>
          <a:lstStyle/>
          <a:p>
            <a:r>
              <a:rPr lang="es-CO" sz="800" dirty="0"/>
              <a:t>https://jast -journal.springeropen.com/</a:t>
            </a:r>
          </a:p>
        </p:txBody>
      </p:sp>
      <p:sp>
        <p:nvSpPr>
          <p:cNvPr id="30" name="CuadroTexto 29">
            <a:extLst>
              <a:ext uri="{FF2B5EF4-FFF2-40B4-BE49-F238E27FC236}">
                <a16:creationId xmlns:a16="http://schemas.microsoft.com/office/drawing/2014/main" id="{0334E957-0403-5505-E35A-EBBDFFEFAD26}"/>
              </a:ext>
            </a:extLst>
          </p:cNvPr>
          <p:cNvSpPr txBox="1"/>
          <p:nvPr/>
        </p:nvSpPr>
        <p:spPr>
          <a:xfrm>
            <a:off x="5888446" y="3399013"/>
            <a:ext cx="2728976" cy="215444"/>
          </a:xfrm>
          <a:prstGeom prst="rect">
            <a:avLst/>
          </a:prstGeom>
          <a:noFill/>
        </p:spPr>
        <p:txBody>
          <a:bodyPr wrap="square">
            <a:spAutoFit/>
          </a:bodyPr>
          <a:lstStyle/>
          <a:p>
            <a:r>
              <a:rPr lang="es-CO" sz="800" dirty="0"/>
              <a:t>https://www.mdpi.com/</a:t>
            </a:r>
          </a:p>
        </p:txBody>
      </p:sp>
      <p:sp>
        <p:nvSpPr>
          <p:cNvPr id="31" name="TextBox 32">
            <a:extLst>
              <a:ext uri="{FF2B5EF4-FFF2-40B4-BE49-F238E27FC236}">
                <a16:creationId xmlns:a16="http://schemas.microsoft.com/office/drawing/2014/main" id="{7BCC7A23-85F4-3978-0FE1-1984B1FAB0F2}"/>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1490988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cs typeface="Calibri"/>
              </a:rPr>
              <a:t>https://dewesoft.com/es/blog/medicion-tension-y-presion</a:t>
            </a: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646331"/>
          </a:xfrm>
          <a:prstGeom prst="rect">
            <a:avLst/>
          </a:prstGeom>
        </p:spPr>
        <p:txBody>
          <a:bodyPr wrap="square" lIns="91440" tIns="45720" rIns="91440" bIns="45720" anchor="t">
            <a:spAutoFit/>
          </a:bodyPr>
          <a:lstStyle/>
          <a:p>
            <a:r>
              <a:rPr lang="es-CO" b="1" dirty="0">
                <a:solidFill>
                  <a:srgbClr val="2C5697"/>
                </a:solidFill>
                <a:latin typeface="Arial"/>
                <a:cs typeface="Arial"/>
              </a:rPr>
              <a:t>Sensores ópticos de gas</a:t>
            </a:r>
          </a:p>
          <a:p>
            <a:endParaRPr lang="en-US" dirty="0"/>
          </a:p>
        </p:txBody>
      </p:sp>
      <p:sp>
        <p:nvSpPr>
          <p:cNvPr id="3" name="CuadroTexto 2">
            <a:extLst>
              <a:ext uri="{FF2B5EF4-FFF2-40B4-BE49-F238E27FC236}">
                <a16:creationId xmlns:a16="http://schemas.microsoft.com/office/drawing/2014/main" id="{4EC586A7-421D-A4AE-1B9F-90B46FB23BA6}"/>
              </a:ext>
            </a:extLst>
          </p:cNvPr>
          <p:cNvSpPr txBox="1"/>
          <p:nvPr/>
        </p:nvSpPr>
        <p:spPr>
          <a:xfrm>
            <a:off x="347933" y="614584"/>
            <a:ext cx="8301391" cy="954107"/>
          </a:xfrm>
          <a:prstGeom prst="rect">
            <a:avLst/>
          </a:prstGeom>
          <a:noFill/>
        </p:spPr>
        <p:txBody>
          <a:bodyPr wrap="square">
            <a:spAutoFit/>
          </a:bodyPr>
          <a:lstStyle/>
          <a:p>
            <a:r>
              <a:rPr lang="es-ES" sz="1400" dirty="0"/>
              <a:t>Los sensores </a:t>
            </a:r>
            <a:r>
              <a:rPr lang="es-ES" sz="1400" dirty="0">
                <a:solidFill>
                  <a:schemeClr val="accent2">
                    <a:lumMod val="75000"/>
                  </a:schemeClr>
                </a:solidFill>
                <a:latin typeface="Arial"/>
                <a:cs typeface="Arial"/>
              </a:rPr>
              <a:t>ópticos de gas </a:t>
            </a:r>
            <a:r>
              <a:rPr lang="es-ES" sz="1400" dirty="0"/>
              <a:t>operan a partir de la interacción entre la </a:t>
            </a:r>
            <a:r>
              <a:rPr lang="es-ES" sz="1400" dirty="0">
                <a:solidFill>
                  <a:schemeClr val="accent2">
                    <a:lumMod val="75000"/>
                  </a:schemeClr>
                </a:solidFill>
                <a:latin typeface="Arial"/>
                <a:cs typeface="Arial"/>
              </a:rPr>
              <a:t>radiación luminosa y las moléculas del gas</a:t>
            </a:r>
            <a:r>
              <a:rPr lang="es-ES" sz="1400" dirty="0"/>
              <a:t> objetivo, midiendo los cambios en las </a:t>
            </a:r>
            <a:r>
              <a:rPr lang="es-ES" sz="1400" dirty="0">
                <a:solidFill>
                  <a:schemeClr val="accent2">
                    <a:lumMod val="75000"/>
                  </a:schemeClr>
                </a:solidFill>
                <a:latin typeface="Arial"/>
                <a:cs typeface="Arial"/>
              </a:rPr>
              <a:t>propiedades ópticas </a:t>
            </a:r>
            <a:r>
              <a:rPr lang="es-ES" sz="1400" dirty="0"/>
              <a:t>del medio o en la </a:t>
            </a:r>
            <a:r>
              <a:rPr lang="es-ES" sz="1400" dirty="0">
                <a:solidFill>
                  <a:schemeClr val="accent2">
                    <a:lumMod val="75000"/>
                  </a:schemeClr>
                </a:solidFill>
                <a:latin typeface="Arial"/>
                <a:cs typeface="Arial"/>
              </a:rPr>
              <a:t>superficie del sensor</a:t>
            </a:r>
            <a:r>
              <a:rPr lang="es-ES" sz="1400" dirty="0"/>
              <a:t>. Su principio fundamental se basa en la absorción selectiva de fotones a longitudes de onda específicas: cuanto mayor es la concentración del gas, mayor será el nivel de absorción registrado.</a:t>
            </a:r>
            <a:endParaRPr lang="es-CO" sz="1400" dirty="0"/>
          </a:p>
        </p:txBody>
      </p:sp>
      <p:pic>
        <p:nvPicPr>
          <p:cNvPr id="5" name="Imagen 4" descr="Diagrama&#10;&#10;El contenido generado por IA puede ser incorrecto.">
            <a:extLst>
              <a:ext uri="{FF2B5EF4-FFF2-40B4-BE49-F238E27FC236}">
                <a16:creationId xmlns:a16="http://schemas.microsoft.com/office/drawing/2014/main" id="{F000F862-21F8-FA12-F040-A245F8A65941}"/>
              </a:ext>
            </a:extLst>
          </p:cNvPr>
          <p:cNvPicPr>
            <a:picLocks noChangeAspect="1"/>
          </p:cNvPicPr>
          <p:nvPr/>
        </p:nvPicPr>
        <p:blipFill>
          <a:blip r:embed="rId4"/>
          <a:stretch>
            <a:fillRect/>
          </a:stretch>
        </p:blipFill>
        <p:spPr>
          <a:xfrm>
            <a:off x="965763" y="2215273"/>
            <a:ext cx="7212474" cy="3000811"/>
          </a:xfrm>
          <a:prstGeom prst="rect">
            <a:avLst/>
          </a:prstGeom>
        </p:spPr>
      </p:pic>
      <p:sp>
        <p:nvSpPr>
          <p:cNvPr id="6" name="TextBox 32">
            <a:extLst>
              <a:ext uri="{FF2B5EF4-FFF2-40B4-BE49-F238E27FC236}">
                <a16:creationId xmlns:a16="http://schemas.microsoft.com/office/drawing/2014/main" id="{DC4DD12F-1213-BB18-5795-93C911BCD12A}"/>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176128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1EA125-F1BC-62ED-EF10-5F5BBD9FBF3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2434B86-86E9-4D5A-8327-F04CEA789BC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9A204FFB-AF79-7CCA-DF2E-7619DB7EB79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7" name="TextBox 32">
            <a:extLst>
              <a:ext uri="{FF2B5EF4-FFF2-40B4-BE49-F238E27FC236}">
                <a16:creationId xmlns:a16="http://schemas.microsoft.com/office/drawing/2014/main" id="{6F87B02A-8CF3-50B4-5A2D-1D85BB601F5D}"/>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1365BED5-B043-3AF9-F032-45A7335B277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774AD820-82B8-E8AA-5485-D78FBAFA3159}"/>
              </a:ext>
            </a:extLst>
          </p:cNvPr>
          <p:cNvSpPr/>
          <p:nvPr/>
        </p:nvSpPr>
        <p:spPr>
          <a:xfrm>
            <a:off x="-2262" y="74589"/>
            <a:ext cx="7435995" cy="369332"/>
          </a:xfrm>
          <a:prstGeom prst="rect">
            <a:avLst/>
          </a:prstGeom>
        </p:spPr>
        <p:txBody>
          <a:bodyPr wrap="square" lIns="91440" tIns="45720" rIns="91440" bIns="45720" anchor="t">
            <a:spAutoFit/>
          </a:bodyPr>
          <a:lstStyle/>
          <a:p>
            <a:r>
              <a:rPr lang="es-CO" b="1" dirty="0">
                <a:solidFill>
                  <a:srgbClr val="2C5697"/>
                </a:solidFill>
                <a:latin typeface="Arial"/>
                <a:cs typeface="Arial"/>
              </a:rPr>
              <a:t>Características de los sensores ópticos</a:t>
            </a:r>
            <a:endParaRPr lang="en-US" b="1" dirty="0">
              <a:solidFill>
                <a:srgbClr val="2C5697"/>
              </a:solidFill>
              <a:latin typeface="Arial"/>
              <a:cs typeface="Arial"/>
            </a:endParaRPr>
          </a:p>
        </p:txBody>
      </p:sp>
      <p:sp>
        <p:nvSpPr>
          <p:cNvPr id="5" name="CuadroTexto 4">
            <a:extLst>
              <a:ext uri="{FF2B5EF4-FFF2-40B4-BE49-F238E27FC236}">
                <a16:creationId xmlns:a16="http://schemas.microsoft.com/office/drawing/2014/main" id="{541D0960-A0B9-7803-077B-ACDC33F9E01B}"/>
              </a:ext>
            </a:extLst>
          </p:cNvPr>
          <p:cNvSpPr txBox="1"/>
          <p:nvPr/>
        </p:nvSpPr>
        <p:spPr>
          <a:xfrm>
            <a:off x="284353" y="1289677"/>
            <a:ext cx="5715001" cy="1384995"/>
          </a:xfrm>
          <a:prstGeom prst="rect">
            <a:avLst/>
          </a:prstGeom>
          <a:noFill/>
        </p:spPr>
        <p:txBody>
          <a:bodyPr wrap="square">
            <a:spAutoFit/>
          </a:bodyPr>
          <a:lstStyle/>
          <a:p>
            <a:pPr>
              <a:buNone/>
            </a:pPr>
            <a:r>
              <a:rPr lang="es-ES" sz="1400" dirty="0"/>
              <a:t>Entre sus ventajas se incluyen:</a:t>
            </a:r>
          </a:p>
          <a:p>
            <a:pPr>
              <a:buNone/>
            </a:pPr>
            <a:endParaRPr lang="es-ES" sz="1400" dirty="0"/>
          </a:p>
          <a:p>
            <a:pPr>
              <a:buFont typeface="Arial" panose="020B0604020202020204" pitchFamily="34" charset="0"/>
              <a:buChar char="•"/>
            </a:pPr>
            <a:r>
              <a:rPr lang="es-ES" sz="1400" dirty="0"/>
              <a:t> Alta sensibilidad y selectividad frente a gases específicos como el CO₂,</a:t>
            </a:r>
          </a:p>
          <a:p>
            <a:pPr>
              <a:buFont typeface="Arial" panose="020B0604020202020204" pitchFamily="34" charset="0"/>
              <a:buChar char="•"/>
            </a:pPr>
            <a:r>
              <a:rPr lang="es-ES" sz="1400" dirty="0"/>
              <a:t> Bajo consumo de energía,</a:t>
            </a:r>
          </a:p>
          <a:p>
            <a:pPr>
              <a:buFont typeface="Arial" panose="020B0604020202020204" pitchFamily="34" charset="0"/>
              <a:buChar char="•"/>
            </a:pPr>
            <a:r>
              <a:rPr lang="es-ES" sz="1400" dirty="0"/>
              <a:t> Respuesta rápida,</a:t>
            </a:r>
          </a:p>
          <a:p>
            <a:pPr>
              <a:buFont typeface="Arial" panose="020B0604020202020204" pitchFamily="34" charset="0"/>
              <a:buChar char="•"/>
            </a:pPr>
            <a:r>
              <a:rPr lang="es-ES" sz="1400" dirty="0"/>
              <a:t> Elevado nivel de seguridad.</a:t>
            </a:r>
          </a:p>
        </p:txBody>
      </p:sp>
      <p:sp>
        <p:nvSpPr>
          <p:cNvPr id="15" name="CuadroTexto 14">
            <a:extLst>
              <a:ext uri="{FF2B5EF4-FFF2-40B4-BE49-F238E27FC236}">
                <a16:creationId xmlns:a16="http://schemas.microsoft.com/office/drawing/2014/main" id="{A2D9C528-00D3-8C84-831B-8B39856E1EF3}"/>
              </a:ext>
            </a:extLst>
          </p:cNvPr>
          <p:cNvSpPr txBox="1"/>
          <p:nvPr/>
        </p:nvSpPr>
        <p:spPr>
          <a:xfrm>
            <a:off x="6870449" y="3429000"/>
            <a:ext cx="2273551" cy="215444"/>
          </a:xfrm>
          <a:prstGeom prst="rect">
            <a:avLst/>
          </a:prstGeom>
          <a:noFill/>
        </p:spPr>
        <p:txBody>
          <a:bodyPr wrap="square">
            <a:spAutoFit/>
          </a:bodyPr>
          <a:lstStyle/>
          <a:p>
            <a:r>
              <a:rPr lang="es-CO" sz="800" dirty="0"/>
              <a:t>https://www.quickset.com/</a:t>
            </a:r>
          </a:p>
        </p:txBody>
      </p:sp>
      <p:pic>
        <p:nvPicPr>
          <p:cNvPr id="17" name="Imagen 16" descr="Imagen que contiene interior, lego, tabla, juguete&#10;&#10;El contenido generado por IA puede ser incorrecto.">
            <a:extLst>
              <a:ext uri="{FF2B5EF4-FFF2-40B4-BE49-F238E27FC236}">
                <a16:creationId xmlns:a16="http://schemas.microsoft.com/office/drawing/2014/main" id="{97ADAB35-4D23-E638-1F7C-FC90417DDA31}"/>
              </a:ext>
            </a:extLst>
          </p:cNvPr>
          <p:cNvPicPr>
            <a:picLocks noChangeAspect="1"/>
          </p:cNvPicPr>
          <p:nvPr/>
        </p:nvPicPr>
        <p:blipFill>
          <a:blip r:embed="rId4"/>
          <a:stretch>
            <a:fillRect/>
          </a:stretch>
        </p:blipFill>
        <p:spPr>
          <a:xfrm>
            <a:off x="5779053" y="1373375"/>
            <a:ext cx="3121234" cy="2055625"/>
          </a:xfrm>
          <a:prstGeom prst="rect">
            <a:avLst/>
          </a:prstGeom>
        </p:spPr>
      </p:pic>
      <p:pic>
        <p:nvPicPr>
          <p:cNvPr id="23" name="Imagen 22" descr="Imagen que contiene lego, tabla, cocina, tren&#10;&#10;El contenido generado por IA puede ser incorrecto.">
            <a:extLst>
              <a:ext uri="{FF2B5EF4-FFF2-40B4-BE49-F238E27FC236}">
                <a16:creationId xmlns:a16="http://schemas.microsoft.com/office/drawing/2014/main" id="{A8D000A0-5C17-49E5-757B-E988D82B8BF3}"/>
              </a:ext>
            </a:extLst>
          </p:cNvPr>
          <p:cNvPicPr>
            <a:picLocks noChangeAspect="1"/>
          </p:cNvPicPr>
          <p:nvPr/>
        </p:nvPicPr>
        <p:blipFill>
          <a:blip r:embed="rId5"/>
          <a:stretch>
            <a:fillRect/>
          </a:stretch>
        </p:blipFill>
        <p:spPr>
          <a:xfrm>
            <a:off x="4308733" y="3858325"/>
            <a:ext cx="3030937" cy="2020625"/>
          </a:xfrm>
          <a:prstGeom prst="rect">
            <a:avLst/>
          </a:prstGeom>
        </p:spPr>
      </p:pic>
      <p:pic>
        <p:nvPicPr>
          <p:cNvPr id="25" name="Imagen 24" descr="Fábrica con humo&#10;&#10;El contenido generado por IA puede ser incorrecto.">
            <a:extLst>
              <a:ext uri="{FF2B5EF4-FFF2-40B4-BE49-F238E27FC236}">
                <a16:creationId xmlns:a16="http://schemas.microsoft.com/office/drawing/2014/main" id="{A3805ACC-6A2E-BE3C-9516-085C6EEFF76E}"/>
              </a:ext>
            </a:extLst>
          </p:cNvPr>
          <p:cNvPicPr>
            <a:picLocks noChangeAspect="1"/>
          </p:cNvPicPr>
          <p:nvPr/>
        </p:nvPicPr>
        <p:blipFill>
          <a:blip r:embed="rId6"/>
          <a:stretch>
            <a:fillRect/>
          </a:stretch>
        </p:blipFill>
        <p:spPr>
          <a:xfrm>
            <a:off x="208766" y="3321732"/>
            <a:ext cx="3349726" cy="1864681"/>
          </a:xfrm>
          <a:prstGeom prst="rect">
            <a:avLst/>
          </a:prstGeom>
        </p:spPr>
      </p:pic>
      <p:sp>
        <p:nvSpPr>
          <p:cNvPr id="27" name="CuadroTexto 26">
            <a:extLst>
              <a:ext uri="{FF2B5EF4-FFF2-40B4-BE49-F238E27FC236}">
                <a16:creationId xmlns:a16="http://schemas.microsoft.com/office/drawing/2014/main" id="{D773F8A0-8ED2-75AE-5297-55EF55917293}"/>
              </a:ext>
            </a:extLst>
          </p:cNvPr>
          <p:cNvSpPr txBox="1"/>
          <p:nvPr/>
        </p:nvSpPr>
        <p:spPr>
          <a:xfrm>
            <a:off x="604997" y="5152445"/>
            <a:ext cx="4609474" cy="215444"/>
          </a:xfrm>
          <a:prstGeom prst="rect">
            <a:avLst/>
          </a:prstGeom>
          <a:noFill/>
        </p:spPr>
        <p:txBody>
          <a:bodyPr wrap="square">
            <a:spAutoFit/>
          </a:bodyPr>
          <a:lstStyle/>
          <a:p>
            <a:r>
              <a:rPr lang="es-CO" sz="800" dirty="0"/>
              <a:t>https://esegas.com/es/categor%C3%ADa/noticias/</a:t>
            </a:r>
          </a:p>
        </p:txBody>
      </p:sp>
      <p:sp>
        <p:nvSpPr>
          <p:cNvPr id="29" name="TextBox 32">
            <a:extLst>
              <a:ext uri="{FF2B5EF4-FFF2-40B4-BE49-F238E27FC236}">
                <a16:creationId xmlns:a16="http://schemas.microsoft.com/office/drawing/2014/main" id="{F95609B7-9737-8896-391A-433249C46391}"/>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485179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a:t>
            </a:r>
            <a:r>
              <a:rPr lang="es-CO" b="1" dirty="0" err="1">
                <a:solidFill>
                  <a:srgbClr val="2C5697"/>
                </a:solidFill>
                <a:latin typeface="Arial"/>
                <a:cs typeface="Arial"/>
              </a:rPr>
              <a:t>ensores</a:t>
            </a:r>
            <a:r>
              <a:rPr lang="es-CO" b="1" dirty="0">
                <a:solidFill>
                  <a:srgbClr val="2C5697"/>
                </a:solidFill>
                <a:latin typeface="Arial"/>
                <a:cs typeface="Arial"/>
              </a:rPr>
              <a:t> de gas tipo </a:t>
            </a:r>
            <a:r>
              <a:rPr lang="es-CO" b="1" dirty="0" err="1">
                <a:solidFill>
                  <a:srgbClr val="2C5697"/>
                </a:solidFill>
                <a:latin typeface="Arial"/>
                <a:cs typeface="Arial"/>
              </a:rPr>
              <a:t>Pellistor</a:t>
            </a:r>
            <a:r>
              <a:rPr lang="es-CO" b="1" dirty="0">
                <a:solidFill>
                  <a:srgbClr val="2C5697"/>
                </a:solidFill>
                <a:latin typeface="Arial"/>
                <a:cs typeface="Arial"/>
              </a:rPr>
              <a:t> (catalíticos)</a:t>
            </a:r>
            <a:endParaRPr lang="en-US" b="1" dirty="0">
              <a:solidFill>
                <a:srgbClr val="2C5697"/>
              </a:solidFill>
              <a:latin typeface="Arial"/>
              <a:cs typeface="Arial"/>
            </a:endParaRPr>
          </a:p>
        </p:txBody>
      </p:sp>
      <p:sp>
        <p:nvSpPr>
          <p:cNvPr id="20" name="Rectángulo 19">
            <a:extLst>
              <a:ext uri="{FF2B5EF4-FFF2-40B4-BE49-F238E27FC236}">
                <a16:creationId xmlns:a16="http://schemas.microsoft.com/office/drawing/2014/main" id="{31A70EC2-07B0-42A7-ABB7-47C6192CB29D}"/>
              </a:ext>
            </a:extLst>
          </p:cNvPr>
          <p:cNvSpPr/>
          <p:nvPr/>
        </p:nvSpPr>
        <p:spPr>
          <a:xfrm>
            <a:off x="310875" y="813253"/>
            <a:ext cx="8522250" cy="738664"/>
          </a:xfrm>
          <a:prstGeom prst="rect">
            <a:avLst/>
          </a:prstGeom>
        </p:spPr>
        <p:txBody>
          <a:bodyPr wrap="square">
            <a:spAutoFit/>
          </a:bodyPr>
          <a:lstStyle/>
          <a:p>
            <a:r>
              <a:rPr lang="es-ES" sz="1400" dirty="0"/>
              <a:t>Los </a:t>
            </a:r>
            <a:r>
              <a:rPr lang="es-ES" sz="1400" dirty="0" err="1">
                <a:solidFill>
                  <a:schemeClr val="accent2">
                    <a:lumMod val="75000"/>
                  </a:schemeClr>
                </a:solidFill>
                <a:latin typeface="Arial"/>
                <a:cs typeface="Arial"/>
              </a:rPr>
              <a:t>pellistores</a:t>
            </a:r>
            <a:r>
              <a:rPr lang="es-ES" sz="1400" dirty="0"/>
              <a:t> son sensores térmicos de gas que operan midiendo los </a:t>
            </a:r>
            <a:r>
              <a:rPr lang="es-ES" sz="1400" dirty="0">
                <a:solidFill>
                  <a:schemeClr val="accent2">
                    <a:lumMod val="75000"/>
                  </a:schemeClr>
                </a:solidFill>
                <a:latin typeface="Arial"/>
                <a:cs typeface="Arial"/>
              </a:rPr>
              <a:t>cambios de temperatura </a:t>
            </a:r>
            <a:r>
              <a:rPr lang="es-ES" sz="1400" dirty="0"/>
              <a:t>en una resistencia eléctrica cuando se expone a un gas inflamable. Su principio de funcionamiento se basa en la </a:t>
            </a:r>
            <a:r>
              <a:rPr lang="es-ES" sz="1400" dirty="0">
                <a:solidFill>
                  <a:schemeClr val="accent2">
                    <a:lumMod val="75000"/>
                  </a:schemeClr>
                </a:solidFill>
                <a:latin typeface="Arial"/>
                <a:cs typeface="Arial"/>
              </a:rPr>
              <a:t>transferencia de calor entre el elemento resistivo y el entorno</a:t>
            </a:r>
            <a:r>
              <a:rPr lang="es-ES" sz="1400" dirty="0"/>
              <a:t>:</a:t>
            </a:r>
            <a:endParaRPr lang="es-CO" sz="1400" dirty="0"/>
          </a:p>
        </p:txBody>
      </p:sp>
      <p:sp>
        <p:nvSpPr>
          <p:cNvPr id="9" name="CuadroTexto 8">
            <a:extLst>
              <a:ext uri="{FF2B5EF4-FFF2-40B4-BE49-F238E27FC236}">
                <a16:creationId xmlns:a16="http://schemas.microsoft.com/office/drawing/2014/main" id="{64562EC7-2AE3-2624-E7B7-68A4F013A97A}"/>
              </a:ext>
            </a:extLst>
          </p:cNvPr>
          <p:cNvSpPr txBox="1"/>
          <p:nvPr/>
        </p:nvSpPr>
        <p:spPr>
          <a:xfrm>
            <a:off x="261463" y="5125542"/>
            <a:ext cx="8451916" cy="738664"/>
          </a:xfrm>
          <a:prstGeom prst="rect">
            <a:avLst/>
          </a:prstGeom>
          <a:noFill/>
        </p:spPr>
        <p:txBody>
          <a:bodyPr wrap="square">
            <a:spAutoFit/>
          </a:bodyPr>
          <a:lstStyle/>
          <a:p>
            <a:r>
              <a:rPr lang="es-ES" sz="1400" dirty="0"/>
              <a:t>Una activa, recubierta con el </a:t>
            </a:r>
            <a:r>
              <a:rPr lang="es-ES" sz="1400" dirty="0">
                <a:solidFill>
                  <a:schemeClr val="accent2">
                    <a:lumMod val="75000"/>
                  </a:schemeClr>
                </a:solidFill>
                <a:latin typeface="Arial"/>
                <a:cs typeface="Arial"/>
              </a:rPr>
              <a:t>catalizador</a:t>
            </a:r>
            <a:r>
              <a:rPr lang="es-ES" sz="1400" dirty="0"/>
              <a:t> (detecta el gas),</a:t>
            </a:r>
          </a:p>
          <a:p>
            <a:r>
              <a:rPr lang="es-ES" sz="1400" dirty="0"/>
              <a:t>Una de referencia, </a:t>
            </a:r>
            <a:r>
              <a:rPr lang="es-ES" sz="1400" dirty="0">
                <a:solidFill>
                  <a:schemeClr val="accent2">
                    <a:lumMod val="75000"/>
                  </a:schemeClr>
                </a:solidFill>
                <a:latin typeface="Arial"/>
                <a:cs typeface="Arial"/>
              </a:rPr>
              <a:t>sin catalizador </a:t>
            </a:r>
            <a:r>
              <a:rPr lang="es-ES" sz="1400" dirty="0"/>
              <a:t>(compensa efectos ambientales como humedad o temperatura).</a:t>
            </a:r>
          </a:p>
          <a:p>
            <a:pPr>
              <a:buNone/>
            </a:pPr>
            <a:r>
              <a:rPr lang="es-ES" sz="1400" dirty="0"/>
              <a:t>La diferencia de señal entre ambas permite </a:t>
            </a:r>
            <a:r>
              <a:rPr lang="es-ES" sz="1400" dirty="0">
                <a:solidFill>
                  <a:schemeClr val="accent2">
                    <a:lumMod val="75000"/>
                  </a:schemeClr>
                </a:solidFill>
                <a:latin typeface="Arial"/>
                <a:cs typeface="Arial"/>
              </a:rPr>
              <a:t>cuantificar la concentración del gas inflamable</a:t>
            </a:r>
          </a:p>
        </p:txBody>
      </p:sp>
      <p:pic>
        <p:nvPicPr>
          <p:cNvPr id="12" name="Imagen 11" descr="Diagrama&#10;&#10;El contenido generado por IA puede ser incorrecto.">
            <a:extLst>
              <a:ext uri="{FF2B5EF4-FFF2-40B4-BE49-F238E27FC236}">
                <a16:creationId xmlns:a16="http://schemas.microsoft.com/office/drawing/2014/main" id="{6043055C-D592-5CE0-4C78-C16B65FBE257}"/>
              </a:ext>
            </a:extLst>
          </p:cNvPr>
          <p:cNvPicPr>
            <a:picLocks noChangeAspect="1"/>
          </p:cNvPicPr>
          <p:nvPr/>
        </p:nvPicPr>
        <p:blipFill>
          <a:blip r:embed="rId4"/>
          <a:stretch>
            <a:fillRect/>
          </a:stretch>
        </p:blipFill>
        <p:spPr>
          <a:xfrm>
            <a:off x="1600354" y="1719694"/>
            <a:ext cx="5400052" cy="3334631"/>
          </a:xfrm>
          <a:prstGeom prst="rect">
            <a:avLst/>
          </a:prstGeom>
        </p:spPr>
      </p:pic>
      <p:sp>
        <p:nvSpPr>
          <p:cNvPr id="15" name="TextBox 32">
            <a:extLst>
              <a:ext uri="{FF2B5EF4-FFF2-40B4-BE49-F238E27FC236}">
                <a16:creationId xmlns:a16="http://schemas.microsoft.com/office/drawing/2014/main" id="{3D08342B-D960-DD7E-9E85-24DF8D6EF61B}"/>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82969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19500F-2445-20FB-E6A2-BF99895A577E}"/>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828C37E8-9C08-F92E-22D6-127D98B65696}"/>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9FB429EA-0F6D-6EB3-00D7-4ED2D180C436}"/>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8" name="Título 1">
            <a:extLst>
              <a:ext uri="{FF2B5EF4-FFF2-40B4-BE49-F238E27FC236}">
                <a16:creationId xmlns:a16="http://schemas.microsoft.com/office/drawing/2014/main" id="{362BC0CB-48E0-ED3A-8FE4-CC63423ECE6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75D0DA9C-241E-E81A-0711-6885627755C8}"/>
              </a:ext>
            </a:extLst>
          </p:cNvPr>
          <p:cNvSpPr/>
          <p:nvPr/>
        </p:nvSpPr>
        <p:spPr>
          <a:xfrm>
            <a:off x="-2262" y="74589"/>
            <a:ext cx="7435995" cy="369332"/>
          </a:xfrm>
          <a:prstGeom prst="rect">
            <a:avLst/>
          </a:prstGeom>
        </p:spPr>
        <p:txBody>
          <a:bodyPr wrap="square" lIns="91440" tIns="45720" rIns="91440" bIns="45720" anchor="t">
            <a:spAutoFit/>
          </a:bodyPr>
          <a:lstStyle/>
          <a:p>
            <a:r>
              <a:rPr lang="es-CO" b="1" dirty="0">
                <a:solidFill>
                  <a:srgbClr val="2C5697"/>
                </a:solidFill>
                <a:latin typeface="Arial"/>
                <a:cs typeface="Arial"/>
              </a:rPr>
              <a:t>Características de los sensores catalíticos</a:t>
            </a:r>
            <a:endParaRPr lang="en-US" b="1" dirty="0">
              <a:solidFill>
                <a:srgbClr val="2C5697"/>
              </a:solidFill>
              <a:latin typeface="Arial"/>
              <a:cs typeface="Arial"/>
            </a:endParaRPr>
          </a:p>
        </p:txBody>
      </p:sp>
      <p:sp>
        <p:nvSpPr>
          <p:cNvPr id="3" name="CuadroTexto 2">
            <a:extLst>
              <a:ext uri="{FF2B5EF4-FFF2-40B4-BE49-F238E27FC236}">
                <a16:creationId xmlns:a16="http://schemas.microsoft.com/office/drawing/2014/main" id="{690E0829-42FA-9852-9C51-D634CA878B7B}"/>
              </a:ext>
            </a:extLst>
          </p:cNvPr>
          <p:cNvSpPr txBox="1"/>
          <p:nvPr/>
        </p:nvSpPr>
        <p:spPr>
          <a:xfrm>
            <a:off x="534264" y="779705"/>
            <a:ext cx="8075472" cy="523220"/>
          </a:xfrm>
          <a:prstGeom prst="rect">
            <a:avLst/>
          </a:prstGeom>
          <a:noFill/>
        </p:spPr>
        <p:txBody>
          <a:bodyPr wrap="square">
            <a:spAutoFit/>
          </a:bodyPr>
          <a:lstStyle/>
          <a:p>
            <a:pPr>
              <a:buNone/>
            </a:pPr>
            <a:r>
              <a:rPr lang="es-ES" sz="1400" dirty="0"/>
              <a:t>La variación de la resistencia se mide mediante el puente de Wheatstone e </a:t>
            </a:r>
            <a:r>
              <a:rPr lang="es-ES" sz="1400" dirty="0">
                <a:solidFill>
                  <a:schemeClr val="accent2">
                    <a:lumMod val="75000"/>
                  </a:schemeClr>
                </a:solidFill>
                <a:latin typeface="Arial"/>
                <a:cs typeface="Arial"/>
              </a:rPr>
              <a:t>indica la presencia de gas </a:t>
            </a:r>
            <a:r>
              <a:rPr lang="es-ES" sz="1400" dirty="0"/>
              <a:t>combustible.</a:t>
            </a:r>
          </a:p>
        </p:txBody>
      </p:sp>
      <p:sp>
        <p:nvSpPr>
          <p:cNvPr id="23" name="CuadroTexto 22">
            <a:extLst>
              <a:ext uri="{FF2B5EF4-FFF2-40B4-BE49-F238E27FC236}">
                <a16:creationId xmlns:a16="http://schemas.microsoft.com/office/drawing/2014/main" id="{EA17DE15-8655-190B-E39B-B53A805265BB}"/>
              </a:ext>
            </a:extLst>
          </p:cNvPr>
          <p:cNvSpPr txBox="1"/>
          <p:nvPr/>
        </p:nvSpPr>
        <p:spPr>
          <a:xfrm>
            <a:off x="3516869" y="5818137"/>
            <a:ext cx="4609474" cy="215444"/>
          </a:xfrm>
          <a:prstGeom prst="rect">
            <a:avLst/>
          </a:prstGeom>
          <a:noFill/>
        </p:spPr>
        <p:txBody>
          <a:bodyPr wrap="square">
            <a:spAutoFit/>
          </a:bodyPr>
          <a:lstStyle/>
          <a:p>
            <a:r>
              <a:rPr lang="es-CO" sz="800" dirty="0"/>
              <a:t>https://www.google.com/url?sa=i&amp;url=https%3A%2F%2Fbiltron.com%</a:t>
            </a:r>
          </a:p>
        </p:txBody>
      </p:sp>
      <p:pic>
        <p:nvPicPr>
          <p:cNvPr id="4" name="Imagen 3">
            <a:extLst>
              <a:ext uri="{FF2B5EF4-FFF2-40B4-BE49-F238E27FC236}">
                <a16:creationId xmlns:a16="http://schemas.microsoft.com/office/drawing/2014/main" id="{94315130-A7D2-819A-57DB-7F8583EEB73F}"/>
              </a:ext>
            </a:extLst>
          </p:cNvPr>
          <p:cNvPicPr>
            <a:picLocks noChangeAspect="1"/>
          </p:cNvPicPr>
          <p:nvPr/>
        </p:nvPicPr>
        <p:blipFill>
          <a:blip r:embed="rId4"/>
          <a:stretch>
            <a:fillRect/>
          </a:stretch>
        </p:blipFill>
        <p:spPr>
          <a:xfrm>
            <a:off x="534264" y="1546676"/>
            <a:ext cx="7916380" cy="2667372"/>
          </a:xfrm>
          <a:prstGeom prst="rect">
            <a:avLst/>
          </a:prstGeom>
        </p:spPr>
      </p:pic>
      <p:pic>
        <p:nvPicPr>
          <p:cNvPr id="5" name="Imagen 4" descr="Diagrama&#10;&#10;El contenido generado por IA puede ser incorrecto.">
            <a:extLst>
              <a:ext uri="{FF2B5EF4-FFF2-40B4-BE49-F238E27FC236}">
                <a16:creationId xmlns:a16="http://schemas.microsoft.com/office/drawing/2014/main" id="{9E4614E8-1BA0-42C3-6665-5CBC99655040}"/>
              </a:ext>
            </a:extLst>
          </p:cNvPr>
          <p:cNvPicPr>
            <a:picLocks noChangeAspect="1"/>
          </p:cNvPicPr>
          <p:nvPr/>
        </p:nvPicPr>
        <p:blipFill>
          <a:blip r:embed="rId5"/>
          <a:stretch>
            <a:fillRect/>
          </a:stretch>
        </p:blipFill>
        <p:spPr>
          <a:xfrm>
            <a:off x="3023263" y="4223689"/>
            <a:ext cx="2723844" cy="1572763"/>
          </a:xfrm>
          <a:prstGeom prst="rect">
            <a:avLst/>
          </a:prstGeom>
        </p:spPr>
      </p:pic>
    </p:spTree>
    <p:custDataLst>
      <p:tags r:id="rId1"/>
    </p:custDataLst>
    <p:extLst>
      <p:ext uri="{BB962C8B-B14F-4D97-AF65-F5344CB8AC3E}">
        <p14:creationId xmlns:p14="http://schemas.microsoft.com/office/powerpoint/2010/main" val="1512025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CO" b="1" dirty="0">
                <a:solidFill>
                  <a:srgbClr val="2C5697"/>
                </a:solidFill>
                <a:latin typeface="Arial"/>
                <a:cs typeface="Arial"/>
              </a:rPr>
              <a:t>Características de los sensores catalíticos</a:t>
            </a:r>
            <a:endParaRPr lang="en-US" b="1" dirty="0">
              <a:solidFill>
                <a:srgbClr val="2C5697"/>
              </a:solidFill>
              <a:latin typeface="Arial"/>
              <a:cs typeface="Arial"/>
            </a:endParaRPr>
          </a:p>
        </p:txBody>
      </p:sp>
      <p:sp>
        <p:nvSpPr>
          <p:cNvPr id="3" name="CuadroTexto 2">
            <a:extLst>
              <a:ext uri="{FF2B5EF4-FFF2-40B4-BE49-F238E27FC236}">
                <a16:creationId xmlns:a16="http://schemas.microsoft.com/office/drawing/2014/main" id="{AF9AE4AF-27C7-0B39-1959-FC9B74F119F5}"/>
              </a:ext>
            </a:extLst>
          </p:cNvPr>
          <p:cNvSpPr txBox="1"/>
          <p:nvPr/>
        </p:nvSpPr>
        <p:spPr>
          <a:xfrm>
            <a:off x="534264" y="779705"/>
            <a:ext cx="8075472" cy="2462213"/>
          </a:xfrm>
          <a:prstGeom prst="rect">
            <a:avLst/>
          </a:prstGeom>
          <a:noFill/>
        </p:spPr>
        <p:txBody>
          <a:bodyPr wrap="square">
            <a:spAutoFit/>
          </a:bodyPr>
          <a:lstStyle/>
          <a:p>
            <a:pPr>
              <a:buNone/>
            </a:pPr>
            <a:r>
              <a:rPr lang="es-ES" sz="1400" dirty="0"/>
              <a:t>Estos sensores destacan por:</a:t>
            </a:r>
          </a:p>
          <a:p>
            <a:pPr>
              <a:buNone/>
            </a:pPr>
            <a:endParaRPr lang="es-ES" sz="1400" dirty="0"/>
          </a:p>
          <a:p>
            <a:pPr>
              <a:buFont typeface="Arial" panose="020B0604020202020204" pitchFamily="34" charset="0"/>
              <a:buChar char="•"/>
            </a:pPr>
            <a:r>
              <a:rPr lang="es-ES" sz="1400" dirty="0"/>
              <a:t> Alta sensibilidad a </a:t>
            </a:r>
            <a:r>
              <a:rPr lang="es-ES" sz="1400" dirty="0">
                <a:solidFill>
                  <a:schemeClr val="accent2">
                    <a:lumMod val="75000"/>
                  </a:schemeClr>
                </a:solidFill>
                <a:latin typeface="Arial"/>
                <a:cs typeface="Arial"/>
              </a:rPr>
              <a:t>gases combustibles </a:t>
            </a:r>
            <a:r>
              <a:rPr lang="es-ES" sz="1400" dirty="0"/>
              <a:t>(metano, propano, hidrógeno, etc.),</a:t>
            </a:r>
          </a:p>
          <a:p>
            <a:pPr>
              <a:buFont typeface="Arial" panose="020B0604020202020204" pitchFamily="34" charset="0"/>
              <a:buChar char="•"/>
            </a:pPr>
            <a:r>
              <a:rPr lang="es-ES" sz="1400" dirty="0"/>
              <a:t> Rápida respuesta </a:t>
            </a:r>
            <a:r>
              <a:rPr lang="es-ES" sz="1400" dirty="0">
                <a:solidFill>
                  <a:schemeClr val="accent2">
                    <a:lumMod val="75000"/>
                  </a:schemeClr>
                </a:solidFill>
                <a:latin typeface="Arial"/>
                <a:cs typeface="Arial"/>
              </a:rPr>
              <a:t>térmica</a:t>
            </a:r>
            <a:r>
              <a:rPr lang="es-ES" sz="1400" dirty="0"/>
              <a:t>,</a:t>
            </a:r>
          </a:p>
          <a:p>
            <a:pPr>
              <a:buFont typeface="Arial" panose="020B0604020202020204" pitchFamily="34" charset="0"/>
              <a:buChar char="•"/>
            </a:pPr>
            <a:r>
              <a:rPr lang="es-ES" sz="1400" dirty="0"/>
              <a:t> Robustez mecánica y </a:t>
            </a:r>
            <a:r>
              <a:rPr lang="es-ES" sz="1400" dirty="0">
                <a:solidFill>
                  <a:schemeClr val="accent2">
                    <a:lumMod val="75000"/>
                  </a:schemeClr>
                </a:solidFill>
                <a:latin typeface="Arial"/>
                <a:cs typeface="Arial"/>
              </a:rPr>
              <a:t>bajo costo</a:t>
            </a:r>
            <a:r>
              <a:rPr lang="es-ES" sz="1400" dirty="0"/>
              <a:t>,</a:t>
            </a:r>
          </a:p>
          <a:p>
            <a:br>
              <a:rPr lang="es-ES" sz="1400" dirty="0"/>
            </a:br>
            <a:r>
              <a:rPr lang="es-ES" sz="1400" dirty="0"/>
              <a:t>pero presentan limitaciones frente a ambientes </a:t>
            </a:r>
            <a:r>
              <a:rPr lang="es-ES" sz="1400" dirty="0">
                <a:solidFill>
                  <a:schemeClr val="accent2">
                    <a:lumMod val="75000"/>
                  </a:schemeClr>
                </a:solidFill>
                <a:latin typeface="Arial"/>
                <a:cs typeface="Arial"/>
              </a:rPr>
              <a:t>pobres en oxígeno </a:t>
            </a:r>
            <a:r>
              <a:rPr lang="es-ES" sz="1400" dirty="0"/>
              <a:t>o con contaminantes que envenenan el catalizador.</a:t>
            </a:r>
          </a:p>
          <a:p>
            <a:endParaRPr lang="es-ES" sz="1400" dirty="0"/>
          </a:p>
          <a:p>
            <a:pPr>
              <a:buNone/>
            </a:pPr>
            <a:r>
              <a:rPr lang="es-ES" sz="1400" dirty="0"/>
              <a:t>Su temperatura de operación es inferior al punto de ignición del gas, garantizando seguridad mientras mantiene la </a:t>
            </a:r>
            <a:r>
              <a:rPr lang="es-ES" sz="1400" dirty="0">
                <a:solidFill>
                  <a:schemeClr val="accent2">
                    <a:lumMod val="75000"/>
                  </a:schemeClr>
                </a:solidFill>
                <a:latin typeface="Arial"/>
                <a:cs typeface="Arial"/>
              </a:rPr>
              <a:t>reacción catalítica controlada</a:t>
            </a:r>
            <a:r>
              <a:rPr lang="es-ES" sz="1400" dirty="0"/>
              <a:t>.</a:t>
            </a:r>
          </a:p>
        </p:txBody>
      </p:sp>
      <p:pic>
        <p:nvPicPr>
          <p:cNvPr id="6" name="Imagen 5" descr="Imagen que contiene persona, edificio, hombre, parado&#10;&#10;El contenido generado por IA puede ser incorrecto.">
            <a:extLst>
              <a:ext uri="{FF2B5EF4-FFF2-40B4-BE49-F238E27FC236}">
                <a16:creationId xmlns:a16="http://schemas.microsoft.com/office/drawing/2014/main" id="{0C475F6B-F204-5FF5-F02D-BCEF80D01600}"/>
              </a:ext>
            </a:extLst>
          </p:cNvPr>
          <p:cNvPicPr>
            <a:picLocks noChangeAspect="1"/>
          </p:cNvPicPr>
          <p:nvPr/>
        </p:nvPicPr>
        <p:blipFill>
          <a:blip r:embed="rId4"/>
          <a:stretch>
            <a:fillRect/>
          </a:stretch>
        </p:blipFill>
        <p:spPr>
          <a:xfrm>
            <a:off x="261463" y="4079929"/>
            <a:ext cx="2623279" cy="1745355"/>
          </a:xfrm>
          <a:prstGeom prst="rect">
            <a:avLst/>
          </a:prstGeom>
        </p:spPr>
      </p:pic>
      <p:pic>
        <p:nvPicPr>
          <p:cNvPr id="12" name="Imagen 11" descr="Imagen de la pantalla de un celular&#10;&#10;El contenido generado por IA puede ser incorrecto.">
            <a:extLst>
              <a:ext uri="{FF2B5EF4-FFF2-40B4-BE49-F238E27FC236}">
                <a16:creationId xmlns:a16="http://schemas.microsoft.com/office/drawing/2014/main" id="{F9AC7E1D-366D-EFD3-9597-24D098BD7D59}"/>
              </a:ext>
            </a:extLst>
          </p:cNvPr>
          <p:cNvPicPr>
            <a:picLocks noChangeAspect="1"/>
          </p:cNvPicPr>
          <p:nvPr/>
        </p:nvPicPr>
        <p:blipFill>
          <a:blip r:embed="rId5"/>
          <a:stretch>
            <a:fillRect/>
          </a:stretch>
        </p:blipFill>
        <p:spPr>
          <a:xfrm>
            <a:off x="6470403" y="3828815"/>
            <a:ext cx="2623279" cy="1975175"/>
          </a:xfrm>
          <a:prstGeom prst="rect">
            <a:avLst/>
          </a:prstGeom>
        </p:spPr>
      </p:pic>
      <p:pic>
        <p:nvPicPr>
          <p:cNvPr id="16" name="Imagen 15" descr="Un hombre con una gorra azul&#10;&#10;El contenido generado por IA puede ser incorrecto.">
            <a:extLst>
              <a:ext uri="{FF2B5EF4-FFF2-40B4-BE49-F238E27FC236}">
                <a16:creationId xmlns:a16="http://schemas.microsoft.com/office/drawing/2014/main" id="{7EC918B4-9403-444B-193B-C90B95A681D9}"/>
              </a:ext>
            </a:extLst>
          </p:cNvPr>
          <p:cNvPicPr>
            <a:picLocks noChangeAspect="1"/>
          </p:cNvPicPr>
          <p:nvPr/>
        </p:nvPicPr>
        <p:blipFill>
          <a:blip r:embed="rId6"/>
          <a:stretch>
            <a:fillRect/>
          </a:stretch>
        </p:blipFill>
        <p:spPr>
          <a:xfrm>
            <a:off x="3211318" y="3795341"/>
            <a:ext cx="3047942" cy="2042121"/>
          </a:xfrm>
          <a:prstGeom prst="rect">
            <a:avLst/>
          </a:prstGeom>
        </p:spPr>
      </p:pic>
      <p:sp>
        <p:nvSpPr>
          <p:cNvPr id="23" name="CuadroTexto 22">
            <a:extLst>
              <a:ext uri="{FF2B5EF4-FFF2-40B4-BE49-F238E27FC236}">
                <a16:creationId xmlns:a16="http://schemas.microsoft.com/office/drawing/2014/main" id="{AC294E90-313C-AA1E-D801-53424ABDE179}"/>
              </a:ext>
            </a:extLst>
          </p:cNvPr>
          <p:cNvSpPr txBox="1"/>
          <p:nvPr/>
        </p:nvSpPr>
        <p:spPr>
          <a:xfrm>
            <a:off x="3516869" y="5818137"/>
            <a:ext cx="4609474" cy="215444"/>
          </a:xfrm>
          <a:prstGeom prst="rect">
            <a:avLst/>
          </a:prstGeom>
          <a:noFill/>
        </p:spPr>
        <p:txBody>
          <a:bodyPr wrap="square">
            <a:spAutoFit/>
          </a:bodyPr>
          <a:lstStyle/>
          <a:p>
            <a:r>
              <a:rPr lang="es-CO" sz="800" dirty="0"/>
              <a:t>https://www.google.com/url?sa=i&amp;url=https%3A%2F%2Fbiltron.com%</a:t>
            </a:r>
          </a:p>
        </p:txBody>
      </p:sp>
      <p:sp>
        <p:nvSpPr>
          <p:cNvPr id="24" name="TextBox 32">
            <a:extLst>
              <a:ext uri="{FF2B5EF4-FFF2-40B4-BE49-F238E27FC236}">
                <a16:creationId xmlns:a16="http://schemas.microsoft.com/office/drawing/2014/main" id="{D64153D7-C64D-3A92-B8BA-E47B0FF6658B}"/>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1667403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Sistema general sensor de gas</a:t>
            </a:r>
            <a:endParaRPr lang="en-US" dirty="0"/>
          </a:p>
        </p:txBody>
      </p:sp>
      <p:graphicFrame>
        <p:nvGraphicFramePr>
          <p:cNvPr id="10" name="Tabla 9">
            <a:extLst>
              <a:ext uri="{FF2B5EF4-FFF2-40B4-BE49-F238E27FC236}">
                <a16:creationId xmlns:a16="http://schemas.microsoft.com/office/drawing/2014/main" id="{3B9FC64D-FE5D-EF3A-2E83-FC612770415C}"/>
              </a:ext>
            </a:extLst>
          </p:cNvPr>
          <p:cNvGraphicFramePr>
            <a:graphicFrameLocks noGrp="1"/>
          </p:cNvGraphicFramePr>
          <p:nvPr>
            <p:extLst>
              <p:ext uri="{D42A27DB-BD31-4B8C-83A1-F6EECF244321}">
                <p14:modId xmlns:p14="http://schemas.microsoft.com/office/powerpoint/2010/main" val="300106839"/>
              </p:ext>
            </p:extLst>
          </p:nvPr>
        </p:nvGraphicFramePr>
        <p:xfrm>
          <a:off x="1261575" y="1232516"/>
          <a:ext cx="7237848" cy="3967162"/>
        </p:xfrm>
        <a:graphic>
          <a:graphicData uri="http://schemas.openxmlformats.org/drawingml/2006/table">
            <a:tbl>
              <a:tblPr/>
              <a:tblGrid>
                <a:gridCol w="2160908">
                  <a:extLst>
                    <a:ext uri="{9D8B030D-6E8A-4147-A177-3AD203B41FA5}">
                      <a16:colId xmlns:a16="http://schemas.microsoft.com/office/drawing/2014/main" val="2426420758"/>
                    </a:ext>
                  </a:extLst>
                </a:gridCol>
                <a:gridCol w="2538470">
                  <a:extLst>
                    <a:ext uri="{9D8B030D-6E8A-4147-A177-3AD203B41FA5}">
                      <a16:colId xmlns:a16="http://schemas.microsoft.com/office/drawing/2014/main" val="2318935975"/>
                    </a:ext>
                  </a:extLst>
                </a:gridCol>
                <a:gridCol w="2538470">
                  <a:extLst>
                    <a:ext uri="{9D8B030D-6E8A-4147-A177-3AD203B41FA5}">
                      <a16:colId xmlns:a16="http://schemas.microsoft.com/office/drawing/2014/main" val="262932663"/>
                    </a:ext>
                  </a:extLst>
                </a:gridCol>
              </a:tblGrid>
              <a:tr h="447905">
                <a:tc>
                  <a:txBody>
                    <a:bodyPr/>
                    <a:lstStyle/>
                    <a:p>
                      <a:pPr algn="ctr">
                        <a:buNone/>
                      </a:pPr>
                      <a:r>
                        <a:rPr lang="es-CO" sz="1300" b="1" dirty="0"/>
                        <a:t>Bloque</a:t>
                      </a:r>
                      <a:endParaRPr lang="es-CO" sz="1300" dirty="0"/>
                    </a:p>
                  </a:txBody>
                  <a:tcPr marL="63986" marR="63986" marT="31993" marB="31993" anchor="ctr">
                    <a:lnL>
                      <a:noFill/>
                    </a:lnL>
                    <a:lnR>
                      <a:noFill/>
                    </a:lnR>
                    <a:lnT>
                      <a:noFill/>
                    </a:lnT>
                    <a:lnB>
                      <a:noFill/>
                    </a:lnB>
                    <a:noFill/>
                  </a:tcPr>
                </a:tc>
                <a:tc>
                  <a:txBody>
                    <a:bodyPr/>
                    <a:lstStyle/>
                    <a:p>
                      <a:pPr algn="ctr">
                        <a:buNone/>
                      </a:pPr>
                      <a:r>
                        <a:rPr lang="es-CO" sz="1300" b="1" dirty="0"/>
                        <a:t>Descripción técnica</a:t>
                      </a:r>
                      <a:endParaRPr lang="es-CO" sz="1300" dirty="0"/>
                    </a:p>
                  </a:txBody>
                  <a:tcPr marL="63986" marR="63986" marT="31993" marB="31993" anchor="ctr">
                    <a:lnL>
                      <a:noFill/>
                    </a:lnL>
                    <a:lnR>
                      <a:noFill/>
                    </a:lnR>
                    <a:lnT>
                      <a:noFill/>
                    </a:lnT>
                    <a:lnB>
                      <a:noFill/>
                    </a:lnB>
                    <a:noFill/>
                  </a:tcPr>
                </a:tc>
                <a:tc>
                  <a:txBody>
                    <a:bodyPr/>
                    <a:lstStyle/>
                    <a:p>
                      <a:pPr algn="ctr">
                        <a:buNone/>
                      </a:pPr>
                      <a:r>
                        <a:rPr lang="es-ES" sz="1300" b="1" dirty="0"/>
                        <a:t>Ejemplo de función o componente</a:t>
                      </a:r>
                      <a:endParaRPr lang="es-ES" sz="1300" dirty="0"/>
                    </a:p>
                  </a:txBody>
                  <a:tcPr marL="63986" marR="63986" marT="31993" marB="31993" anchor="ctr">
                    <a:lnL>
                      <a:noFill/>
                    </a:lnL>
                    <a:lnR>
                      <a:noFill/>
                    </a:lnR>
                    <a:lnT>
                      <a:noFill/>
                    </a:lnT>
                    <a:lnB>
                      <a:noFill/>
                    </a:lnB>
                    <a:noFill/>
                  </a:tcPr>
                </a:tc>
                <a:extLst>
                  <a:ext uri="{0D108BD9-81ED-4DB2-BD59-A6C34878D82A}">
                    <a16:rowId xmlns:a16="http://schemas.microsoft.com/office/drawing/2014/main" val="2694394641"/>
                  </a:ext>
                </a:extLst>
              </a:tr>
              <a:tr h="1023784">
                <a:tc>
                  <a:txBody>
                    <a:bodyPr/>
                    <a:lstStyle/>
                    <a:p>
                      <a:pPr>
                        <a:buNone/>
                      </a:pPr>
                      <a:r>
                        <a:rPr lang="es-CO" sz="1300" b="1" dirty="0"/>
                        <a:t> Elemento sensible</a:t>
                      </a:r>
                      <a:endParaRPr lang="es-CO" sz="1300" dirty="0"/>
                    </a:p>
                  </a:txBody>
                  <a:tcPr marL="63986" marR="63986" marT="31993" marB="31993" anchor="ctr">
                    <a:lnL>
                      <a:noFill/>
                    </a:lnL>
                    <a:lnR>
                      <a:noFill/>
                    </a:lnR>
                    <a:lnT>
                      <a:noFill/>
                    </a:lnT>
                    <a:lnB>
                      <a:noFill/>
                    </a:lnB>
                    <a:noFill/>
                  </a:tcPr>
                </a:tc>
                <a:tc>
                  <a:txBody>
                    <a:bodyPr/>
                    <a:lstStyle/>
                    <a:p>
                      <a:pPr>
                        <a:buNone/>
                      </a:pPr>
                      <a:r>
                        <a:rPr lang="es-ES" sz="1300"/>
                        <a:t>Material que interactúa directamente con el gas, generando un cambio en una propiedad física o química.</a:t>
                      </a:r>
                    </a:p>
                  </a:txBody>
                  <a:tcPr marL="63986" marR="63986" marT="31993" marB="31993" anchor="ctr">
                    <a:lnL>
                      <a:noFill/>
                    </a:lnL>
                    <a:lnR>
                      <a:noFill/>
                    </a:lnR>
                    <a:lnT>
                      <a:noFill/>
                    </a:lnT>
                    <a:lnB>
                      <a:noFill/>
                    </a:lnB>
                    <a:noFill/>
                  </a:tcPr>
                </a:tc>
                <a:tc>
                  <a:txBody>
                    <a:bodyPr/>
                    <a:lstStyle/>
                    <a:p>
                      <a:pPr>
                        <a:buNone/>
                      </a:pPr>
                      <a:r>
                        <a:rPr lang="es-CO" sz="1300"/>
                        <a:t>Capa de SnO₂, ZnO, grafeno, enzima sensible, catalizador.</a:t>
                      </a:r>
                    </a:p>
                  </a:txBody>
                  <a:tcPr marL="63986" marR="63986" marT="31993" marB="31993" anchor="ctr">
                    <a:lnL>
                      <a:noFill/>
                    </a:lnL>
                    <a:lnR>
                      <a:noFill/>
                    </a:lnR>
                    <a:lnT>
                      <a:noFill/>
                    </a:lnT>
                    <a:lnB>
                      <a:noFill/>
                    </a:lnB>
                    <a:noFill/>
                  </a:tcPr>
                </a:tc>
                <a:extLst>
                  <a:ext uri="{0D108BD9-81ED-4DB2-BD59-A6C34878D82A}">
                    <a16:rowId xmlns:a16="http://schemas.microsoft.com/office/drawing/2014/main" val="3787542962"/>
                  </a:ext>
                </a:extLst>
              </a:tr>
              <a:tr h="1023784">
                <a:tc>
                  <a:txBody>
                    <a:bodyPr/>
                    <a:lstStyle/>
                    <a:p>
                      <a:pPr>
                        <a:buNone/>
                      </a:pPr>
                      <a:r>
                        <a:rPr lang="es-CO" sz="1300" b="1" dirty="0"/>
                        <a:t> Transductor</a:t>
                      </a:r>
                      <a:endParaRPr lang="es-CO" sz="1300" dirty="0"/>
                    </a:p>
                  </a:txBody>
                  <a:tcPr marL="63986" marR="63986" marT="31993" marB="31993" anchor="ctr">
                    <a:lnL>
                      <a:noFill/>
                    </a:lnL>
                    <a:lnR>
                      <a:noFill/>
                    </a:lnR>
                    <a:lnT>
                      <a:noFill/>
                    </a:lnT>
                    <a:lnB>
                      <a:noFill/>
                    </a:lnB>
                    <a:noFill/>
                  </a:tcPr>
                </a:tc>
                <a:tc>
                  <a:txBody>
                    <a:bodyPr/>
                    <a:lstStyle/>
                    <a:p>
                      <a:pPr>
                        <a:buNone/>
                      </a:pPr>
                      <a:r>
                        <a:rPr lang="es-ES" sz="1300"/>
                        <a:t>Convierte la variación del elemento sensible en una señal eléctrica (corriente, voltaje, resistencia).</a:t>
                      </a:r>
                    </a:p>
                  </a:txBody>
                  <a:tcPr marL="63986" marR="63986" marT="31993" marB="31993" anchor="ctr">
                    <a:lnL>
                      <a:noFill/>
                    </a:lnL>
                    <a:lnR>
                      <a:noFill/>
                    </a:lnR>
                    <a:lnT>
                      <a:noFill/>
                    </a:lnT>
                    <a:lnB>
                      <a:noFill/>
                    </a:lnB>
                    <a:noFill/>
                  </a:tcPr>
                </a:tc>
                <a:tc>
                  <a:txBody>
                    <a:bodyPr/>
                    <a:lstStyle/>
                    <a:p>
                      <a:pPr>
                        <a:buNone/>
                      </a:pPr>
                      <a:r>
                        <a:rPr lang="es-CO" sz="1300" dirty="0"/>
                        <a:t>Termistor, electrodo, fotodiodo IR.</a:t>
                      </a:r>
                    </a:p>
                  </a:txBody>
                  <a:tcPr marL="63986" marR="63986" marT="31993" marB="31993" anchor="ctr">
                    <a:lnL>
                      <a:noFill/>
                    </a:lnL>
                    <a:lnR>
                      <a:noFill/>
                    </a:lnR>
                    <a:lnT>
                      <a:noFill/>
                    </a:lnT>
                    <a:lnB>
                      <a:noFill/>
                    </a:lnB>
                    <a:noFill/>
                  </a:tcPr>
                </a:tc>
                <a:extLst>
                  <a:ext uri="{0D108BD9-81ED-4DB2-BD59-A6C34878D82A}">
                    <a16:rowId xmlns:a16="http://schemas.microsoft.com/office/drawing/2014/main" val="3801548647"/>
                  </a:ext>
                </a:extLst>
              </a:tr>
              <a:tr h="831824">
                <a:tc>
                  <a:txBody>
                    <a:bodyPr/>
                    <a:lstStyle/>
                    <a:p>
                      <a:pPr>
                        <a:buNone/>
                      </a:pPr>
                      <a:r>
                        <a:rPr lang="es-CO" sz="1300" b="1" dirty="0"/>
                        <a:t>Acondicionamiento de señal</a:t>
                      </a:r>
                      <a:endParaRPr lang="es-CO" sz="1300" dirty="0"/>
                    </a:p>
                  </a:txBody>
                  <a:tcPr marL="63986" marR="63986" marT="31993" marB="31993" anchor="ctr">
                    <a:lnL>
                      <a:noFill/>
                    </a:lnL>
                    <a:lnR>
                      <a:noFill/>
                    </a:lnR>
                    <a:lnT>
                      <a:noFill/>
                    </a:lnT>
                    <a:lnB>
                      <a:noFill/>
                    </a:lnB>
                    <a:noFill/>
                  </a:tcPr>
                </a:tc>
                <a:tc>
                  <a:txBody>
                    <a:bodyPr/>
                    <a:lstStyle/>
                    <a:p>
                      <a:pPr>
                        <a:buNone/>
                      </a:pPr>
                      <a:r>
                        <a:rPr lang="es-ES" sz="1300"/>
                        <a:t>Amplifica, filtra y convierte la señal para análisis o transmisión digital.</a:t>
                      </a:r>
                    </a:p>
                  </a:txBody>
                  <a:tcPr marL="63986" marR="63986" marT="31993" marB="31993" anchor="ctr">
                    <a:lnL>
                      <a:noFill/>
                    </a:lnL>
                    <a:lnR>
                      <a:noFill/>
                    </a:lnR>
                    <a:lnT>
                      <a:noFill/>
                    </a:lnT>
                    <a:lnB>
                      <a:noFill/>
                    </a:lnB>
                    <a:noFill/>
                  </a:tcPr>
                </a:tc>
                <a:tc>
                  <a:txBody>
                    <a:bodyPr/>
                    <a:lstStyle/>
                    <a:p>
                      <a:pPr>
                        <a:buNone/>
                      </a:pPr>
                      <a:r>
                        <a:rPr lang="pt-BR" sz="1300"/>
                        <a:t>Amplificador operacional, ADC, filtro RC, microcontrolador.</a:t>
                      </a:r>
                    </a:p>
                  </a:txBody>
                  <a:tcPr marL="63986" marR="63986" marT="31993" marB="31993" anchor="ctr">
                    <a:lnL>
                      <a:noFill/>
                    </a:lnL>
                    <a:lnR>
                      <a:noFill/>
                    </a:lnR>
                    <a:lnT>
                      <a:noFill/>
                    </a:lnT>
                    <a:lnB>
                      <a:noFill/>
                    </a:lnB>
                    <a:noFill/>
                  </a:tcPr>
                </a:tc>
                <a:extLst>
                  <a:ext uri="{0D108BD9-81ED-4DB2-BD59-A6C34878D82A}">
                    <a16:rowId xmlns:a16="http://schemas.microsoft.com/office/drawing/2014/main" val="589138759"/>
                  </a:ext>
                </a:extLst>
              </a:tr>
              <a:tr h="639865">
                <a:tc>
                  <a:txBody>
                    <a:bodyPr/>
                    <a:lstStyle/>
                    <a:p>
                      <a:pPr>
                        <a:buNone/>
                      </a:pPr>
                      <a:r>
                        <a:rPr lang="pt-BR" sz="1300" b="1" dirty="0"/>
                        <a:t>Sistema de </a:t>
                      </a:r>
                      <a:r>
                        <a:rPr lang="pt-BR" sz="1300" b="1" dirty="0" err="1"/>
                        <a:t>salida</a:t>
                      </a:r>
                      <a:r>
                        <a:rPr lang="pt-BR" sz="1300" b="1" dirty="0"/>
                        <a:t> o </a:t>
                      </a:r>
                      <a:r>
                        <a:rPr lang="pt-BR" sz="1300" b="1" dirty="0" err="1"/>
                        <a:t>interfaz</a:t>
                      </a:r>
                      <a:endParaRPr lang="pt-BR" sz="1300" dirty="0"/>
                    </a:p>
                  </a:txBody>
                  <a:tcPr marL="63986" marR="63986" marT="31993" marB="31993" anchor="ctr">
                    <a:lnL>
                      <a:noFill/>
                    </a:lnL>
                    <a:lnR>
                      <a:noFill/>
                    </a:lnR>
                    <a:lnT>
                      <a:noFill/>
                    </a:lnT>
                    <a:lnB>
                      <a:noFill/>
                    </a:lnB>
                    <a:noFill/>
                  </a:tcPr>
                </a:tc>
                <a:tc>
                  <a:txBody>
                    <a:bodyPr/>
                    <a:lstStyle/>
                    <a:p>
                      <a:pPr>
                        <a:buNone/>
                      </a:pPr>
                      <a:r>
                        <a:rPr lang="es-ES" sz="1300"/>
                        <a:t>Presenta o comunica la información a otros sistemas.</a:t>
                      </a:r>
                    </a:p>
                  </a:txBody>
                  <a:tcPr marL="63986" marR="63986" marT="31993" marB="31993" anchor="ctr">
                    <a:lnL>
                      <a:noFill/>
                    </a:lnL>
                    <a:lnR>
                      <a:noFill/>
                    </a:lnR>
                    <a:lnT>
                      <a:noFill/>
                    </a:lnT>
                    <a:lnB>
                      <a:noFill/>
                    </a:lnB>
                    <a:noFill/>
                  </a:tcPr>
                </a:tc>
                <a:tc>
                  <a:txBody>
                    <a:bodyPr/>
                    <a:lstStyle/>
                    <a:p>
                      <a:pPr>
                        <a:buNone/>
                      </a:pPr>
                      <a:r>
                        <a:rPr lang="es-ES" sz="1300" dirty="0"/>
                        <a:t>Pantalla LCD, alarma, comunicación serial, red IoT.</a:t>
                      </a:r>
                    </a:p>
                  </a:txBody>
                  <a:tcPr marL="63986" marR="63986" marT="31993" marB="31993" anchor="ctr">
                    <a:lnL>
                      <a:noFill/>
                    </a:lnL>
                    <a:lnR>
                      <a:noFill/>
                    </a:lnR>
                    <a:lnT>
                      <a:noFill/>
                    </a:lnT>
                    <a:lnB>
                      <a:noFill/>
                    </a:lnB>
                    <a:noFill/>
                  </a:tcPr>
                </a:tc>
                <a:extLst>
                  <a:ext uri="{0D108BD9-81ED-4DB2-BD59-A6C34878D82A}">
                    <a16:rowId xmlns:a16="http://schemas.microsoft.com/office/drawing/2014/main" val="2745549015"/>
                  </a:ext>
                </a:extLst>
              </a:tr>
            </a:tbl>
          </a:graphicData>
        </a:graphic>
      </p:graphicFrame>
      <p:pic>
        <p:nvPicPr>
          <p:cNvPr id="20" name="Imagen 19" descr="Imagen que contiene alimentos, bola&#10;&#10;El contenido generado por IA puede ser incorrecto.">
            <a:extLst>
              <a:ext uri="{FF2B5EF4-FFF2-40B4-BE49-F238E27FC236}">
                <a16:creationId xmlns:a16="http://schemas.microsoft.com/office/drawing/2014/main" id="{0EF0F5C8-11CD-D6DC-D020-CB5C723FB35E}"/>
              </a:ext>
            </a:extLst>
          </p:cNvPr>
          <p:cNvPicPr>
            <a:picLocks noChangeAspect="1"/>
          </p:cNvPicPr>
          <p:nvPr/>
        </p:nvPicPr>
        <p:blipFill>
          <a:blip r:embed="rId4"/>
          <a:stretch>
            <a:fillRect/>
          </a:stretch>
        </p:blipFill>
        <p:spPr>
          <a:xfrm>
            <a:off x="486465" y="1673648"/>
            <a:ext cx="730938" cy="625683"/>
          </a:xfrm>
          <a:prstGeom prst="rect">
            <a:avLst/>
          </a:prstGeom>
        </p:spPr>
      </p:pic>
      <p:pic>
        <p:nvPicPr>
          <p:cNvPr id="22" name="Imagen 21" descr="Imagen en blanco y negro&#10;&#10;El contenido generado por IA puede ser incorrecto.">
            <a:extLst>
              <a:ext uri="{FF2B5EF4-FFF2-40B4-BE49-F238E27FC236}">
                <a16:creationId xmlns:a16="http://schemas.microsoft.com/office/drawing/2014/main" id="{F451F93B-2EE9-CA7A-5E8E-44F038003852}"/>
              </a:ext>
            </a:extLst>
          </p:cNvPr>
          <p:cNvPicPr>
            <a:picLocks noChangeAspect="1"/>
          </p:cNvPicPr>
          <p:nvPr/>
        </p:nvPicPr>
        <p:blipFill>
          <a:blip r:embed="rId5"/>
          <a:srcRect l="25606" t="18722" r="24033" b="24363"/>
          <a:stretch>
            <a:fillRect/>
          </a:stretch>
        </p:blipFill>
        <p:spPr>
          <a:xfrm>
            <a:off x="486465" y="2776849"/>
            <a:ext cx="611454" cy="691033"/>
          </a:xfrm>
          <a:prstGeom prst="rect">
            <a:avLst/>
          </a:prstGeom>
        </p:spPr>
      </p:pic>
      <p:pic>
        <p:nvPicPr>
          <p:cNvPr id="24" name="Imagen 23" descr="Diagrama, Esquemático&#10;&#10;El contenido generado por IA puede ser incorrecto.">
            <a:extLst>
              <a:ext uri="{FF2B5EF4-FFF2-40B4-BE49-F238E27FC236}">
                <a16:creationId xmlns:a16="http://schemas.microsoft.com/office/drawing/2014/main" id="{F4525597-9404-A447-FF2C-2C1D231F888B}"/>
              </a:ext>
            </a:extLst>
          </p:cNvPr>
          <p:cNvPicPr>
            <a:picLocks noChangeAspect="1"/>
          </p:cNvPicPr>
          <p:nvPr/>
        </p:nvPicPr>
        <p:blipFill>
          <a:blip r:embed="rId6"/>
          <a:stretch>
            <a:fillRect/>
          </a:stretch>
        </p:blipFill>
        <p:spPr>
          <a:xfrm>
            <a:off x="101165" y="3822665"/>
            <a:ext cx="1164846" cy="641351"/>
          </a:xfrm>
          <a:prstGeom prst="rect">
            <a:avLst/>
          </a:prstGeom>
        </p:spPr>
      </p:pic>
      <p:pic>
        <p:nvPicPr>
          <p:cNvPr id="26" name="Imagen 25" descr="Diagrama&#10;&#10;El contenido generado por IA puede ser incorrecto.">
            <a:extLst>
              <a:ext uri="{FF2B5EF4-FFF2-40B4-BE49-F238E27FC236}">
                <a16:creationId xmlns:a16="http://schemas.microsoft.com/office/drawing/2014/main" id="{309DD73D-0A60-F22F-B4EB-7EEF067D24CA}"/>
              </a:ext>
            </a:extLst>
          </p:cNvPr>
          <p:cNvPicPr>
            <a:picLocks noChangeAspect="1"/>
          </p:cNvPicPr>
          <p:nvPr/>
        </p:nvPicPr>
        <p:blipFill>
          <a:blip r:embed="rId7"/>
          <a:stretch>
            <a:fillRect/>
          </a:stretch>
        </p:blipFill>
        <p:spPr>
          <a:xfrm>
            <a:off x="123064" y="4941192"/>
            <a:ext cx="1321127" cy="736004"/>
          </a:xfrm>
          <a:prstGeom prst="rect">
            <a:avLst/>
          </a:prstGeom>
        </p:spPr>
      </p:pic>
      <p:sp>
        <p:nvSpPr>
          <p:cNvPr id="27" name="TextBox 32">
            <a:extLst>
              <a:ext uri="{FF2B5EF4-FFF2-40B4-BE49-F238E27FC236}">
                <a16:creationId xmlns:a16="http://schemas.microsoft.com/office/drawing/2014/main" id="{0F46897F-5BC5-2C93-C206-3413198556B9}"/>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1650798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700" dirty="0" err="1">
                <a:solidFill>
                  <a:schemeClr val="bg1"/>
                </a:solidFill>
              </a:rPr>
              <a:t>See</a:t>
            </a:r>
            <a:r>
              <a:rPr lang="es-CO" sz="700" dirty="0">
                <a:solidFill>
                  <a:schemeClr val="bg1"/>
                </a:solidFill>
              </a:rPr>
              <a:t> </a:t>
            </a:r>
            <a:r>
              <a:rPr lang="es-CO" sz="700" dirty="0" err="1">
                <a:solidFill>
                  <a:schemeClr val="bg1"/>
                </a:solidFill>
              </a:rPr>
              <a:t>discussions</a:t>
            </a:r>
            <a:r>
              <a:rPr lang="es-CO" sz="700" dirty="0">
                <a:solidFill>
                  <a:schemeClr val="bg1"/>
                </a:solidFill>
              </a:rPr>
              <a:t>, </a:t>
            </a:r>
            <a:r>
              <a:rPr lang="es-CO" sz="700" dirty="0" err="1">
                <a:solidFill>
                  <a:schemeClr val="bg1"/>
                </a:solidFill>
              </a:rPr>
              <a:t>stats</a:t>
            </a:r>
            <a:r>
              <a:rPr lang="es-CO" sz="700" dirty="0">
                <a:solidFill>
                  <a:schemeClr val="bg1"/>
                </a:solidFill>
              </a:rPr>
              <a:t>, and </a:t>
            </a:r>
            <a:r>
              <a:rPr lang="es-CO" sz="700" dirty="0" err="1">
                <a:solidFill>
                  <a:schemeClr val="bg1"/>
                </a:solidFill>
              </a:rPr>
              <a:t>author</a:t>
            </a:r>
            <a:r>
              <a:rPr lang="es-CO" sz="700" dirty="0">
                <a:solidFill>
                  <a:schemeClr val="bg1"/>
                </a:solidFill>
              </a:rPr>
              <a:t> </a:t>
            </a:r>
            <a:r>
              <a:rPr lang="es-CO" sz="700" dirty="0" err="1">
                <a:solidFill>
                  <a:schemeClr val="bg1"/>
                </a:solidFill>
              </a:rPr>
              <a:t>profiles</a:t>
            </a:r>
            <a:r>
              <a:rPr lang="es-CO" sz="700" dirty="0">
                <a:solidFill>
                  <a:schemeClr val="bg1"/>
                </a:solidFill>
              </a:rPr>
              <a:t> </a:t>
            </a:r>
            <a:r>
              <a:rPr lang="es-CO" sz="700" dirty="0" err="1">
                <a:solidFill>
                  <a:schemeClr val="bg1"/>
                </a:solidFill>
              </a:rPr>
              <a:t>for</a:t>
            </a:r>
            <a:r>
              <a:rPr lang="es-CO" sz="700" dirty="0">
                <a:solidFill>
                  <a:schemeClr val="bg1"/>
                </a:solidFill>
              </a:rPr>
              <a:t> </a:t>
            </a:r>
            <a:r>
              <a:rPr lang="es-CO" sz="700" dirty="0" err="1">
                <a:solidFill>
                  <a:schemeClr val="bg1"/>
                </a:solidFill>
              </a:rPr>
              <a:t>this</a:t>
            </a:r>
            <a:r>
              <a:rPr lang="es-CO" sz="700" dirty="0">
                <a:solidFill>
                  <a:schemeClr val="bg1"/>
                </a:solidFill>
              </a:rPr>
              <a:t> </a:t>
            </a:r>
            <a:r>
              <a:rPr lang="es-CO" sz="700" dirty="0" err="1">
                <a:solidFill>
                  <a:schemeClr val="bg1"/>
                </a:solidFill>
              </a:rPr>
              <a:t>publication</a:t>
            </a:r>
            <a:r>
              <a:rPr lang="es-CO" sz="700" dirty="0">
                <a:solidFill>
                  <a:schemeClr val="bg1"/>
                </a:solidFill>
              </a:rPr>
              <a:t> at: https://www.researchgate.net/publication/259977213</a:t>
            </a:r>
          </a:p>
          <a:p>
            <a:r>
              <a:rPr lang="es-CO" sz="700" dirty="0" err="1">
                <a:solidFill>
                  <a:schemeClr val="bg1"/>
                </a:solidFill>
              </a:rPr>
              <a:t>Implementing</a:t>
            </a:r>
            <a:r>
              <a:rPr lang="es-CO" sz="700" dirty="0">
                <a:solidFill>
                  <a:schemeClr val="bg1"/>
                </a:solidFill>
              </a:rPr>
              <a:t> </a:t>
            </a:r>
            <a:r>
              <a:rPr lang="es-CO" sz="700" dirty="0" err="1">
                <a:solidFill>
                  <a:schemeClr val="bg1"/>
                </a:solidFill>
              </a:rPr>
              <a:t>an</a:t>
            </a:r>
            <a:r>
              <a:rPr lang="es-CO" sz="700" dirty="0">
                <a:solidFill>
                  <a:schemeClr val="bg1"/>
                </a:solidFill>
              </a:rPr>
              <a:t> Electronic </a:t>
            </a:r>
            <a:r>
              <a:rPr lang="es-CO" sz="700" dirty="0" err="1">
                <a:solidFill>
                  <a:schemeClr val="bg1"/>
                </a:solidFill>
              </a:rPr>
              <a:t>Nose</a:t>
            </a:r>
            <a:r>
              <a:rPr lang="es-CO" sz="700" dirty="0">
                <a:solidFill>
                  <a:schemeClr val="bg1"/>
                </a:solidFill>
              </a:rPr>
              <a:t> </a:t>
            </a:r>
            <a:r>
              <a:rPr lang="es-CO" sz="700" dirty="0" err="1">
                <a:solidFill>
                  <a:schemeClr val="bg1"/>
                </a:solidFill>
              </a:rPr>
              <a:t>for</a:t>
            </a:r>
            <a:r>
              <a:rPr lang="es-CO" sz="700" dirty="0">
                <a:solidFill>
                  <a:schemeClr val="bg1"/>
                </a:solidFill>
              </a:rPr>
              <a:t> </a:t>
            </a:r>
            <a:r>
              <a:rPr lang="es-CO" sz="700" dirty="0" err="1">
                <a:solidFill>
                  <a:schemeClr val="bg1"/>
                </a:solidFill>
              </a:rPr>
              <a:t>Organic</a:t>
            </a:r>
            <a:r>
              <a:rPr lang="es-CO" sz="700" dirty="0">
                <a:solidFill>
                  <a:schemeClr val="bg1"/>
                </a:solidFill>
              </a:rPr>
              <a:t> </a:t>
            </a:r>
            <a:r>
              <a:rPr lang="es-CO" sz="700" dirty="0" err="1">
                <a:solidFill>
                  <a:schemeClr val="bg1"/>
                </a:solidFill>
              </a:rPr>
              <a:t>Matter</a:t>
            </a:r>
            <a:r>
              <a:rPr lang="es-CO" sz="700" dirty="0">
                <a:solidFill>
                  <a:schemeClr val="bg1"/>
                </a:solidFill>
              </a:rPr>
              <a:t> </a:t>
            </a:r>
            <a:r>
              <a:rPr lang="es-CO" sz="700" dirty="0" err="1">
                <a:solidFill>
                  <a:schemeClr val="bg1"/>
                </a:solidFill>
              </a:rPr>
              <a:t>Detection</a:t>
            </a:r>
            <a:r>
              <a:rPr lang="es-CO" sz="700" dirty="0">
                <a:solidFill>
                  <a:schemeClr val="bg1"/>
                </a:solidFill>
              </a:rPr>
              <a:t> in </a:t>
            </a:r>
            <a:r>
              <a:rPr lang="es-CO" sz="700" dirty="0" err="1">
                <a:solidFill>
                  <a:schemeClr val="bg1"/>
                </a:solidFill>
              </a:rPr>
              <a:t>Garbage</a:t>
            </a:r>
            <a:endParaRPr lang="es-CO" sz="700" dirty="0">
              <a:solidFill>
                <a:schemeClr val="bg1"/>
              </a:solidFill>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Otras aplicaciones</a:t>
            </a:r>
            <a:endParaRPr lang="en-US" dirty="0"/>
          </a:p>
        </p:txBody>
      </p:sp>
      <p:pic>
        <p:nvPicPr>
          <p:cNvPr id="5" name="Imagen 4">
            <a:extLst>
              <a:ext uri="{FF2B5EF4-FFF2-40B4-BE49-F238E27FC236}">
                <a16:creationId xmlns:a16="http://schemas.microsoft.com/office/drawing/2014/main" id="{2CABC05D-8FBF-EF3A-6E3F-986C7DEBF4E1}"/>
              </a:ext>
            </a:extLst>
          </p:cNvPr>
          <p:cNvPicPr>
            <a:picLocks noChangeAspect="1"/>
          </p:cNvPicPr>
          <p:nvPr/>
        </p:nvPicPr>
        <p:blipFill>
          <a:blip r:embed="rId4"/>
          <a:stretch>
            <a:fillRect/>
          </a:stretch>
        </p:blipFill>
        <p:spPr>
          <a:xfrm>
            <a:off x="1210055" y="1107099"/>
            <a:ext cx="6723889" cy="3334068"/>
          </a:xfrm>
          <a:prstGeom prst="rect">
            <a:avLst/>
          </a:prstGeom>
        </p:spPr>
      </p:pic>
      <p:pic>
        <p:nvPicPr>
          <p:cNvPr id="3" name="Imagen 2">
            <a:extLst>
              <a:ext uri="{FF2B5EF4-FFF2-40B4-BE49-F238E27FC236}">
                <a16:creationId xmlns:a16="http://schemas.microsoft.com/office/drawing/2014/main" id="{1DC429CA-7B8A-3EAA-EC19-2A37B7DDEC96}"/>
              </a:ext>
            </a:extLst>
          </p:cNvPr>
          <p:cNvPicPr>
            <a:picLocks noChangeAspect="1"/>
          </p:cNvPicPr>
          <p:nvPr/>
        </p:nvPicPr>
        <p:blipFill>
          <a:blip r:embed="rId5"/>
          <a:stretch>
            <a:fillRect/>
          </a:stretch>
        </p:blipFill>
        <p:spPr>
          <a:xfrm>
            <a:off x="21249" y="4854708"/>
            <a:ext cx="5814141" cy="950268"/>
          </a:xfrm>
          <a:prstGeom prst="rect">
            <a:avLst/>
          </a:prstGeom>
        </p:spPr>
      </p:pic>
    </p:spTree>
    <p:custDataLst>
      <p:tags r:id="rId1"/>
    </p:custDataLst>
    <p:extLst>
      <p:ext uri="{BB962C8B-B14F-4D97-AF65-F5344CB8AC3E}">
        <p14:creationId xmlns:p14="http://schemas.microsoft.com/office/powerpoint/2010/main" val="2506928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FC423D-82F0-5538-30B1-328F7186B549}"/>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B2F2CFA-F66B-6112-2E04-2157F46098BD}"/>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E188BBB4-25D2-B7F1-1E3E-EA3A3C280571}"/>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7" name="TextBox 32">
            <a:extLst>
              <a:ext uri="{FF2B5EF4-FFF2-40B4-BE49-F238E27FC236}">
                <a16:creationId xmlns:a16="http://schemas.microsoft.com/office/drawing/2014/main" id="{117C7C21-1C23-1E36-6AD1-DC560C4C3EA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E2C59D67-9840-9057-3A50-42D5167E587C}"/>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BC138D0A-1BAB-FB8B-7DD5-B3D2C5962B42}"/>
              </a:ext>
            </a:extLst>
          </p:cNvPr>
          <p:cNvSpPr/>
          <p:nvPr/>
        </p:nvSpPr>
        <p:spPr>
          <a:xfrm>
            <a:off x="-2262" y="74589"/>
            <a:ext cx="7435995" cy="646331"/>
          </a:xfrm>
          <a:prstGeom prst="rect">
            <a:avLst/>
          </a:prstGeom>
        </p:spPr>
        <p:txBody>
          <a:bodyPr wrap="square" lIns="91440" tIns="45720" rIns="91440" bIns="45720" anchor="t">
            <a:spAutoFit/>
          </a:bodyPr>
          <a:lstStyle/>
          <a:p>
            <a:r>
              <a:rPr lang="es-ES" b="1" dirty="0">
                <a:solidFill>
                  <a:srgbClr val="2C5697"/>
                </a:solidFill>
                <a:latin typeface="Arial"/>
                <a:cs typeface="Arial"/>
              </a:rPr>
              <a:t>Factores que afectan el rendimiento del sensor</a:t>
            </a:r>
          </a:p>
          <a:p>
            <a:endParaRPr lang="en-US" dirty="0"/>
          </a:p>
        </p:txBody>
      </p:sp>
      <p:sp>
        <p:nvSpPr>
          <p:cNvPr id="3" name="CuadroTexto 2">
            <a:extLst>
              <a:ext uri="{FF2B5EF4-FFF2-40B4-BE49-F238E27FC236}">
                <a16:creationId xmlns:a16="http://schemas.microsoft.com/office/drawing/2014/main" id="{80D43439-7C33-7B1F-0C59-48AD40F474D5}"/>
              </a:ext>
            </a:extLst>
          </p:cNvPr>
          <p:cNvSpPr txBox="1"/>
          <p:nvPr/>
        </p:nvSpPr>
        <p:spPr>
          <a:xfrm>
            <a:off x="184108" y="2341888"/>
            <a:ext cx="4609474" cy="1754326"/>
          </a:xfrm>
          <a:prstGeom prst="rect">
            <a:avLst/>
          </a:prstGeom>
          <a:noFill/>
        </p:spPr>
        <p:txBody>
          <a:bodyPr wrap="square">
            <a:spAutoFit/>
          </a:bodyPr>
          <a:lstStyle/>
          <a:p>
            <a:pPr marL="285750" indent="-285750">
              <a:buFont typeface="Wingdings" panose="05000000000000000000" pitchFamily="2" charset="2"/>
              <a:buChar char="Ø"/>
            </a:pPr>
            <a:r>
              <a:rPr lang="es-CO" b="1" dirty="0"/>
              <a:t>Interferencia de otros gases</a:t>
            </a:r>
          </a:p>
          <a:p>
            <a:pPr marL="285750" indent="-285750">
              <a:buFont typeface="Wingdings" panose="05000000000000000000" pitchFamily="2" charset="2"/>
              <a:buChar char="Ø"/>
            </a:pPr>
            <a:r>
              <a:rPr lang="es-CO" b="1" dirty="0"/>
              <a:t>Temperatura y humedad</a:t>
            </a:r>
          </a:p>
          <a:p>
            <a:pPr marL="285750" indent="-285750">
              <a:buFont typeface="Wingdings" panose="05000000000000000000" pitchFamily="2" charset="2"/>
              <a:buChar char="Ø"/>
            </a:pPr>
            <a:r>
              <a:rPr lang="es-CO" b="1" dirty="0"/>
              <a:t>Calibración de sensores</a:t>
            </a:r>
          </a:p>
          <a:p>
            <a:pPr marL="285750" indent="-285750">
              <a:buFont typeface="Wingdings" panose="05000000000000000000" pitchFamily="2" charset="2"/>
              <a:buChar char="Ø"/>
            </a:pPr>
            <a:r>
              <a:rPr lang="es-CO" b="1" dirty="0"/>
              <a:t>Envejecimiento del sensor</a:t>
            </a:r>
          </a:p>
          <a:p>
            <a:pPr marL="285750" indent="-285750">
              <a:buFont typeface="Wingdings" panose="05000000000000000000" pitchFamily="2" charset="2"/>
              <a:buChar char="Ø"/>
            </a:pPr>
            <a:r>
              <a:rPr lang="es-CO" b="1" dirty="0"/>
              <a:t>Selectividad del sensor</a:t>
            </a:r>
          </a:p>
          <a:p>
            <a:pPr marL="285750" indent="-285750">
              <a:buFont typeface="Wingdings" panose="05000000000000000000" pitchFamily="2" charset="2"/>
              <a:buChar char="Ø"/>
            </a:pPr>
            <a:r>
              <a:rPr lang="es-CO" b="1" dirty="0"/>
              <a:t>Métodos de muestreo</a:t>
            </a:r>
            <a:endParaRPr lang="es-CO" dirty="0"/>
          </a:p>
        </p:txBody>
      </p:sp>
      <p:sp>
        <p:nvSpPr>
          <p:cNvPr id="6" name="CuadroTexto 5">
            <a:extLst>
              <a:ext uri="{FF2B5EF4-FFF2-40B4-BE49-F238E27FC236}">
                <a16:creationId xmlns:a16="http://schemas.microsoft.com/office/drawing/2014/main" id="{00F2862A-4AE0-1ED2-ED1B-3BBE1671C02A}"/>
              </a:ext>
            </a:extLst>
          </p:cNvPr>
          <p:cNvSpPr txBox="1"/>
          <p:nvPr/>
        </p:nvSpPr>
        <p:spPr>
          <a:xfrm>
            <a:off x="3863715" y="1084801"/>
            <a:ext cx="4609474" cy="369332"/>
          </a:xfrm>
          <a:prstGeom prst="rect">
            <a:avLst/>
          </a:prstGeom>
          <a:noFill/>
        </p:spPr>
        <p:txBody>
          <a:bodyPr wrap="square">
            <a:spAutoFit/>
          </a:bodyPr>
          <a:lstStyle/>
          <a:p>
            <a:pPr>
              <a:buNone/>
            </a:pPr>
            <a:r>
              <a:rPr lang="es-ES" b="1" dirty="0"/>
              <a:t>Monitoreo de la calidad del aire interior</a:t>
            </a:r>
          </a:p>
        </p:txBody>
      </p:sp>
      <p:sp>
        <p:nvSpPr>
          <p:cNvPr id="10" name="CuadroTexto 9">
            <a:extLst>
              <a:ext uri="{FF2B5EF4-FFF2-40B4-BE49-F238E27FC236}">
                <a16:creationId xmlns:a16="http://schemas.microsoft.com/office/drawing/2014/main" id="{750C5B78-6E19-286C-8CC4-072B2B1E8355}"/>
              </a:ext>
            </a:extLst>
          </p:cNvPr>
          <p:cNvSpPr txBox="1"/>
          <p:nvPr/>
        </p:nvSpPr>
        <p:spPr>
          <a:xfrm>
            <a:off x="3870032" y="1785884"/>
            <a:ext cx="4609474" cy="369332"/>
          </a:xfrm>
          <a:prstGeom prst="rect">
            <a:avLst/>
          </a:prstGeom>
          <a:noFill/>
        </p:spPr>
        <p:txBody>
          <a:bodyPr wrap="square">
            <a:spAutoFit/>
          </a:bodyPr>
          <a:lstStyle/>
          <a:p>
            <a:pPr>
              <a:buNone/>
            </a:pPr>
            <a:r>
              <a:rPr lang="es-CO" b="1" dirty="0"/>
              <a:t>Higiene industrial</a:t>
            </a:r>
          </a:p>
        </p:txBody>
      </p:sp>
      <p:sp>
        <p:nvSpPr>
          <p:cNvPr id="13" name="CuadroTexto 12">
            <a:extLst>
              <a:ext uri="{FF2B5EF4-FFF2-40B4-BE49-F238E27FC236}">
                <a16:creationId xmlns:a16="http://schemas.microsoft.com/office/drawing/2014/main" id="{5842C344-429A-3EE5-8019-BC06BC4D047E}"/>
              </a:ext>
            </a:extLst>
          </p:cNvPr>
          <p:cNvSpPr txBox="1"/>
          <p:nvPr/>
        </p:nvSpPr>
        <p:spPr>
          <a:xfrm>
            <a:off x="3870032" y="2558719"/>
            <a:ext cx="4609474" cy="369332"/>
          </a:xfrm>
          <a:prstGeom prst="rect">
            <a:avLst/>
          </a:prstGeom>
          <a:noFill/>
        </p:spPr>
        <p:txBody>
          <a:bodyPr wrap="square">
            <a:spAutoFit/>
          </a:bodyPr>
          <a:lstStyle/>
          <a:p>
            <a:pPr>
              <a:buNone/>
            </a:pPr>
            <a:r>
              <a:rPr lang="es-CO" b="1" dirty="0"/>
              <a:t>Monitoreo ambiental</a:t>
            </a:r>
          </a:p>
        </p:txBody>
      </p:sp>
      <p:sp>
        <p:nvSpPr>
          <p:cNvPr id="17" name="CuadroTexto 16">
            <a:extLst>
              <a:ext uri="{FF2B5EF4-FFF2-40B4-BE49-F238E27FC236}">
                <a16:creationId xmlns:a16="http://schemas.microsoft.com/office/drawing/2014/main" id="{1A2F9AFD-B7EB-6DDA-410B-F1635F25046B}"/>
              </a:ext>
            </a:extLst>
          </p:cNvPr>
          <p:cNvSpPr txBox="1"/>
          <p:nvPr/>
        </p:nvSpPr>
        <p:spPr>
          <a:xfrm>
            <a:off x="3863715" y="3296231"/>
            <a:ext cx="4609474" cy="369332"/>
          </a:xfrm>
          <a:prstGeom prst="rect">
            <a:avLst/>
          </a:prstGeom>
          <a:noFill/>
        </p:spPr>
        <p:txBody>
          <a:bodyPr wrap="square">
            <a:spAutoFit/>
          </a:bodyPr>
          <a:lstStyle/>
          <a:p>
            <a:pPr>
              <a:buNone/>
            </a:pPr>
            <a:r>
              <a:rPr lang="es-CO" b="1" dirty="0"/>
              <a:t>Respuesta a materiales peligrosos</a:t>
            </a:r>
          </a:p>
        </p:txBody>
      </p:sp>
      <p:sp>
        <p:nvSpPr>
          <p:cNvPr id="21" name="CuadroTexto 20">
            <a:extLst>
              <a:ext uri="{FF2B5EF4-FFF2-40B4-BE49-F238E27FC236}">
                <a16:creationId xmlns:a16="http://schemas.microsoft.com/office/drawing/2014/main" id="{7D5219DB-DEA3-AA1A-6BD8-674A74763E08}"/>
              </a:ext>
            </a:extLst>
          </p:cNvPr>
          <p:cNvSpPr txBox="1"/>
          <p:nvPr/>
        </p:nvSpPr>
        <p:spPr>
          <a:xfrm>
            <a:off x="3863715" y="4068646"/>
            <a:ext cx="4609474" cy="369332"/>
          </a:xfrm>
          <a:prstGeom prst="rect">
            <a:avLst/>
          </a:prstGeom>
          <a:noFill/>
        </p:spPr>
        <p:txBody>
          <a:bodyPr wrap="square">
            <a:spAutoFit/>
          </a:bodyPr>
          <a:lstStyle/>
          <a:p>
            <a:pPr>
              <a:buNone/>
            </a:pPr>
            <a:r>
              <a:rPr lang="es-ES" b="1" dirty="0"/>
              <a:t>Calidad del aire interior en vehículos</a:t>
            </a:r>
          </a:p>
        </p:txBody>
      </p:sp>
      <p:sp>
        <p:nvSpPr>
          <p:cNvPr id="23" name="CuadroTexto 22">
            <a:extLst>
              <a:ext uri="{FF2B5EF4-FFF2-40B4-BE49-F238E27FC236}">
                <a16:creationId xmlns:a16="http://schemas.microsoft.com/office/drawing/2014/main" id="{0FC094FD-FC62-612B-1201-256238DAF8E4}"/>
              </a:ext>
            </a:extLst>
          </p:cNvPr>
          <p:cNvSpPr txBox="1"/>
          <p:nvPr/>
        </p:nvSpPr>
        <p:spPr>
          <a:xfrm>
            <a:off x="3870032" y="4905021"/>
            <a:ext cx="4609474" cy="369332"/>
          </a:xfrm>
          <a:prstGeom prst="rect">
            <a:avLst/>
          </a:prstGeom>
          <a:noFill/>
        </p:spPr>
        <p:txBody>
          <a:bodyPr wrap="square">
            <a:spAutoFit/>
          </a:bodyPr>
          <a:lstStyle/>
          <a:p>
            <a:pPr>
              <a:buNone/>
            </a:pPr>
            <a:r>
              <a:rPr lang="es-CO" b="1" dirty="0"/>
              <a:t>Laboratorio e Investigación</a:t>
            </a:r>
          </a:p>
        </p:txBody>
      </p:sp>
      <p:sp>
        <p:nvSpPr>
          <p:cNvPr id="24" name="Abrir llave 23">
            <a:extLst>
              <a:ext uri="{FF2B5EF4-FFF2-40B4-BE49-F238E27FC236}">
                <a16:creationId xmlns:a16="http://schemas.microsoft.com/office/drawing/2014/main" id="{0D3E1B6D-7312-A1E0-6841-E29E0725D703}"/>
              </a:ext>
            </a:extLst>
          </p:cNvPr>
          <p:cNvSpPr/>
          <p:nvPr/>
        </p:nvSpPr>
        <p:spPr>
          <a:xfrm>
            <a:off x="3357796" y="1084801"/>
            <a:ext cx="329783" cy="418955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25" name="TextBox 32">
            <a:extLst>
              <a:ext uri="{FF2B5EF4-FFF2-40B4-BE49-F238E27FC236}">
                <a16:creationId xmlns:a16="http://schemas.microsoft.com/office/drawing/2014/main" id="{3967EC69-D34F-FCD8-B4EC-C8A9D3EF70EF}"/>
              </a:ext>
            </a:extLst>
          </p:cNvPr>
          <p:cNvSpPr txBox="1"/>
          <p:nvPr/>
        </p:nvSpPr>
        <p:spPr>
          <a:xfrm>
            <a:off x="21249" y="5909173"/>
            <a:ext cx="625963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dirty="0" err="1">
                <a:solidFill>
                  <a:schemeClr val="bg1"/>
                </a:solidFill>
              </a:rPr>
              <a:t>Karami</a:t>
            </a:r>
            <a:r>
              <a:rPr lang="es-ES" sz="800" dirty="0">
                <a:solidFill>
                  <a:schemeClr val="bg1"/>
                </a:solidFill>
              </a:rPr>
              <a:t>, H., </a:t>
            </a:r>
            <a:r>
              <a:rPr lang="es-ES" sz="800" dirty="0" err="1">
                <a:solidFill>
                  <a:schemeClr val="bg1"/>
                </a:solidFill>
              </a:rPr>
              <a:t>Thurn</a:t>
            </a:r>
            <a:r>
              <a:rPr lang="es-ES" sz="800" dirty="0">
                <a:solidFill>
                  <a:schemeClr val="bg1"/>
                </a:solidFill>
              </a:rPr>
              <a:t>, B., de </a:t>
            </a:r>
            <a:r>
              <a:rPr lang="es-ES" sz="800" dirty="0" err="1">
                <a:solidFill>
                  <a:schemeClr val="bg1"/>
                </a:solidFill>
              </a:rPr>
              <a:t>Boer</a:t>
            </a:r>
            <a:r>
              <a:rPr lang="es-ES" sz="800" dirty="0">
                <a:solidFill>
                  <a:schemeClr val="bg1"/>
                </a:solidFill>
              </a:rPr>
              <a:t>, NK </a:t>
            </a:r>
            <a:r>
              <a:rPr lang="es-ES" sz="800" i="1" dirty="0">
                <a:solidFill>
                  <a:schemeClr val="bg1"/>
                </a:solidFill>
              </a:rPr>
              <a:t>et al.</a:t>
            </a:r>
            <a:r>
              <a:rPr lang="es-ES" sz="800" dirty="0">
                <a:solidFill>
                  <a:schemeClr val="bg1"/>
                </a:solidFill>
              </a:rPr>
              <a:t> Aplicación de la tecnología de sensores de gas para localizar víctimas en desastres masivos: una revisión</a:t>
            </a:r>
            <a:endParaRPr lang="en-US" sz="700" dirty="0">
              <a:solidFill>
                <a:schemeClr val="bg1"/>
              </a:solidFill>
              <a:cs typeface="Calibri"/>
            </a:endParaRPr>
          </a:p>
        </p:txBody>
      </p:sp>
      <p:pic>
        <p:nvPicPr>
          <p:cNvPr id="1026" name="Picture 2" descr="Vectores de Cara de asombro - Descarga vectores gratis de gran calidad de  Freepik | Freepik">
            <a:extLst>
              <a:ext uri="{FF2B5EF4-FFF2-40B4-BE49-F238E27FC236}">
                <a16:creationId xmlns:a16="http://schemas.microsoft.com/office/drawing/2014/main" id="{42A558C5-769A-3702-1DC6-EABC786E5C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784" y="660879"/>
            <a:ext cx="1681009" cy="168100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864805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5026D6-3380-FDB7-3BDF-E0786415DDD6}"/>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F02C3639-FC08-4359-AB8F-3E528564A07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9D6E3C66-FBCE-D712-3AB1-FF36A617226F}"/>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7" name="TextBox 32">
            <a:extLst>
              <a:ext uri="{FF2B5EF4-FFF2-40B4-BE49-F238E27FC236}">
                <a16:creationId xmlns:a16="http://schemas.microsoft.com/office/drawing/2014/main" id="{B4987A2A-3B47-4BEF-259A-59ED91E97252}"/>
              </a:ext>
            </a:extLst>
          </p:cNvPr>
          <p:cNvSpPr txBox="1"/>
          <p:nvPr/>
        </p:nvSpPr>
        <p:spPr>
          <a:xfrm>
            <a:off x="21249" y="5909173"/>
            <a:ext cx="597810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b="1" dirty="0">
                <a:solidFill>
                  <a:schemeClr val="bg1"/>
                </a:solidFill>
              </a:rPr>
              <a:t>Leyes de los gases y aplicación clínica</a:t>
            </a:r>
          </a:p>
        </p:txBody>
      </p:sp>
      <p:sp>
        <p:nvSpPr>
          <p:cNvPr id="8" name="Título 1">
            <a:extLst>
              <a:ext uri="{FF2B5EF4-FFF2-40B4-BE49-F238E27FC236}">
                <a16:creationId xmlns:a16="http://schemas.microsoft.com/office/drawing/2014/main" id="{F525C834-F525-AD7B-7396-D1A1787DED1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57DB05DE-E307-0C3C-193C-77237276AD7F}"/>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rPr>
              <a:t>Variables de los gases y sus leyes</a:t>
            </a:r>
            <a:endParaRPr lang="en-US" b="1" dirty="0">
              <a:solidFill>
                <a:srgbClr val="2C5697"/>
              </a:solidFill>
              <a:latin typeface="Arial"/>
              <a:cs typeface="Arial"/>
            </a:endParaRPr>
          </a:p>
        </p:txBody>
      </p:sp>
      <p:sp>
        <p:nvSpPr>
          <p:cNvPr id="3" name="Rectangle 3">
            <a:extLst>
              <a:ext uri="{FF2B5EF4-FFF2-40B4-BE49-F238E27FC236}">
                <a16:creationId xmlns:a16="http://schemas.microsoft.com/office/drawing/2014/main" id="{CF9A19C3-4BE2-2E55-5F4F-C77831248B6A}"/>
              </a:ext>
            </a:extLst>
          </p:cNvPr>
          <p:cNvSpPr>
            <a:spLocks noChangeArrowheads="1"/>
          </p:cNvSpPr>
          <p:nvPr/>
        </p:nvSpPr>
        <p:spPr bwMode="auto">
          <a:xfrm>
            <a:off x="606824" y="1436969"/>
            <a:ext cx="7772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es-CO" sz="1600" b="1">
              <a:solidFill>
                <a:srgbClr val="3366CC"/>
              </a:solidFill>
            </a:endParaRPr>
          </a:p>
        </p:txBody>
      </p:sp>
      <p:sp>
        <p:nvSpPr>
          <p:cNvPr id="22" name="CuadroTexto 21">
            <a:extLst>
              <a:ext uri="{FF2B5EF4-FFF2-40B4-BE49-F238E27FC236}">
                <a16:creationId xmlns:a16="http://schemas.microsoft.com/office/drawing/2014/main" id="{47F1D1C9-E07B-C1A4-2208-AC2E626D53BB}"/>
              </a:ext>
            </a:extLst>
          </p:cNvPr>
          <p:cNvSpPr txBox="1"/>
          <p:nvPr/>
        </p:nvSpPr>
        <p:spPr>
          <a:xfrm>
            <a:off x="347934" y="918581"/>
            <a:ext cx="8338866" cy="738664"/>
          </a:xfrm>
          <a:prstGeom prst="rect">
            <a:avLst/>
          </a:prstGeom>
          <a:noFill/>
        </p:spPr>
        <p:txBody>
          <a:bodyPr wrap="square">
            <a:spAutoFit/>
          </a:bodyPr>
          <a:lstStyle/>
          <a:p>
            <a:r>
              <a:rPr lang="es-ES" sz="1400" dirty="0"/>
              <a:t>El comportamiento de los gases se rige por la relación entre cuatro variables principales: la presión (</a:t>
            </a:r>
            <a:r>
              <a:rPr lang="es-ES" sz="1400" dirty="0">
                <a:solidFill>
                  <a:schemeClr val="accent2">
                    <a:lumMod val="75000"/>
                  </a:schemeClr>
                </a:solidFill>
                <a:latin typeface="Arial"/>
                <a:cs typeface="Arial"/>
              </a:rPr>
              <a:t>P</a:t>
            </a:r>
            <a:r>
              <a:rPr lang="es-ES" sz="1400" dirty="0"/>
              <a:t>), el volumen (</a:t>
            </a:r>
            <a:r>
              <a:rPr lang="es-ES" sz="1400" dirty="0">
                <a:solidFill>
                  <a:schemeClr val="accent2">
                    <a:lumMod val="75000"/>
                  </a:schemeClr>
                </a:solidFill>
                <a:latin typeface="Arial"/>
                <a:cs typeface="Arial"/>
              </a:rPr>
              <a:t>V</a:t>
            </a:r>
            <a:r>
              <a:rPr lang="es-ES" sz="1400" dirty="0"/>
              <a:t>), la temperatura (</a:t>
            </a:r>
            <a:r>
              <a:rPr lang="es-ES" sz="1400" dirty="0">
                <a:solidFill>
                  <a:schemeClr val="accent2">
                    <a:lumMod val="75000"/>
                  </a:schemeClr>
                </a:solidFill>
                <a:latin typeface="Arial"/>
                <a:cs typeface="Arial"/>
              </a:rPr>
              <a:t>T</a:t>
            </a:r>
            <a:r>
              <a:rPr lang="es-ES" sz="1400" dirty="0"/>
              <a:t>) y la cantidad de gas en moles (</a:t>
            </a:r>
            <a:r>
              <a:rPr lang="es-ES" sz="1400" dirty="0">
                <a:solidFill>
                  <a:schemeClr val="accent2">
                    <a:lumMod val="75000"/>
                  </a:schemeClr>
                </a:solidFill>
                <a:latin typeface="Arial"/>
                <a:cs typeface="Arial"/>
              </a:rPr>
              <a:t>n</a:t>
            </a:r>
            <a:r>
              <a:rPr lang="es-ES" sz="1400" dirty="0"/>
              <a:t>). Estas relaciones se describen en las siguientes leyes.</a:t>
            </a:r>
            <a:endParaRPr lang="es-CO" sz="1400" dirty="0"/>
          </a:p>
        </p:txBody>
      </p:sp>
      <p:sp>
        <p:nvSpPr>
          <p:cNvPr id="25" name="CuadroTexto 24">
            <a:extLst>
              <a:ext uri="{FF2B5EF4-FFF2-40B4-BE49-F238E27FC236}">
                <a16:creationId xmlns:a16="http://schemas.microsoft.com/office/drawing/2014/main" id="{52C18CBD-4487-3DC7-FC31-3D291CF41843}"/>
              </a:ext>
            </a:extLst>
          </p:cNvPr>
          <p:cNvSpPr txBox="1"/>
          <p:nvPr/>
        </p:nvSpPr>
        <p:spPr>
          <a:xfrm>
            <a:off x="396854" y="1902848"/>
            <a:ext cx="7982370" cy="3323987"/>
          </a:xfrm>
          <a:prstGeom prst="rect">
            <a:avLst/>
          </a:prstGeom>
          <a:noFill/>
        </p:spPr>
        <p:txBody>
          <a:bodyPr wrap="square">
            <a:spAutoFit/>
          </a:bodyPr>
          <a:lstStyle/>
          <a:p>
            <a:r>
              <a:rPr lang="es-ES" sz="1400" dirty="0">
                <a:solidFill>
                  <a:schemeClr val="accent2">
                    <a:lumMod val="75000"/>
                  </a:schemeClr>
                </a:solidFill>
                <a:latin typeface="Arial"/>
                <a:cs typeface="Arial"/>
              </a:rPr>
              <a:t>Ley de Boyle</a:t>
            </a:r>
            <a:r>
              <a:rPr lang="es-ES" sz="1400" dirty="0"/>
              <a:t>: A temperatura constante, el volumen de un gas es inversamente proporcional a la presión a la que está sometido (P1 V1 = P2 V2).</a:t>
            </a:r>
          </a:p>
          <a:p>
            <a:endParaRPr lang="es-ES" sz="1400" dirty="0"/>
          </a:p>
          <a:p>
            <a:r>
              <a:rPr lang="es-ES" sz="1400" dirty="0">
                <a:solidFill>
                  <a:schemeClr val="accent2">
                    <a:lumMod val="75000"/>
                  </a:schemeClr>
                </a:solidFill>
                <a:latin typeface="Arial"/>
                <a:cs typeface="Arial"/>
              </a:rPr>
              <a:t>Ley de Charles</a:t>
            </a:r>
            <a:r>
              <a:rPr lang="es-ES" sz="1400" dirty="0"/>
              <a:t>: A presión constante, el volumen de un gas es directamente proporcional a su temperatura absoluta (V1/T1 = V2/T2).</a:t>
            </a:r>
          </a:p>
          <a:p>
            <a:endParaRPr lang="es-ES" sz="1400" dirty="0"/>
          </a:p>
          <a:p>
            <a:r>
              <a:rPr lang="es-ES" sz="1400" dirty="0">
                <a:solidFill>
                  <a:schemeClr val="accent2">
                    <a:lumMod val="75000"/>
                  </a:schemeClr>
                </a:solidFill>
                <a:latin typeface="Arial"/>
                <a:cs typeface="Arial"/>
              </a:rPr>
              <a:t>Ley de Gay-Lussac</a:t>
            </a:r>
            <a:r>
              <a:rPr lang="es-ES" sz="1400" dirty="0"/>
              <a:t>: A volumen constante, la presión de un gas es directamente proporcional a su temperatura absoluta (P1/T1 = P2/T2).</a:t>
            </a:r>
          </a:p>
          <a:p>
            <a:endParaRPr lang="es-ES" sz="1400" dirty="0"/>
          </a:p>
          <a:p>
            <a:r>
              <a:rPr lang="es-ES" sz="1400" dirty="0">
                <a:solidFill>
                  <a:schemeClr val="accent2">
                    <a:lumMod val="75000"/>
                  </a:schemeClr>
                </a:solidFill>
                <a:latin typeface="Arial"/>
                <a:cs typeface="Arial"/>
              </a:rPr>
              <a:t>Ley de Avogadro</a:t>
            </a:r>
            <a:r>
              <a:rPr lang="es-ES" sz="1400" dirty="0"/>
              <a:t>: A temperatura y presión constantes, el volumen de un gas es directamente proporcional al número de moles del gas (V1/n1 = V2/n2).</a:t>
            </a:r>
          </a:p>
          <a:p>
            <a:endParaRPr lang="es-ES" sz="1400" dirty="0"/>
          </a:p>
          <a:p>
            <a:r>
              <a:rPr lang="es-ES" sz="1400" dirty="0">
                <a:solidFill>
                  <a:schemeClr val="accent2">
                    <a:lumMod val="75000"/>
                  </a:schemeClr>
                </a:solidFill>
                <a:latin typeface="Arial"/>
                <a:cs typeface="Arial"/>
              </a:rPr>
              <a:t>Ecuación de los Gases Ideales</a:t>
            </a:r>
            <a:r>
              <a:rPr lang="es-ES" sz="1400" dirty="0"/>
              <a:t>: Combinando las leyes anteriores se obtiene la ecuación general del estado de los gases ideales, que resume la relación entre las cuatro variables (PV = </a:t>
            </a:r>
            <a:r>
              <a:rPr lang="es-ES" sz="1400" dirty="0" err="1"/>
              <a:t>nRT</a:t>
            </a:r>
            <a:r>
              <a:rPr lang="es-ES" sz="1400" dirty="0"/>
              <a:t>), donde (R) es la constante universal de los gases</a:t>
            </a:r>
            <a:endParaRPr lang="es-CO" sz="1400" dirty="0"/>
          </a:p>
        </p:txBody>
      </p:sp>
    </p:spTree>
    <p:custDataLst>
      <p:tags r:id="rId1"/>
    </p:custDataLst>
    <p:extLst>
      <p:ext uri="{BB962C8B-B14F-4D97-AF65-F5344CB8AC3E}">
        <p14:creationId xmlns:p14="http://schemas.microsoft.com/office/powerpoint/2010/main" val="27738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CCB17D-5E29-4F9D-365F-E804E53B0BCD}"/>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84B8E16-499A-D6A0-262A-53C58B6868EF}"/>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E0D7F0B7-1A1F-FE4E-205F-7A11173C77CC}"/>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8" name="Título 1">
            <a:extLst>
              <a:ext uri="{FF2B5EF4-FFF2-40B4-BE49-F238E27FC236}">
                <a16:creationId xmlns:a16="http://schemas.microsoft.com/office/drawing/2014/main" id="{8D8D7A9C-31D9-2722-52C5-624C9F6DF08D}"/>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125A6A92-A4F3-91CD-FCB7-C4C9E8AF50A9}"/>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rPr>
              <a:t>Conclusión</a:t>
            </a:r>
            <a:endParaRPr lang="en-US" b="1" dirty="0">
              <a:solidFill>
                <a:srgbClr val="2C5697"/>
              </a:solidFill>
              <a:latin typeface="Arial"/>
              <a:cs typeface="Arial"/>
            </a:endParaRPr>
          </a:p>
        </p:txBody>
      </p:sp>
      <p:pic>
        <p:nvPicPr>
          <p:cNvPr id="2050" name="Picture 2" descr="Popular MQ gas sensors">
            <a:extLst>
              <a:ext uri="{FF2B5EF4-FFF2-40B4-BE49-F238E27FC236}">
                <a16:creationId xmlns:a16="http://schemas.microsoft.com/office/drawing/2014/main" id="{9DF048AB-9727-6DFF-121B-02891DDAEE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2530" y="38591"/>
            <a:ext cx="4853448" cy="582413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Semiconductor / Metal Oxide-based Gas Sensor Teardown">
            <a:extLst>
              <a:ext uri="{FF2B5EF4-FFF2-40B4-BE49-F238E27FC236}">
                <a16:creationId xmlns:a16="http://schemas.microsoft.com/office/drawing/2014/main" id="{A6766318-C1F7-0151-9FC0-587D2A3924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463" y="2007506"/>
            <a:ext cx="3437457" cy="229163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48951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F31583-9100-4051-066E-7A3215B68FDA}"/>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B6772C55-05F5-9B8A-409E-3B980D5EEE3D}"/>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C3ACAD89-C0F0-E43B-51D4-04E12B96B4CE}"/>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7" name="TextBox 32">
            <a:extLst>
              <a:ext uri="{FF2B5EF4-FFF2-40B4-BE49-F238E27FC236}">
                <a16:creationId xmlns:a16="http://schemas.microsoft.com/office/drawing/2014/main" id="{4A2A3808-FE90-B774-027D-223F657DB27E}"/>
              </a:ext>
            </a:extLst>
          </p:cNvPr>
          <p:cNvSpPr txBox="1"/>
          <p:nvPr/>
        </p:nvSpPr>
        <p:spPr>
          <a:xfrm>
            <a:off x="21249" y="5909173"/>
            <a:ext cx="597810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800" b="1" dirty="0">
                <a:solidFill>
                  <a:schemeClr val="bg1"/>
                </a:solidFill>
              </a:rPr>
              <a:t>Leyes de los gases y aplicación clínica</a:t>
            </a:r>
          </a:p>
        </p:txBody>
      </p:sp>
      <p:sp>
        <p:nvSpPr>
          <p:cNvPr id="8" name="Título 1">
            <a:extLst>
              <a:ext uri="{FF2B5EF4-FFF2-40B4-BE49-F238E27FC236}">
                <a16:creationId xmlns:a16="http://schemas.microsoft.com/office/drawing/2014/main" id="{70D86D56-1C29-9F6A-32F5-FDCD658B10B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gas</a:t>
            </a:r>
            <a:endParaRPr lang="en-US" sz="1600" dirty="0">
              <a:solidFill>
                <a:schemeClr val="bg1"/>
              </a:solidFill>
            </a:endParaRPr>
          </a:p>
        </p:txBody>
      </p:sp>
      <p:sp>
        <p:nvSpPr>
          <p:cNvPr id="11" name="Rectángulo 6">
            <a:extLst>
              <a:ext uri="{FF2B5EF4-FFF2-40B4-BE49-F238E27FC236}">
                <a16:creationId xmlns:a16="http://schemas.microsoft.com/office/drawing/2014/main" id="{25ADC495-BC78-603C-6F45-A05327E6B11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rPr>
              <a:t>Conclusión</a:t>
            </a:r>
            <a:endParaRPr lang="en-US" b="1" dirty="0">
              <a:solidFill>
                <a:srgbClr val="2C5697"/>
              </a:solidFill>
              <a:latin typeface="Arial"/>
              <a:cs typeface="Arial"/>
            </a:endParaRPr>
          </a:p>
        </p:txBody>
      </p:sp>
      <p:sp>
        <p:nvSpPr>
          <p:cNvPr id="4" name="CuadroTexto 3">
            <a:extLst>
              <a:ext uri="{FF2B5EF4-FFF2-40B4-BE49-F238E27FC236}">
                <a16:creationId xmlns:a16="http://schemas.microsoft.com/office/drawing/2014/main" id="{978CA4B2-AC6C-99D4-1BD6-D2ADA3E1135C}"/>
              </a:ext>
            </a:extLst>
          </p:cNvPr>
          <p:cNvSpPr txBox="1"/>
          <p:nvPr/>
        </p:nvSpPr>
        <p:spPr>
          <a:xfrm>
            <a:off x="268022" y="5623199"/>
            <a:ext cx="5066446" cy="276999"/>
          </a:xfrm>
          <a:prstGeom prst="rect">
            <a:avLst/>
          </a:prstGeom>
          <a:noFill/>
        </p:spPr>
        <p:txBody>
          <a:bodyPr wrap="square">
            <a:spAutoFit/>
          </a:bodyPr>
          <a:lstStyle/>
          <a:p>
            <a:r>
              <a:rPr lang="es-CO" sz="1200" dirty="0"/>
              <a:t>https://www.youtube.com/watch?v=81sW5IkbhBY</a:t>
            </a:r>
          </a:p>
        </p:txBody>
      </p:sp>
      <p:sp>
        <p:nvSpPr>
          <p:cNvPr id="13" name="CuadroTexto 12">
            <a:extLst>
              <a:ext uri="{FF2B5EF4-FFF2-40B4-BE49-F238E27FC236}">
                <a16:creationId xmlns:a16="http://schemas.microsoft.com/office/drawing/2014/main" id="{52E3C9E8-F171-CAA0-D823-3B1826AD3742}"/>
              </a:ext>
            </a:extLst>
          </p:cNvPr>
          <p:cNvSpPr txBox="1"/>
          <p:nvPr/>
        </p:nvSpPr>
        <p:spPr>
          <a:xfrm>
            <a:off x="261463" y="5359053"/>
            <a:ext cx="5066445" cy="276999"/>
          </a:xfrm>
          <a:prstGeom prst="rect">
            <a:avLst/>
          </a:prstGeom>
          <a:noFill/>
        </p:spPr>
        <p:txBody>
          <a:bodyPr wrap="square">
            <a:spAutoFit/>
          </a:bodyPr>
          <a:lstStyle/>
          <a:p>
            <a:r>
              <a:rPr lang="es-CO" sz="1200" dirty="0"/>
              <a:t>https://www.youtube.com/watch?v=4sBdGUzW7hs</a:t>
            </a:r>
          </a:p>
        </p:txBody>
      </p:sp>
      <p:sp>
        <p:nvSpPr>
          <p:cNvPr id="3" name="CuadroTexto 2">
            <a:extLst>
              <a:ext uri="{FF2B5EF4-FFF2-40B4-BE49-F238E27FC236}">
                <a16:creationId xmlns:a16="http://schemas.microsoft.com/office/drawing/2014/main" id="{AFC56B94-C3C8-1373-D83F-E2B5E0628443}"/>
              </a:ext>
            </a:extLst>
          </p:cNvPr>
          <p:cNvSpPr txBox="1"/>
          <p:nvPr/>
        </p:nvSpPr>
        <p:spPr>
          <a:xfrm>
            <a:off x="50318" y="728238"/>
            <a:ext cx="4606412" cy="3416320"/>
          </a:xfrm>
          <a:prstGeom prst="rect">
            <a:avLst/>
          </a:prstGeom>
          <a:noFill/>
        </p:spPr>
        <p:txBody>
          <a:bodyPr wrap="square">
            <a:spAutoFit/>
          </a:bodyPr>
          <a:lstStyle/>
          <a:p>
            <a:pPr marL="171450" indent="-171450">
              <a:buFont typeface="Arial" panose="020B0604020202020204" pitchFamily="34" charset="0"/>
              <a:buChar char="•"/>
            </a:pPr>
            <a:r>
              <a:rPr lang="es-ES" sz="1200" dirty="0"/>
              <a:t>Industrias para monitorear la concentración de gases tóxicos</a:t>
            </a:r>
          </a:p>
          <a:p>
            <a:endParaRPr lang="es-ES" sz="1200" dirty="0"/>
          </a:p>
          <a:p>
            <a:pPr marL="171450" indent="-171450">
              <a:buFont typeface="Arial" panose="020B0604020202020204" pitchFamily="34" charset="0"/>
              <a:buChar char="•"/>
            </a:pPr>
            <a:r>
              <a:rPr lang="es-ES" sz="1200" dirty="0"/>
              <a:t>Hogares para detectar incidentes de emergencia</a:t>
            </a:r>
          </a:p>
          <a:p>
            <a:endParaRPr lang="es-ES" sz="1200" dirty="0"/>
          </a:p>
          <a:p>
            <a:pPr marL="171450" indent="-171450">
              <a:buFont typeface="Arial" panose="020B0604020202020204" pitchFamily="34" charset="0"/>
              <a:buChar char="•"/>
            </a:pPr>
            <a:r>
              <a:rPr lang="es-ES" sz="1200" dirty="0"/>
              <a:t>Plataformas petroleras para monitorear la concentración </a:t>
            </a:r>
          </a:p>
          <a:p>
            <a:r>
              <a:rPr lang="es-ES" sz="1200" dirty="0"/>
              <a:t>de los gases liberados.</a:t>
            </a:r>
          </a:p>
          <a:p>
            <a:endParaRPr lang="es-ES" sz="1200" dirty="0"/>
          </a:p>
          <a:p>
            <a:pPr marL="171450" indent="-171450">
              <a:buFont typeface="Arial" panose="020B0604020202020204" pitchFamily="34" charset="0"/>
              <a:buChar char="•"/>
            </a:pPr>
            <a:r>
              <a:rPr lang="es-ES" sz="1200" dirty="0"/>
              <a:t>Hoteles para evitar que los clientes fumen.</a:t>
            </a:r>
          </a:p>
          <a:p>
            <a:pPr marL="171450" indent="-171450">
              <a:buFont typeface="Arial" panose="020B0604020202020204" pitchFamily="34" charset="0"/>
              <a:buChar char="•"/>
            </a:pPr>
            <a:endParaRPr lang="es-ES" sz="1200" dirty="0"/>
          </a:p>
          <a:p>
            <a:pPr marL="171450" indent="-171450">
              <a:buFont typeface="Arial" panose="020B0604020202020204" pitchFamily="34" charset="0"/>
              <a:buChar char="•"/>
            </a:pPr>
            <a:r>
              <a:rPr lang="es-ES" sz="1200" dirty="0"/>
              <a:t>Revisiones de calidad del aire en oficinas.</a:t>
            </a:r>
          </a:p>
          <a:p>
            <a:pPr marL="171450" indent="-171450">
              <a:buFont typeface="Arial" panose="020B0604020202020204" pitchFamily="34" charset="0"/>
              <a:buChar char="•"/>
            </a:pPr>
            <a:endParaRPr lang="es-ES" sz="1200" dirty="0"/>
          </a:p>
          <a:p>
            <a:pPr marL="171450" indent="-171450">
              <a:buFont typeface="Arial" panose="020B0604020202020204" pitchFamily="34" charset="0"/>
              <a:buChar char="•"/>
            </a:pPr>
            <a:r>
              <a:rPr lang="es-ES" sz="1200" dirty="0"/>
              <a:t>Aires acondicionados para monitorear los niveles de CO₂.</a:t>
            </a:r>
          </a:p>
          <a:p>
            <a:pPr marL="171450" indent="-171450">
              <a:buFont typeface="Arial" panose="020B0604020202020204" pitchFamily="34" charset="0"/>
              <a:buChar char="•"/>
            </a:pPr>
            <a:endParaRPr lang="es-ES" sz="1200" dirty="0"/>
          </a:p>
          <a:p>
            <a:pPr marL="171450" indent="-171450">
              <a:buFont typeface="Arial" panose="020B0604020202020204" pitchFamily="34" charset="0"/>
              <a:buChar char="•"/>
            </a:pPr>
            <a:r>
              <a:rPr lang="es-ES" sz="1200" dirty="0"/>
              <a:t>Detección de incendios.</a:t>
            </a:r>
          </a:p>
          <a:p>
            <a:pPr marL="171450" indent="-171450">
              <a:buFont typeface="Arial" panose="020B0604020202020204" pitchFamily="34" charset="0"/>
              <a:buChar char="•"/>
            </a:pPr>
            <a:endParaRPr lang="es-ES" sz="1200" dirty="0"/>
          </a:p>
          <a:p>
            <a:pPr marL="171450" indent="-171450">
              <a:buFont typeface="Arial" panose="020B0604020202020204" pitchFamily="34" charset="0"/>
              <a:buChar char="•"/>
            </a:pPr>
            <a:r>
              <a:rPr lang="es-ES" sz="1200" dirty="0"/>
              <a:t>Verificar la concentración de gases en minas.</a:t>
            </a:r>
          </a:p>
          <a:p>
            <a:pPr marL="171450" indent="-171450">
              <a:buFont typeface="Arial" panose="020B0604020202020204" pitchFamily="34" charset="0"/>
              <a:buChar char="•"/>
            </a:pPr>
            <a:endParaRPr lang="es-ES" sz="1200" dirty="0"/>
          </a:p>
          <a:p>
            <a:pPr marL="171450" indent="-171450">
              <a:buFont typeface="Arial" panose="020B0604020202020204" pitchFamily="34" charset="0"/>
              <a:buChar char="•"/>
            </a:pPr>
            <a:r>
              <a:rPr lang="es-ES" sz="1200" dirty="0"/>
              <a:t>Analizadores de aliento (alcohol).</a:t>
            </a:r>
            <a:endParaRPr lang="es-CO" sz="1200" dirty="0"/>
          </a:p>
        </p:txBody>
      </p:sp>
      <p:pic>
        <p:nvPicPr>
          <p:cNvPr id="2052" name="Picture 4" descr="MQ-2 Senor Pinout and Parts Marking">
            <a:extLst>
              <a:ext uri="{FF2B5EF4-FFF2-40B4-BE49-F238E27FC236}">
                <a16:creationId xmlns:a16="http://schemas.microsoft.com/office/drawing/2014/main" id="{50F5BEE6-E2AA-7ADD-F23F-83FDFAB4A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3295" y="390213"/>
            <a:ext cx="4446946" cy="296463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as Sensor Module Basic Circuit">
            <a:extLst>
              <a:ext uri="{FF2B5EF4-FFF2-40B4-BE49-F238E27FC236}">
                <a16:creationId xmlns:a16="http://schemas.microsoft.com/office/drawing/2014/main" id="{F56980AF-E8AC-0857-2782-6224A0E105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7768" y="3262072"/>
            <a:ext cx="5445914" cy="25632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200191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F68008-267B-42B0-9C9F-2DD9B1D5EE7A}">
  <ds:schemaRefs>
    <ds:schemaRef ds:uri="http://schemas.microsoft.com/office/2006/documentManagement/types"/>
    <ds:schemaRef ds:uri="c0c46fdd-2a6c-49f1-bb4d-a6e06b52ee64"/>
    <ds:schemaRef ds:uri="http://purl.org/dc/dcmitype/"/>
    <ds:schemaRef ds:uri="http://schemas.openxmlformats.org/package/2006/metadata/core-properties"/>
    <ds:schemaRef ds:uri="http://purl.org/dc/elements/1.1/"/>
    <ds:schemaRef ds:uri="http://www.w3.org/XML/1998/namespace"/>
    <ds:schemaRef ds:uri="http://schemas.microsoft.com/office/infopath/2007/PartnerControl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7352B7-29C2-4831-B08B-DA9095F029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2387</TotalTime>
  <Words>1776</Words>
  <Application>Microsoft Office PowerPoint</Application>
  <PresentationFormat>Presentación en pantalla (4:3)</PresentationFormat>
  <Paragraphs>171</Paragraphs>
  <Slides>16</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Wingdings</vt:lpstr>
      <vt:lpstr>Tema de Office</vt:lpstr>
      <vt:lpstr>Instrumentación para detección gas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7b_Instrumentación_fuerza</dc:title>
  <dc:creator>Jenny Rojas</dc:creator>
  <cp:lastModifiedBy>Pedro Antonio Aya Parra</cp:lastModifiedBy>
  <cp:revision>1823</cp:revision>
  <dcterms:created xsi:type="dcterms:W3CDTF">2018-06-28T02:15:01Z</dcterms:created>
  <dcterms:modified xsi:type="dcterms:W3CDTF">2025-10-16T00:31:12Z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