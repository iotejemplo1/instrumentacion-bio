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handoutMasterIdLst>
    <p:handoutMasterId r:id="rId23"/>
  </p:handoutMasterIdLst>
  <p:sldIdLst>
    <p:sldId id="256" r:id="rId5"/>
    <p:sldId id="307" r:id="rId6"/>
    <p:sldId id="319" r:id="rId7"/>
    <p:sldId id="306" r:id="rId8"/>
    <p:sldId id="309" r:id="rId9"/>
    <p:sldId id="310" r:id="rId10"/>
    <p:sldId id="311" r:id="rId11"/>
    <p:sldId id="321" r:id="rId12"/>
    <p:sldId id="313" r:id="rId13"/>
    <p:sldId id="312" r:id="rId14"/>
    <p:sldId id="314" r:id="rId15"/>
    <p:sldId id="315" r:id="rId16"/>
    <p:sldId id="316" r:id="rId17"/>
    <p:sldId id="317" r:id="rId18"/>
    <p:sldId id="318" r:id="rId19"/>
    <p:sldId id="320" r:id="rId20"/>
    <p:sldId id="322" r:id="rId21"/>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35" autoAdjust="0"/>
    <p:restoredTop sz="94660"/>
  </p:normalViewPr>
  <p:slideViewPr>
    <p:cSldViewPr snapToGrid="0" snapToObjects="1">
      <p:cViewPr varScale="1">
        <p:scale>
          <a:sx n="64" d="100"/>
          <a:sy n="64" d="100"/>
        </p:scale>
        <p:origin x="1776"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8/10/2025</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08/10/2025</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232696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A22E-1638-87C2-4987-71DC7CD48C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C774EF-DF39-D5D6-D4BB-8122AA169A3B}"/>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9223D8DB-CC9D-4FDF-9EDF-138174519191}"/>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226675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62529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579078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833819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5701574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06B87-5D24-8755-4C64-594A070F1F1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083792C-F9D3-364B-1D02-0D0A8C81BDE3}"/>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630F919D-5014-EB45-9F66-BB277A3059D9}"/>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864256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095842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333224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993850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56286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80488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5405664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8230668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F87F2-5FA7-4F0A-88E3-BA0D70D024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1AB6B2-2AF8-11D8-BB38-643349FF8997}"/>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8EFA2988-171D-AA3D-DBC8-9DCFE795FB1F}"/>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734564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A4A5E-DAA2-0B33-A962-C05405F1C2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380830-6DD5-F1F3-313D-6ADEC869B909}"/>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5B0497A4-AE8F-054D-B520-F1FFAB4CEDDD}"/>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648263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2"/>
        <p:cNvGrpSpPr/>
        <p:nvPr/>
      </p:nvGrpSpPr>
      <p:grpSpPr>
        <a:xfrm>
          <a:off x="0" y="0"/>
          <a:ext cx="0" cy="0"/>
          <a:chOff x="0" y="0"/>
          <a:chExt cx="0" cy="0"/>
        </a:xfrm>
      </p:grpSpPr>
      <p:sp>
        <p:nvSpPr>
          <p:cNvPr id="163" name="Google Shape;163;p42"/>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4" name="Google Shape;164;p42"/>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65" name="Google Shape;165;p4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s-CO" smtClean="0"/>
              <a:pPr algn="r"/>
              <a:t>‹Nº›</a:t>
            </a:fld>
            <a:endParaRPr lang="es-CO"/>
          </a:p>
        </p:txBody>
      </p:sp>
    </p:spTree>
    <p:extLst>
      <p:ext uri="{BB962C8B-B14F-4D97-AF65-F5344CB8AC3E}">
        <p14:creationId xmlns:p14="http://schemas.microsoft.com/office/powerpoint/2010/main" val="31796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6">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2.xml"/><Relationship Id="rId7" Type="http://schemas.openxmlformats.org/officeDocument/2006/relationships/image" Target="../media/image10.png"/><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hyperlink" Target="https://www.youtube.com/watch?v=CRa9djnZRu0" TargetMode="External"/><Relationship Id="rId3" Type="http://schemas.openxmlformats.org/officeDocument/2006/relationships/notesSlide" Target="../notesSlides/notesSlide3.xml"/><Relationship Id="rId7" Type="http://schemas.openxmlformats.org/officeDocument/2006/relationships/image" Target="../media/image15.png"/><Relationship Id="rId2" Type="http://schemas.openxmlformats.org/officeDocument/2006/relationships/slideLayout" Target="../slideLayouts/slideLayout4.xml"/><Relationship Id="rId1" Type="http://schemas.openxmlformats.org/officeDocument/2006/relationships/tags" Target="../tags/tag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video" Target="../media/media1.mp4"/><Relationship Id="rId7" Type="http://schemas.openxmlformats.org/officeDocument/2006/relationships/image" Target="../media/image22.png"/><Relationship Id="rId2" Type="http://schemas.microsoft.com/office/2007/relationships/media" Target="../media/media1.mp4"/><Relationship Id="rId1" Type="http://schemas.openxmlformats.org/officeDocument/2006/relationships/tags" Target="../tags/tag7.xml"/><Relationship Id="rId6" Type="http://schemas.openxmlformats.org/officeDocument/2006/relationships/image" Target="../media/image21.png"/><Relationship Id="rId5" Type="http://schemas.openxmlformats.org/officeDocument/2006/relationships/notesSlide" Target="../notesSlides/notesSlide7.xml"/><Relationship Id="rId4"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8.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video" Target="../media/media1.mp4"/><Relationship Id="rId7" Type="http://schemas.openxmlformats.org/officeDocument/2006/relationships/image" Target="../media/image33.png"/><Relationship Id="rId2" Type="http://schemas.microsoft.com/office/2007/relationships/media" Target="../media/media1.mp4"/><Relationship Id="rId1" Type="http://schemas.openxmlformats.org/officeDocument/2006/relationships/tags" Target="../tags/tag11.xml"/><Relationship Id="rId6" Type="http://schemas.openxmlformats.org/officeDocument/2006/relationships/image" Target="../media/image32.png"/><Relationship Id="rId5" Type="http://schemas.openxmlformats.org/officeDocument/2006/relationships/notesSlide" Target="../notesSlides/notesSlide11.xml"/><Relationship Id="rId4"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37.jpeg"/><Relationship Id="rId2" Type="http://schemas.openxmlformats.org/officeDocument/2006/relationships/slideLayout" Target="../slideLayouts/slideLayout4.xml"/><Relationship Id="rId1" Type="http://schemas.openxmlformats.org/officeDocument/2006/relationships/tags" Target="../tags/tag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jpeg"/></Relationships>
</file>

<file path=ppt/slides/_rels/slide1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video" Target="../media/media2.mp4"/><Relationship Id="rId7" Type="http://schemas.openxmlformats.org/officeDocument/2006/relationships/image" Target="../media/image39.png"/><Relationship Id="rId2" Type="http://schemas.microsoft.com/office/2007/relationships/media" Target="../media/media2.mp4"/><Relationship Id="rId1" Type="http://schemas.openxmlformats.org/officeDocument/2006/relationships/tags" Target="../tags/tag13.xml"/><Relationship Id="rId6" Type="http://schemas.openxmlformats.org/officeDocument/2006/relationships/image" Target="../media/image38.png"/><Relationship Id="rId5" Type="http://schemas.openxmlformats.org/officeDocument/2006/relationships/notesSlide" Target="../notesSlides/notesSlide13.xml"/><Relationship Id="rId4"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notesSlide" Target="../notesSlides/notesSlide14.xml"/><Relationship Id="rId7" Type="http://schemas.openxmlformats.org/officeDocument/2006/relationships/image" Target="../media/image44.png"/><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image" Target="../media/image52.png"/><Relationship Id="rId2" Type="http://schemas.openxmlformats.org/officeDocument/2006/relationships/slideLayout" Target="../slideLayouts/slideLayout4.xml"/><Relationship Id="rId1" Type="http://schemas.openxmlformats.org/officeDocument/2006/relationships/tags" Target="../tags/tag16.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920240" y="3839239"/>
            <a:ext cx="5303520" cy="593725"/>
          </a:xfrm>
        </p:spPr>
        <p:txBody>
          <a:bodyPr>
            <a:noAutofit/>
          </a:bodyPr>
          <a:lstStyle/>
          <a:p>
            <a:pPr algn="ctr"/>
            <a:r>
              <a:rPr lang="es-ES_tradnl" sz="2000" dirty="0"/>
              <a:t>Instrumentación para fuerza y presión</a:t>
            </a:r>
            <a:endParaRPr lang="es-ES_tradnl" sz="2000" b="1" dirty="0">
              <a:solidFill>
                <a:srgbClr val="2C5697"/>
              </a:solidFill>
              <a:latin typeface="Arial"/>
              <a:cs typeface="Arial"/>
            </a:endParaRP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Galgas extensiométricas</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err="1">
                <a:solidFill>
                  <a:schemeClr val="bg1"/>
                </a:solidFill>
                <a:latin typeface="Arial"/>
              </a:rPr>
              <a:t>Hamboock</a:t>
            </a:r>
            <a:r>
              <a:rPr lang="es-ES" sz="700" dirty="0">
                <a:solidFill>
                  <a:schemeClr val="bg1"/>
                </a:solidFill>
                <a:latin typeface="Arial"/>
              </a:rPr>
              <a:t> </a:t>
            </a:r>
            <a:r>
              <a:rPr lang="es-ES" sz="700" dirty="0" err="1">
                <a:solidFill>
                  <a:schemeClr val="bg1"/>
                </a:solidFill>
                <a:latin typeface="Arial"/>
              </a:rPr>
              <a:t>of</a:t>
            </a:r>
            <a:r>
              <a:rPr lang="es-ES" sz="700" dirty="0">
                <a:solidFill>
                  <a:schemeClr val="bg1"/>
                </a:solidFill>
                <a:latin typeface="Arial"/>
              </a:rPr>
              <a:t> </a:t>
            </a:r>
            <a:r>
              <a:rPr lang="es-ES" sz="700" dirty="0" err="1">
                <a:solidFill>
                  <a:schemeClr val="bg1"/>
                </a:solidFill>
                <a:latin typeface="Arial"/>
              </a:rPr>
              <a:t>biomedical</a:t>
            </a:r>
            <a:r>
              <a:rPr lang="es-ES" sz="700" dirty="0">
                <a:solidFill>
                  <a:schemeClr val="bg1"/>
                </a:solidFill>
                <a:latin typeface="Arial"/>
              </a:rPr>
              <a:t> </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0" name="Rectángulo 6">
            <a:extLst>
              <a:ext uri="{FF2B5EF4-FFF2-40B4-BE49-F238E27FC236}">
                <a16:creationId xmlns:a16="http://schemas.microsoft.com/office/drawing/2014/main" id="{0D957D53-D876-4504-A0C7-48862366631C}"/>
              </a:ext>
            </a:extLst>
          </p:cNvPr>
          <p:cNvSpPr/>
          <p:nvPr/>
        </p:nvSpPr>
        <p:spPr>
          <a:xfrm>
            <a:off x="211145" y="526429"/>
            <a:ext cx="8882537" cy="523220"/>
          </a:xfrm>
          <a:prstGeom prst="rect">
            <a:avLst/>
          </a:prstGeom>
        </p:spPr>
        <p:txBody>
          <a:bodyPr wrap="square" lIns="91440" tIns="45720" rIns="91440" bIns="45720" anchor="t">
            <a:spAutoFit/>
          </a:bodyPr>
          <a:lstStyle/>
          <a:p>
            <a:r>
              <a:rPr lang="es-ES" sz="1400" dirty="0"/>
              <a:t>Si un conductor eléctrico largo y estrecho, como una lámina metálica o un cable de calibre fino, se estira dentro de su límite elástico, </a:t>
            </a:r>
            <a:r>
              <a:rPr lang="es-ES" sz="1400" dirty="0">
                <a:solidFill>
                  <a:schemeClr val="accent2">
                    <a:lumMod val="75000"/>
                  </a:schemeClr>
                </a:solidFill>
                <a:latin typeface="Arial"/>
                <a:cs typeface="Arial"/>
              </a:rPr>
              <a:t>aumentará su longitud y disminuirá su área de sección transversal</a:t>
            </a:r>
            <a:endParaRPr lang="en-US" sz="1400" dirty="0">
              <a:solidFill>
                <a:schemeClr val="accent2">
                  <a:lumMod val="75000"/>
                </a:schemeClr>
              </a:solidFill>
              <a:latin typeface="Arial"/>
              <a:cs typeface="Arial"/>
            </a:endParaRPr>
          </a:p>
        </p:txBody>
      </p:sp>
      <p:sp>
        <p:nvSpPr>
          <p:cNvPr id="11" name="Flecha: hacia abajo 10">
            <a:extLst>
              <a:ext uri="{FF2B5EF4-FFF2-40B4-BE49-F238E27FC236}">
                <a16:creationId xmlns:a16="http://schemas.microsoft.com/office/drawing/2014/main" id="{7B5A42E2-BBFC-409A-B0E6-F034439D45E8}"/>
              </a:ext>
            </a:extLst>
          </p:cNvPr>
          <p:cNvSpPr/>
          <p:nvPr/>
        </p:nvSpPr>
        <p:spPr>
          <a:xfrm rot="16200000">
            <a:off x="2828178" y="2292757"/>
            <a:ext cx="122831" cy="26056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6" name="CuadroTexto 5">
            <a:extLst>
              <a:ext uri="{FF2B5EF4-FFF2-40B4-BE49-F238E27FC236}">
                <a16:creationId xmlns:a16="http://schemas.microsoft.com/office/drawing/2014/main" id="{F88851DD-A390-ED72-19B6-9DAF1C19B218}"/>
              </a:ext>
            </a:extLst>
          </p:cNvPr>
          <p:cNvSpPr txBox="1"/>
          <p:nvPr/>
        </p:nvSpPr>
        <p:spPr>
          <a:xfrm>
            <a:off x="261463" y="5010757"/>
            <a:ext cx="8882537" cy="738664"/>
          </a:xfrm>
          <a:prstGeom prst="rect">
            <a:avLst/>
          </a:prstGeom>
          <a:noFill/>
        </p:spPr>
        <p:txBody>
          <a:bodyPr wrap="square">
            <a:spAutoFit/>
          </a:bodyPr>
          <a:lstStyle/>
          <a:p>
            <a:r>
              <a:rPr lang="es-ES" sz="1400" dirty="0"/>
              <a:t>El transductor se basa en los </a:t>
            </a:r>
            <a:r>
              <a:rPr lang="es-ES" sz="1400" dirty="0">
                <a:solidFill>
                  <a:schemeClr val="accent2">
                    <a:lumMod val="75000"/>
                  </a:schemeClr>
                </a:solidFill>
                <a:latin typeface="Arial"/>
                <a:cs typeface="Arial"/>
              </a:rPr>
              <a:t>cambios de resistencia </a:t>
            </a:r>
            <a:r>
              <a:rPr lang="es-ES" sz="1400" dirty="0"/>
              <a:t>de un cable producidos por pequeños desplazamientos mecánicos. Existe una relación </a:t>
            </a:r>
            <a:r>
              <a:rPr lang="es-ES" sz="1400" dirty="0">
                <a:solidFill>
                  <a:schemeClr val="accent2">
                    <a:lumMod val="75000"/>
                  </a:schemeClr>
                </a:solidFill>
                <a:latin typeface="Arial"/>
                <a:cs typeface="Arial"/>
              </a:rPr>
              <a:t>lineal entre la deformación y la resistencia eléctrica de un calibre </a:t>
            </a:r>
            <a:r>
              <a:rPr lang="es-ES" sz="1400" dirty="0"/>
              <a:t>(cable, lámina) adecuadamente seleccionado en un rango específico.</a:t>
            </a:r>
            <a:endParaRPr lang="es-CO" sz="1400" dirty="0"/>
          </a:p>
        </p:txBody>
      </p:sp>
      <p:sp>
        <p:nvSpPr>
          <p:cNvPr id="13" name="CuadroTexto 12">
            <a:extLst>
              <a:ext uri="{FF2B5EF4-FFF2-40B4-BE49-F238E27FC236}">
                <a16:creationId xmlns:a16="http://schemas.microsoft.com/office/drawing/2014/main" id="{6E0EA13F-B593-556A-F92C-4C394DE67E45}"/>
              </a:ext>
            </a:extLst>
          </p:cNvPr>
          <p:cNvSpPr txBox="1"/>
          <p:nvPr/>
        </p:nvSpPr>
        <p:spPr>
          <a:xfrm>
            <a:off x="524857" y="3536141"/>
            <a:ext cx="8094286" cy="1200329"/>
          </a:xfrm>
          <a:prstGeom prst="rect">
            <a:avLst/>
          </a:prstGeom>
          <a:noFill/>
        </p:spPr>
        <p:txBody>
          <a:bodyPr wrap="square">
            <a:spAutoFit/>
          </a:bodyPr>
          <a:lstStyle/>
          <a:p>
            <a:r>
              <a:rPr lang="es-ES" dirty="0"/>
              <a:t>Donde </a:t>
            </a:r>
            <a:r>
              <a:rPr lang="el-GR" dirty="0"/>
              <a:t>Δ</a:t>
            </a:r>
            <a:r>
              <a:rPr lang="es-ES" dirty="0"/>
              <a:t>R = Cambio incremental en la resistencia debido a la tensión </a:t>
            </a:r>
          </a:p>
          <a:p>
            <a:r>
              <a:rPr lang="es-ES" dirty="0"/>
              <a:t>R = Resistencia de un cable sin estirar </a:t>
            </a:r>
          </a:p>
          <a:p>
            <a:r>
              <a:rPr lang="el-GR" dirty="0"/>
              <a:t>Δ</a:t>
            </a:r>
            <a:r>
              <a:rPr lang="es-ES" dirty="0"/>
              <a:t>L = Cambio incremental en la longitud </a:t>
            </a:r>
          </a:p>
          <a:p>
            <a:r>
              <a:rPr lang="es-ES" dirty="0"/>
              <a:t>L = Longitud sin estirar del cable</a:t>
            </a:r>
            <a:endParaRPr lang="es-CO" dirty="0"/>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941236B6-BCEA-E875-A036-A9BF070D7461}"/>
                  </a:ext>
                </a:extLst>
              </p:cNvPr>
              <p:cNvSpPr txBox="1"/>
              <p:nvPr/>
            </p:nvSpPr>
            <p:spPr>
              <a:xfrm>
                <a:off x="341264" y="2062293"/>
                <a:ext cx="2548329" cy="8646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s-ES" sz="2800" b="0" i="1" smtClean="0">
                          <a:latin typeface="Cambria Math" panose="02040503050406030204" pitchFamily="18" charset="0"/>
                        </a:rPr>
                        <m:t>𝑔</m:t>
                      </m:r>
                      <m:r>
                        <a:rPr lang="es-ES" sz="2800" b="0" i="1" smtClean="0">
                          <a:latin typeface="Cambria Math" panose="02040503050406030204" pitchFamily="18" charset="0"/>
                        </a:rPr>
                        <m:t>= </m:t>
                      </m:r>
                      <m:f>
                        <m:fPr>
                          <m:ctrlPr>
                            <a:rPr lang="es-ES" sz="2800" b="0" i="1" smtClean="0">
                              <a:latin typeface="Cambria Math" panose="02040503050406030204" pitchFamily="18" charset="0"/>
                            </a:rPr>
                          </m:ctrlPr>
                        </m:fPr>
                        <m:num>
                          <m:r>
                            <m:rPr>
                              <m:nor/>
                            </m:rPr>
                            <a:rPr lang="el-GR" sz="2800" dirty="0"/>
                            <m:t>Δ</m:t>
                          </m:r>
                          <m:r>
                            <a:rPr lang="es-ES" sz="2800" b="0" i="1" dirty="0" smtClean="0">
                              <a:latin typeface="Cambria Math" panose="02040503050406030204" pitchFamily="18" charset="0"/>
                            </a:rPr>
                            <m:t>𝑅</m:t>
                          </m:r>
                          <m:r>
                            <a:rPr lang="es-ES" sz="2800" b="0" i="1" dirty="0" smtClean="0">
                              <a:latin typeface="Cambria Math" panose="02040503050406030204" pitchFamily="18" charset="0"/>
                            </a:rPr>
                            <m:t>/</m:t>
                          </m:r>
                          <m:r>
                            <a:rPr lang="es-ES" sz="2800" b="0" i="1" dirty="0" smtClean="0">
                              <a:latin typeface="Cambria Math" panose="02040503050406030204" pitchFamily="18" charset="0"/>
                            </a:rPr>
                            <m:t>𝐿</m:t>
                          </m:r>
                        </m:num>
                        <m:den>
                          <m:r>
                            <m:rPr>
                              <m:nor/>
                            </m:rPr>
                            <a:rPr lang="el-GR" sz="2800" dirty="0"/>
                            <m:t>Δ</m:t>
                          </m:r>
                          <m:r>
                            <m:rPr>
                              <m:nor/>
                            </m:rPr>
                            <a:rPr lang="es-ES" sz="2800" b="0" i="0" dirty="0" smtClean="0"/>
                            <m:t>L</m:t>
                          </m:r>
                          <m:r>
                            <m:rPr>
                              <m:nor/>
                            </m:rPr>
                            <a:rPr lang="es-ES" sz="2800" b="0" i="0" dirty="0" smtClean="0"/>
                            <m:t>/</m:t>
                          </m:r>
                          <m:r>
                            <a:rPr lang="es-ES" sz="2800" b="0" i="1" dirty="0" smtClean="0">
                              <a:latin typeface="Cambria Math" panose="02040503050406030204" pitchFamily="18" charset="0"/>
                            </a:rPr>
                            <m:t>𝐿</m:t>
                          </m:r>
                        </m:den>
                      </m:f>
                      <m:r>
                        <a:rPr lang="es-ES" sz="2800" b="0" i="1" smtClean="0">
                          <a:latin typeface="Cambria Math" panose="02040503050406030204" pitchFamily="18" charset="0"/>
                        </a:rPr>
                        <m:t> </m:t>
                      </m:r>
                    </m:oMath>
                  </m:oMathPara>
                </a14:m>
                <a:endParaRPr lang="es-CO" sz="2800" dirty="0"/>
              </a:p>
            </p:txBody>
          </p:sp>
        </mc:Choice>
        <mc:Fallback xmlns="">
          <p:sp>
            <p:nvSpPr>
              <p:cNvPr id="19" name="CuadroTexto 18">
                <a:extLst>
                  <a:ext uri="{FF2B5EF4-FFF2-40B4-BE49-F238E27FC236}">
                    <a16:creationId xmlns:a16="http://schemas.microsoft.com/office/drawing/2014/main" id="{941236B6-BCEA-E875-A036-A9BF070D7461}"/>
                  </a:ext>
                </a:extLst>
              </p:cNvPr>
              <p:cNvSpPr txBox="1">
                <a:spLocks noRot="1" noChangeAspect="1" noMove="1" noResize="1" noEditPoints="1" noAdjustHandles="1" noChangeArrowheads="1" noChangeShapeType="1" noTextEdit="1"/>
              </p:cNvSpPr>
              <p:nvPr/>
            </p:nvSpPr>
            <p:spPr>
              <a:xfrm>
                <a:off x="341264" y="2062293"/>
                <a:ext cx="2548329" cy="864660"/>
              </a:xfrm>
              <a:prstGeom prst="rect">
                <a:avLst/>
              </a:prstGeom>
              <a:blipFill>
                <a:blip r:embed="rId4"/>
                <a:stretch>
                  <a:fillRect/>
                </a:stretch>
              </a:blipFill>
            </p:spPr>
            <p:txBody>
              <a:bodyPr/>
              <a:lstStyle/>
              <a:p>
                <a:r>
                  <a:rPr lang="es-CO">
                    <a:noFill/>
                  </a:rPr>
                  <a:t> </a:t>
                </a:r>
              </a:p>
            </p:txBody>
          </p:sp>
        </mc:Fallback>
      </mc:AlternateContent>
      <p:pic>
        <p:nvPicPr>
          <p:cNvPr id="21" name="Imagen 20">
            <a:extLst>
              <a:ext uri="{FF2B5EF4-FFF2-40B4-BE49-F238E27FC236}">
                <a16:creationId xmlns:a16="http://schemas.microsoft.com/office/drawing/2014/main" id="{EC56B52A-AD18-7D22-A36A-6959FE328089}"/>
              </a:ext>
            </a:extLst>
          </p:cNvPr>
          <p:cNvPicPr>
            <a:picLocks noChangeAspect="1"/>
          </p:cNvPicPr>
          <p:nvPr/>
        </p:nvPicPr>
        <p:blipFill>
          <a:blip r:embed="rId5"/>
          <a:stretch>
            <a:fillRect/>
          </a:stretch>
        </p:blipFill>
        <p:spPr>
          <a:xfrm>
            <a:off x="3327218" y="1774411"/>
            <a:ext cx="5344271" cy="1352739"/>
          </a:xfrm>
          <a:prstGeom prst="rect">
            <a:avLst/>
          </a:prstGeom>
        </p:spPr>
      </p:pic>
      <p:sp>
        <p:nvSpPr>
          <p:cNvPr id="23" name="CuadroTexto 22">
            <a:extLst>
              <a:ext uri="{FF2B5EF4-FFF2-40B4-BE49-F238E27FC236}">
                <a16:creationId xmlns:a16="http://schemas.microsoft.com/office/drawing/2014/main" id="{FA22670B-E789-FA76-CC35-66A3EE6A8B79}"/>
              </a:ext>
            </a:extLst>
          </p:cNvPr>
          <p:cNvSpPr txBox="1"/>
          <p:nvPr/>
        </p:nvSpPr>
        <p:spPr>
          <a:xfrm>
            <a:off x="3863714" y="1421511"/>
            <a:ext cx="4609474" cy="369332"/>
          </a:xfrm>
          <a:prstGeom prst="rect">
            <a:avLst/>
          </a:prstGeom>
          <a:noFill/>
        </p:spPr>
        <p:txBody>
          <a:bodyPr wrap="square">
            <a:spAutoFit/>
          </a:bodyPr>
          <a:lstStyle/>
          <a:p>
            <a:r>
              <a:rPr lang="es-CO" dirty="0"/>
              <a:t>Factores de calibre para diferentes materiales</a:t>
            </a:r>
          </a:p>
        </p:txBody>
      </p:sp>
    </p:spTree>
    <p:custDataLst>
      <p:tags r:id="rId1"/>
    </p:custDataLst>
    <p:extLst>
      <p:ext uri="{BB962C8B-B14F-4D97-AF65-F5344CB8AC3E}">
        <p14:creationId xmlns:p14="http://schemas.microsoft.com/office/powerpoint/2010/main" val="502814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A6005D-077D-4916-BD89-796D688C5D83}"/>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BA9BBC81-73AB-9AAF-579B-304BA2220BE7}"/>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6">
            <a:extLst>
              <a:ext uri="{FF2B5EF4-FFF2-40B4-BE49-F238E27FC236}">
                <a16:creationId xmlns:a16="http://schemas.microsoft.com/office/drawing/2014/main" id="{15116278-58CD-6756-B124-F24C185DCD1C}"/>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Galgas extensométricas</a:t>
            </a:r>
            <a:endParaRPr lang="en-US" dirty="0"/>
          </a:p>
        </p:txBody>
      </p:sp>
      <p:sp>
        <p:nvSpPr>
          <p:cNvPr id="18" name="Marcador de número de diapositiva 3">
            <a:extLst>
              <a:ext uri="{FF2B5EF4-FFF2-40B4-BE49-F238E27FC236}">
                <a16:creationId xmlns:a16="http://schemas.microsoft.com/office/drawing/2014/main" id="{207B75A3-AE25-1EE6-7860-998EE59404E2}"/>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p:sp>
        <p:nvSpPr>
          <p:cNvPr id="7" name="TextBox 32">
            <a:extLst>
              <a:ext uri="{FF2B5EF4-FFF2-40B4-BE49-F238E27FC236}">
                <a16:creationId xmlns:a16="http://schemas.microsoft.com/office/drawing/2014/main" id="{9F6B6CA4-35B1-B0DF-C6D7-C76F6B17FAEB}"/>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A8643036-3831-DC3F-CFB7-8D8D61062125}"/>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0" name="Rectángulo 6">
            <a:extLst>
              <a:ext uri="{FF2B5EF4-FFF2-40B4-BE49-F238E27FC236}">
                <a16:creationId xmlns:a16="http://schemas.microsoft.com/office/drawing/2014/main" id="{21F700F6-B58B-315F-8534-803E58521221}"/>
              </a:ext>
            </a:extLst>
          </p:cNvPr>
          <p:cNvSpPr/>
          <p:nvPr/>
        </p:nvSpPr>
        <p:spPr>
          <a:xfrm>
            <a:off x="211145" y="414707"/>
            <a:ext cx="8882537" cy="1169551"/>
          </a:xfrm>
          <a:prstGeom prst="rect">
            <a:avLst/>
          </a:prstGeom>
        </p:spPr>
        <p:txBody>
          <a:bodyPr wrap="square" lIns="91440" tIns="45720" rIns="91440" bIns="45720" anchor="t">
            <a:spAutoFit/>
          </a:bodyPr>
          <a:lstStyle/>
          <a:p>
            <a:r>
              <a:rPr lang="es-ES" sz="1400" dirty="0">
                <a:solidFill>
                  <a:srgbClr val="2C5697"/>
                </a:solidFill>
                <a:latin typeface="Arial"/>
                <a:cs typeface="Arial"/>
                <a:sym typeface="Times New Roman"/>
              </a:rPr>
              <a:t>O </a:t>
            </a:r>
            <a:r>
              <a:rPr lang="es-ES" sz="1400" i="1" dirty="0" err="1">
                <a:solidFill>
                  <a:srgbClr val="2C5697"/>
                </a:solidFill>
                <a:latin typeface="Arial"/>
                <a:cs typeface="Arial"/>
                <a:sym typeface="Times New Roman"/>
              </a:rPr>
              <a:t>strain</a:t>
            </a:r>
            <a:r>
              <a:rPr lang="es-ES" sz="1400" i="1" dirty="0">
                <a:solidFill>
                  <a:srgbClr val="2C5697"/>
                </a:solidFill>
                <a:latin typeface="Arial"/>
                <a:cs typeface="Arial"/>
                <a:sym typeface="Times New Roman"/>
              </a:rPr>
              <a:t> gauges</a:t>
            </a:r>
            <a:r>
              <a:rPr lang="es-ES" sz="1400" dirty="0">
                <a:solidFill>
                  <a:srgbClr val="2C5697"/>
                </a:solidFill>
                <a:latin typeface="Arial"/>
                <a:cs typeface="Arial"/>
                <a:sym typeface="Times New Roman"/>
              </a:rPr>
              <a:t>, son sensores resistivos de material conductor cuya </a:t>
            </a:r>
            <a:r>
              <a:rPr lang="es-ES" sz="1400" dirty="0">
                <a:solidFill>
                  <a:schemeClr val="accent2">
                    <a:lumMod val="75000"/>
                  </a:schemeClr>
                </a:solidFill>
                <a:latin typeface="Arial"/>
                <a:cs typeface="Arial"/>
                <a:sym typeface="Times New Roman"/>
              </a:rPr>
              <a:t>resistencia</a:t>
            </a:r>
            <a:r>
              <a:rPr lang="es-ES" sz="1400" dirty="0">
                <a:solidFill>
                  <a:srgbClr val="2C5697"/>
                </a:solidFill>
                <a:latin typeface="Arial"/>
                <a:cs typeface="Arial"/>
                <a:sym typeface="Times New Roman"/>
              </a:rPr>
              <a:t> cambia con la </a:t>
            </a:r>
            <a:r>
              <a:rPr lang="es-ES" sz="1400" dirty="0">
                <a:solidFill>
                  <a:schemeClr val="accent2">
                    <a:lumMod val="75000"/>
                  </a:schemeClr>
                </a:solidFill>
                <a:latin typeface="Arial"/>
                <a:cs typeface="Arial"/>
                <a:sym typeface="Times New Roman"/>
              </a:rPr>
              <a:t>tensión mecánica </a:t>
            </a:r>
            <a:r>
              <a:rPr lang="es-ES" sz="1400" dirty="0">
                <a:solidFill>
                  <a:srgbClr val="2C5697"/>
                </a:solidFill>
                <a:latin typeface="Arial"/>
                <a:cs typeface="Arial"/>
                <a:sym typeface="Times New Roman"/>
              </a:rPr>
              <a:t>aplicada.</a:t>
            </a:r>
          </a:p>
          <a:p>
            <a:endParaRPr lang="es-ES" sz="1400" dirty="0">
              <a:solidFill>
                <a:srgbClr val="2C5697"/>
              </a:solidFill>
              <a:latin typeface="Arial"/>
              <a:cs typeface="Arial"/>
              <a:sym typeface="Times New Roman"/>
            </a:endParaRPr>
          </a:p>
          <a:p>
            <a:r>
              <a:rPr lang="es-ES" sz="1400" dirty="0">
                <a:solidFill>
                  <a:srgbClr val="2C5697"/>
                </a:solidFill>
                <a:latin typeface="Arial"/>
                <a:cs typeface="Arial"/>
                <a:sym typeface="Times New Roman"/>
              </a:rPr>
              <a:t>Cuando un hilo conductor se somete a un esfuerzo se producen cambios en sus dimensiones y propiedades. Las variaciones del longitud y sección se caracterizan por el coeficiente de Poisson.</a:t>
            </a:r>
            <a:endParaRPr lang="en-US" dirty="0"/>
          </a:p>
        </p:txBody>
      </p:sp>
      <p:pic>
        <p:nvPicPr>
          <p:cNvPr id="3" name="Imagen 2">
            <a:extLst>
              <a:ext uri="{FF2B5EF4-FFF2-40B4-BE49-F238E27FC236}">
                <a16:creationId xmlns:a16="http://schemas.microsoft.com/office/drawing/2014/main" id="{76F8E8E9-1C49-E551-D3B3-3ED33D76F1C4}"/>
              </a:ext>
            </a:extLst>
          </p:cNvPr>
          <p:cNvPicPr>
            <a:picLocks noChangeAspect="1"/>
          </p:cNvPicPr>
          <p:nvPr/>
        </p:nvPicPr>
        <p:blipFill>
          <a:blip r:embed="rId4"/>
          <a:stretch>
            <a:fillRect/>
          </a:stretch>
        </p:blipFill>
        <p:spPr>
          <a:xfrm>
            <a:off x="430628" y="1833925"/>
            <a:ext cx="5215344" cy="2915522"/>
          </a:xfrm>
          <a:prstGeom prst="rect">
            <a:avLst/>
          </a:prstGeom>
        </p:spPr>
      </p:pic>
      <p:pic>
        <p:nvPicPr>
          <p:cNvPr id="4" name="Imagen 3">
            <a:extLst>
              <a:ext uri="{FF2B5EF4-FFF2-40B4-BE49-F238E27FC236}">
                <a16:creationId xmlns:a16="http://schemas.microsoft.com/office/drawing/2014/main" id="{A6D27B9F-63EC-4BA2-82B3-E0E891CD5412}"/>
              </a:ext>
            </a:extLst>
          </p:cNvPr>
          <p:cNvPicPr>
            <a:picLocks noChangeAspect="1"/>
          </p:cNvPicPr>
          <p:nvPr/>
        </p:nvPicPr>
        <p:blipFill>
          <a:blip r:embed="rId5"/>
          <a:stretch>
            <a:fillRect/>
          </a:stretch>
        </p:blipFill>
        <p:spPr>
          <a:xfrm>
            <a:off x="6933033" y="2092927"/>
            <a:ext cx="1419423" cy="628738"/>
          </a:xfrm>
          <a:prstGeom prst="rect">
            <a:avLst/>
          </a:prstGeom>
        </p:spPr>
      </p:pic>
      <p:pic>
        <p:nvPicPr>
          <p:cNvPr id="5" name="Imagen 4">
            <a:extLst>
              <a:ext uri="{FF2B5EF4-FFF2-40B4-BE49-F238E27FC236}">
                <a16:creationId xmlns:a16="http://schemas.microsoft.com/office/drawing/2014/main" id="{102DE5DA-E113-7671-8545-CB7441F0A0B0}"/>
              </a:ext>
            </a:extLst>
          </p:cNvPr>
          <p:cNvPicPr>
            <a:picLocks noChangeAspect="1"/>
          </p:cNvPicPr>
          <p:nvPr/>
        </p:nvPicPr>
        <p:blipFill>
          <a:blip r:embed="rId6"/>
          <a:stretch>
            <a:fillRect/>
          </a:stretch>
        </p:blipFill>
        <p:spPr>
          <a:xfrm>
            <a:off x="6790139" y="3826367"/>
            <a:ext cx="1705213" cy="571580"/>
          </a:xfrm>
          <a:prstGeom prst="rect">
            <a:avLst/>
          </a:prstGeom>
        </p:spPr>
      </p:pic>
      <p:sp>
        <p:nvSpPr>
          <p:cNvPr id="11" name="Flecha: hacia abajo 10">
            <a:extLst>
              <a:ext uri="{FF2B5EF4-FFF2-40B4-BE49-F238E27FC236}">
                <a16:creationId xmlns:a16="http://schemas.microsoft.com/office/drawing/2014/main" id="{A8D20C5D-87F1-0D34-28C4-2BBAA451FB14}"/>
              </a:ext>
            </a:extLst>
          </p:cNvPr>
          <p:cNvSpPr/>
          <p:nvPr/>
        </p:nvSpPr>
        <p:spPr>
          <a:xfrm>
            <a:off x="7642743" y="3168438"/>
            <a:ext cx="122831" cy="26056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pic>
        <p:nvPicPr>
          <p:cNvPr id="6" name="Imagen 5">
            <a:extLst>
              <a:ext uri="{FF2B5EF4-FFF2-40B4-BE49-F238E27FC236}">
                <a16:creationId xmlns:a16="http://schemas.microsoft.com/office/drawing/2014/main" id="{55742AB3-D81B-FF74-3F08-21D836BFC0CA}"/>
              </a:ext>
            </a:extLst>
          </p:cNvPr>
          <p:cNvPicPr>
            <a:picLocks noChangeAspect="1"/>
          </p:cNvPicPr>
          <p:nvPr/>
        </p:nvPicPr>
        <p:blipFill>
          <a:blip r:embed="rId7"/>
          <a:stretch>
            <a:fillRect/>
          </a:stretch>
        </p:blipFill>
        <p:spPr>
          <a:xfrm>
            <a:off x="430628" y="5127988"/>
            <a:ext cx="3086241" cy="660510"/>
          </a:xfrm>
          <a:prstGeom prst="rect">
            <a:avLst/>
          </a:prstGeom>
        </p:spPr>
      </p:pic>
      <p:pic>
        <p:nvPicPr>
          <p:cNvPr id="13" name="Imagen 12">
            <a:extLst>
              <a:ext uri="{FF2B5EF4-FFF2-40B4-BE49-F238E27FC236}">
                <a16:creationId xmlns:a16="http://schemas.microsoft.com/office/drawing/2014/main" id="{FD68523F-FB03-B8F1-282A-1A4267210FF8}"/>
              </a:ext>
            </a:extLst>
          </p:cNvPr>
          <p:cNvPicPr>
            <a:picLocks noChangeAspect="1"/>
          </p:cNvPicPr>
          <p:nvPr/>
        </p:nvPicPr>
        <p:blipFill>
          <a:blip r:embed="rId8"/>
          <a:stretch>
            <a:fillRect/>
          </a:stretch>
        </p:blipFill>
        <p:spPr>
          <a:xfrm>
            <a:off x="5229154" y="5119288"/>
            <a:ext cx="3086241" cy="669210"/>
          </a:xfrm>
          <a:prstGeom prst="rect">
            <a:avLst/>
          </a:prstGeom>
        </p:spPr>
      </p:pic>
    </p:spTree>
    <p:custDataLst>
      <p:tags r:id="rId1"/>
    </p:custDataLst>
    <p:extLst>
      <p:ext uri="{BB962C8B-B14F-4D97-AF65-F5344CB8AC3E}">
        <p14:creationId xmlns:p14="http://schemas.microsoft.com/office/powerpoint/2010/main" val="3116651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Galgas extensométricas</a:t>
            </a:r>
            <a:endParaRPr lang="en-US" dirty="0"/>
          </a:p>
        </p:txBody>
      </p:sp>
      <p:pic>
        <p:nvPicPr>
          <p:cNvPr id="2" name="Imagen 1">
            <a:extLst>
              <a:ext uri="{FF2B5EF4-FFF2-40B4-BE49-F238E27FC236}">
                <a16:creationId xmlns:a16="http://schemas.microsoft.com/office/drawing/2014/main" id="{FA788522-192A-4852-A9FC-C722D331F83D}"/>
              </a:ext>
            </a:extLst>
          </p:cNvPr>
          <p:cNvPicPr>
            <a:picLocks noChangeAspect="1"/>
          </p:cNvPicPr>
          <p:nvPr/>
        </p:nvPicPr>
        <p:blipFill>
          <a:blip r:embed="rId4"/>
          <a:stretch>
            <a:fillRect/>
          </a:stretch>
        </p:blipFill>
        <p:spPr>
          <a:xfrm>
            <a:off x="3185138" y="3017960"/>
            <a:ext cx="5068264" cy="2046799"/>
          </a:xfrm>
          <a:prstGeom prst="rect">
            <a:avLst/>
          </a:prstGeom>
        </p:spPr>
      </p:pic>
      <p:sp>
        <p:nvSpPr>
          <p:cNvPr id="13" name="Rectángulo 12">
            <a:extLst>
              <a:ext uri="{FF2B5EF4-FFF2-40B4-BE49-F238E27FC236}">
                <a16:creationId xmlns:a16="http://schemas.microsoft.com/office/drawing/2014/main" id="{77560E09-E07A-4026-A954-BC7E2F3170AD}"/>
              </a:ext>
            </a:extLst>
          </p:cNvPr>
          <p:cNvSpPr/>
          <p:nvPr/>
        </p:nvSpPr>
        <p:spPr>
          <a:xfrm>
            <a:off x="83424" y="1612204"/>
            <a:ext cx="1596912" cy="307777"/>
          </a:xfrm>
          <a:prstGeom prst="rect">
            <a:avLst/>
          </a:prstGeom>
        </p:spPr>
        <p:txBody>
          <a:bodyPr wrap="none">
            <a:spAutoFit/>
          </a:bodyPr>
          <a:lstStyle/>
          <a:p>
            <a:r>
              <a:rPr lang="es-ES" sz="1400" dirty="0">
                <a:solidFill>
                  <a:srgbClr val="2C5697"/>
                </a:solidFill>
                <a:latin typeface="Arial"/>
                <a:cs typeface="Arial"/>
                <a:sym typeface="Times New Roman"/>
              </a:rPr>
              <a:t>Factor de galga K</a:t>
            </a:r>
            <a:endParaRPr lang="es-CO" sz="1400" dirty="0"/>
          </a:p>
        </p:txBody>
      </p:sp>
      <p:pic>
        <p:nvPicPr>
          <p:cNvPr id="14" name="Imagen 13">
            <a:extLst>
              <a:ext uri="{FF2B5EF4-FFF2-40B4-BE49-F238E27FC236}">
                <a16:creationId xmlns:a16="http://schemas.microsoft.com/office/drawing/2014/main" id="{3061FCCD-B8F6-4E0F-A5FB-1BB90A3B8EF0}"/>
              </a:ext>
            </a:extLst>
          </p:cNvPr>
          <p:cNvPicPr>
            <a:picLocks noChangeAspect="1"/>
          </p:cNvPicPr>
          <p:nvPr/>
        </p:nvPicPr>
        <p:blipFill>
          <a:blip r:embed="rId5"/>
          <a:stretch>
            <a:fillRect/>
          </a:stretch>
        </p:blipFill>
        <p:spPr>
          <a:xfrm>
            <a:off x="1741145" y="1394719"/>
            <a:ext cx="2095792" cy="581106"/>
          </a:xfrm>
          <a:prstGeom prst="rect">
            <a:avLst/>
          </a:prstGeom>
        </p:spPr>
      </p:pic>
      <p:sp>
        <p:nvSpPr>
          <p:cNvPr id="15" name="Rectángulo 14">
            <a:extLst>
              <a:ext uri="{FF2B5EF4-FFF2-40B4-BE49-F238E27FC236}">
                <a16:creationId xmlns:a16="http://schemas.microsoft.com/office/drawing/2014/main" id="{A3543F65-F58E-488E-B8BF-E6AD3EBA1CAE}"/>
              </a:ext>
            </a:extLst>
          </p:cNvPr>
          <p:cNvSpPr/>
          <p:nvPr/>
        </p:nvSpPr>
        <p:spPr>
          <a:xfrm>
            <a:off x="4543844" y="1408771"/>
            <a:ext cx="2624862" cy="738664"/>
          </a:xfrm>
          <a:prstGeom prst="rect">
            <a:avLst/>
          </a:prstGeom>
        </p:spPr>
        <p:txBody>
          <a:bodyPr wrap="square">
            <a:spAutoFit/>
          </a:bodyPr>
          <a:lstStyle/>
          <a:p>
            <a:r>
              <a:rPr lang="es-ES" sz="1400" dirty="0">
                <a:solidFill>
                  <a:srgbClr val="2C5697"/>
                </a:solidFill>
                <a:latin typeface="Arial"/>
                <a:cs typeface="Arial"/>
                <a:sym typeface="Times New Roman"/>
              </a:rPr>
              <a:t>El cambio por unidad de resistencia es proporcional al cambio por unidad de longitud</a:t>
            </a:r>
            <a:endParaRPr lang="es-CO" sz="1400" dirty="0"/>
          </a:p>
        </p:txBody>
      </p:sp>
      <p:sp>
        <p:nvSpPr>
          <p:cNvPr id="16" name="Flecha: hacia abajo 15">
            <a:extLst>
              <a:ext uri="{FF2B5EF4-FFF2-40B4-BE49-F238E27FC236}">
                <a16:creationId xmlns:a16="http://schemas.microsoft.com/office/drawing/2014/main" id="{B3D4D924-5001-45A4-9CCE-88721B29241A}"/>
              </a:ext>
            </a:extLst>
          </p:cNvPr>
          <p:cNvSpPr/>
          <p:nvPr/>
        </p:nvSpPr>
        <p:spPr>
          <a:xfrm rot="16200000">
            <a:off x="4159044" y="1586406"/>
            <a:ext cx="122831" cy="26056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pic>
        <p:nvPicPr>
          <p:cNvPr id="17" name="Imagen 16">
            <a:extLst>
              <a:ext uri="{FF2B5EF4-FFF2-40B4-BE49-F238E27FC236}">
                <a16:creationId xmlns:a16="http://schemas.microsoft.com/office/drawing/2014/main" id="{BFC82C49-7899-4590-B2B4-10AC4B78225A}"/>
              </a:ext>
            </a:extLst>
          </p:cNvPr>
          <p:cNvPicPr>
            <a:picLocks noChangeAspect="1"/>
          </p:cNvPicPr>
          <p:nvPr/>
        </p:nvPicPr>
        <p:blipFill>
          <a:blip r:embed="rId6"/>
          <a:stretch>
            <a:fillRect/>
          </a:stretch>
        </p:blipFill>
        <p:spPr>
          <a:xfrm>
            <a:off x="7482900" y="1365051"/>
            <a:ext cx="1057423" cy="514422"/>
          </a:xfrm>
          <a:prstGeom prst="rect">
            <a:avLst/>
          </a:prstGeom>
        </p:spPr>
      </p:pic>
      <p:sp>
        <p:nvSpPr>
          <p:cNvPr id="19" name="Rectángulo 18">
            <a:extLst>
              <a:ext uri="{FF2B5EF4-FFF2-40B4-BE49-F238E27FC236}">
                <a16:creationId xmlns:a16="http://schemas.microsoft.com/office/drawing/2014/main" id="{CF6BEEFB-F491-4C8B-BCEE-0CF1BB47FFEE}"/>
              </a:ext>
            </a:extLst>
          </p:cNvPr>
          <p:cNvSpPr/>
          <p:nvPr/>
        </p:nvSpPr>
        <p:spPr>
          <a:xfrm>
            <a:off x="7090187" y="1905207"/>
            <a:ext cx="1832553" cy="276999"/>
          </a:xfrm>
          <a:prstGeom prst="rect">
            <a:avLst/>
          </a:prstGeom>
        </p:spPr>
        <p:txBody>
          <a:bodyPr wrap="none">
            <a:spAutoFit/>
          </a:bodyPr>
          <a:lstStyle/>
          <a:p>
            <a:r>
              <a:rPr lang="es-ES" sz="1200" dirty="0">
                <a:solidFill>
                  <a:srgbClr val="2C5697"/>
                </a:solidFill>
                <a:latin typeface="Arial"/>
                <a:cs typeface="Arial"/>
                <a:sym typeface="Times New Roman"/>
              </a:rPr>
              <a:t>µƐ micro deformaciones</a:t>
            </a:r>
            <a:endParaRPr lang="es-CO" sz="1200" dirty="0"/>
          </a:p>
        </p:txBody>
      </p:sp>
      <p:pic>
        <p:nvPicPr>
          <p:cNvPr id="4" name="Imagen 3">
            <a:extLst>
              <a:ext uri="{FF2B5EF4-FFF2-40B4-BE49-F238E27FC236}">
                <a16:creationId xmlns:a16="http://schemas.microsoft.com/office/drawing/2014/main" id="{4A974473-DAFC-9CEF-1CBC-F329583BAEE7}"/>
              </a:ext>
            </a:extLst>
          </p:cNvPr>
          <p:cNvPicPr>
            <a:picLocks noChangeAspect="1"/>
          </p:cNvPicPr>
          <p:nvPr/>
        </p:nvPicPr>
        <p:blipFill>
          <a:blip r:embed="rId7"/>
          <a:stretch>
            <a:fillRect/>
          </a:stretch>
        </p:blipFill>
        <p:spPr>
          <a:xfrm>
            <a:off x="1136223" y="3050452"/>
            <a:ext cx="1209844" cy="1895740"/>
          </a:xfrm>
          <a:prstGeom prst="rect">
            <a:avLst/>
          </a:prstGeom>
        </p:spPr>
      </p:pic>
      <p:sp>
        <p:nvSpPr>
          <p:cNvPr id="5" name="CuadroTexto 4">
            <a:extLst>
              <a:ext uri="{FF2B5EF4-FFF2-40B4-BE49-F238E27FC236}">
                <a16:creationId xmlns:a16="http://schemas.microsoft.com/office/drawing/2014/main" id="{1CB1EF93-924A-4BE4-52D4-391284C89504}"/>
              </a:ext>
            </a:extLst>
          </p:cNvPr>
          <p:cNvSpPr txBox="1"/>
          <p:nvPr/>
        </p:nvSpPr>
        <p:spPr>
          <a:xfrm>
            <a:off x="297152" y="2773453"/>
            <a:ext cx="1276696" cy="276999"/>
          </a:xfrm>
          <a:prstGeom prst="rect">
            <a:avLst/>
          </a:prstGeom>
          <a:noFill/>
        </p:spPr>
        <p:txBody>
          <a:bodyPr wrap="none" rtlCol="0">
            <a:spAutoFit/>
          </a:bodyPr>
          <a:lstStyle/>
          <a:p>
            <a:r>
              <a:rPr lang="es-ES" sz="1200" dirty="0"/>
              <a:t>Soldadura puntos</a:t>
            </a:r>
            <a:endParaRPr lang="es-CO" sz="1200" dirty="0"/>
          </a:p>
        </p:txBody>
      </p:sp>
      <p:sp>
        <p:nvSpPr>
          <p:cNvPr id="6" name="CuadroTexto 5">
            <a:extLst>
              <a:ext uri="{FF2B5EF4-FFF2-40B4-BE49-F238E27FC236}">
                <a16:creationId xmlns:a16="http://schemas.microsoft.com/office/drawing/2014/main" id="{3EFC3990-561F-D80E-779E-134FE57EA10A}"/>
              </a:ext>
            </a:extLst>
          </p:cNvPr>
          <p:cNvSpPr txBox="1"/>
          <p:nvPr/>
        </p:nvSpPr>
        <p:spPr>
          <a:xfrm>
            <a:off x="603705" y="3674170"/>
            <a:ext cx="532518" cy="276999"/>
          </a:xfrm>
          <a:prstGeom prst="rect">
            <a:avLst/>
          </a:prstGeom>
          <a:noFill/>
        </p:spPr>
        <p:txBody>
          <a:bodyPr wrap="none" rtlCol="0">
            <a:spAutoFit/>
          </a:bodyPr>
          <a:lstStyle/>
          <a:p>
            <a:r>
              <a:rPr lang="es-ES" sz="1200" dirty="0"/>
              <a:t>Cable</a:t>
            </a:r>
            <a:endParaRPr lang="es-CO" sz="1200" dirty="0"/>
          </a:p>
        </p:txBody>
      </p:sp>
      <p:sp>
        <p:nvSpPr>
          <p:cNvPr id="9" name="CuadroTexto 8">
            <a:extLst>
              <a:ext uri="{FF2B5EF4-FFF2-40B4-BE49-F238E27FC236}">
                <a16:creationId xmlns:a16="http://schemas.microsoft.com/office/drawing/2014/main" id="{2219DFD2-AA23-F11D-ACA5-85F25EDB36E7}"/>
              </a:ext>
            </a:extLst>
          </p:cNvPr>
          <p:cNvSpPr txBox="1"/>
          <p:nvPr/>
        </p:nvSpPr>
        <p:spPr>
          <a:xfrm>
            <a:off x="160630" y="4402347"/>
            <a:ext cx="1028167" cy="276999"/>
          </a:xfrm>
          <a:prstGeom prst="rect">
            <a:avLst/>
          </a:prstGeom>
          <a:noFill/>
        </p:spPr>
        <p:txBody>
          <a:bodyPr wrap="none" rtlCol="0">
            <a:spAutoFit/>
          </a:bodyPr>
          <a:lstStyle/>
          <a:p>
            <a:r>
              <a:rPr lang="es-ES" sz="1200" dirty="0"/>
              <a:t>Base </a:t>
            </a:r>
            <a:r>
              <a:rPr lang="es-ES" sz="1200" dirty="0" err="1"/>
              <a:t>solicona</a:t>
            </a:r>
            <a:endParaRPr lang="es-CO" sz="1200" dirty="0"/>
          </a:p>
        </p:txBody>
      </p:sp>
      <p:sp>
        <p:nvSpPr>
          <p:cNvPr id="3" name="Estrella: 5 puntas 2">
            <a:hlinkClick r:id="rId8"/>
            <a:extLst>
              <a:ext uri="{FF2B5EF4-FFF2-40B4-BE49-F238E27FC236}">
                <a16:creationId xmlns:a16="http://schemas.microsoft.com/office/drawing/2014/main" id="{8FFB6ECB-D2F3-0E62-04E5-342A0784AB85}"/>
              </a:ext>
            </a:extLst>
          </p:cNvPr>
          <p:cNvSpPr/>
          <p:nvPr/>
        </p:nvSpPr>
        <p:spPr>
          <a:xfrm>
            <a:off x="3010301" y="16963"/>
            <a:ext cx="532423" cy="581107"/>
          </a:xfrm>
          <a:prstGeom prst="star5">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1650798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Galgas extensométricas</a:t>
            </a:r>
            <a:endParaRPr lang="en-US" dirty="0"/>
          </a:p>
        </p:txBody>
      </p:sp>
      <p:pic>
        <p:nvPicPr>
          <p:cNvPr id="3" name="Imagen 2">
            <a:extLst>
              <a:ext uri="{FF2B5EF4-FFF2-40B4-BE49-F238E27FC236}">
                <a16:creationId xmlns:a16="http://schemas.microsoft.com/office/drawing/2014/main" id="{8A25F3EA-AF3C-46D2-BE05-1BCEA8C130B4}"/>
              </a:ext>
            </a:extLst>
          </p:cNvPr>
          <p:cNvPicPr>
            <a:picLocks noChangeAspect="1"/>
          </p:cNvPicPr>
          <p:nvPr/>
        </p:nvPicPr>
        <p:blipFill>
          <a:blip r:embed="rId4"/>
          <a:stretch>
            <a:fillRect/>
          </a:stretch>
        </p:blipFill>
        <p:spPr>
          <a:xfrm>
            <a:off x="512188" y="1202298"/>
            <a:ext cx="5041945" cy="3982786"/>
          </a:xfrm>
          <a:prstGeom prst="rect">
            <a:avLst/>
          </a:prstGeom>
        </p:spPr>
      </p:pic>
      <p:sp>
        <p:nvSpPr>
          <p:cNvPr id="20" name="Rectángulo 19">
            <a:extLst>
              <a:ext uri="{FF2B5EF4-FFF2-40B4-BE49-F238E27FC236}">
                <a16:creationId xmlns:a16="http://schemas.microsoft.com/office/drawing/2014/main" id="{31A70EC2-07B0-42A7-ABB7-47C6192CB29D}"/>
              </a:ext>
            </a:extLst>
          </p:cNvPr>
          <p:cNvSpPr/>
          <p:nvPr/>
        </p:nvSpPr>
        <p:spPr>
          <a:xfrm>
            <a:off x="6174988" y="2276022"/>
            <a:ext cx="2624862" cy="1169551"/>
          </a:xfrm>
          <a:prstGeom prst="rect">
            <a:avLst/>
          </a:prstGeom>
        </p:spPr>
        <p:txBody>
          <a:bodyPr wrap="square">
            <a:spAutoFit/>
          </a:bodyPr>
          <a:lstStyle/>
          <a:p>
            <a:pPr algn="ctr"/>
            <a:r>
              <a:rPr lang="es-ES" sz="1400" dirty="0">
                <a:solidFill>
                  <a:srgbClr val="2C5697"/>
                </a:solidFill>
                <a:latin typeface="Arial"/>
                <a:cs typeface="Arial"/>
                <a:sym typeface="Times New Roman"/>
              </a:rPr>
              <a:t>Las galgas son sensibles a la temperatura y pueden comportarse como una RTD</a:t>
            </a:r>
          </a:p>
          <a:p>
            <a:pPr algn="ctr"/>
            <a:endParaRPr lang="es-ES" sz="1400" dirty="0">
              <a:solidFill>
                <a:srgbClr val="2C5697"/>
              </a:solidFill>
              <a:latin typeface="Arial"/>
              <a:cs typeface="Arial"/>
              <a:sym typeface="Times New Roman"/>
            </a:endParaRPr>
          </a:p>
          <a:p>
            <a:pPr algn="ctr"/>
            <a:r>
              <a:rPr lang="es-ES" sz="1400" dirty="0">
                <a:solidFill>
                  <a:srgbClr val="2C5697"/>
                </a:solidFill>
                <a:latin typeface="Arial"/>
                <a:cs typeface="Arial"/>
                <a:sym typeface="Times New Roman"/>
              </a:rPr>
              <a:t>Pueden variar por: </a:t>
            </a:r>
            <a:r>
              <a:rPr lang="es-ES" sz="1400" dirty="0" err="1">
                <a:solidFill>
                  <a:srgbClr val="2C5697"/>
                </a:solidFill>
                <a:latin typeface="Arial"/>
                <a:cs typeface="Arial"/>
                <a:sym typeface="Times New Roman"/>
              </a:rPr>
              <a:t>Δl</a:t>
            </a:r>
            <a:r>
              <a:rPr lang="es-ES" sz="1400" dirty="0">
                <a:solidFill>
                  <a:srgbClr val="2C5697"/>
                </a:solidFill>
                <a:latin typeface="Arial"/>
                <a:cs typeface="Arial"/>
                <a:sym typeface="Times New Roman"/>
              </a:rPr>
              <a:t> y/o ΔT</a:t>
            </a:r>
            <a:endParaRPr lang="es-CO" sz="1400" dirty="0"/>
          </a:p>
        </p:txBody>
      </p:sp>
    </p:spTree>
    <p:custDataLst>
      <p:tags r:id="rId1"/>
    </p:custDataLst>
    <p:extLst>
      <p:ext uri="{BB962C8B-B14F-4D97-AF65-F5344CB8AC3E}">
        <p14:creationId xmlns:p14="http://schemas.microsoft.com/office/powerpoint/2010/main" val="593299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Galgas extensométricas</a:t>
            </a:r>
            <a:endParaRPr lang="en-US" dirty="0"/>
          </a:p>
        </p:txBody>
      </p:sp>
      <p:sp>
        <p:nvSpPr>
          <p:cNvPr id="20" name="Rectángulo 19">
            <a:extLst>
              <a:ext uri="{FF2B5EF4-FFF2-40B4-BE49-F238E27FC236}">
                <a16:creationId xmlns:a16="http://schemas.microsoft.com/office/drawing/2014/main" id="{31A70EC2-07B0-42A7-ABB7-47C6192CB29D}"/>
              </a:ext>
            </a:extLst>
          </p:cNvPr>
          <p:cNvSpPr/>
          <p:nvPr/>
        </p:nvSpPr>
        <p:spPr>
          <a:xfrm>
            <a:off x="21249" y="465321"/>
            <a:ext cx="2467596" cy="307777"/>
          </a:xfrm>
          <a:prstGeom prst="rect">
            <a:avLst/>
          </a:prstGeom>
        </p:spPr>
        <p:txBody>
          <a:bodyPr wrap="square">
            <a:spAutoFit/>
          </a:bodyPr>
          <a:lstStyle/>
          <a:p>
            <a:r>
              <a:rPr lang="es-ES" sz="1400" dirty="0">
                <a:solidFill>
                  <a:srgbClr val="2C5697"/>
                </a:solidFill>
                <a:latin typeface="Arial"/>
                <a:cs typeface="Arial"/>
                <a:sym typeface="Times New Roman"/>
              </a:rPr>
              <a:t>Dirección de las mediciones</a:t>
            </a:r>
            <a:endParaRPr lang="es-CO" sz="1400" dirty="0"/>
          </a:p>
        </p:txBody>
      </p:sp>
      <p:pic>
        <p:nvPicPr>
          <p:cNvPr id="2" name="Imagen 1">
            <a:extLst>
              <a:ext uri="{FF2B5EF4-FFF2-40B4-BE49-F238E27FC236}">
                <a16:creationId xmlns:a16="http://schemas.microsoft.com/office/drawing/2014/main" id="{0DC4B43C-BEBC-434B-8165-B1A591247570}"/>
              </a:ext>
            </a:extLst>
          </p:cNvPr>
          <p:cNvPicPr>
            <a:picLocks noChangeAspect="1"/>
          </p:cNvPicPr>
          <p:nvPr/>
        </p:nvPicPr>
        <p:blipFill>
          <a:blip r:embed="rId4"/>
          <a:stretch>
            <a:fillRect/>
          </a:stretch>
        </p:blipFill>
        <p:spPr>
          <a:xfrm>
            <a:off x="269930" y="895707"/>
            <a:ext cx="4727512" cy="1864832"/>
          </a:xfrm>
          <a:prstGeom prst="rect">
            <a:avLst/>
          </a:prstGeom>
        </p:spPr>
      </p:pic>
      <p:pic>
        <p:nvPicPr>
          <p:cNvPr id="5" name="Imagen 4">
            <a:extLst>
              <a:ext uri="{FF2B5EF4-FFF2-40B4-BE49-F238E27FC236}">
                <a16:creationId xmlns:a16="http://schemas.microsoft.com/office/drawing/2014/main" id="{4666D690-F77A-43E4-A394-0BE53EAA538E}"/>
              </a:ext>
            </a:extLst>
          </p:cNvPr>
          <p:cNvPicPr>
            <a:picLocks noChangeAspect="1"/>
          </p:cNvPicPr>
          <p:nvPr/>
        </p:nvPicPr>
        <p:blipFill>
          <a:blip r:embed="rId5"/>
          <a:stretch>
            <a:fillRect/>
          </a:stretch>
        </p:blipFill>
        <p:spPr>
          <a:xfrm>
            <a:off x="261463" y="3203621"/>
            <a:ext cx="4936483" cy="2540963"/>
          </a:xfrm>
          <a:prstGeom prst="rect">
            <a:avLst/>
          </a:prstGeom>
        </p:spPr>
      </p:pic>
      <p:pic>
        <p:nvPicPr>
          <p:cNvPr id="6" name="Imagen 5">
            <a:extLst>
              <a:ext uri="{FF2B5EF4-FFF2-40B4-BE49-F238E27FC236}">
                <a16:creationId xmlns:a16="http://schemas.microsoft.com/office/drawing/2014/main" id="{19E2BDB7-8781-83F3-CE28-7C03A44F345C}"/>
              </a:ext>
            </a:extLst>
          </p:cNvPr>
          <p:cNvPicPr>
            <a:picLocks noChangeAspect="1"/>
          </p:cNvPicPr>
          <p:nvPr/>
        </p:nvPicPr>
        <p:blipFill>
          <a:blip r:embed="rId6"/>
          <a:stretch>
            <a:fillRect/>
          </a:stretch>
        </p:blipFill>
        <p:spPr>
          <a:xfrm>
            <a:off x="5432109" y="1094282"/>
            <a:ext cx="3698295" cy="3831215"/>
          </a:xfrm>
          <a:prstGeom prst="rect">
            <a:avLst/>
          </a:prstGeom>
        </p:spPr>
      </p:pic>
    </p:spTree>
    <p:custDataLst>
      <p:tags r:id="rId1"/>
    </p:custDataLst>
    <p:extLst>
      <p:ext uri="{BB962C8B-B14F-4D97-AF65-F5344CB8AC3E}">
        <p14:creationId xmlns:p14="http://schemas.microsoft.com/office/powerpoint/2010/main" val="1490988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cs typeface="Calibri"/>
              </a:rPr>
              <a:t>https://dewesoft.com/es/blog/medicion-tension-y-presion</a:t>
            </a: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Comportamiento Galgas extensométricas</a:t>
            </a:r>
            <a:endParaRPr lang="en-US" dirty="0"/>
          </a:p>
        </p:txBody>
      </p:sp>
      <p:sp>
        <p:nvSpPr>
          <p:cNvPr id="20" name="Rectángulo 19">
            <a:extLst>
              <a:ext uri="{FF2B5EF4-FFF2-40B4-BE49-F238E27FC236}">
                <a16:creationId xmlns:a16="http://schemas.microsoft.com/office/drawing/2014/main" id="{31A70EC2-07B0-42A7-ABB7-47C6192CB29D}"/>
              </a:ext>
            </a:extLst>
          </p:cNvPr>
          <p:cNvSpPr/>
          <p:nvPr/>
        </p:nvSpPr>
        <p:spPr>
          <a:xfrm>
            <a:off x="21249" y="465321"/>
            <a:ext cx="2467596" cy="307777"/>
          </a:xfrm>
          <a:prstGeom prst="rect">
            <a:avLst/>
          </a:prstGeom>
        </p:spPr>
        <p:txBody>
          <a:bodyPr wrap="square">
            <a:spAutoFit/>
          </a:bodyPr>
          <a:lstStyle/>
          <a:p>
            <a:r>
              <a:rPr lang="es-ES" sz="1400" dirty="0">
                <a:solidFill>
                  <a:srgbClr val="2C5697"/>
                </a:solidFill>
                <a:latin typeface="Arial"/>
                <a:cs typeface="Arial"/>
                <a:sym typeface="Times New Roman"/>
              </a:rPr>
              <a:t>Mediciones con galgas</a:t>
            </a:r>
            <a:endParaRPr lang="es-CO" sz="1400" dirty="0"/>
          </a:p>
        </p:txBody>
      </p:sp>
      <p:pic>
        <p:nvPicPr>
          <p:cNvPr id="9" name="Imagen 8">
            <a:extLst>
              <a:ext uri="{FF2B5EF4-FFF2-40B4-BE49-F238E27FC236}">
                <a16:creationId xmlns:a16="http://schemas.microsoft.com/office/drawing/2014/main" id="{EA4F4223-A627-4ADB-0CA9-26CE5B669831}"/>
              </a:ext>
            </a:extLst>
          </p:cNvPr>
          <p:cNvPicPr>
            <a:picLocks noChangeAspect="1"/>
          </p:cNvPicPr>
          <p:nvPr/>
        </p:nvPicPr>
        <p:blipFill>
          <a:blip r:embed="rId4"/>
          <a:stretch>
            <a:fillRect/>
          </a:stretch>
        </p:blipFill>
        <p:spPr>
          <a:xfrm>
            <a:off x="3981564" y="950027"/>
            <a:ext cx="4505954" cy="4782217"/>
          </a:xfrm>
          <a:prstGeom prst="rect">
            <a:avLst/>
          </a:prstGeom>
        </p:spPr>
      </p:pic>
      <p:sp>
        <p:nvSpPr>
          <p:cNvPr id="13" name="CuadroTexto 12">
            <a:extLst>
              <a:ext uri="{FF2B5EF4-FFF2-40B4-BE49-F238E27FC236}">
                <a16:creationId xmlns:a16="http://schemas.microsoft.com/office/drawing/2014/main" id="{076B317B-E34D-274F-24F4-96952FC95900}"/>
              </a:ext>
            </a:extLst>
          </p:cNvPr>
          <p:cNvSpPr txBox="1"/>
          <p:nvPr/>
        </p:nvSpPr>
        <p:spPr>
          <a:xfrm>
            <a:off x="184108" y="1011709"/>
            <a:ext cx="4609474" cy="2893100"/>
          </a:xfrm>
          <a:prstGeom prst="rect">
            <a:avLst/>
          </a:prstGeom>
          <a:noFill/>
        </p:spPr>
        <p:txBody>
          <a:bodyPr wrap="square">
            <a:spAutoFit/>
          </a:bodyPr>
          <a:lstStyle/>
          <a:p>
            <a:pPr>
              <a:buNone/>
            </a:pPr>
            <a:r>
              <a:rPr lang="es-ES" sz="1400" dirty="0"/>
              <a:t>Una curva de tensión-deformación es típica </a:t>
            </a:r>
          </a:p>
          <a:p>
            <a:pPr>
              <a:buNone/>
            </a:pPr>
            <a:r>
              <a:rPr lang="es-ES" sz="1400" dirty="0"/>
              <a:t>del acero estructural:</a:t>
            </a:r>
          </a:p>
          <a:p>
            <a:pPr>
              <a:buNone/>
            </a:pPr>
            <a:endParaRPr lang="es-ES" sz="1400" dirty="0"/>
          </a:p>
          <a:p>
            <a:pPr>
              <a:buFont typeface="+mj-lt"/>
              <a:buAutoNum type="arabicPeriod"/>
            </a:pPr>
            <a:r>
              <a:rPr lang="es-ES" sz="1400" dirty="0"/>
              <a:t>Fuerza final</a:t>
            </a:r>
          </a:p>
          <a:p>
            <a:pPr>
              <a:buFont typeface="+mj-lt"/>
              <a:buAutoNum type="arabicPeriod"/>
            </a:pPr>
            <a:endParaRPr lang="es-ES" sz="1400" dirty="0"/>
          </a:p>
          <a:p>
            <a:pPr>
              <a:buFont typeface="+mj-lt"/>
              <a:buAutoNum type="arabicPeriod"/>
            </a:pPr>
            <a:r>
              <a:rPr lang="es-ES" sz="1400" dirty="0"/>
              <a:t>Fuerza de producción (punto de fluencia)</a:t>
            </a:r>
          </a:p>
          <a:p>
            <a:pPr>
              <a:buFont typeface="+mj-lt"/>
              <a:buAutoNum type="arabicPeriod"/>
            </a:pPr>
            <a:endParaRPr lang="es-ES" sz="1400" dirty="0"/>
          </a:p>
          <a:p>
            <a:pPr>
              <a:buFont typeface="+mj-lt"/>
              <a:buAutoNum type="arabicPeriod"/>
            </a:pPr>
            <a:r>
              <a:rPr lang="es-ES" sz="1400" dirty="0"/>
              <a:t>Ruptura</a:t>
            </a:r>
          </a:p>
          <a:p>
            <a:pPr>
              <a:buFont typeface="+mj-lt"/>
              <a:buAutoNum type="arabicPeriod"/>
            </a:pPr>
            <a:endParaRPr lang="es-ES" sz="1400" dirty="0"/>
          </a:p>
          <a:p>
            <a:pPr>
              <a:buFont typeface="+mj-lt"/>
              <a:buAutoNum type="arabicPeriod"/>
            </a:pPr>
            <a:r>
              <a:rPr lang="es-ES" sz="1400" dirty="0"/>
              <a:t>Región de endurecimiento por deformación</a:t>
            </a:r>
          </a:p>
          <a:p>
            <a:pPr>
              <a:buFont typeface="+mj-lt"/>
              <a:buAutoNum type="arabicPeriod"/>
            </a:pPr>
            <a:endParaRPr lang="es-ES" sz="1400" dirty="0"/>
          </a:p>
          <a:p>
            <a:pPr>
              <a:buFont typeface="+mj-lt"/>
              <a:buAutoNum type="arabicPeriod"/>
            </a:pPr>
            <a:r>
              <a:rPr lang="es-ES" sz="1400" dirty="0"/>
              <a:t>Región de cuello</a:t>
            </a:r>
          </a:p>
          <a:p>
            <a:pPr>
              <a:buFont typeface="+mj-lt"/>
              <a:buAutoNum type="arabicPeriod"/>
            </a:pPr>
            <a:endParaRPr lang="es-ES" sz="1400" dirty="0"/>
          </a:p>
        </p:txBody>
      </p:sp>
    </p:spTree>
    <p:custDataLst>
      <p:tags r:id="rId1"/>
    </p:custDataLst>
    <p:extLst>
      <p:ext uri="{BB962C8B-B14F-4D97-AF65-F5344CB8AC3E}">
        <p14:creationId xmlns:p14="http://schemas.microsoft.com/office/powerpoint/2010/main" val="1761285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1EA125-F1BC-62ED-EF10-5F5BBD9FBF3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E2434B86-86E9-4D5A-8327-F04CEA789BC7}"/>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9A204FFB-AF79-7CCA-DF2E-7619DB7EB792}"/>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8</a:t>
            </a:fld>
            <a:endParaRPr lang="es-CO" sz="1200" dirty="0">
              <a:solidFill>
                <a:schemeClr val="bg1"/>
              </a:solidFill>
            </a:endParaRPr>
          </a:p>
        </p:txBody>
      </p:sp>
      <p:sp>
        <p:nvSpPr>
          <p:cNvPr id="7" name="TextBox 32">
            <a:extLst>
              <a:ext uri="{FF2B5EF4-FFF2-40B4-BE49-F238E27FC236}">
                <a16:creationId xmlns:a16="http://schemas.microsoft.com/office/drawing/2014/main" id="{6F87B02A-8CF3-50B4-5A2D-1D85BB601F5D}"/>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1365BED5-B043-3AF9-F032-45A7335B2779}"/>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774AD820-82B8-E8AA-5485-D78FBAFA3159}"/>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Galgas extensométricas</a:t>
            </a:r>
            <a:endParaRPr lang="en-US" dirty="0"/>
          </a:p>
        </p:txBody>
      </p:sp>
      <p:sp>
        <p:nvSpPr>
          <p:cNvPr id="20" name="Rectángulo 19">
            <a:extLst>
              <a:ext uri="{FF2B5EF4-FFF2-40B4-BE49-F238E27FC236}">
                <a16:creationId xmlns:a16="http://schemas.microsoft.com/office/drawing/2014/main" id="{B24AD975-F828-424C-E5FD-AAA0771DAB63}"/>
              </a:ext>
            </a:extLst>
          </p:cNvPr>
          <p:cNvSpPr/>
          <p:nvPr/>
        </p:nvSpPr>
        <p:spPr>
          <a:xfrm>
            <a:off x="21249" y="465321"/>
            <a:ext cx="2467596" cy="307777"/>
          </a:xfrm>
          <a:prstGeom prst="rect">
            <a:avLst/>
          </a:prstGeom>
        </p:spPr>
        <p:txBody>
          <a:bodyPr wrap="square">
            <a:spAutoFit/>
          </a:bodyPr>
          <a:lstStyle/>
          <a:p>
            <a:r>
              <a:rPr lang="es-ES" sz="1400" dirty="0">
                <a:solidFill>
                  <a:srgbClr val="2C5697"/>
                </a:solidFill>
                <a:latin typeface="Arial"/>
                <a:cs typeface="Arial"/>
                <a:sym typeface="Times New Roman"/>
              </a:rPr>
              <a:t>Mediciones con galgas</a:t>
            </a:r>
            <a:endParaRPr lang="es-CO" sz="1400" dirty="0"/>
          </a:p>
        </p:txBody>
      </p:sp>
      <p:pic>
        <p:nvPicPr>
          <p:cNvPr id="3" name="Imagen 2">
            <a:extLst>
              <a:ext uri="{FF2B5EF4-FFF2-40B4-BE49-F238E27FC236}">
                <a16:creationId xmlns:a16="http://schemas.microsoft.com/office/drawing/2014/main" id="{C94CBE8F-5A16-7BC0-8B17-BE50024875E3}"/>
              </a:ext>
            </a:extLst>
          </p:cNvPr>
          <p:cNvPicPr>
            <a:picLocks noChangeAspect="1"/>
          </p:cNvPicPr>
          <p:nvPr/>
        </p:nvPicPr>
        <p:blipFill>
          <a:blip r:embed="rId6"/>
          <a:stretch>
            <a:fillRect/>
          </a:stretch>
        </p:blipFill>
        <p:spPr>
          <a:xfrm>
            <a:off x="20284" y="844163"/>
            <a:ext cx="4848050" cy="2512555"/>
          </a:xfrm>
          <a:prstGeom prst="rect">
            <a:avLst/>
          </a:prstGeom>
        </p:spPr>
      </p:pic>
      <p:sp>
        <p:nvSpPr>
          <p:cNvPr id="12" name="Rectángulo 11">
            <a:extLst>
              <a:ext uri="{FF2B5EF4-FFF2-40B4-BE49-F238E27FC236}">
                <a16:creationId xmlns:a16="http://schemas.microsoft.com/office/drawing/2014/main" id="{24D66757-2CD8-B1DA-79D8-26E736DEFFE4}"/>
              </a:ext>
            </a:extLst>
          </p:cNvPr>
          <p:cNvSpPr/>
          <p:nvPr/>
        </p:nvSpPr>
        <p:spPr>
          <a:xfrm>
            <a:off x="5087936" y="443921"/>
            <a:ext cx="3858830" cy="738664"/>
          </a:xfrm>
          <a:prstGeom prst="rect">
            <a:avLst/>
          </a:prstGeom>
        </p:spPr>
        <p:txBody>
          <a:bodyPr wrap="square">
            <a:spAutoFit/>
          </a:bodyPr>
          <a:lstStyle/>
          <a:p>
            <a:r>
              <a:rPr lang="es-ES" sz="1400" dirty="0">
                <a:solidFill>
                  <a:srgbClr val="2C5697"/>
                </a:solidFill>
                <a:latin typeface="Arial"/>
                <a:cs typeface="Arial"/>
                <a:sym typeface="Times New Roman"/>
              </a:rPr>
              <a:t>En los puentes de Wheatstone con galgas se suelen usar valores de resistencia iguales para ganar sensibilidad (ΔR muy pequeña)</a:t>
            </a:r>
            <a:endParaRPr lang="es-CO" sz="1400" dirty="0"/>
          </a:p>
        </p:txBody>
      </p:sp>
      <p:pic>
        <p:nvPicPr>
          <p:cNvPr id="6" name="Imagen 5">
            <a:extLst>
              <a:ext uri="{FF2B5EF4-FFF2-40B4-BE49-F238E27FC236}">
                <a16:creationId xmlns:a16="http://schemas.microsoft.com/office/drawing/2014/main" id="{3D01442D-5FAE-A1E0-BBF7-C4BB9A4CB8A8}"/>
              </a:ext>
            </a:extLst>
          </p:cNvPr>
          <p:cNvPicPr>
            <a:picLocks noChangeAspect="1"/>
          </p:cNvPicPr>
          <p:nvPr/>
        </p:nvPicPr>
        <p:blipFill>
          <a:blip r:embed="rId7"/>
          <a:stretch>
            <a:fillRect/>
          </a:stretch>
        </p:blipFill>
        <p:spPr>
          <a:xfrm>
            <a:off x="109358" y="3919413"/>
            <a:ext cx="4848050" cy="1784352"/>
          </a:xfrm>
          <a:prstGeom prst="rect">
            <a:avLst/>
          </a:prstGeom>
          <a:ln>
            <a:solidFill>
              <a:srgbClr val="7030A0"/>
            </a:solidFill>
          </a:ln>
        </p:spPr>
      </p:pic>
      <p:sp>
        <p:nvSpPr>
          <p:cNvPr id="14" name="Elipse 13">
            <a:extLst>
              <a:ext uri="{FF2B5EF4-FFF2-40B4-BE49-F238E27FC236}">
                <a16:creationId xmlns:a16="http://schemas.microsoft.com/office/drawing/2014/main" id="{04371A37-6EDE-9E26-21FE-C4261EC0A466}"/>
              </a:ext>
            </a:extLst>
          </p:cNvPr>
          <p:cNvSpPr/>
          <p:nvPr/>
        </p:nvSpPr>
        <p:spPr>
          <a:xfrm>
            <a:off x="2428479" y="5150609"/>
            <a:ext cx="574431" cy="687793"/>
          </a:xfrm>
          <a:prstGeom prst="ellipse">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pic>
        <p:nvPicPr>
          <p:cNvPr id="2" name="Puente">
            <a:hlinkClick r:id="" action="ppaction://media"/>
            <a:extLst>
              <a:ext uri="{FF2B5EF4-FFF2-40B4-BE49-F238E27FC236}">
                <a16:creationId xmlns:a16="http://schemas.microsoft.com/office/drawing/2014/main" id="{B3700265-D755-9C1F-E5FB-1AA62AB25B9F}"/>
              </a:ext>
            </a:extLst>
          </p:cNvPr>
          <p:cNvPicPr>
            <a:picLocks noChangeAspect="1"/>
          </p:cNvPicPr>
          <p:nvPr>
            <a:videoFile r:link="rId3"/>
            <p:extLst>
              <p:ext uri="{DAA4B4D4-6D71-4841-9C94-3DE7FCFB9230}">
                <p14:media xmlns:p14="http://schemas.microsoft.com/office/powerpoint/2010/main" r:embed="rId2"/>
              </p:ext>
            </p:extLst>
          </p:nvPr>
        </p:nvPicPr>
        <p:blipFill>
          <a:blip r:embed="rId8"/>
          <a:stretch>
            <a:fillRect/>
          </a:stretch>
        </p:blipFill>
        <p:spPr>
          <a:xfrm>
            <a:off x="5087936" y="1640272"/>
            <a:ext cx="3817365" cy="3302828"/>
          </a:xfrm>
          <a:prstGeom prst="rect">
            <a:avLst/>
          </a:prstGeom>
        </p:spPr>
      </p:pic>
    </p:spTree>
    <p:custDataLst>
      <p:tags r:id="rId1"/>
    </p:custDataLst>
    <p:extLst>
      <p:ext uri="{BB962C8B-B14F-4D97-AF65-F5344CB8AC3E}">
        <p14:creationId xmlns:p14="http://schemas.microsoft.com/office/powerpoint/2010/main" val="485179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9</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Galgas extensométricas</a:t>
            </a:r>
            <a:endParaRPr lang="en-US" dirty="0"/>
          </a:p>
        </p:txBody>
      </p:sp>
      <p:sp>
        <p:nvSpPr>
          <p:cNvPr id="20" name="Rectángulo 19">
            <a:extLst>
              <a:ext uri="{FF2B5EF4-FFF2-40B4-BE49-F238E27FC236}">
                <a16:creationId xmlns:a16="http://schemas.microsoft.com/office/drawing/2014/main" id="{31A70EC2-07B0-42A7-ABB7-47C6192CB29D}"/>
              </a:ext>
            </a:extLst>
          </p:cNvPr>
          <p:cNvSpPr/>
          <p:nvPr/>
        </p:nvSpPr>
        <p:spPr>
          <a:xfrm>
            <a:off x="402787" y="443921"/>
            <a:ext cx="8522250" cy="523220"/>
          </a:xfrm>
          <a:prstGeom prst="rect">
            <a:avLst/>
          </a:prstGeom>
        </p:spPr>
        <p:txBody>
          <a:bodyPr wrap="square">
            <a:spAutoFit/>
          </a:bodyPr>
          <a:lstStyle/>
          <a:p>
            <a:r>
              <a:rPr lang="es-ES" sz="1400" dirty="0">
                <a:solidFill>
                  <a:srgbClr val="2C5697"/>
                </a:solidFill>
                <a:latin typeface="Arial"/>
                <a:cs typeface="Arial"/>
                <a:sym typeface="Times New Roman"/>
              </a:rPr>
              <a:t>Dado el problema del cambio de ΔR con la temperatura, se pueden usar </a:t>
            </a:r>
            <a:r>
              <a:rPr lang="es-ES" sz="1400" dirty="0">
                <a:solidFill>
                  <a:schemeClr val="accent2">
                    <a:lumMod val="75000"/>
                  </a:schemeClr>
                </a:solidFill>
                <a:latin typeface="Arial"/>
                <a:cs typeface="Arial"/>
                <a:sym typeface="Times New Roman"/>
              </a:rPr>
              <a:t>galgas pasivas </a:t>
            </a:r>
            <a:r>
              <a:rPr lang="es-ES" sz="1400" dirty="0">
                <a:solidFill>
                  <a:srgbClr val="2C5697"/>
                </a:solidFill>
                <a:latin typeface="Arial"/>
                <a:cs typeface="Arial"/>
                <a:sym typeface="Times New Roman"/>
              </a:rPr>
              <a:t>(no sometidas a elongación), y </a:t>
            </a:r>
            <a:r>
              <a:rPr lang="es-ES" sz="1400" dirty="0">
                <a:solidFill>
                  <a:schemeClr val="accent2">
                    <a:lumMod val="75000"/>
                  </a:schemeClr>
                </a:solidFill>
                <a:latin typeface="Arial"/>
                <a:cs typeface="Arial"/>
                <a:sym typeface="Times New Roman"/>
              </a:rPr>
              <a:t>activas</a:t>
            </a:r>
            <a:r>
              <a:rPr lang="es-ES" sz="1400" dirty="0">
                <a:solidFill>
                  <a:srgbClr val="2C5697"/>
                </a:solidFill>
                <a:latin typeface="Arial"/>
                <a:cs typeface="Arial"/>
                <a:sym typeface="Times New Roman"/>
              </a:rPr>
              <a:t> (sometidas a elongación).</a:t>
            </a:r>
            <a:endParaRPr lang="es-CO" sz="1400" dirty="0"/>
          </a:p>
        </p:txBody>
      </p:sp>
      <p:pic>
        <p:nvPicPr>
          <p:cNvPr id="2" name="Imagen 1">
            <a:extLst>
              <a:ext uri="{FF2B5EF4-FFF2-40B4-BE49-F238E27FC236}">
                <a16:creationId xmlns:a16="http://schemas.microsoft.com/office/drawing/2014/main" id="{303C84DC-F5C2-4DA7-A317-50E635A1A97D}"/>
              </a:ext>
            </a:extLst>
          </p:cNvPr>
          <p:cNvPicPr>
            <a:picLocks noChangeAspect="1"/>
          </p:cNvPicPr>
          <p:nvPr/>
        </p:nvPicPr>
        <p:blipFill>
          <a:blip r:embed="rId4"/>
          <a:stretch>
            <a:fillRect/>
          </a:stretch>
        </p:blipFill>
        <p:spPr>
          <a:xfrm>
            <a:off x="2114098" y="884379"/>
            <a:ext cx="5099628" cy="2292167"/>
          </a:xfrm>
          <a:prstGeom prst="rect">
            <a:avLst/>
          </a:prstGeom>
        </p:spPr>
      </p:pic>
      <p:pic>
        <p:nvPicPr>
          <p:cNvPr id="4" name="Imagen 3">
            <a:extLst>
              <a:ext uri="{FF2B5EF4-FFF2-40B4-BE49-F238E27FC236}">
                <a16:creationId xmlns:a16="http://schemas.microsoft.com/office/drawing/2014/main" id="{8C31B24C-1A46-4392-9B6B-6AE736963371}"/>
              </a:ext>
            </a:extLst>
          </p:cNvPr>
          <p:cNvPicPr>
            <a:picLocks noChangeAspect="1"/>
          </p:cNvPicPr>
          <p:nvPr/>
        </p:nvPicPr>
        <p:blipFill>
          <a:blip r:embed="rId5"/>
          <a:stretch>
            <a:fillRect/>
          </a:stretch>
        </p:blipFill>
        <p:spPr>
          <a:xfrm>
            <a:off x="171850" y="3561343"/>
            <a:ext cx="4930294" cy="2060036"/>
          </a:xfrm>
          <a:prstGeom prst="rect">
            <a:avLst/>
          </a:prstGeom>
        </p:spPr>
      </p:pic>
      <p:sp>
        <p:nvSpPr>
          <p:cNvPr id="5" name="Rectángulo 4">
            <a:extLst>
              <a:ext uri="{FF2B5EF4-FFF2-40B4-BE49-F238E27FC236}">
                <a16:creationId xmlns:a16="http://schemas.microsoft.com/office/drawing/2014/main" id="{60DC9402-ADED-4CFC-B257-19455BE54565}"/>
              </a:ext>
            </a:extLst>
          </p:cNvPr>
          <p:cNvSpPr/>
          <p:nvPr/>
        </p:nvSpPr>
        <p:spPr>
          <a:xfrm>
            <a:off x="5627339" y="3896658"/>
            <a:ext cx="3172773" cy="523220"/>
          </a:xfrm>
          <a:prstGeom prst="rect">
            <a:avLst/>
          </a:prstGeom>
        </p:spPr>
        <p:txBody>
          <a:bodyPr wrap="square">
            <a:spAutoFit/>
          </a:bodyPr>
          <a:lstStyle/>
          <a:p>
            <a:pPr algn="ctr"/>
            <a:r>
              <a:rPr lang="es-ES" sz="1400" dirty="0">
                <a:solidFill>
                  <a:srgbClr val="2C5697"/>
                </a:solidFill>
                <a:latin typeface="Arial"/>
                <a:cs typeface="Arial"/>
                <a:sym typeface="Times New Roman"/>
              </a:rPr>
              <a:t>Con galgas en posiciones simétricas se gana el doble de sensibilidad</a:t>
            </a:r>
            <a:endParaRPr lang="es-CO" sz="1400" dirty="0"/>
          </a:p>
        </p:txBody>
      </p:sp>
      <p:pic>
        <p:nvPicPr>
          <p:cNvPr id="13" name="Imagen 12">
            <a:extLst>
              <a:ext uri="{FF2B5EF4-FFF2-40B4-BE49-F238E27FC236}">
                <a16:creationId xmlns:a16="http://schemas.microsoft.com/office/drawing/2014/main" id="{5EC3C3F1-4734-4BE1-86B0-4C1FCE58D06E}"/>
              </a:ext>
            </a:extLst>
          </p:cNvPr>
          <p:cNvPicPr>
            <a:picLocks noChangeAspect="1"/>
          </p:cNvPicPr>
          <p:nvPr/>
        </p:nvPicPr>
        <p:blipFill>
          <a:blip r:embed="rId6"/>
          <a:stretch>
            <a:fillRect/>
          </a:stretch>
        </p:blipFill>
        <p:spPr>
          <a:xfrm>
            <a:off x="5418666" y="4705421"/>
            <a:ext cx="3675015" cy="460387"/>
          </a:xfrm>
          <a:prstGeom prst="rect">
            <a:avLst/>
          </a:prstGeom>
        </p:spPr>
      </p:pic>
      <p:sp>
        <p:nvSpPr>
          <p:cNvPr id="14" name="Flecha: hacia abajo 13">
            <a:extLst>
              <a:ext uri="{FF2B5EF4-FFF2-40B4-BE49-F238E27FC236}">
                <a16:creationId xmlns:a16="http://schemas.microsoft.com/office/drawing/2014/main" id="{06651B34-B9E1-45DF-807C-2963AB7EDC5B}"/>
              </a:ext>
            </a:extLst>
          </p:cNvPr>
          <p:cNvSpPr/>
          <p:nvPr/>
        </p:nvSpPr>
        <p:spPr>
          <a:xfrm rot="16200000">
            <a:off x="5171009" y="4033104"/>
            <a:ext cx="122831" cy="260562"/>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3" name="Elipse 2">
            <a:extLst>
              <a:ext uri="{FF2B5EF4-FFF2-40B4-BE49-F238E27FC236}">
                <a16:creationId xmlns:a16="http://schemas.microsoft.com/office/drawing/2014/main" id="{5A1F9924-AB6F-497D-AD39-7533FD3E7829}"/>
              </a:ext>
            </a:extLst>
          </p:cNvPr>
          <p:cNvSpPr/>
          <p:nvPr/>
        </p:nvSpPr>
        <p:spPr>
          <a:xfrm>
            <a:off x="8489188" y="4548194"/>
            <a:ext cx="574431" cy="687793"/>
          </a:xfrm>
          <a:prstGeom prst="ellipse">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829693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Galgas extensométricas</a:t>
            </a:r>
            <a:endParaRPr lang="en-US" dirty="0"/>
          </a:p>
        </p:txBody>
      </p:sp>
      <p:sp>
        <p:nvSpPr>
          <p:cNvPr id="20" name="Rectángulo 19">
            <a:extLst>
              <a:ext uri="{FF2B5EF4-FFF2-40B4-BE49-F238E27FC236}">
                <a16:creationId xmlns:a16="http://schemas.microsoft.com/office/drawing/2014/main" id="{31A70EC2-07B0-42A7-ABB7-47C6192CB29D}"/>
              </a:ext>
            </a:extLst>
          </p:cNvPr>
          <p:cNvSpPr/>
          <p:nvPr/>
        </p:nvSpPr>
        <p:spPr>
          <a:xfrm>
            <a:off x="402787" y="443921"/>
            <a:ext cx="8522250" cy="523220"/>
          </a:xfrm>
          <a:prstGeom prst="rect">
            <a:avLst/>
          </a:prstGeom>
        </p:spPr>
        <p:txBody>
          <a:bodyPr wrap="square">
            <a:spAutoFit/>
          </a:bodyPr>
          <a:lstStyle/>
          <a:p>
            <a:r>
              <a:rPr lang="es-ES" sz="1400" dirty="0">
                <a:solidFill>
                  <a:srgbClr val="2C5697"/>
                </a:solidFill>
                <a:latin typeface="Arial"/>
                <a:cs typeface="Arial"/>
                <a:sym typeface="Times New Roman"/>
              </a:rPr>
              <a:t>Dado el problema del cambio de ΔR con la temperatura, se pueden usar </a:t>
            </a:r>
            <a:r>
              <a:rPr lang="es-ES" sz="1400" dirty="0">
                <a:solidFill>
                  <a:schemeClr val="accent2">
                    <a:lumMod val="75000"/>
                  </a:schemeClr>
                </a:solidFill>
                <a:latin typeface="Arial"/>
                <a:cs typeface="Arial"/>
                <a:sym typeface="Times New Roman"/>
              </a:rPr>
              <a:t>galgas pasivas </a:t>
            </a:r>
            <a:r>
              <a:rPr lang="es-ES" sz="1400" dirty="0">
                <a:solidFill>
                  <a:srgbClr val="2C5697"/>
                </a:solidFill>
                <a:latin typeface="Arial"/>
                <a:cs typeface="Arial"/>
                <a:sym typeface="Times New Roman"/>
              </a:rPr>
              <a:t>(no sometidas a elongación), y </a:t>
            </a:r>
            <a:r>
              <a:rPr lang="es-ES" sz="1400" dirty="0">
                <a:solidFill>
                  <a:schemeClr val="accent2">
                    <a:lumMod val="75000"/>
                  </a:schemeClr>
                </a:solidFill>
                <a:latin typeface="Arial"/>
                <a:cs typeface="Arial"/>
                <a:sym typeface="Times New Roman"/>
              </a:rPr>
              <a:t>activas</a:t>
            </a:r>
            <a:r>
              <a:rPr lang="es-ES" sz="1400" dirty="0">
                <a:solidFill>
                  <a:srgbClr val="2C5697"/>
                </a:solidFill>
                <a:latin typeface="Arial"/>
                <a:cs typeface="Arial"/>
                <a:sym typeface="Times New Roman"/>
              </a:rPr>
              <a:t> (sometidas a elongación).</a:t>
            </a:r>
            <a:endParaRPr lang="es-CO" sz="1400" dirty="0"/>
          </a:p>
        </p:txBody>
      </p:sp>
      <p:sp>
        <p:nvSpPr>
          <p:cNvPr id="5" name="Rectángulo 4">
            <a:extLst>
              <a:ext uri="{FF2B5EF4-FFF2-40B4-BE49-F238E27FC236}">
                <a16:creationId xmlns:a16="http://schemas.microsoft.com/office/drawing/2014/main" id="{60DC9402-ADED-4CFC-B257-19455BE54565}"/>
              </a:ext>
            </a:extLst>
          </p:cNvPr>
          <p:cNvSpPr/>
          <p:nvPr/>
        </p:nvSpPr>
        <p:spPr>
          <a:xfrm>
            <a:off x="1027859" y="4216075"/>
            <a:ext cx="7088281" cy="307777"/>
          </a:xfrm>
          <a:prstGeom prst="rect">
            <a:avLst/>
          </a:prstGeom>
        </p:spPr>
        <p:txBody>
          <a:bodyPr wrap="square">
            <a:spAutoFit/>
          </a:bodyPr>
          <a:lstStyle/>
          <a:p>
            <a:pPr algn="ctr"/>
            <a:r>
              <a:rPr lang="es-ES" sz="1400" dirty="0">
                <a:solidFill>
                  <a:srgbClr val="2C5697"/>
                </a:solidFill>
                <a:latin typeface="Arial"/>
                <a:cs typeface="Arial"/>
                <a:sym typeface="Times New Roman"/>
              </a:rPr>
              <a:t>Se gana linealidad y el cuádruple de sensibilidad</a:t>
            </a:r>
            <a:endParaRPr lang="es-CO" sz="1400" dirty="0"/>
          </a:p>
        </p:txBody>
      </p:sp>
      <p:pic>
        <p:nvPicPr>
          <p:cNvPr id="10" name="Imagen 9">
            <a:extLst>
              <a:ext uri="{FF2B5EF4-FFF2-40B4-BE49-F238E27FC236}">
                <a16:creationId xmlns:a16="http://schemas.microsoft.com/office/drawing/2014/main" id="{D740081C-57FC-4895-9F0A-ACE5A9AE4223}"/>
              </a:ext>
            </a:extLst>
          </p:cNvPr>
          <p:cNvPicPr>
            <a:picLocks noChangeAspect="1"/>
          </p:cNvPicPr>
          <p:nvPr/>
        </p:nvPicPr>
        <p:blipFill>
          <a:blip r:embed="rId4"/>
          <a:stretch>
            <a:fillRect/>
          </a:stretch>
        </p:blipFill>
        <p:spPr>
          <a:xfrm>
            <a:off x="6245606" y="1198129"/>
            <a:ext cx="2376253" cy="2683670"/>
          </a:xfrm>
          <a:prstGeom prst="rect">
            <a:avLst/>
          </a:prstGeom>
        </p:spPr>
      </p:pic>
      <p:pic>
        <p:nvPicPr>
          <p:cNvPr id="14" name="Imagen 13">
            <a:extLst>
              <a:ext uri="{FF2B5EF4-FFF2-40B4-BE49-F238E27FC236}">
                <a16:creationId xmlns:a16="http://schemas.microsoft.com/office/drawing/2014/main" id="{52D4AC07-38E5-400F-B391-121790E156CB}"/>
              </a:ext>
            </a:extLst>
          </p:cNvPr>
          <p:cNvPicPr>
            <a:picLocks noChangeAspect="1"/>
          </p:cNvPicPr>
          <p:nvPr/>
        </p:nvPicPr>
        <p:blipFill>
          <a:blip r:embed="rId5"/>
          <a:stretch>
            <a:fillRect/>
          </a:stretch>
        </p:blipFill>
        <p:spPr>
          <a:xfrm>
            <a:off x="399072" y="1557240"/>
            <a:ext cx="4998646" cy="2343656"/>
          </a:xfrm>
          <a:prstGeom prst="rect">
            <a:avLst/>
          </a:prstGeom>
        </p:spPr>
      </p:pic>
      <p:pic>
        <p:nvPicPr>
          <p:cNvPr id="15" name="Imagen 14">
            <a:extLst>
              <a:ext uri="{FF2B5EF4-FFF2-40B4-BE49-F238E27FC236}">
                <a16:creationId xmlns:a16="http://schemas.microsoft.com/office/drawing/2014/main" id="{467D95AF-08B7-4E97-B959-248DCF671100}"/>
              </a:ext>
            </a:extLst>
          </p:cNvPr>
          <p:cNvPicPr>
            <a:picLocks noChangeAspect="1"/>
          </p:cNvPicPr>
          <p:nvPr/>
        </p:nvPicPr>
        <p:blipFill>
          <a:blip r:embed="rId6"/>
          <a:stretch>
            <a:fillRect/>
          </a:stretch>
        </p:blipFill>
        <p:spPr>
          <a:xfrm>
            <a:off x="2911391" y="4846433"/>
            <a:ext cx="3334215" cy="600159"/>
          </a:xfrm>
          <a:prstGeom prst="rect">
            <a:avLst/>
          </a:prstGeom>
        </p:spPr>
      </p:pic>
      <p:sp>
        <p:nvSpPr>
          <p:cNvPr id="19" name="Elipse 18">
            <a:extLst>
              <a:ext uri="{FF2B5EF4-FFF2-40B4-BE49-F238E27FC236}">
                <a16:creationId xmlns:a16="http://schemas.microsoft.com/office/drawing/2014/main" id="{070332BC-4D4C-4BD4-BBB4-B30CD2500B13}"/>
              </a:ext>
            </a:extLst>
          </p:cNvPr>
          <p:cNvSpPr/>
          <p:nvPr/>
        </p:nvSpPr>
        <p:spPr>
          <a:xfrm>
            <a:off x="5712138" y="4784469"/>
            <a:ext cx="574431" cy="687793"/>
          </a:xfrm>
          <a:prstGeom prst="ellipse">
            <a:avLst/>
          </a:prstGeom>
          <a:noFill/>
          <a:ln>
            <a:solidFill>
              <a:srgbClr val="703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custDataLst>
      <p:tags r:id="rId1"/>
    </p:custDataLst>
    <p:extLst>
      <p:ext uri="{BB962C8B-B14F-4D97-AF65-F5344CB8AC3E}">
        <p14:creationId xmlns:p14="http://schemas.microsoft.com/office/powerpoint/2010/main" val="1667403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Galgas extensométricas</a:t>
            </a:r>
            <a:endParaRPr lang="en-US" dirty="0"/>
          </a:p>
        </p:txBody>
      </p:sp>
      <p:sp>
        <p:nvSpPr>
          <p:cNvPr id="20" name="Rectángulo 19">
            <a:extLst>
              <a:ext uri="{FF2B5EF4-FFF2-40B4-BE49-F238E27FC236}">
                <a16:creationId xmlns:a16="http://schemas.microsoft.com/office/drawing/2014/main" id="{31A70EC2-07B0-42A7-ABB7-47C6192CB29D}"/>
              </a:ext>
            </a:extLst>
          </p:cNvPr>
          <p:cNvSpPr/>
          <p:nvPr/>
        </p:nvSpPr>
        <p:spPr>
          <a:xfrm>
            <a:off x="402787" y="443921"/>
            <a:ext cx="8522250" cy="307777"/>
          </a:xfrm>
          <a:prstGeom prst="rect">
            <a:avLst/>
          </a:prstGeom>
        </p:spPr>
        <p:txBody>
          <a:bodyPr wrap="square">
            <a:spAutoFit/>
          </a:bodyPr>
          <a:lstStyle/>
          <a:p>
            <a:r>
              <a:rPr lang="es-ES" sz="1400" dirty="0">
                <a:solidFill>
                  <a:srgbClr val="2C5697"/>
                </a:solidFill>
                <a:latin typeface="Arial"/>
                <a:cs typeface="Arial"/>
                <a:sym typeface="Times New Roman"/>
              </a:rPr>
              <a:t>Sistemas de calibración y de medida multipunto</a:t>
            </a:r>
            <a:endParaRPr lang="es-CO" sz="1400" dirty="0"/>
          </a:p>
        </p:txBody>
      </p:sp>
      <p:pic>
        <p:nvPicPr>
          <p:cNvPr id="2" name="Imagen 1">
            <a:extLst>
              <a:ext uri="{FF2B5EF4-FFF2-40B4-BE49-F238E27FC236}">
                <a16:creationId xmlns:a16="http://schemas.microsoft.com/office/drawing/2014/main" id="{574078D4-BB05-4628-9065-370B6C72AC6C}"/>
              </a:ext>
            </a:extLst>
          </p:cNvPr>
          <p:cNvPicPr>
            <a:picLocks noChangeAspect="1"/>
          </p:cNvPicPr>
          <p:nvPr/>
        </p:nvPicPr>
        <p:blipFill>
          <a:blip r:embed="rId4"/>
          <a:stretch>
            <a:fillRect/>
          </a:stretch>
        </p:blipFill>
        <p:spPr>
          <a:xfrm>
            <a:off x="50318" y="1950590"/>
            <a:ext cx="4404535" cy="2179025"/>
          </a:xfrm>
          <a:prstGeom prst="rect">
            <a:avLst/>
          </a:prstGeom>
        </p:spPr>
      </p:pic>
      <p:pic>
        <p:nvPicPr>
          <p:cNvPr id="3" name="Imagen 2">
            <a:extLst>
              <a:ext uri="{FF2B5EF4-FFF2-40B4-BE49-F238E27FC236}">
                <a16:creationId xmlns:a16="http://schemas.microsoft.com/office/drawing/2014/main" id="{4E764471-6B24-49FF-927C-F5E08C73F6C0}"/>
              </a:ext>
            </a:extLst>
          </p:cNvPr>
          <p:cNvPicPr>
            <a:picLocks noChangeAspect="1"/>
          </p:cNvPicPr>
          <p:nvPr/>
        </p:nvPicPr>
        <p:blipFill>
          <a:blip r:embed="rId5"/>
          <a:stretch>
            <a:fillRect/>
          </a:stretch>
        </p:blipFill>
        <p:spPr>
          <a:xfrm>
            <a:off x="4733571" y="744851"/>
            <a:ext cx="4233780" cy="4555614"/>
          </a:xfrm>
          <a:prstGeom prst="rect">
            <a:avLst/>
          </a:prstGeom>
          <a:ln>
            <a:solidFill>
              <a:srgbClr val="7030A0"/>
            </a:solidFill>
          </a:ln>
        </p:spPr>
      </p:pic>
    </p:spTree>
    <p:custDataLst>
      <p:tags r:id="rId1"/>
    </p:custDataLst>
    <p:extLst>
      <p:ext uri="{BB962C8B-B14F-4D97-AF65-F5344CB8AC3E}">
        <p14:creationId xmlns:p14="http://schemas.microsoft.com/office/powerpoint/2010/main" val="2931989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Celdas de carga </a:t>
            </a:r>
            <a:r>
              <a:rPr lang="es-ES" sz="1400" dirty="0">
                <a:solidFill>
                  <a:srgbClr val="2C5697"/>
                </a:solidFill>
                <a:latin typeface="Arial"/>
                <a:cs typeface="Arial"/>
                <a:sym typeface="Times New Roman"/>
              </a:rPr>
              <a:t>(</a:t>
            </a:r>
            <a:r>
              <a:rPr lang="es-ES" sz="1400" i="1" dirty="0">
                <a:solidFill>
                  <a:srgbClr val="2C5697"/>
                </a:solidFill>
                <a:latin typeface="Arial"/>
                <a:cs typeface="Arial"/>
                <a:sym typeface="Times New Roman"/>
              </a:rPr>
              <a:t>load </a:t>
            </a:r>
            <a:r>
              <a:rPr lang="es-ES" sz="1400" i="1" dirty="0" err="1">
                <a:solidFill>
                  <a:srgbClr val="2C5697"/>
                </a:solidFill>
                <a:latin typeface="Arial"/>
                <a:cs typeface="Arial"/>
                <a:sym typeface="Times New Roman"/>
              </a:rPr>
              <a:t>cell</a:t>
            </a:r>
            <a:r>
              <a:rPr lang="es-ES" sz="1400" dirty="0">
                <a:solidFill>
                  <a:srgbClr val="2C5697"/>
                </a:solidFill>
                <a:latin typeface="Arial"/>
                <a:cs typeface="Arial"/>
                <a:sym typeface="Times New Roman"/>
              </a:rPr>
              <a:t>)</a:t>
            </a:r>
            <a:endParaRPr lang="en-US" dirty="0"/>
          </a:p>
        </p:txBody>
      </p:sp>
      <p:sp>
        <p:nvSpPr>
          <p:cNvPr id="20" name="Rectángulo 19">
            <a:extLst>
              <a:ext uri="{FF2B5EF4-FFF2-40B4-BE49-F238E27FC236}">
                <a16:creationId xmlns:a16="http://schemas.microsoft.com/office/drawing/2014/main" id="{31A70EC2-07B0-42A7-ABB7-47C6192CB29D}"/>
              </a:ext>
            </a:extLst>
          </p:cNvPr>
          <p:cNvSpPr/>
          <p:nvPr/>
        </p:nvSpPr>
        <p:spPr>
          <a:xfrm>
            <a:off x="21249" y="474144"/>
            <a:ext cx="8958628" cy="523220"/>
          </a:xfrm>
          <a:prstGeom prst="rect">
            <a:avLst/>
          </a:prstGeom>
        </p:spPr>
        <p:txBody>
          <a:bodyPr wrap="square">
            <a:spAutoFit/>
          </a:bodyPr>
          <a:lstStyle/>
          <a:p>
            <a:r>
              <a:rPr lang="es-ES" sz="1400" dirty="0">
                <a:solidFill>
                  <a:srgbClr val="2C5697"/>
                </a:solidFill>
                <a:latin typeface="Arial"/>
                <a:cs typeface="Arial"/>
                <a:sym typeface="Times New Roman"/>
              </a:rPr>
              <a:t>Dispositivo mecánico para </a:t>
            </a:r>
            <a:r>
              <a:rPr lang="es-ES" sz="1400" dirty="0">
                <a:solidFill>
                  <a:schemeClr val="accent2">
                    <a:lumMod val="75000"/>
                  </a:schemeClr>
                </a:solidFill>
                <a:latin typeface="Arial"/>
                <a:cs typeface="Arial"/>
                <a:sym typeface="Times New Roman"/>
              </a:rPr>
              <a:t>medida de peso</a:t>
            </a:r>
            <a:r>
              <a:rPr lang="es-ES" sz="1400" dirty="0">
                <a:solidFill>
                  <a:srgbClr val="2C5697"/>
                </a:solidFill>
                <a:latin typeface="Arial"/>
                <a:cs typeface="Arial"/>
                <a:sym typeface="Times New Roman"/>
              </a:rPr>
              <a:t>, que transforma ese peso </a:t>
            </a:r>
            <a:r>
              <a:rPr lang="es-ES" sz="1400" dirty="0">
                <a:solidFill>
                  <a:schemeClr val="accent2">
                    <a:lumMod val="75000"/>
                  </a:schemeClr>
                </a:solidFill>
                <a:latin typeface="Arial"/>
                <a:cs typeface="Arial"/>
                <a:sym typeface="Times New Roman"/>
              </a:rPr>
              <a:t>en una elongación</a:t>
            </a:r>
            <a:r>
              <a:rPr lang="es-ES" sz="1400" dirty="0">
                <a:solidFill>
                  <a:srgbClr val="2C5697"/>
                </a:solidFill>
                <a:latin typeface="Arial"/>
                <a:cs typeface="Arial"/>
                <a:sym typeface="Times New Roman"/>
              </a:rPr>
              <a:t> que las galgas pueden detectar.</a:t>
            </a:r>
            <a:endParaRPr lang="es-CO" sz="1400" dirty="0"/>
          </a:p>
        </p:txBody>
      </p:sp>
      <p:pic>
        <p:nvPicPr>
          <p:cNvPr id="4" name="Imagen 3">
            <a:extLst>
              <a:ext uri="{FF2B5EF4-FFF2-40B4-BE49-F238E27FC236}">
                <a16:creationId xmlns:a16="http://schemas.microsoft.com/office/drawing/2014/main" id="{98309171-D0A7-4AE0-9D6B-D5043B2C0CDA}"/>
              </a:ext>
            </a:extLst>
          </p:cNvPr>
          <p:cNvPicPr>
            <a:picLocks noChangeAspect="1"/>
          </p:cNvPicPr>
          <p:nvPr/>
        </p:nvPicPr>
        <p:blipFill>
          <a:blip r:embed="rId6"/>
          <a:stretch>
            <a:fillRect/>
          </a:stretch>
        </p:blipFill>
        <p:spPr>
          <a:xfrm>
            <a:off x="328692" y="1172955"/>
            <a:ext cx="3834925" cy="1834095"/>
          </a:xfrm>
          <a:prstGeom prst="rect">
            <a:avLst/>
          </a:prstGeom>
        </p:spPr>
      </p:pic>
      <p:pic>
        <p:nvPicPr>
          <p:cNvPr id="5" name="Imagen 4">
            <a:extLst>
              <a:ext uri="{FF2B5EF4-FFF2-40B4-BE49-F238E27FC236}">
                <a16:creationId xmlns:a16="http://schemas.microsoft.com/office/drawing/2014/main" id="{669295B4-BB11-4C87-90A0-372754E6F2D8}"/>
              </a:ext>
            </a:extLst>
          </p:cNvPr>
          <p:cNvPicPr>
            <a:picLocks noChangeAspect="1"/>
          </p:cNvPicPr>
          <p:nvPr/>
        </p:nvPicPr>
        <p:blipFill>
          <a:blip r:embed="rId7"/>
          <a:stretch>
            <a:fillRect/>
          </a:stretch>
        </p:blipFill>
        <p:spPr>
          <a:xfrm>
            <a:off x="328692" y="3344323"/>
            <a:ext cx="4320305" cy="2389259"/>
          </a:xfrm>
          <a:prstGeom prst="rect">
            <a:avLst/>
          </a:prstGeom>
        </p:spPr>
      </p:pic>
      <p:pic>
        <p:nvPicPr>
          <p:cNvPr id="2" name="RespuestaPuente">
            <a:hlinkClick r:id="" action="ppaction://media"/>
            <a:extLst>
              <a:ext uri="{FF2B5EF4-FFF2-40B4-BE49-F238E27FC236}">
                <a16:creationId xmlns:a16="http://schemas.microsoft.com/office/drawing/2014/main" id="{AA65359B-F0DE-85DE-4A8D-7DA1F49BABCA}"/>
              </a:ext>
            </a:extLst>
          </p:cNvPr>
          <p:cNvPicPr>
            <a:picLocks noChangeAspect="1"/>
          </p:cNvPicPr>
          <p:nvPr>
            <a:videoFile r:link="rId3"/>
            <p:extLst>
              <p:ext uri="{DAA4B4D4-6D71-4841-9C94-3DE7FCFB9230}">
                <p14:media xmlns:p14="http://schemas.microsoft.com/office/powerpoint/2010/main" r:embed="rId2"/>
              </p:ext>
            </p:extLst>
          </p:nvPr>
        </p:nvPicPr>
        <p:blipFill>
          <a:blip r:embed="rId8"/>
          <a:stretch>
            <a:fillRect/>
          </a:stretch>
        </p:blipFill>
        <p:spPr>
          <a:xfrm>
            <a:off x="4861668" y="1533580"/>
            <a:ext cx="4185665" cy="3621485"/>
          </a:xfrm>
          <a:prstGeom prst="rect">
            <a:avLst/>
          </a:prstGeom>
        </p:spPr>
      </p:pic>
    </p:spTree>
    <p:custDataLst>
      <p:tags r:id="rId1"/>
    </p:custDataLst>
    <p:extLst>
      <p:ext uri="{BB962C8B-B14F-4D97-AF65-F5344CB8AC3E}">
        <p14:creationId xmlns:p14="http://schemas.microsoft.com/office/powerpoint/2010/main" val="10141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Load Sensor - 50kg (Generic)">
            <a:extLst>
              <a:ext uri="{FF2B5EF4-FFF2-40B4-BE49-F238E27FC236}">
                <a16:creationId xmlns:a16="http://schemas.microsoft.com/office/drawing/2014/main" id="{0EE30EA3-665A-4A45-BE53-B8690779BDF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7704" b="16287"/>
          <a:stretch/>
        </p:blipFill>
        <p:spPr bwMode="auto">
          <a:xfrm>
            <a:off x="5496983" y="1634010"/>
            <a:ext cx="2044700" cy="1349704"/>
          </a:xfrm>
          <a:prstGeom prst="rect">
            <a:avLst/>
          </a:prstGeom>
          <a:noFill/>
          <a:extLst>
            <a:ext uri="{909E8E84-426E-40DD-AFC4-6F175D3DCCD1}">
              <a14:hiddenFill xmlns:a14="http://schemas.microsoft.com/office/drawing/2010/main">
                <a:solidFill>
                  <a:srgbClr val="FFFFFF"/>
                </a:solidFill>
              </a14:hiddenFill>
            </a:ext>
          </a:extLst>
        </p:spPr>
      </p:pic>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Celdas de carga </a:t>
            </a:r>
            <a:r>
              <a:rPr lang="es-ES" sz="1400" dirty="0">
                <a:solidFill>
                  <a:srgbClr val="2C5697"/>
                </a:solidFill>
                <a:latin typeface="Arial"/>
                <a:cs typeface="Arial"/>
                <a:sym typeface="Times New Roman"/>
              </a:rPr>
              <a:t>(</a:t>
            </a:r>
            <a:r>
              <a:rPr lang="es-ES" sz="1400" i="1" dirty="0">
                <a:solidFill>
                  <a:srgbClr val="2C5697"/>
                </a:solidFill>
                <a:latin typeface="Arial"/>
                <a:cs typeface="Arial"/>
                <a:sym typeface="Times New Roman"/>
              </a:rPr>
              <a:t>load </a:t>
            </a:r>
            <a:r>
              <a:rPr lang="es-ES" sz="1400" i="1" dirty="0" err="1">
                <a:solidFill>
                  <a:srgbClr val="2C5697"/>
                </a:solidFill>
                <a:latin typeface="Arial"/>
                <a:cs typeface="Arial"/>
                <a:sym typeface="Times New Roman"/>
              </a:rPr>
              <a:t>cell</a:t>
            </a:r>
            <a:r>
              <a:rPr lang="es-ES" sz="1400" dirty="0">
                <a:solidFill>
                  <a:srgbClr val="2C5697"/>
                </a:solidFill>
                <a:latin typeface="Arial"/>
                <a:cs typeface="Arial"/>
                <a:sym typeface="Times New Roman"/>
              </a:rPr>
              <a:t>)</a:t>
            </a:r>
            <a:endParaRPr lang="en-US" dirty="0"/>
          </a:p>
        </p:txBody>
      </p:sp>
      <p:sp>
        <p:nvSpPr>
          <p:cNvPr id="20" name="Rectángulo 19">
            <a:extLst>
              <a:ext uri="{FF2B5EF4-FFF2-40B4-BE49-F238E27FC236}">
                <a16:creationId xmlns:a16="http://schemas.microsoft.com/office/drawing/2014/main" id="{31A70EC2-07B0-42A7-ABB7-47C6192CB29D}"/>
              </a:ext>
            </a:extLst>
          </p:cNvPr>
          <p:cNvSpPr/>
          <p:nvPr/>
        </p:nvSpPr>
        <p:spPr>
          <a:xfrm>
            <a:off x="21249" y="474144"/>
            <a:ext cx="8958628" cy="523220"/>
          </a:xfrm>
          <a:prstGeom prst="rect">
            <a:avLst/>
          </a:prstGeom>
        </p:spPr>
        <p:txBody>
          <a:bodyPr wrap="square">
            <a:spAutoFit/>
          </a:bodyPr>
          <a:lstStyle/>
          <a:p>
            <a:r>
              <a:rPr lang="es-ES" sz="1400" dirty="0">
                <a:solidFill>
                  <a:srgbClr val="2C5697"/>
                </a:solidFill>
                <a:latin typeface="Arial"/>
                <a:cs typeface="Arial"/>
                <a:sym typeface="Times New Roman"/>
              </a:rPr>
              <a:t>Se pueden usar sistemas de medida de peso distribuidos para ganar precisión. El peso final será la suma de cada celda.</a:t>
            </a:r>
            <a:endParaRPr lang="es-CO" sz="1400" dirty="0"/>
          </a:p>
        </p:txBody>
      </p:sp>
      <p:pic>
        <p:nvPicPr>
          <p:cNvPr id="2" name="Imagen 1">
            <a:extLst>
              <a:ext uri="{FF2B5EF4-FFF2-40B4-BE49-F238E27FC236}">
                <a16:creationId xmlns:a16="http://schemas.microsoft.com/office/drawing/2014/main" id="{CD908C2A-2F1B-4A25-B61A-3F53025481C4}"/>
              </a:ext>
            </a:extLst>
          </p:cNvPr>
          <p:cNvPicPr>
            <a:picLocks noChangeAspect="1"/>
          </p:cNvPicPr>
          <p:nvPr/>
        </p:nvPicPr>
        <p:blipFill>
          <a:blip r:embed="rId5"/>
          <a:stretch>
            <a:fillRect/>
          </a:stretch>
        </p:blipFill>
        <p:spPr>
          <a:xfrm>
            <a:off x="308431" y="1995541"/>
            <a:ext cx="4575038" cy="2685177"/>
          </a:xfrm>
          <a:prstGeom prst="rect">
            <a:avLst/>
          </a:prstGeom>
        </p:spPr>
      </p:pic>
      <p:pic>
        <p:nvPicPr>
          <p:cNvPr id="6" name="Imagen 5">
            <a:extLst>
              <a:ext uri="{FF2B5EF4-FFF2-40B4-BE49-F238E27FC236}">
                <a16:creationId xmlns:a16="http://schemas.microsoft.com/office/drawing/2014/main" id="{ED3A0D1B-DD9E-41AF-8A1B-2D2A176409A4}"/>
              </a:ext>
            </a:extLst>
          </p:cNvPr>
          <p:cNvPicPr>
            <a:picLocks noChangeAspect="1"/>
          </p:cNvPicPr>
          <p:nvPr/>
        </p:nvPicPr>
        <p:blipFill>
          <a:blip r:embed="rId6"/>
          <a:stretch>
            <a:fillRect/>
          </a:stretch>
        </p:blipFill>
        <p:spPr>
          <a:xfrm>
            <a:off x="6973612" y="2308862"/>
            <a:ext cx="1540972" cy="1259684"/>
          </a:xfrm>
          <a:prstGeom prst="rect">
            <a:avLst/>
          </a:prstGeom>
        </p:spPr>
      </p:pic>
      <p:sp>
        <p:nvSpPr>
          <p:cNvPr id="9" name="Rectángulo 8">
            <a:extLst>
              <a:ext uri="{FF2B5EF4-FFF2-40B4-BE49-F238E27FC236}">
                <a16:creationId xmlns:a16="http://schemas.microsoft.com/office/drawing/2014/main" id="{C58F692B-3D87-4861-8F41-4C913E4FE008}"/>
              </a:ext>
            </a:extLst>
          </p:cNvPr>
          <p:cNvSpPr/>
          <p:nvPr/>
        </p:nvSpPr>
        <p:spPr>
          <a:xfrm>
            <a:off x="6764206" y="5246154"/>
            <a:ext cx="2215671" cy="200055"/>
          </a:xfrm>
          <a:prstGeom prst="rect">
            <a:avLst/>
          </a:prstGeom>
        </p:spPr>
        <p:txBody>
          <a:bodyPr wrap="none">
            <a:spAutoFit/>
          </a:bodyPr>
          <a:lstStyle/>
          <a:p>
            <a:r>
              <a:rPr lang="es-ES" sz="700" dirty="0">
                <a:latin typeface="Arial"/>
              </a:rPr>
              <a:t>Fuente: https://www.sparkfun.com/products/10245 </a:t>
            </a:r>
            <a:endParaRPr lang="es-CO" sz="700" dirty="0"/>
          </a:p>
        </p:txBody>
      </p:sp>
      <p:pic>
        <p:nvPicPr>
          <p:cNvPr id="1028" name="Picture 4" descr="SparkFun bar load cell">
            <a:extLst>
              <a:ext uri="{FF2B5EF4-FFF2-40B4-BE49-F238E27FC236}">
                <a16:creationId xmlns:a16="http://schemas.microsoft.com/office/drawing/2014/main" id="{B6D1B7F9-F3EB-4EA4-B7C8-3F53CA5B22E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599" y="3855518"/>
            <a:ext cx="1773767" cy="130371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64197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Otras aplicaciones de las galgas</a:t>
            </a:r>
            <a:endParaRPr lang="en-US" dirty="0"/>
          </a:p>
        </p:txBody>
      </p:sp>
      <p:sp>
        <p:nvSpPr>
          <p:cNvPr id="20" name="Rectángulo 19">
            <a:extLst>
              <a:ext uri="{FF2B5EF4-FFF2-40B4-BE49-F238E27FC236}">
                <a16:creationId xmlns:a16="http://schemas.microsoft.com/office/drawing/2014/main" id="{31A70EC2-07B0-42A7-ABB7-47C6192CB29D}"/>
              </a:ext>
            </a:extLst>
          </p:cNvPr>
          <p:cNvSpPr/>
          <p:nvPr/>
        </p:nvSpPr>
        <p:spPr>
          <a:xfrm>
            <a:off x="21249" y="474144"/>
            <a:ext cx="8958628" cy="307777"/>
          </a:xfrm>
          <a:prstGeom prst="rect">
            <a:avLst/>
          </a:prstGeom>
        </p:spPr>
        <p:txBody>
          <a:bodyPr wrap="square">
            <a:spAutoFit/>
          </a:bodyPr>
          <a:lstStyle/>
          <a:p>
            <a:r>
              <a:rPr lang="es-ES" sz="1400" dirty="0">
                <a:solidFill>
                  <a:srgbClr val="2C5697"/>
                </a:solidFill>
                <a:latin typeface="Arial"/>
                <a:cs typeface="Arial"/>
                <a:sym typeface="Times New Roman"/>
              </a:rPr>
              <a:t>Una deformación puede ocurrir por la acción de cualquier fuerza: </a:t>
            </a:r>
            <a:r>
              <a:rPr lang="es-ES" sz="1400" dirty="0">
                <a:solidFill>
                  <a:schemeClr val="accent2">
                    <a:lumMod val="75000"/>
                  </a:schemeClr>
                </a:solidFill>
                <a:latin typeface="Arial"/>
                <a:cs typeface="Arial"/>
                <a:sym typeface="Times New Roman"/>
              </a:rPr>
              <a:t>presión</a:t>
            </a:r>
            <a:r>
              <a:rPr lang="es-ES" sz="1400" dirty="0">
                <a:solidFill>
                  <a:srgbClr val="2C5697"/>
                </a:solidFill>
                <a:latin typeface="Arial"/>
                <a:cs typeface="Arial"/>
                <a:sym typeface="Times New Roman"/>
              </a:rPr>
              <a:t>, </a:t>
            </a:r>
            <a:r>
              <a:rPr lang="es-ES" sz="1400" dirty="0">
                <a:solidFill>
                  <a:schemeClr val="accent2">
                    <a:lumMod val="75000"/>
                  </a:schemeClr>
                </a:solidFill>
                <a:latin typeface="Arial"/>
                <a:cs typeface="Arial"/>
                <a:sym typeface="Times New Roman"/>
              </a:rPr>
              <a:t>aceleración</a:t>
            </a:r>
            <a:r>
              <a:rPr lang="es-ES" sz="1400" dirty="0">
                <a:solidFill>
                  <a:srgbClr val="2C5697"/>
                </a:solidFill>
                <a:latin typeface="Arial"/>
                <a:cs typeface="Arial"/>
                <a:sym typeface="Times New Roman"/>
              </a:rPr>
              <a:t>, etc.</a:t>
            </a:r>
            <a:endParaRPr lang="es-CO" sz="1400" dirty="0"/>
          </a:p>
        </p:txBody>
      </p:sp>
      <p:pic>
        <p:nvPicPr>
          <p:cNvPr id="5" name="Imagen 4">
            <a:extLst>
              <a:ext uri="{FF2B5EF4-FFF2-40B4-BE49-F238E27FC236}">
                <a16:creationId xmlns:a16="http://schemas.microsoft.com/office/drawing/2014/main" id="{83AD6FC4-551A-42E8-AFEB-72E033414C9E}"/>
              </a:ext>
            </a:extLst>
          </p:cNvPr>
          <p:cNvPicPr>
            <a:picLocks noChangeAspect="1"/>
          </p:cNvPicPr>
          <p:nvPr/>
        </p:nvPicPr>
        <p:blipFill>
          <a:blip r:embed="rId6"/>
          <a:stretch>
            <a:fillRect/>
          </a:stretch>
        </p:blipFill>
        <p:spPr>
          <a:xfrm>
            <a:off x="214424" y="1096548"/>
            <a:ext cx="4884471" cy="2467741"/>
          </a:xfrm>
          <a:prstGeom prst="rect">
            <a:avLst/>
          </a:prstGeom>
        </p:spPr>
      </p:pic>
      <p:pic>
        <p:nvPicPr>
          <p:cNvPr id="9" name="Imagen 8">
            <a:extLst>
              <a:ext uri="{FF2B5EF4-FFF2-40B4-BE49-F238E27FC236}">
                <a16:creationId xmlns:a16="http://schemas.microsoft.com/office/drawing/2014/main" id="{9FAC1883-BCFF-4F2D-9BD3-8A1F71D40727}"/>
              </a:ext>
            </a:extLst>
          </p:cNvPr>
          <p:cNvPicPr>
            <a:picLocks noChangeAspect="1"/>
          </p:cNvPicPr>
          <p:nvPr/>
        </p:nvPicPr>
        <p:blipFill>
          <a:blip r:embed="rId7"/>
          <a:stretch>
            <a:fillRect/>
          </a:stretch>
        </p:blipFill>
        <p:spPr>
          <a:xfrm>
            <a:off x="1649772" y="3878917"/>
            <a:ext cx="2013774" cy="1946367"/>
          </a:xfrm>
          <a:prstGeom prst="rect">
            <a:avLst/>
          </a:prstGeom>
          <a:ln>
            <a:solidFill>
              <a:schemeClr val="accent2">
                <a:lumMod val="75000"/>
              </a:schemeClr>
            </a:solidFill>
          </a:ln>
        </p:spPr>
      </p:pic>
      <p:pic>
        <p:nvPicPr>
          <p:cNvPr id="2" name="Galga_Peso">
            <a:hlinkClick r:id="" action="ppaction://media"/>
            <a:extLst>
              <a:ext uri="{FF2B5EF4-FFF2-40B4-BE49-F238E27FC236}">
                <a16:creationId xmlns:a16="http://schemas.microsoft.com/office/drawing/2014/main" id="{3D1A9F46-0C82-77C2-780A-58E247B44906}"/>
              </a:ext>
            </a:extLst>
          </p:cNvPr>
          <p:cNvPicPr>
            <a:picLocks noChangeAspect="1"/>
          </p:cNvPicPr>
          <p:nvPr>
            <a:videoFile r:link="rId3"/>
            <p:extLst>
              <p:ext uri="{DAA4B4D4-6D71-4841-9C94-3DE7FCFB9230}">
                <p14:media xmlns:p14="http://schemas.microsoft.com/office/powerpoint/2010/main" r:embed="rId2"/>
              </p:ext>
            </p:extLst>
          </p:nvPr>
        </p:nvPicPr>
        <p:blipFill>
          <a:blip r:embed="rId8"/>
          <a:stretch>
            <a:fillRect/>
          </a:stretch>
        </p:blipFill>
        <p:spPr>
          <a:xfrm>
            <a:off x="5326707" y="1602415"/>
            <a:ext cx="3653170" cy="3653170"/>
          </a:xfrm>
          <a:prstGeom prst="rect">
            <a:avLst/>
          </a:prstGeom>
        </p:spPr>
      </p:pic>
    </p:spTree>
    <p:custDataLst>
      <p:tags r:id="rId1"/>
    </p:custDataLst>
    <p:extLst>
      <p:ext uri="{BB962C8B-B14F-4D97-AF65-F5344CB8AC3E}">
        <p14:creationId xmlns:p14="http://schemas.microsoft.com/office/powerpoint/2010/main" val="3637992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
        <p:nvSpPr>
          <p:cNvPr id="7" name="TextBox 32">
            <a:extLst>
              <a:ext uri="{FF2B5EF4-FFF2-40B4-BE49-F238E27FC236}">
                <a16:creationId xmlns:a16="http://schemas.microsoft.com/office/drawing/2014/main" id="{5D545921-BEF1-47EB-B4BC-86A207E6B2C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3BC446B1-D4B9-4DD4-B76B-0FA14A4CA76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3BC0084-F5DC-48DD-A3CA-AD8615921AD0}"/>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Otras aplicaciones de las galgas</a:t>
            </a:r>
            <a:endParaRPr lang="en-US" dirty="0"/>
          </a:p>
        </p:txBody>
      </p:sp>
      <p:sp>
        <p:nvSpPr>
          <p:cNvPr id="20" name="Rectángulo 19">
            <a:extLst>
              <a:ext uri="{FF2B5EF4-FFF2-40B4-BE49-F238E27FC236}">
                <a16:creationId xmlns:a16="http://schemas.microsoft.com/office/drawing/2014/main" id="{31A70EC2-07B0-42A7-ABB7-47C6192CB29D}"/>
              </a:ext>
            </a:extLst>
          </p:cNvPr>
          <p:cNvSpPr/>
          <p:nvPr/>
        </p:nvSpPr>
        <p:spPr>
          <a:xfrm>
            <a:off x="21249" y="474144"/>
            <a:ext cx="8958628" cy="307777"/>
          </a:xfrm>
          <a:prstGeom prst="rect">
            <a:avLst/>
          </a:prstGeom>
        </p:spPr>
        <p:txBody>
          <a:bodyPr wrap="square">
            <a:spAutoFit/>
          </a:bodyPr>
          <a:lstStyle/>
          <a:p>
            <a:r>
              <a:rPr lang="es-ES" sz="1400" dirty="0">
                <a:solidFill>
                  <a:srgbClr val="2C5697"/>
                </a:solidFill>
                <a:latin typeface="Arial"/>
                <a:cs typeface="Arial"/>
                <a:sym typeface="Times New Roman"/>
              </a:rPr>
              <a:t>Una deformación puede ocurrir por la acción de cualquier fuerza: </a:t>
            </a:r>
            <a:r>
              <a:rPr lang="es-ES" sz="1400" dirty="0">
                <a:solidFill>
                  <a:schemeClr val="accent2">
                    <a:lumMod val="75000"/>
                  </a:schemeClr>
                </a:solidFill>
                <a:latin typeface="Arial"/>
                <a:cs typeface="Arial"/>
                <a:sym typeface="Times New Roman"/>
              </a:rPr>
              <a:t>presión</a:t>
            </a:r>
            <a:r>
              <a:rPr lang="es-ES" sz="1400" dirty="0">
                <a:solidFill>
                  <a:srgbClr val="2C5697"/>
                </a:solidFill>
                <a:latin typeface="Arial"/>
                <a:cs typeface="Arial"/>
                <a:sym typeface="Times New Roman"/>
              </a:rPr>
              <a:t>, </a:t>
            </a:r>
            <a:r>
              <a:rPr lang="es-ES" sz="1400" dirty="0">
                <a:solidFill>
                  <a:schemeClr val="accent2">
                    <a:lumMod val="75000"/>
                  </a:schemeClr>
                </a:solidFill>
                <a:latin typeface="Arial"/>
                <a:cs typeface="Arial"/>
                <a:sym typeface="Times New Roman"/>
              </a:rPr>
              <a:t>aceleración</a:t>
            </a:r>
            <a:r>
              <a:rPr lang="es-ES" sz="1400" dirty="0">
                <a:solidFill>
                  <a:srgbClr val="2C5697"/>
                </a:solidFill>
                <a:latin typeface="Arial"/>
                <a:cs typeface="Arial"/>
                <a:sym typeface="Times New Roman"/>
              </a:rPr>
              <a:t>, etc.</a:t>
            </a:r>
            <a:endParaRPr lang="es-CO" sz="1400" dirty="0"/>
          </a:p>
        </p:txBody>
      </p:sp>
      <p:pic>
        <p:nvPicPr>
          <p:cNvPr id="10" name="Imagen 9">
            <a:extLst>
              <a:ext uri="{FF2B5EF4-FFF2-40B4-BE49-F238E27FC236}">
                <a16:creationId xmlns:a16="http://schemas.microsoft.com/office/drawing/2014/main" id="{62FDF78B-FA51-46C3-BB75-BF7091535EFC}"/>
              </a:ext>
            </a:extLst>
          </p:cNvPr>
          <p:cNvPicPr>
            <a:picLocks noChangeAspect="1"/>
          </p:cNvPicPr>
          <p:nvPr/>
        </p:nvPicPr>
        <p:blipFill>
          <a:blip r:embed="rId4"/>
          <a:stretch>
            <a:fillRect/>
          </a:stretch>
        </p:blipFill>
        <p:spPr>
          <a:xfrm>
            <a:off x="541180" y="1214500"/>
            <a:ext cx="4416228" cy="1637331"/>
          </a:xfrm>
          <a:prstGeom prst="rect">
            <a:avLst/>
          </a:prstGeom>
        </p:spPr>
      </p:pic>
      <p:pic>
        <p:nvPicPr>
          <p:cNvPr id="12" name="Imagen 11">
            <a:extLst>
              <a:ext uri="{FF2B5EF4-FFF2-40B4-BE49-F238E27FC236}">
                <a16:creationId xmlns:a16="http://schemas.microsoft.com/office/drawing/2014/main" id="{FDD2C7DA-9640-43A0-996E-78A7A1068A6B}"/>
              </a:ext>
            </a:extLst>
          </p:cNvPr>
          <p:cNvPicPr>
            <a:picLocks noChangeAspect="1"/>
          </p:cNvPicPr>
          <p:nvPr/>
        </p:nvPicPr>
        <p:blipFill>
          <a:blip r:embed="rId5"/>
          <a:stretch>
            <a:fillRect/>
          </a:stretch>
        </p:blipFill>
        <p:spPr>
          <a:xfrm>
            <a:off x="261463" y="3462079"/>
            <a:ext cx="4727252" cy="1963533"/>
          </a:xfrm>
          <a:prstGeom prst="rect">
            <a:avLst/>
          </a:prstGeom>
        </p:spPr>
      </p:pic>
      <p:pic>
        <p:nvPicPr>
          <p:cNvPr id="3" name="Imagen 2">
            <a:extLst>
              <a:ext uri="{FF2B5EF4-FFF2-40B4-BE49-F238E27FC236}">
                <a16:creationId xmlns:a16="http://schemas.microsoft.com/office/drawing/2014/main" id="{C695570A-1320-4B95-BEB5-63F3BB0E23DC}"/>
              </a:ext>
            </a:extLst>
          </p:cNvPr>
          <p:cNvPicPr>
            <a:picLocks noChangeAspect="1"/>
          </p:cNvPicPr>
          <p:nvPr/>
        </p:nvPicPr>
        <p:blipFill>
          <a:blip r:embed="rId6"/>
          <a:stretch>
            <a:fillRect/>
          </a:stretch>
        </p:blipFill>
        <p:spPr>
          <a:xfrm>
            <a:off x="6341228" y="1731986"/>
            <a:ext cx="1437189" cy="398257"/>
          </a:xfrm>
          <a:prstGeom prst="rect">
            <a:avLst/>
          </a:prstGeom>
        </p:spPr>
      </p:pic>
      <p:pic>
        <p:nvPicPr>
          <p:cNvPr id="4" name="Imagen 3">
            <a:extLst>
              <a:ext uri="{FF2B5EF4-FFF2-40B4-BE49-F238E27FC236}">
                <a16:creationId xmlns:a16="http://schemas.microsoft.com/office/drawing/2014/main" id="{9017D86D-44A2-4CBE-80C6-383E5BEC071A}"/>
              </a:ext>
            </a:extLst>
          </p:cNvPr>
          <p:cNvPicPr>
            <a:picLocks noChangeAspect="1"/>
          </p:cNvPicPr>
          <p:nvPr/>
        </p:nvPicPr>
        <p:blipFill>
          <a:blip r:embed="rId7"/>
          <a:stretch>
            <a:fillRect/>
          </a:stretch>
        </p:blipFill>
        <p:spPr>
          <a:xfrm>
            <a:off x="6610655" y="2298319"/>
            <a:ext cx="898335" cy="456412"/>
          </a:xfrm>
          <a:prstGeom prst="rect">
            <a:avLst/>
          </a:prstGeom>
        </p:spPr>
      </p:pic>
      <p:pic>
        <p:nvPicPr>
          <p:cNvPr id="6" name="Imagen 5">
            <a:extLst>
              <a:ext uri="{FF2B5EF4-FFF2-40B4-BE49-F238E27FC236}">
                <a16:creationId xmlns:a16="http://schemas.microsoft.com/office/drawing/2014/main" id="{1B1D0B3A-BB7E-488F-8A40-0C5B3E365B6A}"/>
              </a:ext>
            </a:extLst>
          </p:cNvPr>
          <p:cNvPicPr>
            <a:picLocks noChangeAspect="1"/>
          </p:cNvPicPr>
          <p:nvPr/>
        </p:nvPicPr>
        <p:blipFill>
          <a:blip r:embed="rId8"/>
          <a:stretch>
            <a:fillRect/>
          </a:stretch>
        </p:blipFill>
        <p:spPr>
          <a:xfrm>
            <a:off x="6001681" y="4549021"/>
            <a:ext cx="2116282" cy="675409"/>
          </a:xfrm>
          <a:prstGeom prst="rect">
            <a:avLst/>
          </a:prstGeom>
        </p:spPr>
      </p:pic>
      <p:sp>
        <p:nvSpPr>
          <p:cNvPr id="13" name="Rectángulo 12">
            <a:extLst>
              <a:ext uri="{FF2B5EF4-FFF2-40B4-BE49-F238E27FC236}">
                <a16:creationId xmlns:a16="http://schemas.microsoft.com/office/drawing/2014/main" id="{6951C7C8-2E9B-4D5E-8EBD-686209A84F83}"/>
              </a:ext>
            </a:extLst>
          </p:cNvPr>
          <p:cNvSpPr/>
          <p:nvPr/>
        </p:nvSpPr>
        <p:spPr>
          <a:xfrm>
            <a:off x="5686359" y="1141065"/>
            <a:ext cx="2746927" cy="523220"/>
          </a:xfrm>
          <a:prstGeom prst="rect">
            <a:avLst/>
          </a:prstGeom>
        </p:spPr>
        <p:txBody>
          <a:bodyPr wrap="square">
            <a:spAutoFit/>
          </a:bodyPr>
          <a:lstStyle/>
          <a:p>
            <a:pPr algn="ctr"/>
            <a:r>
              <a:rPr lang="es-ES" sz="1400" dirty="0">
                <a:solidFill>
                  <a:srgbClr val="2C5697"/>
                </a:solidFill>
                <a:latin typeface="Arial"/>
                <a:cs typeface="Arial"/>
                <a:sym typeface="Times New Roman"/>
              </a:rPr>
              <a:t>Presión hidrostática en función de la altura de líquido</a:t>
            </a:r>
            <a:endParaRPr lang="es-CO" dirty="0"/>
          </a:p>
        </p:txBody>
      </p:sp>
      <p:sp>
        <p:nvSpPr>
          <p:cNvPr id="19" name="Rectángulo 18">
            <a:extLst>
              <a:ext uri="{FF2B5EF4-FFF2-40B4-BE49-F238E27FC236}">
                <a16:creationId xmlns:a16="http://schemas.microsoft.com/office/drawing/2014/main" id="{ABA215C2-6461-427A-BFF6-60F3FADC503F}"/>
              </a:ext>
            </a:extLst>
          </p:cNvPr>
          <p:cNvSpPr/>
          <p:nvPr/>
        </p:nvSpPr>
        <p:spPr>
          <a:xfrm>
            <a:off x="5686359" y="3511724"/>
            <a:ext cx="2746927" cy="707886"/>
          </a:xfrm>
          <a:prstGeom prst="rect">
            <a:avLst/>
          </a:prstGeom>
        </p:spPr>
        <p:txBody>
          <a:bodyPr wrap="square">
            <a:spAutoFit/>
          </a:bodyPr>
          <a:lstStyle/>
          <a:p>
            <a:pPr algn="ctr"/>
            <a:r>
              <a:rPr lang="es-ES" sz="1400" dirty="0">
                <a:solidFill>
                  <a:srgbClr val="2C5697"/>
                </a:solidFill>
                <a:latin typeface="Arial"/>
                <a:cs typeface="Arial"/>
                <a:sym typeface="Times New Roman"/>
              </a:rPr>
              <a:t>Medición de caudal Q, por diferencia de presión</a:t>
            </a:r>
          </a:p>
          <a:p>
            <a:pPr algn="ctr"/>
            <a:r>
              <a:rPr lang="es-ES" sz="1200" dirty="0">
                <a:solidFill>
                  <a:srgbClr val="2C5697"/>
                </a:solidFill>
                <a:latin typeface="Arial"/>
                <a:cs typeface="Arial"/>
                <a:sym typeface="Times New Roman"/>
              </a:rPr>
              <a:t>(Efecto Venturi y </a:t>
            </a:r>
            <a:r>
              <a:rPr lang="es-ES" sz="1200" dirty="0" err="1">
                <a:solidFill>
                  <a:srgbClr val="2C5697"/>
                </a:solidFill>
                <a:latin typeface="Arial"/>
                <a:cs typeface="Arial"/>
                <a:sym typeface="Times New Roman"/>
              </a:rPr>
              <a:t>Ec</a:t>
            </a:r>
            <a:r>
              <a:rPr lang="es-ES" sz="1200" dirty="0">
                <a:solidFill>
                  <a:srgbClr val="2C5697"/>
                </a:solidFill>
                <a:latin typeface="Arial"/>
                <a:cs typeface="Arial"/>
                <a:sym typeface="Times New Roman"/>
              </a:rPr>
              <a:t>. De Bernoulli)</a:t>
            </a:r>
            <a:endParaRPr lang="es-CO" sz="1600" dirty="0"/>
          </a:p>
        </p:txBody>
      </p:sp>
    </p:spTree>
    <p:custDataLst>
      <p:tags r:id="rId1"/>
    </p:custDataLst>
    <p:extLst>
      <p:ext uri="{BB962C8B-B14F-4D97-AF65-F5344CB8AC3E}">
        <p14:creationId xmlns:p14="http://schemas.microsoft.com/office/powerpoint/2010/main" val="2506928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FC423D-82F0-5538-30B1-328F7186B549}"/>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EB2F2CFA-F66B-6112-2E04-2157F46098BD}"/>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E188BBB4-25D2-B7F1-1E3E-EA3A3C280571}"/>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16</a:t>
            </a:fld>
            <a:endParaRPr lang="es-CO" sz="1200" dirty="0">
              <a:solidFill>
                <a:schemeClr val="bg1"/>
              </a:solidFill>
            </a:endParaRPr>
          </a:p>
        </p:txBody>
      </p:sp>
      <p:sp>
        <p:nvSpPr>
          <p:cNvPr id="7" name="TextBox 32">
            <a:extLst>
              <a:ext uri="{FF2B5EF4-FFF2-40B4-BE49-F238E27FC236}">
                <a16:creationId xmlns:a16="http://schemas.microsoft.com/office/drawing/2014/main" id="{117C7C21-1C23-1E36-6AD1-DC560C4C3EA7}"/>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E2C59D67-9840-9057-3A50-42D5167E587C}"/>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BC138D0A-1BAB-FB8B-7DD5-B3D2C5962B42}"/>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Otras aplicaciones en la medicina</a:t>
            </a:r>
            <a:endParaRPr lang="en-US" dirty="0"/>
          </a:p>
        </p:txBody>
      </p:sp>
      <p:sp>
        <p:nvSpPr>
          <p:cNvPr id="20" name="Rectángulo 19">
            <a:extLst>
              <a:ext uri="{FF2B5EF4-FFF2-40B4-BE49-F238E27FC236}">
                <a16:creationId xmlns:a16="http://schemas.microsoft.com/office/drawing/2014/main" id="{83A4FCAE-BC05-D0EF-5319-EB020977329E}"/>
              </a:ext>
            </a:extLst>
          </p:cNvPr>
          <p:cNvSpPr/>
          <p:nvPr/>
        </p:nvSpPr>
        <p:spPr>
          <a:xfrm>
            <a:off x="21248" y="522157"/>
            <a:ext cx="5144281" cy="523220"/>
          </a:xfrm>
          <a:prstGeom prst="rect">
            <a:avLst/>
          </a:prstGeom>
        </p:spPr>
        <p:txBody>
          <a:bodyPr wrap="square">
            <a:spAutoFit/>
          </a:bodyPr>
          <a:lstStyle/>
          <a:p>
            <a:r>
              <a:rPr lang="es-ES" sz="1400" dirty="0">
                <a:solidFill>
                  <a:srgbClr val="2C5697"/>
                </a:solidFill>
                <a:latin typeface="Arial"/>
                <a:cs typeface="Arial"/>
                <a:sym typeface="Times New Roman"/>
              </a:rPr>
              <a:t>La fuerza muscular se ha convertido en uno de los principales marcadores de salud</a:t>
            </a:r>
            <a:endParaRPr lang="es-CO" sz="1400" dirty="0"/>
          </a:p>
        </p:txBody>
      </p:sp>
      <p:pic>
        <p:nvPicPr>
          <p:cNvPr id="5" name="Imagen 4" descr="Gráfico, Histograma&#10;&#10;El contenido generado por IA puede ser incorrecto.">
            <a:extLst>
              <a:ext uri="{FF2B5EF4-FFF2-40B4-BE49-F238E27FC236}">
                <a16:creationId xmlns:a16="http://schemas.microsoft.com/office/drawing/2014/main" id="{D275E739-32A2-C9AB-DC66-706B89EC51AE}"/>
              </a:ext>
            </a:extLst>
          </p:cNvPr>
          <p:cNvPicPr>
            <a:picLocks noChangeAspect="1"/>
          </p:cNvPicPr>
          <p:nvPr/>
        </p:nvPicPr>
        <p:blipFill>
          <a:blip r:embed="rId4"/>
          <a:stretch>
            <a:fillRect/>
          </a:stretch>
        </p:blipFill>
        <p:spPr>
          <a:xfrm>
            <a:off x="5165530" y="33967"/>
            <a:ext cx="3735365" cy="5844983"/>
          </a:xfrm>
          <a:prstGeom prst="rect">
            <a:avLst/>
          </a:prstGeom>
        </p:spPr>
      </p:pic>
      <p:pic>
        <p:nvPicPr>
          <p:cNvPr id="14" name="Imagen 13">
            <a:extLst>
              <a:ext uri="{FF2B5EF4-FFF2-40B4-BE49-F238E27FC236}">
                <a16:creationId xmlns:a16="http://schemas.microsoft.com/office/drawing/2014/main" id="{1F3BBEDD-093D-FB26-E87A-1EE126FC14B8}"/>
              </a:ext>
            </a:extLst>
          </p:cNvPr>
          <p:cNvPicPr>
            <a:picLocks noChangeAspect="1"/>
          </p:cNvPicPr>
          <p:nvPr/>
        </p:nvPicPr>
        <p:blipFill>
          <a:blip r:embed="rId5"/>
          <a:stretch>
            <a:fillRect/>
          </a:stretch>
        </p:blipFill>
        <p:spPr>
          <a:xfrm>
            <a:off x="70863" y="4453425"/>
            <a:ext cx="4351235" cy="1371860"/>
          </a:xfrm>
          <a:prstGeom prst="rect">
            <a:avLst/>
          </a:prstGeom>
        </p:spPr>
      </p:pic>
      <p:pic>
        <p:nvPicPr>
          <p:cNvPr id="16" name="Imagen 15" descr="Diagrama&#10;&#10;El contenido generado por IA puede ser incorrecto.">
            <a:extLst>
              <a:ext uri="{FF2B5EF4-FFF2-40B4-BE49-F238E27FC236}">
                <a16:creationId xmlns:a16="http://schemas.microsoft.com/office/drawing/2014/main" id="{5947937D-20FF-E44D-4C36-E59B600F75E0}"/>
              </a:ext>
            </a:extLst>
          </p:cNvPr>
          <p:cNvPicPr>
            <a:picLocks noChangeAspect="1"/>
          </p:cNvPicPr>
          <p:nvPr/>
        </p:nvPicPr>
        <p:blipFill>
          <a:blip r:embed="rId6"/>
          <a:stretch>
            <a:fillRect/>
          </a:stretch>
        </p:blipFill>
        <p:spPr>
          <a:xfrm>
            <a:off x="1121069" y="1357619"/>
            <a:ext cx="2735551" cy="2735551"/>
          </a:xfrm>
          <a:prstGeom prst="rect">
            <a:avLst/>
          </a:prstGeom>
        </p:spPr>
      </p:pic>
    </p:spTree>
    <p:custDataLst>
      <p:tags r:id="rId1"/>
    </p:custDataLst>
    <p:extLst>
      <p:ext uri="{BB962C8B-B14F-4D97-AF65-F5344CB8AC3E}">
        <p14:creationId xmlns:p14="http://schemas.microsoft.com/office/powerpoint/2010/main" val="2864805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5026D6-3380-FDB7-3BDF-E0786415DDD6}"/>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F02C3639-FC08-4359-AB8F-3E528564A079}"/>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8" name="Marcador de número de diapositiva 3">
            <a:extLst>
              <a:ext uri="{FF2B5EF4-FFF2-40B4-BE49-F238E27FC236}">
                <a16:creationId xmlns:a16="http://schemas.microsoft.com/office/drawing/2014/main" id="{9D6E3C66-FBCE-D712-3AB1-FF36A617226F}"/>
              </a:ext>
            </a:extLst>
          </p:cNvPr>
          <p:cNvSpPr txBox="1">
            <a:spLocks/>
          </p:cNvSpPr>
          <p:nvPr/>
        </p:nvSpPr>
        <p:spPr>
          <a:xfrm>
            <a:off x="8686800" y="5885920"/>
            <a:ext cx="40688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17</a:t>
            </a:fld>
            <a:endParaRPr lang="es-CO" sz="1200" dirty="0">
              <a:solidFill>
                <a:schemeClr val="bg1"/>
              </a:solidFill>
            </a:endParaRPr>
          </a:p>
        </p:txBody>
      </p:sp>
      <p:sp>
        <p:nvSpPr>
          <p:cNvPr id="7" name="TextBox 32">
            <a:extLst>
              <a:ext uri="{FF2B5EF4-FFF2-40B4-BE49-F238E27FC236}">
                <a16:creationId xmlns:a16="http://schemas.microsoft.com/office/drawing/2014/main" id="{B4987A2A-3B47-4BEF-259A-59ED91E97252}"/>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Título 1">
            <a:extLst>
              <a:ext uri="{FF2B5EF4-FFF2-40B4-BE49-F238E27FC236}">
                <a16:creationId xmlns:a16="http://schemas.microsoft.com/office/drawing/2014/main" id="{F525C834-F525-AD7B-7396-D1A1787DED1F}"/>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 sz="1600" b="0" dirty="0">
                <a:solidFill>
                  <a:schemeClr val="bg1"/>
                </a:solidFill>
              </a:rPr>
              <a:t>Instrumentación para fuerza y presión</a:t>
            </a:r>
            <a:endParaRPr lang="en-US" dirty="0">
              <a:solidFill>
                <a:schemeClr val="bg1"/>
              </a:solidFill>
            </a:endParaRPr>
          </a:p>
        </p:txBody>
      </p:sp>
      <p:sp>
        <p:nvSpPr>
          <p:cNvPr id="11" name="Rectángulo 6">
            <a:extLst>
              <a:ext uri="{FF2B5EF4-FFF2-40B4-BE49-F238E27FC236}">
                <a16:creationId xmlns:a16="http://schemas.microsoft.com/office/drawing/2014/main" id="{57DB05DE-E307-0C3C-193C-77237276AD7F}"/>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Otras aplicaciones en la medicina</a:t>
            </a:r>
            <a:endParaRPr lang="en-US" dirty="0"/>
          </a:p>
        </p:txBody>
      </p:sp>
      <p:sp>
        <p:nvSpPr>
          <p:cNvPr id="20" name="Rectángulo 19">
            <a:extLst>
              <a:ext uri="{FF2B5EF4-FFF2-40B4-BE49-F238E27FC236}">
                <a16:creationId xmlns:a16="http://schemas.microsoft.com/office/drawing/2014/main" id="{30FA8979-DB5F-9AF1-AFB9-440851616CC1}"/>
              </a:ext>
            </a:extLst>
          </p:cNvPr>
          <p:cNvSpPr/>
          <p:nvPr/>
        </p:nvSpPr>
        <p:spPr>
          <a:xfrm>
            <a:off x="21248" y="522157"/>
            <a:ext cx="5144281" cy="523220"/>
          </a:xfrm>
          <a:prstGeom prst="rect">
            <a:avLst/>
          </a:prstGeom>
        </p:spPr>
        <p:txBody>
          <a:bodyPr wrap="square">
            <a:spAutoFit/>
          </a:bodyPr>
          <a:lstStyle/>
          <a:p>
            <a:r>
              <a:rPr lang="es-ES" sz="1400" dirty="0">
                <a:solidFill>
                  <a:srgbClr val="2C5697"/>
                </a:solidFill>
                <a:latin typeface="Arial"/>
                <a:cs typeface="Arial"/>
                <a:sym typeface="Times New Roman"/>
              </a:rPr>
              <a:t>Estudio de la presión plantar como fuente de diagnóstico para patologías del pie humano. </a:t>
            </a:r>
            <a:endParaRPr lang="es-CO" sz="1400" dirty="0"/>
          </a:p>
        </p:txBody>
      </p:sp>
      <p:sp>
        <p:nvSpPr>
          <p:cNvPr id="3" name="Rectangle 3">
            <a:extLst>
              <a:ext uri="{FF2B5EF4-FFF2-40B4-BE49-F238E27FC236}">
                <a16:creationId xmlns:a16="http://schemas.microsoft.com/office/drawing/2014/main" id="{CF9A19C3-4BE2-2E55-5F4F-C77831248B6A}"/>
              </a:ext>
            </a:extLst>
          </p:cNvPr>
          <p:cNvSpPr>
            <a:spLocks noChangeArrowheads="1"/>
          </p:cNvSpPr>
          <p:nvPr/>
        </p:nvSpPr>
        <p:spPr bwMode="auto">
          <a:xfrm>
            <a:off x="606824" y="1436969"/>
            <a:ext cx="77724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es-CO" sz="1600" b="1">
              <a:solidFill>
                <a:srgbClr val="3366CC"/>
              </a:solidFill>
            </a:endParaRPr>
          </a:p>
        </p:txBody>
      </p:sp>
      <p:pic>
        <p:nvPicPr>
          <p:cNvPr id="4" name="Marcador de contenido 3">
            <a:extLst>
              <a:ext uri="{FF2B5EF4-FFF2-40B4-BE49-F238E27FC236}">
                <a16:creationId xmlns:a16="http://schemas.microsoft.com/office/drawing/2014/main" id="{2F231C07-78C2-3A4F-6ECF-47E00A33AE6B}"/>
              </a:ext>
            </a:extLst>
          </p:cNvPr>
          <p:cNvPicPr>
            <a:picLocks noGrp="1" noChangeAspect="1"/>
          </p:cNvPicPr>
          <p:nvPr>
            <p:ph idx="1"/>
          </p:nvPr>
        </p:nvPicPr>
        <p:blipFill>
          <a:blip r:embed="rId4"/>
          <a:stretch>
            <a:fillRect/>
          </a:stretch>
        </p:blipFill>
        <p:spPr>
          <a:xfrm>
            <a:off x="231714" y="3208465"/>
            <a:ext cx="2453925" cy="1004491"/>
          </a:xfrm>
          <a:prstGeom prst="rect">
            <a:avLst/>
          </a:prstGeom>
        </p:spPr>
      </p:pic>
      <p:sp>
        <p:nvSpPr>
          <p:cNvPr id="6" name="Flecha: a la derecha 5">
            <a:extLst>
              <a:ext uri="{FF2B5EF4-FFF2-40B4-BE49-F238E27FC236}">
                <a16:creationId xmlns:a16="http://schemas.microsoft.com/office/drawing/2014/main" id="{7EA2E836-F636-F2C0-E9D7-2455DCD203C2}"/>
              </a:ext>
            </a:extLst>
          </p:cNvPr>
          <p:cNvSpPr/>
          <p:nvPr/>
        </p:nvSpPr>
        <p:spPr>
          <a:xfrm>
            <a:off x="5882051" y="3464666"/>
            <a:ext cx="625594" cy="511692"/>
          </a:xfrm>
          <a:prstGeom prst="right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pic>
        <p:nvPicPr>
          <p:cNvPr id="9" name="Imagen 8">
            <a:extLst>
              <a:ext uri="{FF2B5EF4-FFF2-40B4-BE49-F238E27FC236}">
                <a16:creationId xmlns:a16="http://schemas.microsoft.com/office/drawing/2014/main" id="{996F25C1-AFB8-E43E-120F-8A7421626C1F}"/>
              </a:ext>
            </a:extLst>
          </p:cNvPr>
          <p:cNvPicPr>
            <a:picLocks noChangeAspect="1"/>
          </p:cNvPicPr>
          <p:nvPr/>
        </p:nvPicPr>
        <p:blipFill>
          <a:blip r:embed="rId5"/>
          <a:stretch>
            <a:fillRect/>
          </a:stretch>
        </p:blipFill>
        <p:spPr>
          <a:xfrm>
            <a:off x="3542200" y="2595040"/>
            <a:ext cx="2203102" cy="1098358"/>
          </a:xfrm>
          <a:prstGeom prst="rect">
            <a:avLst/>
          </a:prstGeom>
        </p:spPr>
      </p:pic>
      <p:sp>
        <p:nvSpPr>
          <p:cNvPr id="10" name="Flecha: a la derecha 9">
            <a:extLst>
              <a:ext uri="{FF2B5EF4-FFF2-40B4-BE49-F238E27FC236}">
                <a16:creationId xmlns:a16="http://schemas.microsoft.com/office/drawing/2014/main" id="{A36544B0-8149-6C78-5049-D39C2A3941C6}"/>
              </a:ext>
            </a:extLst>
          </p:cNvPr>
          <p:cNvSpPr/>
          <p:nvPr/>
        </p:nvSpPr>
        <p:spPr>
          <a:xfrm>
            <a:off x="2820020" y="3454864"/>
            <a:ext cx="625594" cy="511692"/>
          </a:xfrm>
          <a:prstGeom prst="rightArrow">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dirty="0"/>
          </a:p>
        </p:txBody>
      </p:sp>
      <p:pic>
        <p:nvPicPr>
          <p:cNvPr id="12" name="Imagen 11">
            <a:extLst>
              <a:ext uri="{FF2B5EF4-FFF2-40B4-BE49-F238E27FC236}">
                <a16:creationId xmlns:a16="http://schemas.microsoft.com/office/drawing/2014/main" id="{48424339-095B-EA29-E6FE-221334EE0460}"/>
              </a:ext>
            </a:extLst>
          </p:cNvPr>
          <p:cNvPicPr>
            <a:picLocks noChangeAspect="1"/>
          </p:cNvPicPr>
          <p:nvPr/>
        </p:nvPicPr>
        <p:blipFill>
          <a:blip r:embed="rId6"/>
          <a:stretch>
            <a:fillRect/>
          </a:stretch>
        </p:blipFill>
        <p:spPr>
          <a:xfrm>
            <a:off x="6858868" y="2805989"/>
            <a:ext cx="2007488" cy="1829045"/>
          </a:xfrm>
          <a:prstGeom prst="rect">
            <a:avLst/>
          </a:prstGeom>
        </p:spPr>
      </p:pic>
      <p:pic>
        <p:nvPicPr>
          <p:cNvPr id="13" name="Imagen 12">
            <a:extLst>
              <a:ext uri="{FF2B5EF4-FFF2-40B4-BE49-F238E27FC236}">
                <a16:creationId xmlns:a16="http://schemas.microsoft.com/office/drawing/2014/main" id="{7AF9A1EE-4FB9-2CEC-7B02-017389E542BC}"/>
              </a:ext>
            </a:extLst>
          </p:cNvPr>
          <p:cNvPicPr>
            <a:picLocks noChangeAspect="1"/>
          </p:cNvPicPr>
          <p:nvPr/>
        </p:nvPicPr>
        <p:blipFill>
          <a:blip r:embed="rId7"/>
          <a:stretch>
            <a:fillRect/>
          </a:stretch>
        </p:blipFill>
        <p:spPr>
          <a:xfrm>
            <a:off x="3297377" y="3894727"/>
            <a:ext cx="2447925" cy="1866900"/>
          </a:xfrm>
          <a:prstGeom prst="rect">
            <a:avLst/>
          </a:prstGeom>
        </p:spPr>
      </p:pic>
      <p:sp>
        <p:nvSpPr>
          <p:cNvPr id="15" name="CuadroTexto 14">
            <a:extLst>
              <a:ext uri="{FF2B5EF4-FFF2-40B4-BE49-F238E27FC236}">
                <a16:creationId xmlns:a16="http://schemas.microsoft.com/office/drawing/2014/main" id="{4F7C2750-8A67-270C-E40B-9C96FD8B4F0B}"/>
              </a:ext>
            </a:extLst>
          </p:cNvPr>
          <p:cNvSpPr txBox="1"/>
          <p:nvPr/>
        </p:nvSpPr>
        <p:spPr>
          <a:xfrm>
            <a:off x="106711" y="4383661"/>
            <a:ext cx="2750423" cy="338554"/>
          </a:xfrm>
          <a:prstGeom prst="rect">
            <a:avLst/>
          </a:prstGeom>
          <a:noFill/>
        </p:spPr>
        <p:txBody>
          <a:bodyPr wrap="square" rtlCol="0">
            <a:spAutoFit/>
          </a:bodyPr>
          <a:lstStyle/>
          <a:p>
            <a:r>
              <a:rPr lang="es-CO" sz="800" dirty="0"/>
              <a:t>https://www.google.com/search?q=plantilla+de+presion+plantae&amp;client=firefox-b-ab&amp;dcr</a:t>
            </a:r>
            <a:endParaRPr lang="es-CO" dirty="0"/>
          </a:p>
        </p:txBody>
      </p:sp>
      <p:sp>
        <p:nvSpPr>
          <p:cNvPr id="17" name="CuadroTexto 16">
            <a:extLst>
              <a:ext uri="{FF2B5EF4-FFF2-40B4-BE49-F238E27FC236}">
                <a16:creationId xmlns:a16="http://schemas.microsoft.com/office/drawing/2014/main" id="{8D3A0B4D-B249-C18D-B767-2870B9E0DED8}"/>
              </a:ext>
            </a:extLst>
          </p:cNvPr>
          <p:cNvSpPr txBox="1"/>
          <p:nvPr/>
        </p:nvSpPr>
        <p:spPr>
          <a:xfrm>
            <a:off x="6098727" y="4635034"/>
            <a:ext cx="3045273" cy="338554"/>
          </a:xfrm>
          <a:prstGeom prst="rect">
            <a:avLst/>
          </a:prstGeom>
          <a:noFill/>
        </p:spPr>
        <p:txBody>
          <a:bodyPr wrap="square" rtlCol="0">
            <a:spAutoFit/>
          </a:bodyPr>
          <a:lstStyle/>
          <a:p>
            <a:r>
              <a:rPr lang="es-CO" sz="800" dirty="0"/>
              <a:t>https://www.google.com/search?q=plantilla+de+presion+plantae&amp;client=firefox-b-ab&amp;dcr:</a:t>
            </a:r>
          </a:p>
        </p:txBody>
      </p:sp>
      <p:sp>
        <p:nvSpPr>
          <p:cNvPr id="19" name="CuadroTexto 18">
            <a:extLst>
              <a:ext uri="{FF2B5EF4-FFF2-40B4-BE49-F238E27FC236}">
                <a16:creationId xmlns:a16="http://schemas.microsoft.com/office/drawing/2014/main" id="{43C9BC99-D916-0479-3384-A3D47AA3B4AF}"/>
              </a:ext>
            </a:extLst>
          </p:cNvPr>
          <p:cNvSpPr txBox="1"/>
          <p:nvPr/>
        </p:nvSpPr>
        <p:spPr>
          <a:xfrm>
            <a:off x="3691424" y="3534442"/>
            <a:ext cx="2150464" cy="307777"/>
          </a:xfrm>
          <a:prstGeom prst="rect">
            <a:avLst/>
          </a:prstGeom>
          <a:noFill/>
        </p:spPr>
        <p:txBody>
          <a:bodyPr wrap="square" rtlCol="0">
            <a:spAutoFit/>
          </a:bodyPr>
          <a:lstStyle/>
          <a:p>
            <a:r>
              <a:rPr lang="es-CO" sz="700" dirty="0"/>
              <a:t>https://www.google.com/search?q=plantilla+de+presion+plantae&amp;client=firefox-b-ab&amp;dcr=0&amp;source</a:t>
            </a:r>
          </a:p>
        </p:txBody>
      </p:sp>
      <p:sp>
        <p:nvSpPr>
          <p:cNvPr id="21" name="CuadroTexto 20">
            <a:extLst>
              <a:ext uri="{FF2B5EF4-FFF2-40B4-BE49-F238E27FC236}">
                <a16:creationId xmlns:a16="http://schemas.microsoft.com/office/drawing/2014/main" id="{E6A91075-0717-A4D0-7E54-411144DD77DF}"/>
              </a:ext>
            </a:extLst>
          </p:cNvPr>
          <p:cNvSpPr txBox="1"/>
          <p:nvPr/>
        </p:nvSpPr>
        <p:spPr>
          <a:xfrm>
            <a:off x="3594838" y="5533904"/>
            <a:ext cx="2150464" cy="307777"/>
          </a:xfrm>
          <a:prstGeom prst="rect">
            <a:avLst/>
          </a:prstGeom>
          <a:noFill/>
        </p:spPr>
        <p:txBody>
          <a:bodyPr wrap="square" rtlCol="0">
            <a:spAutoFit/>
          </a:bodyPr>
          <a:lstStyle/>
          <a:p>
            <a:r>
              <a:rPr lang="es-CO" sz="700" dirty="0"/>
              <a:t>https://www.google.com/search?q=plantilla+de+presion+plantae&amp;client=firefox-b-ab&amp;dcr=0&amp;source</a:t>
            </a:r>
          </a:p>
        </p:txBody>
      </p:sp>
    </p:spTree>
    <p:custDataLst>
      <p:tags r:id="rId1"/>
    </p:custDataLst>
    <p:extLst>
      <p:ext uri="{BB962C8B-B14F-4D97-AF65-F5344CB8AC3E}">
        <p14:creationId xmlns:p14="http://schemas.microsoft.com/office/powerpoint/2010/main" val="2773816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ags/tag12.xml><?xml version="1.0" encoding="utf-8"?>
<p:tagLst xmlns:a="http://schemas.openxmlformats.org/drawingml/2006/main" xmlns:r="http://schemas.openxmlformats.org/officeDocument/2006/relationships" xmlns:p="http://schemas.openxmlformats.org/presentationml/2006/main">
  <p:tag name="TIMING" val="|2.7"/>
</p:tagLst>
</file>

<file path=ppt/tags/tag13.xml><?xml version="1.0" encoding="utf-8"?>
<p:tagLst xmlns:a="http://schemas.openxmlformats.org/drawingml/2006/main" xmlns:r="http://schemas.openxmlformats.org/officeDocument/2006/relationships" xmlns:p="http://schemas.openxmlformats.org/presentationml/2006/main">
  <p:tag name="TIMING" val="|2.7"/>
</p:tagLst>
</file>

<file path=ppt/tags/tag14.xml><?xml version="1.0" encoding="utf-8"?>
<p:tagLst xmlns:a="http://schemas.openxmlformats.org/drawingml/2006/main" xmlns:r="http://schemas.openxmlformats.org/officeDocument/2006/relationships" xmlns:p="http://schemas.openxmlformats.org/presentationml/2006/main">
  <p:tag name="TIMING" val="|2.7"/>
</p:tagLst>
</file>

<file path=ppt/tags/tag15.xml><?xml version="1.0" encoding="utf-8"?>
<p:tagLst xmlns:a="http://schemas.openxmlformats.org/drawingml/2006/main" xmlns:r="http://schemas.openxmlformats.org/officeDocument/2006/relationships" xmlns:p="http://schemas.openxmlformats.org/presentationml/2006/main">
  <p:tag name="TIMING" val="|2.7"/>
</p:tagLst>
</file>

<file path=ppt/tags/tag16.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7352B7-29C2-4831-B08B-DA9095F0296C}">
  <ds:schemaRefs>
    <ds:schemaRef ds:uri="http://schemas.microsoft.com/sharepoint/v3/contenttype/forms"/>
  </ds:schemaRefs>
</ds:datastoreItem>
</file>

<file path=customXml/itemProps2.xml><?xml version="1.0" encoding="utf-8"?>
<ds:datastoreItem xmlns:ds="http://schemas.openxmlformats.org/officeDocument/2006/customXml" ds:itemID="{BEF68008-267B-42B0-9C9F-2DD9B1D5EE7A}">
  <ds:schemaRefs>
    <ds:schemaRef ds:uri="http://schemas.microsoft.com/office/2006/documentManagement/types"/>
    <ds:schemaRef ds:uri="c0c46fdd-2a6c-49f1-bb4d-a6e06b52ee64"/>
    <ds:schemaRef ds:uri="http://purl.org/dc/dcmitype/"/>
    <ds:schemaRef ds:uri="http://schemas.openxmlformats.org/package/2006/metadata/core-properties"/>
    <ds:schemaRef ds:uri="http://purl.org/dc/elements/1.1/"/>
    <ds:schemaRef ds:uri="http://www.w3.org/XML/1998/namespace"/>
    <ds:schemaRef ds:uri="http://schemas.microsoft.com/office/infopath/2007/PartnerControl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2067</TotalTime>
  <Words>984</Words>
  <Application>Microsoft Office PowerPoint</Application>
  <PresentationFormat>Presentación en pantalla (4:3)</PresentationFormat>
  <Paragraphs>122</Paragraphs>
  <Slides>17</Slides>
  <Notes>16</Notes>
  <HiddenSlides>0</HiddenSlides>
  <MMClips>3</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Cambria Math</vt:lpstr>
      <vt:lpstr>Wingdings</vt:lpstr>
      <vt:lpstr>Tema de Office</vt:lpstr>
      <vt:lpstr>Instrumentación para fuerza y presión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7b_Instrumentación_fuerza</dc:title>
  <dc:creator>Jenny Rojas</dc:creator>
  <cp:lastModifiedBy>Pedro Antonio Aya Parra</cp:lastModifiedBy>
  <cp:revision>1819</cp:revision>
  <dcterms:created xsi:type="dcterms:W3CDTF">2018-06-28T02:15:01Z</dcterms:created>
  <dcterms:modified xsi:type="dcterms:W3CDTF">2025-10-09T01:48:52Z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