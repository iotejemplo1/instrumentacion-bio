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tags/tag18.xml" ContentType="application/vnd.openxmlformats-officedocument.presentationml.tags+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handoutMasterIdLst>
    <p:handoutMasterId r:id="rId25"/>
  </p:handoutMasterIdLst>
  <p:sldIdLst>
    <p:sldId id="256" r:id="rId5"/>
    <p:sldId id="305" r:id="rId6"/>
    <p:sldId id="322" r:id="rId7"/>
    <p:sldId id="311" r:id="rId8"/>
    <p:sldId id="313" r:id="rId9"/>
    <p:sldId id="314" r:id="rId10"/>
    <p:sldId id="312" r:id="rId11"/>
    <p:sldId id="306" r:id="rId12"/>
    <p:sldId id="307" r:id="rId13"/>
    <p:sldId id="315" r:id="rId14"/>
    <p:sldId id="308" r:id="rId15"/>
    <p:sldId id="316" r:id="rId16"/>
    <p:sldId id="317" r:id="rId17"/>
    <p:sldId id="318" r:id="rId18"/>
    <p:sldId id="319" r:id="rId19"/>
    <p:sldId id="320" r:id="rId20"/>
    <p:sldId id="309" r:id="rId21"/>
    <p:sldId id="310" r:id="rId22"/>
    <p:sldId id="321" r:id="rId23"/>
  </p:sldIdLst>
  <p:sldSz cx="9144000" cy="6858000" type="screen4x3"/>
  <p:notesSz cx="6858000" cy="9144000"/>
  <p:defaultTex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697"/>
    <a:srgbClr val="7B58A5"/>
    <a:srgbClr val="5286AB"/>
    <a:srgbClr val="9EC54C"/>
    <a:srgbClr val="52C77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25" autoAdjust="0"/>
    <p:restoredTop sz="94660"/>
  </p:normalViewPr>
  <p:slideViewPr>
    <p:cSldViewPr snapToGrid="0" snapToObjects="1">
      <p:cViewPr>
        <p:scale>
          <a:sx n="80" d="100"/>
          <a:sy n="80" d="100"/>
        </p:scale>
        <p:origin x="2676" y="636"/>
      </p:cViewPr>
      <p:guideLst>
        <p:guide orient="horz" pos="2160"/>
        <p:guide pos="288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Rodríguez Dueñas" userId="ba4d89e2-4f4b-4d11-bd59-56b1da6828aa" providerId="ADAL" clId="{010D7612-8C50-4E24-A5AB-66622A0429D8}"/>
    <pc:docChg chg="modSld">
      <pc:chgData name="William Ricardo Rodríguez Dueñas" userId="ba4d89e2-4f4b-4d11-bd59-56b1da6828aa" providerId="ADAL" clId="{010D7612-8C50-4E24-A5AB-66622A0429D8}" dt="2024-04-15T21:37:15.440" v="21" actId="20577"/>
      <pc:docMkLst>
        <pc:docMk/>
      </pc:docMkLst>
      <pc:sldChg chg="modSp">
        <pc:chgData name="William Ricardo Rodríguez Dueñas" userId="ba4d89e2-4f4b-4d11-bd59-56b1da6828aa" providerId="ADAL" clId="{010D7612-8C50-4E24-A5AB-66622A0429D8}" dt="2024-04-15T21:37:15.440" v="21" actId="20577"/>
        <pc:sldMkLst>
          <pc:docMk/>
          <pc:sldMk cId="3908148806" sldId="256"/>
        </pc:sldMkLst>
        <pc:spChg chg="mod">
          <ac:chgData name="William Ricardo Rodríguez Dueñas" userId="ba4d89e2-4f4b-4d11-bd59-56b1da6828aa" providerId="ADAL" clId="{010D7612-8C50-4E24-A5AB-66622A0429D8}" dt="2024-04-15T21:37:15.440" v="21" actId="20577"/>
          <ac:spMkLst>
            <pc:docMk/>
            <pc:sldMk cId="3908148806" sldId="256"/>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BC6F7A87-C9F9-4438-8515-ADC00D84CE3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4380AEB3-679E-4EDB-97E5-68741A1D22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384CDF3-C25B-4D82-8876-230C4457432F}" type="datetimeFigureOut">
              <a:rPr lang="es-CO" smtClean="0"/>
              <a:t>30/10/2025</a:t>
            </a:fld>
            <a:endParaRPr lang="es-CO"/>
          </a:p>
        </p:txBody>
      </p:sp>
      <p:sp>
        <p:nvSpPr>
          <p:cNvPr id="4" name="Marcador de pie de página 3">
            <a:extLst>
              <a:ext uri="{FF2B5EF4-FFF2-40B4-BE49-F238E27FC236}">
                <a16:creationId xmlns:a16="http://schemas.microsoft.com/office/drawing/2014/main" id="{A53DB6EB-B6BA-4BF6-96C8-EFF56A664C9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C31BE49A-EFD8-4E31-AD3E-0FE197191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19E2E4C-642A-49F7-B080-3A7846C669FE}" type="slidenum">
              <a:rPr lang="es-CO" smtClean="0"/>
              <a:t>‹Nº›</a:t>
            </a:fld>
            <a:endParaRPr lang="es-CO"/>
          </a:p>
        </p:txBody>
      </p:sp>
    </p:spTree>
    <p:extLst>
      <p:ext uri="{BB962C8B-B14F-4D97-AF65-F5344CB8AC3E}">
        <p14:creationId xmlns:p14="http://schemas.microsoft.com/office/powerpoint/2010/main" val="1498532225"/>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E21FD47-7EFF-024D-9631-5B75CC065FC5}" type="datetimeFigureOut">
              <a:rPr lang="es-ES" smtClean="0"/>
              <a:t>30/10/2025</a:t>
            </a:fld>
            <a:endParaRPr lang="es-ES"/>
          </a:p>
        </p:txBody>
      </p:sp>
      <p:sp>
        <p:nvSpPr>
          <p:cNvPr id="4" name="Marcador de imagen d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
        <p:nvSpPr>
          <p:cNvPr id="6" name="Marcador de pie de pá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52F31C1-9AF2-B345-B791-B288D86C8352}" type="slidenum">
              <a:rPr lang="es-ES" smtClean="0"/>
              <a:t>‹Nº›</a:t>
            </a:fld>
            <a:endParaRPr lang="es-ES"/>
          </a:p>
        </p:txBody>
      </p:sp>
    </p:spTree>
    <p:extLst>
      <p:ext uri="{BB962C8B-B14F-4D97-AF65-F5344CB8AC3E}">
        <p14:creationId xmlns:p14="http://schemas.microsoft.com/office/powerpoint/2010/main" val="1068757352"/>
      </p:ext>
    </p:extLst>
  </p:cSld>
  <p:clrMap bg1="lt1" tx1="dk1" bg2="lt2" tx2="dk2" accent1="accent1" accent2="accent2" accent3="accent3" accent4="accent4" accent5="accent5" accent6="accent6" hlink="hlink" folHlink="folHlink"/>
  <p:hf sldNum="0"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7651635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F4C2D-1949-6C1C-E8CF-761BF2E11A2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02C8DF-158B-8419-61CD-4EDD0993DC85}"/>
              </a:ext>
            </a:extLst>
          </p:cNvPr>
          <p:cNvSpPr>
            <a:spLocks noGrp="1" noRot="1" noChangeAspect="1"/>
          </p:cNvSpPr>
          <p:nvPr>
            <p:ph type="sldImg"/>
          </p:nvPr>
        </p:nvSpPr>
        <p:spPr>
          <a:xfrm>
            <a:off x="1371600" y="1143000"/>
            <a:ext cx="4114800" cy="3086100"/>
          </a:xfrm>
        </p:spPr>
        <p:txBody>
          <a:bodyPr/>
          <a:lstStyle/>
          <a:p>
            <a:endParaRPr lang="es-CO"/>
          </a:p>
        </p:txBody>
      </p:sp>
      <p:sp>
        <p:nvSpPr>
          <p:cNvPr id="3" name="Marcador de notas 2">
            <a:extLst>
              <a:ext uri="{FF2B5EF4-FFF2-40B4-BE49-F238E27FC236}">
                <a16:creationId xmlns:a16="http://schemas.microsoft.com/office/drawing/2014/main" id="{7D4AE55F-921B-C043-E495-913DAF787198}"/>
              </a:ext>
            </a:extLst>
          </p:cNvPr>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1706006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638134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5312235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8931264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7343964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9638248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9868461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305478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5251784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4796232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40201916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12645489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8159071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22665262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7779369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3275310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txBody>
          <a:bodyPr/>
          <a:lstStyle/>
          <a:p>
            <a:endParaRPr lang="es-CO"/>
          </a:p>
        </p:txBody>
      </p:sp>
      <p:sp>
        <p:nvSpPr>
          <p:cNvPr id="3" name="Marcador de notas 2"/>
          <p:cNvSpPr>
            <a:spLocks noGrp="1"/>
          </p:cNvSpPr>
          <p:nvPr>
            <p:ph type="body" idx="1"/>
          </p:nvPr>
        </p:nvSpPr>
        <p:spPr/>
        <p:txBody>
          <a:bodyPr/>
          <a:lstStyle/>
          <a:p>
            <a:endParaRPr lang="es-CO" dirty="0"/>
          </a:p>
        </p:txBody>
      </p:sp>
    </p:spTree>
    <p:extLst>
      <p:ext uri="{BB962C8B-B14F-4D97-AF65-F5344CB8AC3E}">
        <p14:creationId xmlns:p14="http://schemas.microsoft.com/office/powerpoint/2010/main" val="412160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Portada">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7313419"/>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sp>
        <p:nvSpPr>
          <p:cNvPr id="2" name="Título 1"/>
          <p:cNvSpPr>
            <a:spLocks noGrp="1"/>
          </p:cNvSpPr>
          <p:nvPr>
            <p:ph type="title"/>
          </p:nvPr>
        </p:nvSpPr>
        <p:spPr>
          <a:xfrm>
            <a:off x="708902" y="636588"/>
            <a:ext cx="4874178" cy="760412"/>
          </a:xfrm>
        </p:spPr>
        <p:txBody>
          <a:bodyPr>
            <a:normAutofit/>
          </a:bodyPr>
          <a:lstStyle>
            <a:lvl1pPr>
              <a:defRPr sz="2400"/>
            </a:lvl1pPr>
          </a:lstStyle>
          <a:p>
            <a:r>
              <a:rPr lang="es-ES_tradnl" dirty="0"/>
              <a:t>Clic para editar título</a:t>
            </a:r>
            <a:endParaRPr lang="es-ES" dirty="0"/>
          </a:p>
        </p:txBody>
      </p:sp>
      <p:sp>
        <p:nvSpPr>
          <p:cNvPr id="4" name="Marcador de contenido 2"/>
          <p:cNvSpPr>
            <a:spLocks noGrp="1"/>
          </p:cNvSpPr>
          <p:nvPr>
            <p:ph idx="1"/>
          </p:nvPr>
        </p:nvSpPr>
        <p:spPr>
          <a:xfrm>
            <a:off x="708902" y="1506996"/>
            <a:ext cx="4874178" cy="3743175"/>
          </a:xfrm>
        </p:spPr>
        <p:txBody>
          <a:bodyPr>
            <a:normAutofit fontScale="92500" lnSpcReduction="10000"/>
          </a:bodyPr>
          <a:lstStyle/>
          <a:p>
            <a:pPr marL="0" indent="0">
              <a:buNone/>
            </a:pPr>
            <a:r>
              <a:rPr lang="pt-BR" sz="1800" dirty="0">
                <a:solidFill>
                  <a:schemeClr val="tx1">
                    <a:lumMod val="75000"/>
                    <a:lumOff val="25000"/>
                  </a:schemeClr>
                </a:solidFill>
                <a:latin typeface="Arial"/>
                <a:cs typeface="Arial"/>
              </a:rPr>
              <a:t>Lorem ipsum dolor sit amet, consectetuer adipiscing elit. Aenean commodo ligula eget dolor. Aenean massa. Cum sociis natoque penatibus et magnis dis parturient montes, nascetur ridiculus mus. Donec quam felis, ultricies nec, pellentesque eu, pretium quis, sem. Nulla consequat massa quis enim.</a:t>
            </a:r>
          </a:p>
          <a:p>
            <a:pPr marL="0" indent="0">
              <a:buNone/>
            </a:pPr>
            <a:endParaRPr lang="pt-BR" sz="1800" dirty="0">
              <a:solidFill>
                <a:schemeClr val="tx1">
                  <a:lumMod val="75000"/>
                  <a:lumOff val="25000"/>
                </a:schemeClr>
              </a:solidFill>
              <a:latin typeface="Arial"/>
              <a:cs typeface="Arial"/>
            </a:endParaRPr>
          </a:p>
          <a:p>
            <a:pPr marL="0" indent="0">
              <a:buNone/>
            </a:pPr>
            <a:r>
              <a:rPr lang="pt-BR" sz="1800" dirty="0">
                <a:solidFill>
                  <a:schemeClr val="tx1">
                    <a:lumMod val="75000"/>
                    <a:lumOff val="25000"/>
                  </a:schemeClr>
                </a:solidFill>
                <a:latin typeface="Arial"/>
                <a:cs typeface="Arial"/>
              </a:rPr>
              <a:t>Donec pede justo, fringilla vel, aliquet nec, vulputate eget, arcu. In enim justo, rhoncus ut, imperdiet a, venenatis vitae, justo. Nullam dictum felis eu pede mollis pretium. Integer tincidunt. Cras dapibus. Vivamus elementum semper nisi. Aenean vulputate eleifend tellus.</a:t>
            </a:r>
            <a:endParaRPr lang="es-ES" sz="1800" dirty="0">
              <a:solidFill>
                <a:schemeClr val="tx1">
                  <a:lumMod val="75000"/>
                  <a:lumOff val="25000"/>
                </a:schemeClr>
              </a:solidFill>
            </a:endParaRPr>
          </a:p>
        </p:txBody>
      </p:sp>
    </p:spTree>
    <p:extLst>
      <p:ext uri="{BB962C8B-B14F-4D97-AF65-F5344CB8AC3E}">
        <p14:creationId xmlns:p14="http://schemas.microsoft.com/office/powerpoint/2010/main" val="24366214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es-ES_tradnl"/>
              <a:t>Clic para editar título</a:t>
            </a:r>
            <a:endParaRPr lang="es-ES"/>
          </a:p>
        </p:txBody>
      </p:sp>
      <p:sp>
        <p:nvSpPr>
          <p:cNvPr id="3" name="Subtítulo 2"/>
          <p:cNvSpPr>
            <a:spLocks noGrp="1"/>
          </p:cNvSpPr>
          <p:nvPr>
            <p:ph type="subTitle" idx="1"/>
          </p:nvPr>
        </p:nvSpPr>
        <p:spPr>
          <a:xfrm>
            <a:off x="685800" y="3886200"/>
            <a:ext cx="6400800" cy="1752600"/>
          </a:xfrm>
        </p:spPr>
        <p:txBody>
          <a:bodyPr/>
          <a:lstStyle>
            <a:lvl1pPr marL="0" indent="0" algn="l">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dirty="0"/>
              <a:t>Haga clic para modificar el estilo de subtítulo del patrón</a:t>
            </a:r>
            <a:endParaRPr lang="es-ES" dirty="0"/>
          </a:p>
        </p:txBody>
      </p:sp>
    </p:spTree>
    <p:extLst>
      <p:ext uri="{BB962C8B-B14F-4D97-AF65-F5344CB8AC3E}">
        <p14:creationId xmlns:p14="http://schemas.microsoft.com/office/powerpoint/2010/main" val="26029307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endParaRPr lang="es-ES"/>
          </a:p>
        </p:txBody>
      </p:sp>
      <p:sp>
        <p:nvSpPr>
          <p:cNvPr id="3" name="Marcador de contenido 2"/>
          <p:cNvSpPr>
            <a:spLocks noGrp="1"/>
          </p:cNvSpPr>
          <p:nvPr>
            <p:ph idx="1"/>
          </p:nvPr>
        </p:nvSpPr>
        <p:spPr/>
        <p:txBody>
          <a:body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Tree>
    <p:extLst>
      <p:ext uri="{BB962C8B-B14F-4D97-AF65-F5344CB8AC3E}">
        <p14:creationId xmlns:p14="http://schemas.microsoft.com/office/powerpoint/2010/main" val="15676238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es-ES_tradnl"/>
              <a:t>Clic para editar título</a:t>
            </a:r>
            <a:endParaRPr lang="es-ES"/>
          </a:p>
        </p:txBody>
      </p:sp>
      <p:sp>
        <p:nvSpPr>
          <p:cNvPr id="3" name="Marcador de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_tradnl" dirty="0"/>
              <a:t>Haga clic para modificar el estilo de texto del patrón</a:t>
            </a:r>
          </a:p>
        </p:txBody>
      </p:sp>
    </p:spTree>
    <p:extLst>
      <p:ext uri="{BB962C8B-B14F-4D97-AF65-F5344CB8AC3E}">
        <p14:creationId xmlns:p14="http://schemas.microsoft.com/office/powerpoint/2010/main" val="1216406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p:cNvSpPr>
            <a:spLocks noGrp="1"/>
          </p:cNvSpPr>
          <p:nvPr>
            <p:ph type="title"/>
          </p:nvPr>
        </p:nvSpPr>
        <p:spPr>
          <a:xfrm>
            <a:off x="457200" y="636588"/>
            <a:ext cx="7596722" cy="760412"/>
          </a:xfrm>
        </p:spPr>
        <p:txBody>
          <a:bodyPr/>
          <a:lstStyle/>
          <a:p>
            <a:r>
              <a:rPr lang="es-ES_tradnl" dirty="0"/>
              <a:t>Clic para editar título</a:t>
            </a:r>
            <a:endParaRPr lang="es-ES" dirty="0"/>
          </a:p>
        </p:txBody>
      </p:sp>
      <p:sp>
        <p:nvSpPr>
          <p:cNvPr id="3" name="Marcador de contenido 2"/>
          <p:cNvSpPr>
            <a:spLocks noGrp="1"/>
          </p:cNvSpPr>
          <p:nvPr>
            <p:ph sz="half" idx="1"/>
          </p:nvPr>
        </p:nvSpPr>
        <p:spPr>
          <a:xfrm>
            <a:off x="457200" y="1600201"/>
            <a:ext cx="4038600" cy="4051300"/>
          </a:xfrm>
        </p:spPr>
        <p:txBody>
          <a:bodyPr/>
          <a:lstStyle>
            <a:lvl1pPr>
              <a:defRPr sz="2400"/>
            </a:lvl1pPr>
            <a:lvl2pPr>
              <a:defRPr sz="22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sp>
        <p:nvSpPr>
          <p:cNvPr id="4" name="Marcador de contenido 3"/>
          <p:cNvSpPr>
            <a:spLocks noGrp="1"/>
          </p:cNvSpPr>
          <p:nvPr>
            <p:ph sz="half" idx="2"/>
          </p:nvPr>
        </p:nvSpPr>
        <p:spPr>
          <a:xfrm>
            <a:off x="4648200" y="1600200"/>
            <a:ext cx="4038600" cy="4051301"/>
          </a:xfrm>
        </p:spPr>
        <p:txBody>
          <a:bodyPr/>
          <a:lstStyle>
            <a:lvl1pPr>
              <a:defRPr sz="2400"/>
            </a:lvl1pPr>
            <a:lvl2pPr>
              <a:defRPr sz="22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spTree>
    <p:extLst>
      <p:ext uri="{BB962C8B-B14F-4D97-AF65-F5344CB8AC3E}">
        <p14:creationId xmlns:p14="http://schemas.microsoft.com/office/powerpoint/2010/main" val="35843445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p:cNvSpPr>
            <a:spLocks noGrp="1"/>
          </p:cNvSpPr>
          <p:nvPr>
            <p:ph type="title"/>
          </p:nvPr>
        </p:nvSpPr>
        <p:spPr>
          <a:xfrm>
            <a:off x="457200" y="648759"/>
            <a:ext cx="7596722" cy="760412"/>
          </a:xfrm>
        </p:spPr>
        <p:txBody>
          <a:bodyPr/>
          <a:lstStyle>
            <a:lvl1pPr>
              <a:defRPr/>
            </a:lvl1pPr>
          </a:lstStyle>
          <a:p>
            <a:r>
              <a:rPr lang="es-ES_tradnl" dirty="0"/>
              <a:t>Clic para editar título</a:t>
            </a:r>
            <a:endParaRPr lang="es-ES" dirty="0"/>
          </a:p>
        </p:txBody>
      </p:sp>
      <p:sp>
        <p:nvSpPr>
          <p:cNvPr id="3" name="Marcador de texto 2"/>
          <p:cNvSpPr>
            <a:spLocks noGrp="1"/>
          </p:cNvSpPr>
          <p:nvPr>
            <p:ph type="body" idx="1"/>
          </p:nvPr>
        </p:nvSpPr>
        <p:spPr>
          <a:xfrm>
            <a:off x="457200" y="1535113"/>
            <a:ext cx="4040188" cy="639762"/>
          </a:xfr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dirty="0"/>
              <a:t>Haga clic para modificar el estilo de texto del patrón</a:t>
            </a:r>
          </a:p>
        </p:txBody>
      </p:sp>
      <p:sp>
        <p:nvSpPr>
          <p:cNvPr id="4" name="Marcador de contenido 3"/>
          <p:cNvSpPr>
            <a:spLocks noGrp="1"/>
          </p:cNvSpPr>
          <p:nvPr>
            <p:ph sz="half" idx="2"/>
          </p:nvPr>
        </p:nvSpPr>
        <p:spPr>
          <a:xfrm>
            <a:off x="457200" y="2174875"/>
            <a:ext cx="4040188" cy="344487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sp>
        <p:nvSpPr>
          <p:cNvPr id="5" name="Marcador de texto 4"/>
          <p:cNvSpPr>
            <a:spLocks noGrp="1"/>
          </p:cNvSpPr>
          <p:nvPr>
            <p:ph type="body" sz="quarter" idx="3"/>
          </p:nvPr>
        </p:nvSpPr>
        <p:spPr>
          <a:xfrm>
            <a:off x="4645025" y="1535113"/>
            <a:ext cx="4041775" cy="639762"/>
          </a:xfrm>
        </p:spPr>
        <p:txBody>
          <a:bodyPr anchor="b">
            <a:no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dirty="0"/>
              <a:t>Haga clic para modificar el estilo de texto del patrón</a:t>
            </a:r>
          </a:p>
        </p:txBody>
      </p:sp>
      <p:sp>
        <p:nvSpPr>
          <p:cNvPr id="6" name="Marcador de contenido 5"/>
          <p:cNvSpPr>
            <a:spLocks noGrp="1"/>
          </p:cNvSpPr>
          <p:nvPr>
            <p:ph sz="quarter" idx="4"/>
          </p:nvPr>
        </p:nvSpPr>
        <p:spPr>
          <a:xfrm>
            <a:off x="4645025" y="2174875"/>
            <a:ext cx="4041775" cy="344487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Tree>
    <p:extLst>
      <p:ext uri="{BB962C8B-B14F-4D97-AF65-F5344CB8AC3E}">
        <p14:creationId xmlns:p14="http://schemas.microsoft.com/office/powerpoint/2010/main" val="40228118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endParaRPr lang="es-ES"/>
          </a:p>
        </p:txBody>
      </p:sp>
    </p:spTree>
    <p:extLst>
      <p:ext uri="{BB962C8B-B14F-4D97-AF65-F5344CB8AC3E}">
        <p14:creationId xmlns:p14="http://schemas.microsoft.com/office/powerpoint/2010/main" val="703157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9994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es-ES_tradnl"/>
              <a:t>Clic para editar título</a:t>
            </a:r>
            <a:endParaRPr lang="es-ES"/>
          </a:p>
        </p:txBody>
      </p:sp>
      <p:sp>
        <p:nvSpPr>
          <p:cNvPr id="3" name="Marcador de contenido 2"/>
          <p:cNvSpPr>
            <a:spLocks noGrp="1"/>
          </p:cNvSpPr>
          <p:nvPr>
            <p:ph idx="1"/>
          </p:nvPr>
        </p:nvSpPr>
        <p:spPr>
          <a:xfrm>
            <a:off x="3575050" y="1435100"/>
            <a:ext cx="5111750" cy="4121151"/>
          </a:xfrm>
        </p:spPr>
        <p:txBody>
          <a:bodyPr/>
          <a:lstStyle>
            <a:lvl1pPr>
              <a:defRPr sz="28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sp>
        <p:nvSpPr>
          <p:cNvPr id="4" name="Marcador de texto 3"/>
          <p:cNvSpPr>
            <a:spLocks noGrp="1"/>
          </p:cNvSpPr>
          <p:nvPr>
            <p:ph type="body" sz="half" idx="2"/>
          </p:nvPr>
        </p:nvSpPr>
        <p:spPr>
          <a:xfrm>
            <a:off x="457200" y="1435101"/>
            <a:ext cx="3008313" cy="4121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Tree>
    <p:extLst>
      <p:ext uri="{BB962C8B-B14F-4D97-AF65-F5344CB8AC3E}">
        <p14:creationId xmlns:p14="http://schemas.microsoft.com/office/powerpoint/2010/main" val="15398014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353483"/>
          </a:xfrm>
        </p:spPr>
        <p:txBody>
          <a:bodyPr anchor="t">
            <a:normAutofit/>
          </a:bodyPr>
          <a:lstStyle>
            <a:lvl1pPr algn="r">
              <a:defRPr sz="1600" b="1"/>
            </a:lvl1pPr>
          </a:lstStyle>
          <a:p>
            <a:r>
              <a:rPr lang="es-ES_tradnl" dirty="0"/>
              <a:t>Clic para editar título</a:t>
            </a:r>
            <a:endParaRPr lang="es-ES" dirty="0"/>
          </a:p>
        </p:txBody>
      </p:sp>
      <p:sp>
        <p:nvSpPr>
          <p:cNvPr id="3" name="Marcador de posición de imagen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dirty="0"/>
          </a:p>
        </p:txBody>
      </p:sp>
      <p:sp>
        <p:nvSpPr>
          <p:cNvPr id="4" name="Marcador de texto 3"/>
          <p:cNvSpPr>
            <a:spLocks noGrp="1"/>
          </p:cNvSpPr>
          <p:nvPr>
            <p:ph type="body" sz="half" idx="2"/>
          </p:nvPr>
        </p:nvSpPr>
        <p:spPr>
          <a:xfrm>
            <a:off x="1792288" y="5167048"/>
            <a:ext cx="5486400" cy="400579"/>
          </a:xfrm>
        </p:spPr>
        <p:txBody>
          <a:bodyPr anchor="t">
            <a:normAutofit/>
          </a:bodyPr>
          <a:lstStyle>
            <a:lvl1pPr marL="0" indent="0" algn="r">
              <a:buNone/>
              <a:defRPr sz="1300">
                <a:solidFill>
                  <a:srgbClr val="404040"/>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dirty="0"/>
              <a:t>Haga clic para modificar el estilo de texto del patrón</a:t>
            </a:r>
          </a:p>
        </p:txBody>
      </p:sp>
    </p:spTree>
    <p:extLst>
      <p:ext uri="{BB962C8B-B14F-4D97-AF65-F5344CB8AC3E}">
        <p14:creationId xmlns:p14="http://schemas.microsoft.com/office/powerpoint/2010/main" val="18165035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endParaRPr lang="es-ES"/>
          </a:p>
        </p:txBody>
      </p:sp>
      <p:sp>
        <p:nvSpPr>
          <p:cNvPr id="3" name="Marcador de texto vertical 2"/>
          <p:cNvSpPr>
            <a:spLocks noGrp="1"/>
          </p:cNvSpPr>
          <p:nvPr>
            <p:ph type="body" orient="vert" idx="1"/>
          </p:nvPr>
        </p:nvSpPr>
        <p:spPr>
          <a:xfrm rot="10800000">
            <a:off x="626528" y="1600200"/>
            <a:ext cx="7596722" cy="3966633"/>
          </a:xfrm>
        </p:spPr>
        <p:txBody>
          <a:bodyPr vert="eaVert"/>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spTree>
    <p:extLst>
      <p:ext uri="{BB962C8B-B14F-4D97-AF65-F5344CB8AC3E}">
        <p14:creationId xmlns:p14="http://schemas.microsoft.com/office/powerpoint/2010/main" val="3355099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rot="10800000">
            <a:off x="457200" y="274639"/>
            <a:ext cx="2057400" cy="5186363"/>
          </a:xfrm>
        </p:spPr>
        <p:txBody>
          <a:bodyPr vert="eaVert"/>
          <a:lstStyle/>
          <a:p>
            <a:r>
              <a:rPr lang="es-ES_tradnl" dirty="0"/>
              <a:t>Clic para editar título</a:t>
            </a:r>
            <a:endParaRPr lang="es-ES" dirty="0"/>
          </a:p>
        </p:txBody>
      </p:sp>
      <p:sp>
        <p:nvSpPr>
          <p:cNvPr id="3" name="Marcador de texto vertical 2"/>
          <p:cNvSpPr>
            <a:spLocks noGrp="1"/>
          </p:cNvSpPr>
          <p:nvPr>
            <p:ph type="body" orient="vert" idx="1"/>
          </p:nvPr>
        </p:nvSpPr>
        <p:spPr>
          <a:xfrm rot="10800000">
            <a:off x="2690283" y="274640"/>
            <a:ext cx="6019800" cy="5186362"/>
          </a:xfrm>
        </p:spPr>
        <p:txBody>
          <a:bodyPr vert="eaVert"/>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spTree>
    <p:extLst>
      <p:ext uri="{BB962C8B-B14F-4D97-AF65-F5344CB8AC3E}">
        <p14:creationId xmlns:p14="http://schemas.microsoft.com/office/powerpoint/2010/main" val="38408385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2"/>
        <p:cNvGrpSpPr/>
        <p:nvPr/>
      </p:nvGrpSpPr>
      <p:grpSpPr>
        <a:xfrm>
          <a:off x="0" y="0"/>
          <a:ext cx="0" cy="0"/>
          <a:chOff x="0" y="0"/>
          <a:chExt cx="0" cy="0"/>
        </a:xfrm>
      </p:grpSpPr>
      <p:sp>
        <p:nvSpPr>
          <p:cNvPr id="163" name="Google Shape;163;p42"/>
          <p:cNvSpPr txBox="1">
            <a:spLocks noGrp="1"/>
          </p:cNvSpPr>
          <p:nvPr>
            <p:ph type="title"/>
          </p:nvPr>
        </p:nvSpPr>
        <p:spPr>
          <a:xfrm>
            <a:off x="311700" y="593367"/>
            <a:ext cx="85206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64" name="Google Shape;164;p42"/>
          <p:cNvSpPr txBox="1">
            <a:spLocks noGrp="1"/>
          </p:cNvSpPr>
          <p:nvPr>
            <p:ph type="body" idx="1"/>
          </p:nvPr>
        </p:nvSpPr>
        <p:spPr>
          <a:xfrm>
            <a:off x="311700" y="1536633"/>
            <a:ext cx="8520600" cy="45552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65" name="Google Shape;165;p42"/>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CO" smtClean="0"/>
              <a:pPr algn="r"/>
              <a:t>‹Nº›</a:t>
            </a:fld>
            <a:endParaRPr lang="es-CO"/>
          </a:p>
        </p:txBody>
      </p:sp>
    </p:spTree>
    <p:extLst>
      <p:ext uri="{BB962C8B-B14F-4D97-AF65-F5344CB8AC3E}">
        <p14:creationId xmlns:p14="http://schemas.microsoft.com/office/powerpoint/2010/main" val="31796307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626528" y="636588"/>
            <a:ext cx="7596722" cy="760412"/>
          </a:xfrm>
          <a:prstGeom prst="rect">
            <a:avLst/>
          </a:prstGeom>
        </p:spPr>
        <p:txBody>
          <a:bodyPr vert="horz" lIns="91440" tIns="45720" rIns="91440" bIns="45720" rtlCol="0" anchor="t">
            <a:normAutofit/>
          </a:bodyPr>
          <a:lstStyle/>
          <a:p>
            <a:r>
              <a:rPr lang="es-ES_tradnl" dirty="0"/>
              <a:t>Clic para editar título</a:t>
            </a:r>
            <a:endParaRPr lang="es-ES" dirty="0"/>
          </a:p>
        </p:txBody>
      </p:sp>
      <p:sp>
        <p:nvSpPr>
          <p:cNvPr id="3" name="Marcador de texto 2"/>
          <p:cNvSpPr>
            <a:spLocks noGrp="1"/>
          </p:cNvSpPr>
          <p:nvPr>
            <p:ph type="body" idx="1"/>
          </p:nvPr>
        </p:nvSpPr>
        <p:spPr>
          <a:xfrm>
            <a:off x="626528" y="1600200"/>
            <a:ext cx="7596722" cy="3966633"/>
          </a:xfrm>
          <a:prstGeom prst="rect">
            <a:avLst/>
          </a:prstGeom>
        </p:spPr>
        <p:txBody>
          <a:bodyPr vert="horz" lIns="91440" tIns="45720" rIns="91440" bIns="45720" rtlCol="0">
            <a:normAutofit/>
          </a:bodyPr>
          <a:lstStyle/>
          <a:p>
            <a:pPr lvl="0"/>
            <a:r>
              <a:rPr lang="es-ES_tradnl" dirty="0"/>
              <a:t>Haga clic para modificar el estilo de texto del patrón</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s-ES" dirty="0"/>
          </a:p>
        </p:txBody>
      </p:sp>
      <p:pic>
        <p:nvPicPr>
          <p:cNvPr id="12" name="Imagen 11" descr="cuadrado_azul.png"/>
          <p:cNvPicPr>
            <a:picLocks/>
          </p:cNvPicPr>
          <p:nvPr/>
        </p:nvPicPr>
        <p:blipFill>
          <a:blip r:embed="rId16">
            <a:extLst>
              <a:ext uri="{28A0092B-C50C-407E-A947-70E740481C1C}">
                <a14:useLocalDpi xmlns:a14="http://schemas.microsoft.com/office/drawing/2010/main" val="0"/>
              </a:ext>
            </a:extLst>
          </a:blip>
          <a:stretch>
            <a:fillRect/>
          </a:stretch>
        </p:blipFill>
        <p:spPr>
          <a:xfrm>
            <a:off x="-18000" y="5860583"/>
            <a:ext cx="9180001" cy="1008000"/>
          </a:xfrm>
          <a:prstGeom prst="rect">
            <a:avLst/>
          </a:prstGeom>
          <a:ln>
            <a:noFill/>
          </a:ln>
        </p:spPr>
      </p:pic>
      <p:pic>
        <p:nvPicPr>
          <p:cNvPr id="13" name="Imagen 12" descr="escudoPUJ_lateral.eps"/>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6993548" y="5914584"/>
            <a:ext cx="1918488" cy="899999"/>
          </a:xfrm>
          <a:prstGeom prst="rect">
            <a:avLst/>
          </a:prstGeom>
        </p:spPr>
      </p:pic>
      <p:sp>
        <p:nvSpPr>
          <p:cNvPr id="14" name="Subtítulo 2"/>
          <p:cNvSpPr txBox="1">
            <a:spLocks/>
          </p:cNvSpPr>
          <p:nvPr userDrawn="1"/>
        </p:nvSpPr>
        <p:spPr>
          <a:xfrm>
            <a:off x="5247178" y="6126163"/>
            <a:ext cx="1605280" cy="523771"/>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pt-BR" sz="1200" dirty="0">
                <a:solidFill>
                  <a:schemeClr val="bg1"/>
                </a:solidFill>
                <a:latin typeface="Arial"/>
                <a:cs typeface="Arial"/>
              </a:rPr>
              <a:t>Nombre o logo</a:t>
            </a:r>
          </a:p>
          <a:p>
            <a:r>
              <a:rPr lang="pt-BR" sz="1200" dirty="0">
                <a:solidFill>
                  <a:schemeClr val="bg1"/>
                </a:solidFill>
                <a:latin typeface="Arial"/>
                <a:cs typeface="Arial"/>
              </a:rPr>
              <a:t>de la dependencia</a:t>
            </a:r>
            <a:endParaRPr lang="es-ES" sz="1200" dirty="0">
              <a:solidFill>
                <a:schemeClr val="bg1"/>
              </a:solidFill>
              <a:latin typeface="Arial"/>
              <a:cs typeface="Arial"/>
            </a:endParaRPr>
          </a:p>
        </p:txBody>
      </p:sp>
      <p:sp>
        <p:nvSpPr>
          <p:cNvPr id="15" name="Título 1"/>
          <p:cNvSpPr txBox="1">
            <a:spLocks/>
          </p:cNvSpPr>
          <p:nvPr userDrawn="1"/>
        </p:nvSpPr>
        <p:spPr>
          <a:xfrm>
            <a:off x="300928" y="6178263"/>
            <a:ext cx="4331548" cy="368789"/>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s-ES_tradnl" sz="1300" b="1" dirty="0">
                <a:solidFill>
                  <a:srgbClr val="FFFFFF"/>
                </a:solidFill>
                <a:latin typeface="Arial"/>
                <a:cs typeface="Arial"/>
              </a:rPr>
              <a:t>Título de la presentación</a:t>
            </a:r>
          </a:p>
        </p:txBody>
      </p:sp>
    </p:spTree>
    <p:extLst>
      <p:ext uri="{BB962C8B-B14F-4D97-AF65-F5344CB8AC3E}">
        <p14:creationId xmlns:p14="http://schemas.microsoft.com/office/powerpoint/2010/main" val="1833914475"/>
      </p:ext>
    </p:extLst>
  </p:cSld>
  <p:clrMap bg1="lt1" tx1="dk1" bg2="lt2" tx2="dk2" accent1="accent1" accent2="accent2" accent3="accent3" accent4="accent4" accent5="accent5" accent6="accent6" hlink="hlink" folHlink="folHlink"/>
  <p:sldLayoutIdLst>
    <p:sldLayoutId id="2147483661" r:id="rId1"/>
    <p:sldLayoutId id="2147483660"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2" r:id="rId14"/>
  </p:sldLayoutIdLst>
  <p:hf hdr="0" ftr="0" dt="0"/>
  <p:txStyles>
    <p:titleStyle>
      <a:lvl1pPr algn="l" defTabSz="457200" rtl="0" eaLnBrk="1" latinLnBrk="0" hangingPunct="1">
        <a:spcBef>
          <a:spcPct val="0"/>
        </a:spcBef>
        <a:buNone/>
        <a:defRPr sz="3000" b="1" kern="1200">
          <a:solidFill>
            <a:srgbClr val="2C5697"/>
          </a:solidFill>
          <a:latin typeface="Arial"/>
          <a:ea typeface="+mj-ea"/>
          <a:cs typeface="Arial"/>
        </a:defRPr>
      </a:lvl1pPr>
    </p:titleStyle>
    <p:bodyStyle>
      <a:lvl1pPr marL="0" indent="0" algn="l" defTabSz="457200" rtl="0" eaLnBrk="1" latinLnBrk="0" hangingPunct="1">
        <a:spcBef>
          <a:spcPct val="20000"/>
        </a:spcBef>
        <a:buFont typeface="Arial"/>
        <a:buNone/>
        <a:defRPr sz="2400" kern="1200">
          <a:solidFill>
            <a:srgbClr val="404040"/>
          </a:solidFill>
          <a:latin typeface="Arial"/>
          <a:ea typeface="+mn-ea"/>
          <a:cs typeface="Arial"/>
        </a:defRPr>
      </a:lvl1pPr>
      <a:lvl2pPr marL="742950" indent="-285750" algn="l" defTabSz="457200" rtl="0" eaLnBrk="1" latinLnBrk="0" hangingPunct="1">
        <a:spcBef>
          <a:spcPct val="20000"/>
        </a:spcBef>
        <a:buClr>
          <a:srgbClr val="2C5697"/>
        </a:buClr>
        <a:buSzPct val="90000"/>
        <a:buFont typeface="Arial"/>
        <a:buChar char="•"/>
        <a:defRPr sz="2400" kern="1200">
          <a:solidFill>
            <a:srgbClr val="404040"/>
          </a:solidFill>
          <a:latin typeface="Arial"/>
          <a:ea typeface="+mn-ea"/>
          <a:cs typeface="Arial"/>
        </a:defRPr>
      </a:lvl2pPr>
      <a:lvl3pPr marL="1143000" indent="-228600" algn="l" defTabSz="457200" rtl="0" eaLnBrk="1" latinLnBrk="0" hangingPunct="1">
        <a:spcBef>
          <a:spcPct val="20000"/>
        </a:spcBef>
        <a:buClr>
          <a:srgbClr val="2C5697"/>
        </a:buClr>
        <a:buSzPct val="80000"/>
        <a:buFont typeface="Wingdings" charset="2"/>
        <a:buChar char="§"/>
        <a:defRPr sz="2200" kern="1200">
          <a:solidFill>
            <a:schemeClr val="tx1">
              <a:lumMod val="75000"/>
              <a:lumOff val="25000"/>
            </a:schemeClr>
          </a:solidFill>
          <a:latin typeface="Arial"/>
          <a:ea typeface="+mn-ea"/>
          <a:cs typeface="Arial"/>
        </a:defRPr>
      </a:lvl3pPr>
      <a:lvl4pPr marL="1600200" indent="-228600" algn="l" defTabSz="457200" rtl="0" eaLnBrk="1" latinLnBrk="0" hangingPunct="1">
        <a:spcBef>
          <a:spcPct val="20000"/>
        </a:spcBef>
        <a:buClr>
          <a:srgbClr val="2C5697"/>
        </a:buClr>
        <a:buSzPct val="80000"/>
        <a:buFont typeface="Arial"/>
        <a:buChar char="–"/>
        <a:defRPr sz="2000" kern="1200">
          <a:solidFill>
            <a:srgbClr val="404040"/>
          </a:solidFill>
          <a:latin typeface="Arial"/>
          <a:ea typeface="+mn-ea"/>
          <a:cs typeface="Arial"/>
        </a:defRPr>
      </a:lvl4pPr>
      <a:lvl5pPr marL="2057400" indent="-228600" algn="l" defTabSz="457200" rtl="0" eaLnBrk="1" latinLnBrk="0" hangingPunct="1">
        <a:spcBef>
          <a:spcPct val="20000"/>
        </a:spcBef>
        <a:buClr>
          <a:srgbClr val="2C5697"/>
        </a:buClr>
        <a:buFont typeface="Arial"/>
        <a:buChar char="»"/>
        <a:defRPr sz="1800" kern="1200">
          <a:solidFill>
            <a:srgbClr val="404040"/>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2.xml.rels><?xml version="1.0" encoding="UTF-8" standalone="yes"?>
<Relationships xmlns="http://schemas.openxmlformats.org/package/2006/relationships"><Relationship Id="rId8" Type="http://schemas.openxmlformats.org/officeDocument/2006/relationships/image" Target="../media/image9.jpg"/><Relationship Id="rId3" Type="http://schemas.openxmlformats.org/officeDocument/2006/relationships/notesSlide" Target="../notesSlides/notesSlide1.xml"/><Relationship Id="rId7" Type="http://schemas.openxmlformats.org/officeDocument/2006/relationships/image" Target="../media/image8.jpeg"/><Relationship Id="rId2" Type="http://schemas.openxmlformats.org/officeDocument/2006/relationships/slideLayout" Target="../slideLayouts/slideLayout4.xml"/><Relationship Id="rId1" Type="http://schemas.openxmlformats.org/officeDocument/2006/relationships/tags" Target="../tags/tag1.xml"/><Relationship Id="rId6" Type="http://schemas.openxmlformats.org/officeDocument/2006/relationships/image" Target="../media/image7.png"/><Relationship Id="rId5" Type="http://schemas.openxmlformats.org/officeDocument/2006/relationships/image" Target="../media/image6.jpeg"/><Relationship Id="rId10" Type="http://schemas.openxmlformats.org/officeDocument/2006/relationships/image" Target="../media/image11.jpeg"/><Relationship Id="rId4" Type="http://schemas.openxmlformats.org/officeDocument/2006/relationships/image" Target="../media/image5.jp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2.xml"/><Relationship Id="rId6" Type="http://schemas.openxmlformats.org/officeDocument/2006/relationships/image" Target="../media/image14.png"/><Relationship Id="rId5" Type="http://schemas.openxmlformats.org/officeDocument/2006/relationships/image" Target="../media/image13.jpe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7" Type="http://schemas.openxmlformats.org/officeDocument/2006/relationships/hyperlink" Target="https://www.youtube.com/watch?v=cKKM9boWqZs" TargetMode="External"/><Relationship Id="rId2" Type="http://schemas.openxmlformats.org/officeDocument/2006/relationships/slideLayout" Target="../slideLayouts/slideLayout4.xml"/><Relationship Id="rId1" Type="http://schemas.openxmlformats.org/officeDocument/2006/relationships/tags" Target="../tags/tag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5.xml"/><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8" Type="http://schemas.openxmlformats.org/officeDocument/2006/relationships/image" Target="../media/image27.jpeg"/><Relationship Id="rId3" Type="http://schemas.openxmlformats.org/officeDocument/2006/relationships/notesSlide" Target="../notesSlides/notesSlide6.xml"/><Relationship Id="rId7" Type="http://schemas.openxmlformats.org/officeDocument/2006/relationships/image" Target="../media/image26.jpeg"/><Relationship Id="rId2" Type="http://schemas.openxmlformats.org/officeDocument/2006/relationships/slideLayout" Target="../slideLayouts/slideLayout4.xml"/><Relationship Id="rId1" Type="http://schemas.openxmlformats.org/officeDocument/2006/relationships/tags" Target="../tags/tag6.xml"/><Relationship Id="rId6" Type="http://schemas.openxmlformats.org/officeDocument/2006/relationships/image" Target="../media/image25.jpeg"/><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4.xml"/><Relationship Id="rId1" Type="http://schemas.openxmlformats.org/officeDocument/2006/relationships/tags" Target="../tags/tag7.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4.xml"/><Relationship Id="rId1" Type="http://schemas.openxmlformats.org/officeDocument/2006/relationships/tags" Target="../tags/tag8.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9.xml"/><Relationship Id="rId5" Type="http://schemas.openxmlformats.org/officeDocument/2006/relationships/image" Target="../media/image33.png"/><Relationship Id="rId4" Type="http://schemas.openxmlformats.org/officeDocument/2006/relationships/image" Target="../media/image13.jpe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tags" Target="../tags/tag10.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4.xml"/><Relationship Id="rId1" Type="http://schemas.openxmlformats.org/officeDocument/2006/relationships/tags" Target="../tags/tag11.xml"/><Relationship Id="rId5" Type="http://schemas.openxmlformats.org/officeDocument/2006/relationships/image" Target="../media/image36.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4.xml"/><Relationship Id="rId1" Type="http://schemas.openxmlformats.org/officeDocument/2006/relationships/tags" Target="../tags/tag12.xml"/><Relationship Id="rId5" Type="http://schemas.openxmlformats.org/officeDocument/2006/relationships/image" Target="../media/image38.png"/><Relationship Id="rId4" Type="http://schemas.openxmlformats.org/officeDocument/2006/relationships/image" Target="../media/image37.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7" Type="http://schemas.openxmlformats.org/officeDocument/2006/relationships/image" Target="../media/image42.png"/><Relationship Id="rId2" Type="http://schemas.openxmlformats.org/officeDocument/2006/relationships/slideLayout" Target="../slideLayouts/slideLayout4.xml"/><Relationship Id="rId1" Type="http://schemas.openxmlformats.org/officeDocument/2006/relationships/tags" Target="../tags/tag13.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4.xml"/><Relationship Id="rId1" Type="http://schemas.openxmlformats.org/officeDocument/2006/relationships/tags" Target="../tags/tag14.xml"/><Relationship Id="rId5" Type="http://schemas.openxmlformats.org/officeDocument/2006/relationships/image" Target="../media/image44.png"/><Relationship Id="rId4" Type="http://schemas.openxmlformats.org/officeDocument/2006/relationships/image" Target="../media/image43.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4.xml"/><Relationship Id="rId1" Type="http://schemas.openxmlformats.org/officeDocument/2006/relationships/tags" Target="../tags/tag15.xml"/><Relationship Id="rId5" Type="http://schemas.openxmlformats.org/officeDocument/2006/relationships/image" Target="../media/image46.png"/><Relationship Id="rId4"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7" Type="http://schemas.openxmlformats.org/officeDocument/2006/relationships/image" Target="../media/image50.jpeg"/><Relationship Id="rId2" Type="http://schemas.openxmlformats.org/officeDocument/2006/relationships/slideLayout" Target="../slideLayouts/slideLayout4.xml"/><Relationship Id="rId1" Type="http://schemas.openxmlformats.org/officeDocument/2006/relationships/tags" Target="../tags/tag16.xml"/><Relationship Id="rId6" Type="http://schemas.openxmlformats.org/officeDocument/2006/relationships/image" Target="../media/image49.jpeg"/><Relationship Id="rId5" Type="http://schemas.openxmlformats.org/officeDocument/2006/relationships/image" Target="../media/image48.png"/><Relationship Id="rId4" Type="http://schemas.openxmlformats.org/officeDocument/2006/relationships/image" Target="../media/image47.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tags" Target="../tags/tag17.xml"/><Relationship Id="rId5" Type="http://schemas.openxmlformats.org/officeDocument/2006/relationships/image" Target="../media/image52.png"/><Relationship Id="rId4" Type="http://schemas.openxmlformats.org/officeDocument/2006/relationships/image" Target="../media/image51.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www.youtube.com/watch?v=xlPoa3uH1PA" TargetMode="External"/><Relationship Id="rId2" Type="http://schemas.openxmlformats.org/officeDocument/2006/relationships/slideLayout" Target="../slideLayouts/slideLayout4.xml"/><Relationship Id="rId1" Type="http://schemas.openxmlformats.org/officeDocument/2006/relationships/tags" Target="../tags/tag18.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p:cNvSpPr/>
          <p:nvPr/>
        </p:nvSpPr>
        <p:spPr>
          <a:xfrm>
            <a:off x="0" y="0"/>
            <a:ext cx="9144000" cy="6858000"/>
          </a:xfrm>
          <a:prstGeom prst="rect">
            <a:avLst/>
          </a:prstGeom>
          <a:ln>
            <a:noFill/>
          </a:ln>
          <a:effectLst/>
        </p:spPr>
        <p:style>
          <a:lnRef idx="1">
            <a:schemeClr val="dk1"/>
          </a:lnRef>
          <a:fillRef idx="2">
            <a:schemeClr val="dk1"/>
          </a:fillRef>
          <a:effectRef idx="1">
            <a:schemeClr val="dk1"/>
          </a:effectRef>
          <a:fontRef idx="minor">
            <a:schemeClr val="dk1"/>
          </a:fontRef>
        </p:style>
        <p:txBody>
          <a:bodyPr rtlCol="0" anchor="ctr"/>
          <a:lstStyle/>
          <a:p>
            <a:pPr algn="ctr"/>
            <a:endParaRPr lang="es-ES"/>
          </a:p>
        </p:txBody>
      </p:sp>
      <p:sp>
        <p:nvSpPr>
          <p:cNvPr id="10" name="Rectángulo 9"/>
          <p:cNvSpPr/>
          <p:nvPr/>
        </p:nvSpPr>
        <p:spPr>
          <a:xfrm>
            <a:off x="1920240" y="3636382"/>
            <a:ext cx="5303520" cy="1593164"/>
          </a:xfrm>
          <a:prstGeom prst="rect">
            <a:avLst/>
          </a:prstGeom>
          <a:solidFill>
            <a:schemeClr val="bg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
        <p:nvSpPr>
          <p:cNvPr id="2" name="Título 1"/>
          <p:cNvSpPr>
            <a:spLocks noGrp="1"/>
          </p:cNvSpPr>
          <p:nvPr>
            <p:ph type="ctrTitle" idx="4294967295"/>
          </p:nvPr>
        </p:nvSpPr>
        <p:spPr>
          <a:xfrm>
            <a:off x="1920240" y="3770313"/>
            <a:ext cx="5303520" cy="593725"/>
          </a:xfrm>
        </p:spPr>
        <p:txBody>
          <a:bodyPr>
            <a:normAutofit fontScale="90000"/>
          </a:bodyPr>
          <a:lstStyle/>
          <a:p>
            <a:pPr algn="ctr"/>
            <a:r>
              <a:rPr lang="es-ES_tradnl" sz="2800" dirty="0"/>
              <a:t>Instrumentación optoelectrónica</a:t>
            </a:r>
            <a:endParaRPr lang="es-ES_tradnl" sz="2800" b="1" dirty="0">
              <a:solidFill>
                <a:srgbClr val="2C5697"/>
              </a:solidFill>
              <a:latin typeface="Arial"/>
              <a:cs typeface="Arial"/>
            </a:endParaRPr>
          </a:p>
        </p:txBody>
      </p:sp>
      <p:sp>
        <p:nvSpPr>
          <p:cNvPr id="3" name="Subtítulo 2"/>
          <p:cNvSpPr>
            <a:spLocks noGrp="1"/>
          </p:cNvSpPr>
          <p:nvPr>
            <p:ph type="subTitle" idx="4294967295"/>
          </p:nvPr>
        </p:nvSpPr>
        <p:spPr>
          <a:xfrm>
            <a:off x="2103438" y="4556370"/>
            <a:ext cx="4937125" cy="674670"/>
          </a:xfrm>
        </p:spPr>
        <p:txBody>
          <a:bodyPr>
            <a:normAutofit/>
          </a:bodyPr>
          <a:lstStyle/>
          <a:p>
            <a:pPr algn="ctr"/>
            <a:r>
              <a:rPr lang="pt-BR" sz="1600" dirty="0">
                <a:solidFill>
                  <a:srgbClr val="2C5697"/>
                </a:solidFill>
              </a:rPr>
              <a:t>Pedro Antonio Aya Parra</a:t>
            </a:r>
          </a:p>
          <a:p>
            <a:pPr algn="ctr"/>
            <a:r>
              <a:rPr lang="pt-BR" sz="1600" dirty="0" err="1">
                <a:solidFill>
                  <a:srgbClr val="2C5697"/>
                </a:solidFill>
                <a:latin typeface="Arial"/>
                <a:cs typeface="Arial"/>
              </a:rPr>
              <a:t>Facultad</a:t>
            </a:r>
            <a:r>
              <a:rPr lang="pt-BR" sz="1600" dirty="0">
                <a:solidFill>
                  <a:srgbClr val="2C5697"/>
                </a:solidFill>
                <a:latin typeface="Arial"/>
                <a:cs typeface="Arial"/>
              </a:rPr>
              <a:t> de </a:t>
            </a:r>
            <a:r>
              <a:rPr lang="pt-BR" sz="1600" dirty="0" err="1">
                <a:solidFill>
                  <a:srgbClr val="2C5697"/>
                </a:solidFill>
                <a:latin typeface="Arial"/>
                <a:cs typeface="Arial"/>
              </a:rPr>
              <a:t>ingeniería</a:t>
            </a:r>
            <a:endParaRPr lang="es-ES" sz="1600" dirty="0">
              <a:solidFill>
                <a:srgbClr val="2C5697"/>
              </a:solidFill>
              <a:latin typeface="Arial"/>
              <a:cs typeface="Arial"/>
            </a:endParaRPr>
          </a:p>
        </p:txBody>
      </p:sp>
      <p:grpSp>
        <p:nvGrpSpPr>
          <p:cNvPr id="17" name="Agrupar 16"/>
          <p:cNvGrpSpPr/>
          <p:nvPr/>
        </p:nvGrpSpPr>
        <p:grpSpPr>
          <a:xfrm>
            <a:off x="3495041" y="0"/>
            <a:ext cx="2153920" cy="2590800"/>
            <a:chOff x="3495041" y="0"/>
            <a:chExt cx="2153920" cy="2590800"/>
          </a:xfrm>
        </p:grpSpPr>
        <p:pic>
          <p:nvPicPr>
            <p:cNvPr id="9" name="Imagen 8" descr="cuadrado_azul.png"/>
            <p:cNvPicPr>
              <a:picLocks/>
            </p:cNvPicPr>
            <p:nvPr/>
          </p:nvPicPr>
          <p:blipFill>
            <a:blip r:embed="rId2">
              <a:extLst>
                <a:ext uri="{28A0092B-C50C-407E-A947-70E740481C1C}">
                  <a14:useLocalDpi xmlns:a14="http://schemas.microsoft.com/office/drawing/2010/main" val="0"/>
                </a:ext>
              </a:extLst>
            </a:blip>
            <a:stretch>
              <a:fillRect/>
            </a:stretch>
          </p:blipFill>
          <p:spPr>
            <a:xfrm>
              <a:off x="3495041" y="0"/>
              <a:ext cx="2153920" cy="2590800"/>
            </a:xfrm>
            <a:prstGeom prst="rect">
              <a:avLst/>
            </a:prstGeom>
          </p:spPr>
        </p:pic>
        <p:pic>
          <p:nvPicPr>
            <p:cNvPr id="13" name="Imagen 12" descr="escudoPUJ_central.eps"/>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2003" y="200909"/>
              <a:ext cx="1979996" cy="2118596"/>
            </a:xfrm>
            <a:prstGeom prst="rect">
              <a:avLst/>
            </a:prstGeom>
          </p:spPr>
        </p:pic>
        <p:pic>
          <p:nvPicPr>
            <p:cNvPr id="16" name="Imagen 15" descr="texto_vigilada_mineducacion_rgb-negativo.eps"/>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14001" y="2382779"/>
              <a:ext cx="1116000" cy="84717"/>
            </a:xfrm>
            <a:prstGeom prst="rect">
              <a:avLst/>
            </a:prstGeom>
          </p:spPr>
        </p:pic>
      </p:grpSp>
      <p:sp>
        <p:nvSpPr>
          <p:cNvPr id="5" name="CuadroTexto 4"/>
          <p:cNvSpPr txBox="1"/>
          <p:nvPr/>
        </p:nvSpPr>
        <p:spPr>
          <a:xfrm>
            <a:off x="6040703" y="6258730"/>
            <a:ext cx="184666" cy="369332"/>
          </a:xfrm>
          <a:prstGeom prst="rect">
            <a:avLst/>
          </a:prstGeom>
          <a:noFill/>
        </p:spPr>
        <p:txBody>
          <a:bodyPr wrap="none" rtlCol="0">
            <a:spAutoFit/>
          </a:bodyPr>
          <a:lstStyle/>
          <a:p>
            <a:endParaRPr lang="es-ES" dirty="0"/>
          </a:p>
        </p:txBody>
      </p:sp>
      <p:sp>
        <p:nvSpPr>
          <p:cNvPr id="7" name="CuadroTexto 6"/>
          <p:cNvSpPr txBox="1"/>
          <p:nvPr/>
        </p:nvSpPr>
        <p:spPr>
          <a:xfrm>
            <a:off x="1498735" y="6052775"/>
            <a:ext cx="184666" cy="369332"/>
          </a:xfrm>
          <a:prstGeom prst="rect">
            <a:avLst/>
          </a:prstGeom>
          <a:noFill/>
        </p:spPr>
        <p:txBody>
          <a:bodyPr wrap="none" rtlCol="0">
            <a:spAutoFit/>
          </a:bodyPr>
          <a:lstStyle/>
          <a:p>
            <a:endParaRPr lang="es-ES" dirty="0"/>
          </a:p>
        </p:txBody>
      </p:sp>
    </p:spTree>
    <p:extLst>
      <p:ext uri="{BB962C8B-B14F-4D97-AF65-F5344CB8AC3E}">
        <p14:creationId xmlns:p14="http://schemas.microsoft.com/office/powerpoint/2010/main" val="39081488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El mundo de la optoelectrónica</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2</a:t>
            </a:fld>
            <a:endParaRPr lang="es-CO" sz="1200" dirty="0">
              <a:solidFill>
                <a:schemeClr val="bg1"/>
              </a:solidFill>
            </a:endParaRPr>
          </a:p>
        </p:txBody>
      </p:sp>
      <p:sp>
        <p:nvSpPr>
          <p:cNvPr id="5" name="CuadroTexto 4">
            <a:extLst>
              <a:ext uri="{FF2B5EF4-FFF2-40B4-BE49-F238E27FC236}">
                <a16:creationId xmlns:a16="http://schemas.microsoft.com/office/drawing/2014/main" id="{373C887E-75DF-40BE-C616-FFB147D5E821}"/>
              </a:ext>
            </a:extLst>
          </p:cNvPr>
          <p:cNvSpPr txBox="1"/>
          <p:nvPr/>
        </p:nvSpPr>
        <p:spPr>
          <a:xfrm>
            <a:off x="165212" y="1166842"/>
            <a:ext cx="5982926" cy="4524315"/>
          </a:xfrm>
          <a:prstGeom prst="rect">
            <a:avLst/>
          </a:prstGeom>
          <a:noFill/>
        </p:spPr>
        <p:txBody>
          <a:bodyPr wrap="square">
            <a:spAutoFit/>
          </a:bodyPr>
          <a:lstStyle/>
          <a:p>
            <a:pPr algn="just"/>
            <a:r>
              <a:rPr lang="es-ES" sz="1200" dirty="0">
                <a:solidFill>
                  <a:srgbClr val="C00000"/>
                </a:solidFill>
                <a:latin typeface="Arial"/>
                <a:cs typeface="Arial"/>
              </a:rPr>
              <a:t>Fotodiodos</a:t>
            </a:r>
            <a:r>
              <a:rPr lang="es-ES" sz="1200" dirty="0">
                <a:solidFill>
                  <a:srgbClr val="2C5697"/>
                </a:solidFill>
                <a:latin typeface="Arial"/>
                <a:cs typeface="Arial"/>
              </a:rPr>
              <a:t>: sensores de luz semiconductores construidos a partir de una unión P-N activa que genera una corriente o tensión cuando la luz incide sobre la unión. Tienen distintos modos de funcionamiento y se utilizan, entre otros. en equipos médicos e industriales.</a:t>
            </a:r>
          </a:p>
          <a:p>
            <a:pPr algn="just">
              <a:buFont typeface="Arial" panose="020B0604020202020204" pitchFamily="34" charset="0"/>
              <a:buChar char="•"/>
            </a:pPr>
            <a:endParaRPr lang="es-ES" sz="1200" dirty="0">
              <a:solidFill>
                <a:srgbClr val="2C5697"/>
              </a:solidFill>
              <a:latin typeface="Arial"/>
              <a:cs typeface="Arial"/>
            </a:endParaRPr>
          </a:p>
          <a:p>
            <a:pPr algn="just"/>
            <a:r>
              <a:rPr lang="es-ES" sz="1200" dirty="0">
                <a:solidFill>
                  <a:srgbClr val="C00000"/>
                </a:solidFill>
                <a:latin typeface="Arial"/>
                <a:cs typeface="Arial"/>
              </a:rPr>
              <a:t>Células fotovoltaicas</a:t>
            </a:r>
            <a:r>
              <a:rPr lang="es-ES" sz="1200" dirty="0">
                <a:solidFill>
                  <a:srgbClr val="2C5697"/>
                </a:solidFill>
                <a:latin typeface="Arial"/>
                <a:cs typeface="Arial"/>
              </a:rPr>
              <a:t>: convierten la energía solar directamente en electricidad. Ampliamente utilizado en sistemas de telecomunicaciones, navegación marítima o electrificación rural. </a:t>
            </a:r>
          </a:p>
          <a:p>
            <a:pPr algn="just">
              <a:buFont typeface="Arial" panose="020B0604020202020204" pitchFamily="34" charset="0"/>
              <a:buChar char="•"/>
            </a:pPr>
            <a:endParaRPr lang="es-ES" sz="1200" dirty="0">
              <a:solidFill>
                <a:srgbClr val="2C5697"/>
              </a:solidFill>
              <a:latin typeface="Arial"/>
              <a:cs typeface="Arial"/>
            </a:endParaRPr>
          </a:p>
          <a:p>
            <a:pPr algn="just"/>
            <a:r>
              <a:rPr lang="es-ES" sz="1200" dirty="0">
                <a:solidFill>
                  <a:srgbClr val="C00000"/>
                </a:solidFill>
                <a:latin typeface="Arial"/>
                <a:cs typeface="Arial"/>
              </a:rPr>
              <a:t>Fotoresistencias</a:t>
            </a:r>
            <a:r>
              <a:rPr lang="es-ES" sz="1200" dirty="0">
                <a:solidFill>
                  <a:srgbClr val="2C5697"/>
                </a:solidFill>
                <a:latin typeface="Arial"/>
                <a:cs typeface="Arial"/>
              </a:rPr>
              <a:t>: resistencias controladas por la luz cuya resistencia disminuye con la iluminación. Se utiliza en sensores de luz e interruptores.</a:t>
            </a:r>
          </a:p>
          <a:p>
            <a:pPr algn="just">
              <a:buFont typeface="Arial" panose="020B0604020202020204" pitchFamily="34" charset="0"/>
              <a:buChar char="•"/>
            </a:pPr>
            <a:endParaRPr lang="es-ES" sz="1200" dirty="0">
              <a:solidFill>
                <a:srgbClr val="2C5697"/>
              </a:solidFill>
              <a:latin typeface="Arial"/>
              <a:cs typeface="Arial"/>
            </a:endParaRPr>
          </a:p>
          <a:p>
            <a:pPr algn="just"/>
            <a:r>
              <a:rPr lang="es-ES" sz="1200" dirty="0">
                <a:solidFill>
                  <a:srgbClr val="C00000"/>
                </a:solidFill>
                <a:latin typeface="Arial"/>
                <a:cs typeface="Arial"/>
              </a:rPr>
              <a:t>LED:</a:t>
            </a:r>
            <a:r>
              <a:rPr lang="es-ES" sz="1200" dirty="0">
                <a:solidFill>
                  <a:srgbClr val="2C5697"/>
                </a:solidFill>
                <a:latin typeface="Arial"/>
                <a:cs typeface="Arial"/>
              </a:rPr>
              <a:t> diodos semiconductores que emiten luz por electroluminiscencia. Se utilizan mucho como indicadores y fuentes de luz en electrónica.</a:t>
            </a:r>
          </a:p>
          <a:p>
            <a:pPr algn="just">
              <a:buFont typeface="Arial" panose="020B0604020202020204" pitchFamily="34" charset="0"/>
              <a:buChar char="•"/>
            </a:pPr>
            <a:endParaRPr lang="es-ES" sz="1200" dirty="0">
              <a:solidFill>
                <a:srgbClr val="2C5697"/>
              </a:solidFill>
              <a:latin typeface="Arial"/>
              <a:cs typeface="Arial"/>
            </a:endParaRPr>
          </a:p>
          <a:p>
            <a:pPr algn="just"/>
            <a:r>
              <a:rPr lang="es-ES" sz="1200" dirty="0">
                <a:solidFill>
                  <a:srgbClr val="C00000"/>
                </a:solidFill>
                <a:latin typeface="Arial"/>
                <a:cs typeface="Arial"/>
              </a:rPr>
              <a:t>Circuitos integrados de sensores codificadores</a:t>
            </a:r>
            <a:r>
              <a:rPr lang="es-ES" sz="1200" dirty="0">
                <a:solidFill>
                  <a:srgbClr val="2C5697"/>
                </a:solidFill>
                <a:latin typeface="Arial"/>
                <a:cs typeface="Arial"/>
              </a:rPr>
              <a:t>: convierten el movimiento rotativo o lineal en señales eléctricas en sistemas de control de movimiento. </a:t>
            </a:r>
          </a:p>
          <a:p>
            <a:pPr algn="just">
              <a:buFont typeface="Arial" panose="020B0604020202020204" pitchFamily="34" charset="0"/>
              <a:buChar char="•"/>
            </a:pPr>
            <a:endParaRPr lang="es-ES" sz="1200" dirty="0">
              <a:solidFill>
                <a:srgbClr val="2C5697"/>
              </a:solidFill>
              <a:latin typeface="Arial"/>
              <a:cs typeface="Arial"/>
            </a:endParaRPr>
          </a:p>
          <a:p>
            <a:pPr algn="just"/>
            <a:r>
              <a:rPr lang="es-ES" sz="1200" dirty="0">
                <a:solidFill>
                  <a:srgbClr val="C00000"/>
                </a:solidFill>
                <a:latin typeface="Arial"/>
                <a:cs typeface="Arial"/>
              </a:rPr>
              <a:t>Diodos láser</a:t>
            </a:r>
            <a:r>
              <a:rPr lang="es-ES" sz="1200" dirty="0">
                <a:solidFill>
                  <a:srgbClr val="2C5697"/>
                </a:solidFill>
                <a:latin typeface="Arial"/>
                <a:cs typeface="Arial"/>
              </a:rPr>
              <a:t>: diodos semiconductores que convierten la energía eléctrica en luz láser. Se aplica, entre otras cosas, a en reproductores de CD, dispositivos médicos y telecomunicaciones.</a:t>
            </a:r>
          </a:p>
          <a:p>
            <a:pPr algn="just">
              <a:buFont typeface="Arial" panose="020B0604020202020204" pitchFamily="34" charset="0"/>
              <a:buChar char="•"/>
            </a:pPr>
            <a:endParaRPr lang="es-ES" sz="1200" dirty="0">
              <a:solidFill>
                <a:srgbClr val="2C5697"/>
              </a:solidFill>
              <a:latin typeface="Arial"/>
              <a:cs typeface="Arial"/>
            </a:endParaRPr>
          </a:p>
          <a:p>
            <a:pPr algn="just"/>
            <a:r>
              <a:rPr lang="es-ES" sz="1200" dirty="0">
                <a:solidFill>
                  <a:srgbClr val="C00000"/>
                </a:solidFill>
                <a:latin typeface="Arial"/>
                <a:cs typeface="Arial"/>
              </a:rPr>
              <a:t>Fibra óptica</a:t>
            </a:r>
            <a:r>
              <a:rPr lang="es-ES" sz="1200" dirty="0">
                <a:solidFill>
                  <a:srgbClr val="2C5697"/>
                </a:solidFill>
                <a:latin typeface="Arial"/>
                <a:cs typeface="Arial"/>
              </a:rPr>
              <a:t>: transmite información en forma de luz modulada. Utilizado en telecomunicaciones, sensores y las</a:t>
            </a:r>
          </a:p>
        </p:txBody>
      </p:sp>
      <p:pic>
        <p:nvPicPr>
          <p:cNvPr id="9" name="Imagen 8" descr="Diagrama, Dibujo de ingeniería&#10;&#10;El contenido generado por IA puede ser incorrecto.">
            <a:extLst>
              <a:ext uri="{FF2B5EF4-FFF2-40B4-BE49-F238E27FC236}">
                <a16:creationId xmlns:a16="http://schemas.microsoft.com/office/drawing/2014/main" id="{2A733F5B-B7D5-E5A6-0AB0-D09AA765E9BB}"/>
              </a:ext>
            </a:extLst>
          </p:cNvPr>
          <p:cNvPicPr>
            <a:picLocks noChangeAspect="1"/>
          </p:cNvPicPr>
          <p:nvPr/>
        </p:nvPicPr>
        <p:blipFill>
          <a:blip r:embed="rId4"/>
          <a:stretch>
            <a:fillRect/>
          </a:stretch>
        </p:blipFill>
        <p:spPr>
          <a:xfrm>
            <a:off x="6148138" y="178408"/>
            <a:ext cx="1671991" cy="1080280"/>
          </a:xfrm>
          <a:prstGeom prst="rect">
            <a:avLst/>
          </a:prstGeom>
        </p:spPr>
      </p:pic>
      <p:pic>
        <p:nvPicPr>
          <p:cNvPr id="13" name="Imagen 12" descr="Diagrama&#10;&#10;El contenido generado por IA puede ser incorrecto.">
            <a:extLst>
              <a:ext uri="{FF2B5EF4-FFF2-40B4-BE49-F238E27FC236}">
                <a16:creationId xmlns:a16="http://schemas.microsoft.com/office/drawing/2014/main" id="{9696A3BD-7751-2428-2956-DF1DAAACAA29}"/>
              </a:ext>
            </a:extLst>
          </p:cNvPr>
          <p:cNvPicPr>
            <a:picLocks noChangeAspect="1"/>
          </p:cNvPicPr>
          <p:nvPr/>
        </p:nvPicPr>
        <p:blipFill>
          <a:blip r:embed="rId5"/>
          <a:stretch>
            <a:fillRect/>
          </a:stretch>
        </p:blipFill>
        <p:spPr>
          <a:xfrm>
            <a:off x="6772274" y="1478424"/>
            <a:ext cx="2273682" cy="974435"/>
          </a:xfrm>
          <a:prstGeom prst="rect">
            <a:avLst/>
          </a:prstGeom>
        </p:spPr>
      </p:pic>
      <p:pic>
        <p:nvPicPr>
          <p:cNvPr id="16" name="Imagen 15" descr="Imagen que contiene corte&#10;&#10;El contenido generado por IA puede ser incorrecto.">
            <a:extLst>
              <a:ext uri="{FF2B5EF4-FFF2-40B4-BE49-F238E27FC236}">
                <a16:creationId xmlns:a16="http://schemas.microsoft.com/office/drawing/2014/main" id="{21FF4F8A-D9A8-31E0-464C-5B7169DDE131}"/>
              </a:ext>
            </a:extLst>
          </p:cNvPr>
          <p:cNvPicPr>
            <a:picLocks noChangeAspect="1"/>
          </p:cNvPicPr>
          <p:nvPr/>
        </p:nvPicPr>
        <p:blipFill>
          <a:blip r:embed="rId6"/>
          <a:stretch>
            <a:fillRect/>
          </a:stretch>
        </p:blipFill>
        <p:spPr>
          <a:xfrm>
            <a:off x="6148138" y="2485825"/>
            <a:ext cx="1010797" cy="751583"/>
          </a:xfrm>
          <a:prstGeom prst="rect">
            <a:avLst/>
          </a:prstGeom>
        </p:spPr>
      </p:pic>
      <p:pic>
        <p:nvPicPr>
          <p:cNvPr id="19" name="Imagen 18" descr="Diagrama&#10;&#10;El contenido generado por IA puede ser incorrecto.">
            <a:extLst>
              <a:ext uri="{FF2B5EF4-FFF2-40B4-BE49-F238E27FC236}">
                <a16:creationId xmlns:a16="http://schemas.microsoft.com/office/drawing/2014/main" id="{7E22C192-3F28-10CB-5676-C2CB1952ACED}"/>
              </a:ext>
            </a:extLst>
          </p:cNvPr>
          <p:cNvPicPr>
            <a:picLocks noChangeAspect="1"/>
          </p:cNvPicPr>
          <p:nvPr/>
        </p:nvPicPr>
        <p:blipFill>
          <a:blip r:embed="rId7"/>
          <a:stretch>
            <a:fillRect/>
          </a:stretch>
        </p:blipFill>
        <p:spPr>
          <a:xfrm>
            <a:off x="6950030" y="3056062"/>
            <a:ext cx="1996736" cy="1328737"/>
          </a:xfrm>
          <a:prstGeom prst="rect">
            <a:avLst/>
          </a:prstGeom>
        </p:spPr>
      </p:pic>
      <p:pic>
        <p:nvPicPr>
          <p:cNvPr id="21" name="Imagen 20" descr="Un circuito electrónico&#10;&#10;El contenido generado por IA puede ser incorrecto.">
            <a:extLst>
              <a:ext uri="{FF2B5EF4-FFF2-40B4-BE49-F238E27FC236}">
                <a16:creationId xmlns:a16="http://schemas.microsoft.com/office/drawing/2014/main" id="{5E8C07C3-E9FF-0D85-A526-F84FBB0931F2}"/>
              </a:ext>
            </a:extLst>
          </p:cNvPr>
          <p:cNvPicPr>
            <a:picLocks noChangeAspect="1"/>
          </p:cNvPicPr>
          <p:nvPr/>
        </p:nvPicPr>
        <p:blipFill>
          <a:blip r:embed="rId8"/>
          <a:srcRect t="5872" b="6975"/>
          <a:stretch>
            <a:fillRect/>
          </a:stretch>
        </p:blipFill>
        <p:spPr>
          <a:xfrm>
            <a:off x="6313320" y="3872630"/>
            <a:ext cx="917909" cy="799980"/>
          </a:xfrm>
          <a:prstGeom prst="rect">
            <a:avLst/>
          </a:prstGeom>
        </p:spPr>
      </p:pic>
      <p:pic>
        <p:nvPicPr>
          <p:cNvPr id="23" name="Imagen 22">
            <a:extLst>
              <a:ext uri="{FF2B5EF4-FFF2-40B4-BE49-F238E27FC236}">
                <a16:creationId xmlns:a16="http://schemas.microsoft.com/office/drawing/2014/main" id="{9AF01BD5-D878-6B41-8E0E-290C4A2B9AE4}"/>
              </a:ext>
            </a:extLst>
          </p:cNvPr>
          <p:cNvPicPr>
            <a:picLocks noChangeAspect="1"/>
          </p:cNvPicPr>
          <p:nvPr/>
        </p:nvPicPr>
        <p:blipFill>
          <a:blip r:embed="rId9"/>
          <a:srcRect l="13740" t="36248" r="10443" b="18420"/>
          <a:stretch>
            <a:fillRect/>
          </a:stretch>
        </p:blipFill>
        <p:spPr>
          <a:xfrm>
            <a:off x="7712532" y="4499115"/>
            <a:ext cx="1087318" cy="872528"/>
          </a:xfrm>
          <a:prstGeom prst="rect">
            <a:avLst/>
          </a:prstGeom>
        </p:spPr>
      </p:pic>
      <p:pic>
        <p:nvPicPr>
          <p:cNvPr id="25" name="Imagen 24" descr="Imagen que contiene luz&#10;&#10;El contenido generado por IA puede ser incorrecto.">
            <a:extLst>
              <a:ext uri="{FF2B5EF4-FFF2-40B4-BE49-F238E27FC236}">
                <a16:creationId xmlns:a16="http://schemas.microsoft.com/office/drawing/2014/main" id="{C8C30531-48A8-59E1-CAD3-471391CB6247}"/>
              </a:ext>
            </a:extLst>
          </p:cNvPr>
          <p:cNvPicPr>
            <a:picLocks noChangeAspect="1"/>
          </p:cNvPicPr>
          <p:nvPr/>
        </p:nvPicPr>
        <p:blipFill>
          <a:blip r:embed="rId10"/>
          <a:stretch>
            <a:fillRect/>
          </a:stretch>
        </p:blipFill>
        <p:spPr>
          <a:xfrm>
            <a:off x="6186285" y="5201367"/>
            <a:ext cx="1285595" cy="723147"/>
          </a:xfrm>
          <a:prstGeom prst="rect">
            <a:avLst/>
          </a:prstGeom>
        </p:spPr>
      </p:pic>
    </p:spTree>
    <p:custDataLst>
      <p:tags r:id="rId1"/>
    </p:custDataLst>
    <p:extLst>
      <p:ext uri="{BB962C8B-B14F-4D97-AF65-F5344CB8AC3E}">
        <p14:creationId xmlns:p14="http://schemas.microsoft.com/office/powerpoint/2010/main" val="30769053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65BC857-A358-0C2A-31AB-0C3628A92FA8}"/>
            </a:ext>
          </a:extLst>
        </p:cNvPr>
        <p:cNvGrpSpPr/>
        <p:nvPr/>
      </p:nvGrpSpPr>
      <p:grpSpPr>
        <a:xfrm>
          <a:off x="0" y="0"/>
          <a:ext cx="0" cy="0"/>
          <a:chOff x="0" y="0"/>
          <a:chExt cx="0" cy="0"/>
        </a:xfrm>
      </p:grpSpPr>
      <p:sp>
        <p:nvSpPr>
          <p:cNvPr id="28" name="Rectángulo 3">
            <a:extLst>
              <a:ext uri="{FF2B5EF4-FFF2-40B4-BE49-F238E27FC236}">
                <a16:creationId xmlns:a16="http://schemas.microsoft.com/office/drawing/2014/main" id="{8C1CA62F-AFAD-DAFE-BB57-58198A2B9BF6}"/>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E3740653-8454-0AD1-F961-A0FADB41D34B}"/>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E1EEB6BD-C1E9-97A6-937A-1BA9D32919CD}"/>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El mundo de la optoelectrónica</a:t>
            </a:r>
            <a:endParaRPr lang="en-US" dirty="0"/>
          </a:p>
        </p:txBody>
      </p:sp>
      <p:sp>
        <p:nvSpPr>
          <p:cNvPr id="18" name="Marcador de número de diapositiva 3">
            <a:extLst>
              <a:ext uri="{FF2B5EF4-FFF2-40B4-BE49-F238E27FC236}">
                <a16:creationId xmlns:a16="http://schemas.microsoft.com/office/drawing/2014/main" id="{9374ED58-90F6-79A6-7AC4-9A2D4C5F9491}"/>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3</a:t>
            </a:fld>
            <a:endParaRPr lang="es-CO" sz="1200" dirty="0">
              <a:solidFill>
                <a:schemeClr val="bg1"/>
              </a:solidFill>
            </a:endParaRPr>
          </a:p>
        </p:txBody>
      </p:sp>
      <p:sp>
        <p:nvSpPr>
          <p:cNvPr id="7" name="TextBox 32">
            <a:extLst>
              <a:ext uri="{FF2B5EF4-FFF2-40B4-BE49-F238E27FC236}">
                <a16:creationId xmlns:a16="http://schemas.microsoft.com/office/drawing/2014/main" id="{F339C39A-10E8-3713-6865-8F90B99C79F0}"/>
              </a:ext>
            </a:extLst>
          </p:cNvPr>
          <p:cNvSpPr txBox="1"/>
          <p:nvPr/>
        </p:nvSpPr>
        <p:spPr>
          <a:xfrm>
            <a:off x="6204691" y="396845"/>
            <a:ext cx="2458083"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latin typeface="Arial"/>
              </a:rPr>
              <a:t>Fuente: https://www.wenglor.com/es/Sensores/Sensores-optoelectronicos/c/cxmCID195613</a:t>
            </a:r>
            <a:endParaRPr lang="en-US" sz="700" dirty="0">
              <a:cs typeface="Calibri"/>
            </a:endParaRPr>
          </a:p>
        </p:txBody>
      </p:sp>
      <p:pic>
        <p:nvPicPr>
          <p:cNvPr id="2" name="Imagen 1">
            <a:extLst>
              <a:ext uri="{FF2B5EF4-FFF2-40B4-BE49-F238E27FC236}">
                <a16:creationId xmlns:a16="http://schemas.microsoft.com/office/drawing/2014/main" id="{9EDB6A43-EC30-18F2-15E0-27217601DD3D}"/>
              </a:ext>
            </a:extLst>
          </p:cNvPr>
          <p:cNvPicPr>
            <a:picLocks noChangeAspect="1"/>
          </p:cNvPicPr>
          <p:nvPr/>
        </p:nvPicPr>
        <p:blipFill>
          <a:blip r:embed="rId4"/>
          <a:stretch>
            <a:fillRect/>
          </a:stretch>
        </p:blipFill>
        <p:spPr>
          <a:xfrm>
            <a:off x="115790" y="374929"/>
            <a:ext cx="6092446" cy="3729713"/>
          </a:xfrm>
          <a:prstGeom prst="rect">
            <a:avLst/>
          </a:prstGeom>
        </p:spPr>
      </p:pic>
      <p:pic>
        <p:nvPicPr>
          <p:cNvPr id="1026" name="Picture 2" descr="Tubos fotomultiplicadores: ¿Qué multiplican?">
            <a:extLst>
              <a:ext uri="{FF2B5EF4-FFF2-40B4-BE49-F238E27FC236}">
                <a16:creationId xmlns:a16="http://schemas.microsoft.com/office/drawing/2014/main" id="{DCA1B78B-7188-DF93-0131-4E04B33D10B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50331" y="4288245"/>
            <a:ext cx="2384486" cy="119928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32">
            <a:extLst>
              <a:ext uri="{FF2B5EF4-FFF2-40B4-BE49-F238E27FC236}">
                <a16:creationId xmlns:a16="http://schemas.microsoft.com/office/drawing/2014/main" id="{ADBFB306-4F37-C5DE-B161-9A5758F121B3}"/>
              </a:ext>
            </a:extLst>
          </p:cNvPr>
          <p:cNvSpPr txBox="1"/>
          <p:nvPr/>
        </p:nvSpPr>
        <p:spPr>
          <a:xfrm>
            <a:off x="1175979" y="5527336"/>
            <a:ext cx="3172983"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latin typeface="Arial"/>
              </a:rPr>
              <a:t>Fuente: https://www.anahuac.mx/mexico/noticias/Tubos-fotomultiplicadores</a:t>
            </a:r>
            <a:endParaRPr lang="en-US" sz="700" dirty="0">
              <a:cs typeface="Calibri"/>
            </a:endParaRPr>
          </a:p>
        </p:txBody>
      </p:sp>
      <p:pic>
        <p:nvPicPr>
          <p:cNvPr id="6" name="Imagen 5">
            <a:extLst>
              <a:ext uri="{FF2B5EF4-FFF2-40B4-BE49-F238E27FC236}">
                <a16:creationId xmlns:a16="http://schemas.microsoft.com/office/drawing/2014/main" id="{CFD5B71E-2605-6432-0DFA-1B644E59039C}"/>
              </a:ext>
            </a:extLst>
          </p:cNvPr>
          <p:cNvPicPr>
            <a:picLocks noChangeAspect="1"/>
          </p:cNvPicPr>
          <p:nvPr/>
        </p:nvPicPr>
        <p:blipFill>
          <a:blip r:embed="rId6"/>
          <a:stretch>
            <a:fillRect/>
          </a:stretch>
        </p:blipFill>
        <p:spPr>
          <a:xfrm>
            <a:off x="5773783" y="4130776"/>
            <a:ext cx="3172983" cy="1463855"/>
          </a:xfrm>
          <a:prstGeom prst="rect">
            <a:avLst/>
          </a:prstGeom>
        </p:spPr>
      </p:pic>
      <p:sp>
        <p:nvSpPr>
          <p:cNvPr id="14" name="TextBox 32">
            <a:extLst>
              <a:ext uri="{FF2B5EF4-FFF2-40B4-BE49-F238E27FC236}">
                <a16:creationId xmlns:a16="http://schemas.microsoft.com/office/drawing/2014/main" id="{EC095913-5F17-715E-89C9-48065A005133}"/>
              </a:ext>
            </a:extLst>
          </p:cNvPr>
          <p:cNvSpPr txBox="1"/>
          <p:nvPr/>
        </p:nvSpPr>
        <p:spPr>
          <a:xfrm>
            <a:off x="5839738" y="5614536"/>
            <a:ext cx="3253944"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err="1">
                <a:latin typeface="Arial"/>
              </a:rPr>
              <a:t>Fuente:https</a:t>
            </a:r>
            <a:r>
              <a:rPr lang="es-ES" sz="700" dirty="0">
                <a:latin typeface="Arial"/>
              </a:rPr>
              <a:t>://www.infoteknico.com/sensores-de-imagen-una-guia-esencial/</a:t>
            </a:r>
            <a:endParaRPr lang="en-US" sz="700" dirty="0">
              <a:cs typeface="Calibri"/>
            </a:endParaRPr>
          </a:p>
        </p:txBody>
      </p:sp>
    </p:spTree>
    <p:custDataLst>
      <p:tags r:id="rId1"/>
    </p:custDataLst>
    <p:extLst>
      <p:ext uri="{BB962C8B-B14F-4D97-AF65-F5344CB8AC3E}">
        <p14:creationId xmlns:p14="http://schemas.microsoft.com/office/powerpoint/2010/main" val="13722467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Fotodiodos</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4</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D8A682F4-E685-4681-BC48-1C61EE6B5338}"/>
              </a:ext>
            </a:extLst>
          </p:cNvPr>
          <p:cNvSpPr/>
          <p:nvPr/>
        </p:nvSpPr>
        <p:spPr>
          <a:xfrm>
            <a:off x="97449" y="443921"/>
            <a:ext cx="6825865" cy="461665"/>
          </a:xfrm>
          <a:prstGeom prst="rect">
            <a:avLst/>
          </a:prstGeom>
        </p:spPr>
        <p:txBody>
          <a:bodyPr wrap="square">
            <a:spAutoFit/>
          </a:bodyPr>
          <a:lstStyle/>
          <a:p>
            <a:r>
              <a:rPr lang="es-ES" sz="1200" dirty="0">
                <a:solidFill>
                  <a:srgbClr val="2C5697"/>
                </a:solidFill>
                <a:latin typeface="Arial"/>
                <a:cs typeface="Arial"/>
                <a:sym typeface="Times New Roman"/>
              </a:rPr>
              <a:t>Se basan en la </a:t>
            </a:r>
            <a:r>
              <a:rPr lang="es-ES" sz="1200" dirty="0">
                <a:solidFill>
                  <a:srgbClr val="C00000"/>
                </a:solidFill>
                <a:latin typeface="Arial"/>
                <a:cs typeface="Arial"/>
                <a:sym typeface="Times New Roman"/>
              </a:rPr>
              <a:t>generación de portadores de carga </a:t>
            </a:r>
            <a:r>
              <a:rPr lang="es-ES" sz="1200" dirty="0">
                <a:solidFill>
                  <a:srgbClr val="2C5697"/>
                </a:solidFill>
                <a:latin typeface="Arial"/>
                <a:cs typeface="Arial"/>
                <a:sym typeface="Times New Roman"/>
              </a:rPr>
              <a:t>capaces de alcanzar la banda de conducción mediante la </a:t>
            </a:r>
            <a:r>
              <a:rPr lang="es-ES" sz="1200" dirty="0">
                <a:solidFill>
                  <a:srgbClr val="C00000"/>
                </a:solidFill>
                <a:latin typeface="Arial"/>
                <a:cs typeface="Arial"/>
                <a:sym typeface="Times New Roman"/>
              </a:rPr>
              <a:t>excitación</a:t>
            </a:r>
            <a:r>
              <a:rPr lang="es-ES" sz="1200" dirty="0">
                <a:solidFill>
                  <a:srgbClr val="2C5697"/>
                </a:solidFill>
                <a:latin typeface="Arial"/>
                <a:cs typeface="Arial"/>
                <a:sym typeface="Times New Roman"/>
              </a:rPr>
              <a:t> de los electrones por </a:t>
            </a:r>
            <a:r>
              <a:rPr lang="es-ES" sz="1200" dirty="0">
                <a:solidFill>
                  <a:srgbClr val="C00000"/>
                </a:solidFill>
                <a:latin typeface="Arial"/>
                <a:cs typeface="Arial"/>
                <a:sym typeface="Times New Roman"/>
              </a:rPr>
              <a:t>absorción</a:t>
            </a:r>
            <a:r>
              <a:rPr lang="es-ES" sz="1200" dirty="0">
                <a:solidFill>
                  <a:srgbClr val="2C5697"/>
                </a:solidFill>
                <a:latin typeface="Arial"/>
                <a:cs typeface="Arial"/>
                <a:sym typeface="Times New Roman"/>
              </a:rPr>
              <a:t> de fotones.</a:t>
            </a:r>
            <a:endParaRPr lang="es-CO" sz="1600" dirty="0"/>
          </a:p>
        </p:txBody>
      </p:sp>
      <p:pic>
        <p:nvPicPr>
          <p:cNvPr id="4" name="Imagen 3">
            <a:extLst>
              <a:ext uri="{FF2B5EF4-FFF2-40B4-BE49-F238E27FC236}">
                <a16:creationId xmlns:a16="http://schemas.microsoft.com/office/drawing/2014/main" id="{C45F867E-11AC-4619-A9B8-5FDB197D5F23}"/>
              </a:ext>
            </a:extLst>
          </p:cNvPr>
          <p:cNvPicPr>
            <a:picLocks noChangeAspect="1"/>
          </p:cNvPicPr>
          <p:nvPr/>
        </p:nvPicPr>
        <p:blipFill>
          <a:blip r:embed="rId4"/>
          <a:stretch>
            <a:fillRect/>
          </a:stretch>
        </p:blipFill>
        <p:spPr>
          <a:xfrm>
            <a:off x="1077510" y="1073363"/>
            <a:ext cx="4842140" cy="2538475"/>
          </a:xfrm>
          <a:prstGeom prst="rect">
            <a:avLst/>
          </a:prstGeom>
        </p:spPr>
      </p:pic>
      <p:pic>
        <p:nvPicPr>
          <p:cNvPr id="5" name="Imagen 4">
            <a:extLst>
              <a:ext uri="{FF2B5EF4-FFF2-40B4-BE49-F238E27FC236}">
                <a16:creationId xmlns:a16="http://schemas.microsoft.com/office/drawing/2014/main" id="{DD1C298A-8C18-43B7-A90F-A57F3B48079A}"/>
              </a:ext>
            </a:extLst>
          </p:cNvPr>
          <p:cNvPicPr>
            <a:picLocks noChangeAspect="1"/>
          </p:cNvPicPr>
          <p:nvPr/>
        </p:nvPicPr>
        <p:blipFill>
          <a:blip r:embed="rId5"/>
          <a:stretch>
            <a:fillRect/>
          </a:stretch>
        </p:blipFill>
        <p:spPr>
          <a:xfrm>
            <a:off x="1042676" y="3875848"/>
            <a:ext cx="4765613" cy="1860859"/>
          </a:xfrm>
          <a:prstGeom prst="rect">
            <a:avLst/>
          </a:prstGeom>
        </p:spPr>
      </p:pic>
      <p:pic>
        <p:nvPicPr>
          <p:cNvPr id="8" name="Imagen 7">
            <a:extLst>
              <a:ext uri="{FF2B5EF4-FFF2-40B4-BE49-F238E27FC236}">
                <a16:creationId xmlns:a16="http://schemas.microsoft.com/office/drawing/2014/main" id="{2C82438C-5A80-FB78-638E-D0895A52A366}"/>
              </a:ext>
            </a:extLst>
          </p:cNvPr>
          <p:cNvPicPr>
            <a:picLocks noChangeAspect="1"/>
          </p:cNvPicPr>
          <p:nvPr/>
        </p:nvPicPr>
        <p:blipFill>
          <a:blip r:embed="rId6"/>
          <a:stretch>
            <a:fillRect/>
          </a:stretch>
        </p:blipFill>
        <p:spPr>
          <a:xfrm>
            <a:off x="7153835" y="606955"/>
            <a:ext cx="1778549" cy="4835259"/>
          </a:xfrm>
          <a:prstGeom prst="rect">
            <a:avLst/>
          </a:prstGeom>
          <a:ln>
            <a:solidFill>
              <a:schemeClr val="tx1"/>
            </a:solidFill>
          </a:ln>
        </p:spPr>
      </p:pic>
      <p:sp>
        <p:nvSpPr>
          <p:cNvPr id="6" name="Sol 5">
            <a:hlinkClick r:id="rId7"/>
            <a:extLst>
              <a:ext uri="{FF2B5EF4-FFF2-40B4-BE49-F238E27FC236}">
                <a16:creationId xmlns:a16="http://schemas.microsoft.com/office/drawing/2014/main" id="{E94EF2A8-45D8-98F2-792F-6D6D8A3C6041}"/>
              </a:ext>
            </a:extLst>
          </p:cNvPr>
          <p:cNvSpPr/>
          <p:nvPr/>
        </p:nvSpPr>
        <p:spPr>
          <a:xfrm>
            <a:off x="1455820" y="58644"/>
            <a:ext cx="385011" cy="370165"/>
          </a:xfrm>
          <a:prstGeom prst="sun">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spTree>
    <p:custDataLst>
      <p:tags r:id="rId1"/>
    </p:custDataLst>
    <p:extLst>
      <p:ext uri="{BB962C8B-B14F-4D97-AF65-F5344CB8AC3E}">
        <p14:creationId xmlns:p14="http://schemas.microsoft.com/office/powerpoint/2010/main" val="15045073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Fotodiodos</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5</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8" name="Imagen 7">
            <a:extLst>
              <a:ext uri="{FF2B5EF4-FFF2-40B4-BE49-F238E27FC236}">
                <a16:creationId xmlns:a16="http://schemas.microsoft.com/office/drawing/2014/main" id="{A1A32C20-6AF8-4F28-A840-D69FC9DA091F}"/>
              </a:ext>
            </a:extLst>
          </p:cNvPr>
          <p:cNvPicPr>
            <a:picLocks noChangeAspect="1"/>
          </p:cNvPicPr>
          <p:nvPr/>
        </p:nvPicPr>
        <p:blipFill>
          <a:blip r:embed="rId4"/>
          <a:stretch>
            <a:fillRect/>
          </a:stretch>
        </p:blipFill>
        <p:spPr>
          <a:xfrm>
            <a:off x="364946" y="1430484"/>
            <a:ext cx="1961884" cy="2819300"/>
          </a:xfrm>
          <a:prstGeom prst="rect">
            <a:avLst/>
          </a:prstGeom>
        </p:spPr>
      </p:pic>
      <p:pic>
        <p:nvPicPr>
          <p:cNvPr id="4" name="Imagen 3">
            <a:extLst>
              <a:ext uri="{FF2B5EF4-FFF2-40B4-BE49-F238E27FC236}">
                <a16:creationId xmlns:a16="http://schemas.microsoft.com/office/drawing/2014/main" id="{967994AA-979B-08A7-2EB3-89A54531209B}"/>
              </a:ext>
            </a:extLst>
          </p:cNvPr>
          <p:cNvPicPr>
            <a:picLocks noChangeAspect="1"/>
          </p:cNvPicPr>
          <p:nvPr/>
        </p:nvPicPr>
        <p:blipFill>
          <a:blip r:embed="rId5"/>
          <a:stretch>
            <a:fillRect/>
          </a:stretch>
        </p:blipFill>
        <p:spPr>
          <a:xfrm>
            <a:off x="3331711" y="510945"/>
            <a:ext cx="5143399" cy="2157302"/>
          </a:xfrm>
          <a:prstGeom prst="rect">
            <a:avLst/>
          </a:prstGeom>
        </p:spPr>
      </p:pic>
      <p:pic>
        <p:nvPicPr>
          <p:cNvPr id="9" name="Imagen 8">
            <a:extLst>
              <a:ext uri="{FF2B5EF4-FFF2-40B4-BE49-F238E27FC236}">
                <a16:creationId xmlns:a16="http://schemas.microsoft.com/office/drawing/2014/main" id="{3914AE66-82CC-0B6C-33DD-4D53FD90AD5F}"/>
              </a:ext>
            </a:extLst>
          </p:cNvPr>
          <p:cNvPicPr>
            <a:picLocks noChangeAspect="1"/>
          </p:cNvPicPr>
          <p:nvPr/>
        </p:nvPicPr>
        <p:blipFill>
          <a:blip r:embed="rId6"/>
          <a:stretch>
            <a:fillRect/>
          </a:stretch>
        </p:blipFill>
        <p:spPr>
          <a:xfrm>
            <a:off x="3408410" y="3429000"/>
            <a:ext cx="4990003" cy="2031645"/>
          </a:xfrm>
          <a:prstGeom prst="rect">
            <a:avLst/>
          </a:prstGeom>
        </p:spPr>
      </p:pic>
    </p:spTree>
    <p:custDataLst>
      <p:tags r:id="rId1"/>
    </p:custDataLst>
    <p:extLst>
      <p:ext uri="{BB962C8B-B14F-4D97-AF65-F5344CB8AC3E}">
        <p14:creationId xmlns:p14="http://schemas.microsoft.com/office/powerpoint/2010/main" val="2402320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Fotodiodos – Curvas y modelo del fotodiodo</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6</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10" name="Imagen 9">
            <a:extLst>
              <a:ext uri="{FF2B5EF4-FFF2-40B4-BE49-F238E27FC236}">
                <a16:creationId xmlns:a16="http://schemas.microsoft.com/office/drawing/2014/main" id="{2BEF0BA5-F5C4-AB08-8C0F-D6A1F3F54B40}"/>
              </a:ext>
            </a:extLst>
          </p:cNvPr>
          <p:cNvPicPr>
            <a:picLocks noChangeAspect="1"/>
          </p:cNvPicPr>
          <p:nvPr/>
        </p:nvPicPr>
        <p:blipFill>
          <a:blip r:embed="rId4"/>
          <a:stretch>
            <a:fillRect/>
          </a:stretch>
        </p:blipFill>
        <p:spPr>
          <a:xfrm>
            <a:off x="4496566" y="3417736"/>
            <a:ext cx="4521682" cy="2311919"/>
          </a:xfrm>
          <a:prstGeom prst="rect">
            <a:avLst/>
          </a:prstGeom>
        </p:spPr>
      </p:pic>
      <p:pic>
        <p:nvPicPr>
          <p:cNvPr id="5" name="Imagen 4">
            <a:extLst>
              <a:ext uri="{FF2B5EF4-FFF2-40B4-BE49-F238E27FC236}">
                <a16:creationId xmlns:a16="http://schemas.microsoft.com/office/drawing/2014/main" id="{A41CCDF4-C4C5-AD52-95B2-88FF35E42783}"/>
              </a:ext>
            </a:extLst>
          </p:cNvPr>
          <p:cNvPicPr>
            <a:picLocks noChangeAspect="1"/>
          </p:cNvPicPr>
          <p:nvPr/>
        </p:nvPicPr>
        <p:blipFill>
          <a:blip r:embed="rId5"/>
          <a:stretch>
            <a:fillRect/>
          </a:stretch>
        </p:blipFill>
        <p:spPr>
          <a:xfrm>
            <a:off x="50318" y="450399"/>
            <a:ext cx="4281809" cy="3389976"/>
          </a:xfrm>
          <a:prstGeom prst="rect">
            <a:avLst/>
          </a:prstGeom>
        </p:spPr>
      </p:pic>
      <p:sp>
        <p:nvSpPr>
          <p:cNvPr id="11" name="Rectángulo 10">
            <a:extLst>
              <a:ext uri="{FF2B5EF4-FFF2-40B4-BE49-F238E27FC236}">
                <a16:creationId xmlns:a16="http://schemas.microsoft.com/office/drawing/2014/main" id="{607CA067-9F4D-3885-C302-F09A8FC4F680}"/>
              </a:ext>
            </a:extLst>
          </p:cNvPr>
          <p:cNvSpPr/>
          <p:nvPr/>
        </p:nvSpPr>
        <p:spPr>
          <a:xfrm>
            <a:off x="4496566" y="668046"/>
            <a:ext cx="4647434" cy="2000548"/>
          </a:xfrm>
          <a:prstGeom prst="rect">
            <a:avLst/>
          </a:prstGeom>
        </p:spPr>
        <p:txBody>
          <a:bodyPr wrap="square">
            <a:spAutoFit/>
          </a:bodyPr>
          <a:lstStyle/>
          <a:p>
            <a:r>
              <a:rPr lang="es-ES" sz="1400" dirty="0">
                <a:solidFill>
                  <a:srgbClr val="C00000"/>
                </a:solidFill>
                <a:latin typeface="Arial"/>
                <a:cs typeface="Arial"/>
                <a:sym typeface="Times New Roman"/>
              </a:rPr>
              <a:t>Zonas de funcionamiento </a:t>
            </a:r>
          </a:p>
          <a:p>
            <a:endParaRPr lang="es-ES" sz="1400" dirty="0">
              <a:solidFill>
                <a:srgbClr val="C00000"/>
              </a:solidFill>
              <a:latin typeface="Arial"/>
              <a:cs typeface="Arial"/>
              <a:sym typeface="Times New Roman"/>
            </a:endParaRPr>
          </a:p>
          <a:p>
            <a:r>
              <a:rPr lang="es-ES" sz="1200" dirty="0">
                <a:solidFill>
                  <a:srgbClr val="C00000"/>
                </a:solidFill>
                <a:latin typeface="Arial"/>
                <a:cs typeface="Arial"/>
                <a:sym typeface="Times New Roman"/>
              </a:rPr>
              <a:t>Cortocircuito: </a:t>
            </a:r>
            <a:r>
              <a:rPr lang="es-ES" sz="1200" dirty="0">
                <a:solidFill>
                  <a:srgbClr val="2C5697"/>
                </a:solidFill>
                <a:latin typeface="Arial"/>
                <a:cs typeface="Arial"/>
                <a:sym typeface="Times New Roman"/>
              </a:rPr>
              <a:t>la tensión en el dispositivo es nula y la corriente depende de la luz incidente</a:t>
            </a:r>
          </a:p>
          <a:p>
            <a:endParaRPr lang="es-ES" sz="1200" dirty="0">
              <a:solidFill>
                <a:srgbClr val="C00000"/>
              </a:solidFill>
              <a:latin typeface="Arial"/>
              <a:cs typeface="Arial"/>
              <a:sym typeface="Times New Roman"/>
            </a:endParaRPr>
          </a:p>
          <a:p>
            <a:r>
              <a:rPr lang="es-ES" sz="1200" dirty="0">
                <a:solidFill>
                  <a:srgbClr val="C00000"/>
                </a:solidFill>
                <a:latin typeface="Arial"/>
                <a:cs typeface="Arial"/>
                <a:sym typeface="Times New Roman"/>
              </a:rPr>
              <a:t>Tensión inversa: </a:t>
            </a:r>
            <a:r>
              <a:rPr lang="es-ES" sz="1200" dirty="0">
                <a:solidFill>
                  <a:srgbClr val="2C5697"/>
                </a:solidFill>
                <a:latin typeface="Arial"/>
                <a:cs typeface="Arial"/>
                <a:sym typeface="Times New Roman"/>
              </a:rPr>
              <a:t>si aplicamos tensión inversa, la corriente será lineal con la luz incidente</a:t>
            </a:r>
          </a:p>
          <a:p>
            <a:endParaRPr lang="es-ES" sz="1200" dirty="0">
              <a:solidFill>
                <a:srgbClr val="C00000"/>
              </a:solidFill>
              <a:latin typeface="Arial"/>
              <a:cs typeface="Arial"/>
              <a:sym typeface="Times New Roman"/>
            </a:endParaRPr>
          </a:p>
          <a:p>
            <a:r>
              <a:rPr lang="es-ES" sz="1200" dirty="0">
                <a:solidFill>
                  <a:srgbClr val="C00000"/>
                </a:solidFill>
                <a:latin typeface="Arial"/>
                <a:cs typeface="Arial"/>
                <a:sym typeface="Times New Roman"/>
              </a:rPr>
              <a:t>Avalancha: </a:t>
            </a:r>
            <a:r>
              <a:rPr lang="es-ES" sz="1200" dirty="0">
                <a:solidFill>
                  <a:srgbClr val="2C5697"/>
                </a:solidFill>
                <a:latin typeface="Arial"/>
                <a:cs typeface="Arial"/>
                <a:sym typeface="Times New Roman"/>
              </a:rPr>
              <a:t>fuerte aumento de la ganancia para aumentar sensibilidad (si el dispositivo lo permite)</a:t>
            </a:r>
            <a:endParaRPr lang="es-CO" sz="1200" dirty="0"/>
          </a:p>
        </p:txBody>
      </p:sp>
    </p:spTree>
    <p:custDataLst>
      <p:tags r:id="rId1"/>
    </p:custDataLst>
    <p:extLst>
      <p:ext uri="{BB962C8B-B14F-4D97-AF65-F5344CB8AC3E}">
        <p14:creationId xmlns:p14="http://schemas.microsoft.com/office/powerpoint/2010/main" val="38681772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Fototransistores</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7</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4" name="Imagen 3">
            <a:extLst>
              <a:ext uri="{FF2B5EF4-FFF2-40B4-BE49-F238E27FC236}">
                <a16:creationId xmlns:a16="http://schemas.microsoft.com/office/drawing/2014/main" id="{BB481289-64B2-A69F-7436-49842CF5B2B9}"/>
              </a:ext>
            </a:extLst>
          </p:cNvPr>
          <p:cNvPicPr>
            <a:picLocks noChangeAspect="1"/>
          </p:cNvPicPr>
          <p:nvPr/>
        </p:nvPicPr>
        <p:blipFill>
          <a:blip r:embed="rId4"/>
          <a:stretch>
            <a:fillRect/>
          </a:stretch>
        </p:blipFill>
        <p:spPr>
          <a:xfrm>
            <a:off x="422407" y="907634"/>
            <a:ext cx="4149593" cy="1932086"/>
          </a:xfrm>
          <a:prstGeom prst="rect">
            <a:avLst/>
          </a:prstGeom>
        </p:spPr>
      </p:pic>
      <p:pic>
        <p:nvPicPr>
          <p:cNvPr id="6" name="Imagen 5">
            <a:extLst>
              <a:ext uri="{FF2B5EF4-FFF2-40B4-BE49-F238E27FC236}">
                <a16:creationId xmlns:a16="http://schemas.microsoft.com/office/drawing/2014/main" id="{C64323FE-44C6-0A13-43A5-D3A7A6D12265}"/>
              </a:ext>
            </a:extLst>
          </p:cNvPr>
          <p:cNvPicPr>
            <a:picLocks noChangeAspect="1"/>
          </p:cNvPicPr>
          <p:nvPr/>
        </p:nvPicPr>
        <p:blipFill>
          <a:blip r:embed="rId5"/>
          <a:stretch>
            <a:fillRect/>
          </a:stretch>
        </p:blipFill>
        <p:spPr>
          <a:xfrm>
            <a:off x="261463" y="3273910"/>
            <a:ext cx="4951111" cy="2134505"/>
          </a:xfrm>
          <a:prstGeom prst="rect">
            <a:avLst/>
          </a:prstGeom>
        </p:spPr>
      </p:pic>
      <p:pic>
        <p:nvPicPr>
          <p:cNvPr id="1026" name="Picture 2" descr="Sensor óptico reflectivo Infrarrojo TCRT5000L - Electronilab">
            <a:extLst>
              <a:ext uri="{FF2B5EF4-FFF2-40B4-BE49-F238E27FC236}">
                <a16:creationId xmlns:a16="http://schemas.microsoft.com/office/drawing/2014/main" id="{F7AC8C10-FC75-C172-A6CB-C6D9D79269C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99467" y="290519"/>
            <a:ext cx="1125408" cy="11254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942C285-6A34-30AE-DCFE-A2336A3E600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24874" y="1025090"/>
            <a:ext cx="1985419" cy="198541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Reliable Detection  of Clear Bottles">
            <a:extLst>
              <a:ext uri="{FF2B5EF4-FFF2-40B4-BE49-F238E27FC236}">
                <a16:creationId xmlns:a16="http://schemas.microsoft.com/office/drawing/2014/main" id="{5514E9F1-8B3C-38E9-0457-715E618F0F6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58112" y="3334643"/>
            <a:ext cx="1533525" cy="1533525"/>
          </a:xfrm>
          <a:prstGeom prst="rect">
            <a:avLst/>
          </a:prstGeom>
          <a:noFill/>
          <a:extLst>
            <a:ext uri="{909E8E84-426E-40DD-AFC4-6F175D3DCCD1}">
              <a14:hiddenFill xmlns:a14="http://schemas.microsoft.com/office/drawing/2010/main">
                <a:solidFill>
                  <a:srgbClr val="FFFFFF"/>
                </a:solidFill>
              </a14:hiddenFill>
            </a:ext>
          </a:extLst>
        </p:spPr>
      </p:pic>
      <p:sp>
        <p:nvSpPr>
          <p:cNvPr id="9" name="CuadroTexto 8">
            <a:extLst>
              <a:ext uri="{FF2B5EF4-FFF2-40B4-BE49-F238E27FC236}">
                <a16:creationId xmlns:a16="http://schemas.microsoft.com/office/drawing/2014/main" id="{C116DD58-DE32-CFF3-8AB1-F853CBCD9AF8}"/>
              </a:ext>
            </a:extLst>
          </p:cNvPr>
          <p:cNvSpPr txBox="1"/>
          <p:nvPr/>
        </p:nvSpPr>
        <p:spPr>
          <a:xfrm>
            <a:off x="6059874" y="5171890"/>
            <a:ext cx="2886892" cy="200055"/>
          </a:xfrm>
          <a:prstGeom prst="rect">
            <a:avLst/>
          </a:prstGeom>
          <a:noFill/>
        </p:spPr>
        <p:txBody>
          <a:bodyPr wrap="square">
            <a:spAutoFit/>
          </a:bodyPr>
          <a:lstStyle/>
          <a:p>
            <a:r>
              <a:rPr lang="es-ES" sz="700" dirty="0">
                <a:latin typeface="Arial"/>
                <a:sym typeface="Times New Roman"/>
              </a:rPr>
              <a:t>Fuente: https://www.pepperl-fuchs.com/spain/es/35568.htm</a:t>
            </a:r>
            <a:endParaRPr lang="es-MX" sz="700" dirty="0">
              <a:latin typeface="Arial"/>
            </a:endParaRPr>
          </a:p>
        </p:txBody>
      </p:sp>
    </p:spTree>
    <p:custDataLst>
      <p:tags r:id="rId1"/>
    </p:custDataLst>
    <p:extLst>
      <p:ext uri="{BB962C8B-B14F-4D97-AF65-F5344CB8AC3E}">
        <p14:creationId xmlns:p14="http://schemas.microsoft.com/office/powerpoint/2010/main" val="28826347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Circuitos de acondicionamiento</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8</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4" name="Imagen 3">
            <a:extLst>
              <a:ext uri="{FF2B5EF4-FFF2-40B4-BE49-F238E27FC236}">
                <a16:creationId xmlns:a16="http://schemas.microsoft.com/office/drawing/2014/main" id="{6CA4B4AC-6084-0499-021A-884145BEAE8B}"/>
              </a:ext>
            </a:extLst>
          </p:cNvPr>
          <p:cNvPicPr>
            <a:picLocks noChangeAspect="1"/>
          </p:cNvPicPr>
          <p:nvPr/>
        </p:nvPicPr>
        <p:blipFill>
          <a:blip r:embed="rId4"/>
          <a:stretch>
            <a:fillRect/>
          </a:stretch>
        </p:blipFill>
        <p:spPr>
          <a:xfrm>
            <a:off x="261463" y="806736"/>
            <a:ext cx="4590423" cy="1528295"/>
          </a:xfrm>
          <a:prstGeom prst="rect">
            <a:avLst/>
          </a:prstGeom>
        </p:spPr>
      </p:pic>
      <p:pic>
        <p:nvPicPr>
          <p:cNvPr id="9" name="Imagen 8">
            <a:extLst>
              <a:ext uri="{FF2B5EF4-FFF2-40B4-BE49-F238E27FC236}">
                <a16:creationId xmlns:a16="http://schemas.microsoft.com/office/drawing/2014/main" id="{549EECA4-B884-B4AB-33CB-F56D25644F9F}"/>
              </a:ext>
            </a:extLst>
          </p:cNvPr>
          <p:cNvPicPr>
            <a:picLocks noChangeAspect="1"/>
          </p:cNvPicPr>
          <p:nvPr/>
        </p:nvPicPr>
        <p:blipFill>
          <a:blip r:embed="rId5"/>
          <a:stretch>
            <a:fillRect/>
          </a:stretch>
        </p:blipFill>
        <p:spPr>
          <a:xfrm>
            <a:off x="197234" y="3383319"/>
            <a:ext cx="4377223" cy="2357767"/>
          </a:xfrm>
          <a:prstGeom prst="rect">
            <a:avLst/>
          </a:prstGeom>
        </p:spPr>
      </p:pic>
      <p:pic>
        <p:nvPicPr>
          <p:cNvPr id="6" name="Imagen 5">
            <a:extLst>
              <a:ext uri="{FF2B5EF4-FFF2-40B4-BE49-F238E27FC236}">
                <a16:creationId xmlns:a16="http://schemas.microsoft.com/office/drawing/2014/main" id="{D2F0FDC3-8A63-4EBF-689A-A4FFB42C82E1}"/>
              </a:ext>
            </a:extLst>
          </p:cNvPr>
          <p:cNvPicPr>
            <a:picLocks noChangeAspect="1"/>
          </p:cNvPicPr>
          <p:nvPr/>
        </p:nvPicPr>
        <p:blipFill>
          <a:blip r:embed="rId6"/>
          <a:stretch>
            <a:fillRect/>
          </a:stretch>
        </p:blipFill>
        <p:spPr>
          <a:xfrm>
            <a:off x="4449363" y="2110106"/>
            <a:ext cx="4497403" cy="2182485"/>
          </a:xfrm>
          <a:prstGeom prst="rect">
            <a:avLst/>
          </a:prstGeom>
        </p:spPr>
      </p:pic>
    </p:spTree>
    <p:custDataLst>
      <p:tags r:id="rId1"/>
    </p:custDataLst>
    <p:extLst>
      <p:ext uri="{BB962C8B-B14F-4D97-AF65-F5344CB8AC3E}">
        <p14:creationId xmlns:p14="http://schemas.microsoft.com/office/powerpoint/2010/main" val="3306243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Tubos fotomultiplicadores TFM</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9</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4" name="Imagen 3">
            <a:extLst>
              <a:ext uri="{FF2B5EF4-FFF2-40B4-BE49-F238E27FC236}">
                <a16:creationId xmlns:a16="http://schemas.microsoft.com/office/drawing/2014/main" id="{B5E59553-9F28-038D-8BE7-89E72357DFCF}"/>
              </a:ext>
            </a:extLst>
          </p:cNvPr>
          <p:cNvPicPr>
            <a:picLocks noChangeAspect="1"/>
          </p:cNvPicPr>
          <p:nvPr/>
        </p:nvPicPr>
        <p:blipFill>
          <a:blip r:embed="rId4"/>
          <a:stretch>
            <a:fillRect/>
          </a:stretch>
        </p:blipFill>
        <p:spPr>
          <a:xfrm>
            <a:off x="4681695" y="606955"/>
            <a:ext cx="4265071" cy="2123223"/>
          </a:xfrm>
          <a:prstGeom prst="rect">
            <a:avLst/>
          </a:prstGeom>
        </p:spPr>
      </p:pic>
      <p:sp>
        <p:nvSpPr>
          <p:cNvPr id="5" name="Rectángulo 4">
            <a:extLst>
              <a:ext uri="{FF2B5EF4-FFF2-40B4-BE49-F238E27FC236}">
                <a16:creationId xmlns:a16="http://schemas.microsoft.com/office/drawing/2014/main" id="{FF71F1CE-C7F1-DE6D-7673-A78A87615C9D}"/>
              </a:ext>
            </a:extLst>
          </p:cNvPr>
          <p:cNvSpPr/>
          <p:nvPr/>
        </p:nvSpPr>
        <p:spPr>
          <a:xfrm>
            <a:off x="90028" y="628397"/>
            <a:ext cx="5483457" cy="1569660"/>
          </a:xfrm>
          <a:prstGeom prst="rect">
            <a:avLst/>
          </a:prstGeom>
        </p:spPr>
        <p:txBody>
          <a:bodyPr wrap="square">
            <a:spAutoFit/>
          </a:bodyPr>
          <a:lstStyle/>
          <a:p>
            <a:r>
              <a:rPr lang="es-ES" sz="1200" dirty="0">
                <a:solidFill>
                  <a:srgbClr val="2C5697"/>
                </a:solidFill>
                <a:latin typeface="Arial"/>
                <a:cs typeface="Arial"/>
                <a:sym typeface="Times New Roman"/>
              </a:rPr>
              <a:t>Cuando la luz incide sobre un material conductor es posible que pueda arrancar electrones (</a:t>
            </a:r>
            <a:r>
              <a:rPr lang="es-ES" sz="1200" dirty="0">
                <a:solidFill>
                  <a:srgbClr val="C00000"/>
                </a:solidFill>
                <a:latin typeface="Arial"/>
                <a:cs typeface="Arial"/>
                <a:sym typeface="Times New Roman"/>
              </a:rPr>
              <a:t>efecto fotoeléctrico</a:t>
            </a:r>
            <a:r>
              <a:rPr lang="es-ES" sz="1200" dirty="0">
                <a:solidFill>
                  <a:srgbClr val="2C5697"/>
                </a:solidFill>
                <a:latin typeface="Arial"/>
                <a:cs typeface="Arial"/>
                <a:sym typeface="Times New Roman"/>
              </a:rPr>
              <a:t>). </a:t>
            </a:r>
          </a:p>
          <a:p>
            <a:endParaRPr lang="es-ES" sz="1200" dirty="0">
              <a:solidFill>
                <a:srgbClr val="2C5697"/>
              </a:solidFill>
              <a:latin typeface="Arial"/>
              <a:cs typeface="Arial"/>
              <a:sym typeface="Times New Roman"/>
            </a:endParaRPr>
          </a:p>
          <a:p>
            <a:r>
              <a:rPr lang="es-ES" sz="1200" dirty="0">
                <a:solidFill>
                  <a:srgbClr val="C00000"/>
                </a:solidFill>
                <a:latin typeface="Arial"/>
                <a:cs typeface="Arial"/>
                <a:sym typeface="Times New Roman"/>
              </a:rPr>
              <a:t>TFM</a:t>
            </a:r>
            <a:r>
              <a:rPr lang="es-ES" sz="1200" dirty="0">
                <a:solidFill>
                  <a:srgbClr val="2C5697"/>
                </a:solidFill>
                <a:latin typeface="Arial"/>
                <a:cs typeface="Arial"/>
                <a:sym typeface="Times New Roman"/>
              </a:rPr>
              <a:t>: tubo al vacío que dispone de un </a:t>
            </a:r>
            <a:r>
              <a:rPr lang="es-ES" sz="1200" dirty="0">
                <a:solidFill>
                  <a:srgbClr val="C00000"/>
                </a:solidFill>
                <a:latin typeface="Arial"/>
                <a:cs typeface="Arial"/>
                <a:sym typeface="Times New Roman"/>
              </a:rPr>
              <a:t>fotocátodo</a:t>
            </a:r>
            <a:r>
              <a:rPr lang="es-ES" sz="1200" dirty="0">
                <a:solidFill>
                  <a:srgbClr val="2C5697"/>
                </a:solidFill>
                <a:latin typeface="Arial"/>
                <a:cs typeface="Arial"/>
                <a:sym typeface="Times New Roman"/>
              </a:rPr>
              <a:t> que recoge la luz para emitir electrones. El siguiente </a:t>
            </a:r>
            <a:r>
              <a:rPr lang="es-ES" sz="1200" dirty="0">
                <a:solidFill>
                  <a:srgbClr val="C00000"/>
                </a:solidFill>
                <a:latin typeface="Arial"/>
                <a:cs typeface="Arial"/>
                <a:sym typeface="Times New Roman"/>
              </a:rPr>
              <a:t>electrodo</a:t>
            </a:r>
            <a:r>
              <a:rPr lang="es-ES" sz="1200" dirty="0">
                <a:solidFill>
                  <a:srgbClr val="2C5697"/>
                </a:solidFill>
                <a:latin typeface="Arial"/>
                <a:cs typeface="Arial"/>
                <a:sym typeface="Times New Roman"/>
              </a:rPr>
              <a:t> está polarizado + respecto al fotocátodo, luego este acelerará los electrones hasta que impacten sobre él y provoquen una </a:t>
            </a:r>
            <a:r>
              <a:rPr lang="es-ES" sz="1200" dirty="0">
                <a:solidFill>
                  <a:srgbClr val="C00000"/>
                </a:solidFill>
                <a:latin typeface="Arial"/>
                <a:cs typeface="Arial"/>
                <a:sym typeface="Times New Roman"/>
              </a:rPr>
              <a:t>emisión secundaria</a:t>
            </a:r>
            <a:r>
              <a:rPr lang="es-ES" sz="1200" dirty="0">
                <a:solidFill>
                  <a:srgbClr val="2C5697"/>
                </a:solidFill>
                <a:latin typeface="Arial"/>
                <a:cs typeface="Arial"/>
                <a:sym typeface="Times New Roman"/>
              </a:rPr>
              <a:t>. El proceso se repite con un </a:t>
            </a:r>
            <a:r>
              <a:rPr lang="es-ES" sz="1200" dirty="0">
                <a:solidFill>
                  <a:srgbClr val="C00000"/>
                </a:solidFill>
                <a:latin typeface="Arial"/>
                <a:cs typeface="Arial"/>
                <a:sym typeface="Times New Roman"/>
              </a:rPr>
              <a:t>tercer electrodo </a:t>
            </a:r>
            <a:r>
              <a:rPr lang="es-ES" sz="1200" dirty="0">
                <a:solidFill>
                  <a:srgbClr val="2C5697"/>
                </a:solidFill>
                <a:latin typeface="Arial"/>
                <a:cs typeface="Arial"/>
                <a:sym typeface="Times New Roman"/>
              </a:rPr>
              <a:t>y así sucesivamente.</a:t>
            </a:r>
            <a:endParaRPr lang="es-CO" dirty="0"/>
          </a:p>
        </p:txBody>
      </p:sp>
      <p:pic>
        <p:nvPicPr>
          <p:cNvPr id="8" name="Imagen 7">
            <a:extLst>
              <a:ext uri="{FF2B5EF4-FFF2-40B4-BE49-F238E27FC236}">
                <a16:creationId xmlns:a16="http://schemas.microsoft.com/office/drawing/2014/main" id="{481FEB7B-5BC5-EF10-1528-B77A35654965}"/>
              </a:ext>
            </a:extLst>
          </p:cNvPr>
          <p:cNvPicPr>
            <a:picLocks noChangeAspect="1"/>
          </p:cNvPicPr>
          <p:nvPr/>
        </p:nvPicPr>
        <p:blipFill>
          <a:blip r:embed="rId5"/>
          <a:stretch>
            <a:fillRect/>
          </a:stretch>
        </p:blipFill>
        <p:spPr>
          <a:xfrm>
            <a:off x="1975751" y="3123877"/>
            <a:ext cx="5192497" cy="2577615"/>
          </a:xfrm>
          <a:prstGeom prst="rect">
            <a:avLst/>
          </a:prstGeom>
        </p:spPr>
      </p:pic>
    </p:spTree>
    <p:custDataLst>
      <p:tags r:id="rId1"/>
    </p:custDataLst>
    <p:extLst>
      <p:ext uri="{BB962C8B-B14F-4D97-AF65-F5344CB8AC3E}">
        <p14:creationId xmlns:p14="http://schemas.microsoft.com/office/powerpoint/2010/main" val="1317150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Tubos fotomultiplicadores TFM</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10</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9" name="Picture 2" descr="Tubos fotomultiplicadores: ¿Qué multiplican?">
            <a:extLst>
              <a:ext uri="{FF2B5EF4-FFF2-40B4-BE49-F238E27FC236}">
                <a16:creationId xmlns:a16="http://schemas.microsoft.com/office/drawing/2014/main" id="{7631746F-C5C8-7A53-F166-CF2FA9F4A34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89443" y="527809"/>
            <a:ext cx="4765113" cy="239662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32">
            <a:extLst>
              <a:ext uri="{FF2B5EF4-FFF2-40B4-BE49-F238E27FC236}">
                <a16:creationId xmlns:a16="http://schemas.microsoft.com/office/drawing/2014/main" id="{E5E8711F-7B83-A226-721A-377AB47D23BF}"/>
              </a:ext>
            </a:extLst>
          </p:cNvPr>
          <p:cNvSpPr txBox="1"/>
          <p:nvPr/>
        </p:nvSpPr>
        <p:spPr>
          <a:xfrm>
            <a:off x="3891974" y="2933787"/>
            <a:ext cx="3216913"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latin typeface="Arial"/>
              </a:rPr>
              <a:t>Fuente: https://www.anahuac.mx/mexico/noticias/Tubos-fotomultiplicadores</a:t>
            </a:r>
            <a:endParaRPr lang="en-US" sz="700" dirty="0">
              <a:cs typeface="Calibri"/>
            </a:endParaRPr>
          </a:p>
        </p:txBody>
      </p:sp>
      <p:pic>
        <p:nvPicPr>
          <p:cNvPr id="6" name="Imagen 5">
            <a:extLst>
              <a:ext uri="{FF2B5EF4-FFF2-40B4-BE49-F238E27FC236}">
                <a16:creationId xmlns:a16="http://schemas.microsoft.com/office/drawing/2014/main" id="{8917CA2B-5150-58B0-D1E8-783A2A570A6E}"/>
              </a:ext>
            </a:extLst>
          </p:cNvPr>
          <p:cNvPicPr>
            <a:picLocks noChangeAspect="1"/>
          </p:cNvPicPr>
          <p:nvPr/>
        </p:nvPicPr>
        <p:blipFill>
          <a:blip r:embed="rId5"/>
          <a:stretch>
            <a:fillRect/>
          </a:stretch>
        </p:blipFill>
        <p:spPr>
          <a:xfrm>
            <a:off x="2021266" y="3358389"/>
            <a:ext cx="5320059" cy="2339046"/>
          </a:xfrm>
          <a:prstGeom prst="rect">
            <a:avLst/>
          </a:prstGeom>
        </p:spPr>
      </p:pic>
    </p:spTree>
    <p:custDataLst>
      <p:tags r:id="rId1"/>
    </p:custDataLst>
    <p:extLst>
      <p:ext uri="{BB962C8B-B14F-4D97-AF65-F5344CB8AC3E}">
        <p14:creationId xmlns:p14="http://schemas.microsoft.com/office/powerpoint/2010/main" val="31242336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Medidas de variables mediante luz</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638903" y="5885920"/>
            <a:ext cx="454779"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11</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B003AF4A-C727-CBB5-76F9-6E839CED1AD9}"/>
              </a:ext>
            </a:extLst>
          </p:cNvPr>
          <p:cNvSpPr/>
          <p:nvPr/>
        </p:nvSpPr>
        <p:spPr>
          <a:xfrm>
            <a:off x="49292" y="575032"/>
            <a:ext cx="8897217" cy="276999"/>
          </a:xfrm>
          <a:prstGeom prst="rect">
            <a:avLst/>
          </a:prstGeom>
        </p:spPr>
        <p:txBody>
          <a:bodyPr wrap="square">
            <a:spAutoFit/>
          </a:bodyPr>
          <a:lstStyle/>
          <a:p>
            <a:r>
              <a:rPr lang="es-ES" sz="1200" dirty="0">
                <a:solidFill>
                  <a:srgbClr val="2C5697"/>
                </a:solidFill>
                <a:latin typeface="Arial"/>
                <a:cs typeface="Arial"/>
                <a:sym typeface="Times New Roman"/>
              </a:rPr>
              <a:t>Una medida común es la velocidad de </a:t>
            </a:r>
            <a:r>
              <a:rPr lang="es-ES" sz="1200" dirty="0">
                <a:solidFill>
                  <a:srgbClr val="C00000"/>
                </a:solidFill>
                <a:latin typeface="Arial"/>
                <a:cs typeface="Arial"/>
                <a:sym typeface="Times New Roman"/>
              </a:rPr>
              <a:t>rotación</a:t>
            </a:r>
            <a:r>
              <a:rPr lang="es-ES" sz="1200" dirty="0">
                <a:solidFill>
                  <a:srgbClr val="2C5697"/>
                </a:solidFill>
                <a:latin typeface="Arial"/>
                <a:cs typeface="Arial"/>
                <a:sym typeface="Times New Roman"/>
              </a:rPr>
              <a:t> de ejes, para controlar </a:t>
            </a:r>
            <a:r>
              <a:rPr lang="es-ES" sz="1200" dirty="0">
                <a:solidFill>
                  <a:srgbClr val="C00000"/>
                </a:solidFill>
                <a:latin typeface="Arial"/>
                <a:cs typeface="Arial"/>
                <a:sym typeface="Times New Roman"/>
              </a:rPr>
              <a:t>velocidad</a:t>
            </a:r>
            <a:r>
              <a:rPr lang="es-ES" sz="1200" dirty="0">
                <a:solidFill>
                  <a:srgbClr val="2C5697"/>
                </a:solidFill>
                <a:latin typeface="Arial"/>
                <a:cs typeface="Arial"/>
                <a:sym typeface="Times New Roman"/>
              </a:rPr>
              <a:t> y </a:t>
            </a:r>
            <a:r>
              <a:rPr lang="es-ES" sz="1200" dirty="0">
                <a:solidFill>
                  <a:srgbClr val="C00000"/>
                </a:solidFill>
                <a:latin typeface="Arial"/>
                <a:cs typeface="Arial"/>
                <a:sym typeface="Times New Roman"/>
              </a:rPr>
              <a:t>posición</a:t>
            </a:r>
            <a:r>
              <a:rPr lang="es-ES" sz="1200" dirty="0">
                <a:solidFill>
                  <a:srgbClr val="2C5697"/>
                </a:solidFill>
                <a:latin typeface="Arial"/>
                <a:cs typeface="Arial"/>
                <a:sym typeface="Times New Roman"/>
              </a:rPr>
              <a:t> en la industria y robótica.</a:t>
            </a:r>
            <a:endParaRPr lang="es-CO" dirty="0"/>
          </a:p>
        </p:txBody>
      </p:sp>
      <p:pic>
        <p:nvPicPr>
          <p:cNvPr id="5" name="Imagen 4">
            <a:extLst>
              <a:ext uri="{FF2B5EF4-FFF2-40B4-BE49-F238E27FC236}">
                <a16:creationId xmlns:a16="http://schemas.microsoft.com/office/drawing/2014/main" id="{579F39A8-D86E-5307-63CF-AC7605568363}"/>
              </a:ext>
            </a:extLst>
          </p:cNvPr>
          <p:cNvPicPr>
            <a:picLocks noChangeAspect="1"/>
          </p:cNvPicPr>
          <p:nvPr/>
        </p:nvPicPr>
        <p:blipFill>
          <a:blip r:embed="rId4"/>
          <a:stretch>
            <a:fillRect/>
          </a:stretch>
        </p:blipFill>
        <p:spPr>
          <a:xfrm>
            <a:off x="1494564" y="1419551"/>
            <a:ext cx="5958637" cy="3682310"/>
          </a:xfrm>
          <a:prstGeom prst="rect">
            <a:avLst/>
          </a:prstGeom>
        </p:spPr>
      </p:pic>
    </p:spTree>
    <p:custDataLst>
      <p:tags r:id="rId1"/>
    </p:custDataLst>
    <p:extLst>
      <p:ext uri="{BB962C8B-B14F-4D97-AF65-F5344CB8AC3E}">
        <p14:creationId xmlns:p14="http://schemas.microsoft.com/office/powerpoint/2010/main" val="35813151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Medidas de variables mediante luz</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99850" y="5885920"/>
            <a:ext cx="293832"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12</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pic>
        <p:nvPicPr>
          <p:cNvPr id="9" name="Imagen 8">
            <a:extLst>
              <a:ext uri="{FF2B5EF4-FFF2-40B4-BE49-F238E27FC236}">
                <a16:creationId xmlns:a16="http://schemas.microsoft.com/office/drawing/2014/main" id="{285D1978-E4AF-B530-6FED-07278448A0C7}"/>
              </a:ext>
            </a:extLst>
          </p:cNvPr>
          <p:cNvPicPr>
            <a:picLocks noChangeAspect="1"/>
          </p:cNvPicPr>
          <p:nvPr/>
        </p:nvPicPr>
        <p:blipFill>
          <a:blip r:embed="rId4"/>
          <a:stretch>
            <a:fillRect/>
          </a:stretch>
        </p:blipFill>
        <p:spPr>
          <a:xfrm>
            <a:off x="4040777" y="3524920"/>
            <a:ext cx="5052905" cy="2277112"/>
          </a:xfrm>
          <a:prstGeom prst="rect">
            <a:avLst/>
          </a:prstGeom>
        </p:spPr>
      </p:pic>
      <p:pic>
        <p:nvPicPr>
          <p:cNvPr id="6" name="Imagen 5">
            <a:extLst>
              <a:ext uri="{FF2B5EF4-FFF2-40B4-BE49-F238E27FC236}">
                <a16:creationId xmlns:a16="http://schemas.microsoft.com/office/drawing/2014/main" id="{14E116AA-018E-6852-88A5-0DCF0F6E92B3}"/>
              </a:ext>
            </a:extLst>
          </p:cNvPr>
          <p:cNvPicPr>
            <a:picLocks noChangeAspect="1"/>
          </p:cNvPicPr>
          <p:nvPr/>
        </p:nvPicPr>
        <p:blipFill>
          <a:blip r:embed="rId5"/>
          <a:stretch>
            <a:fillRect/>
          </a:stretch>
        </p:blipFill>
        <p:spPr>
          <a:xfrm>
            <a:off x="50318" y="378350"/>
            <a:ext cx="4577941" cy="3520655"/>
          </a:xfrm>
          <a:prstGeom prst="rect">
            <a:avLst/>
          </a:prstGeom>
        </p:spPr>
      </p:pic>
      <p:sp>
        <p:nvSpPr>
          <p:cNvPr id="10" name="Rectángulo 9">
            <a:extLst>
              <a:ext uri="{FF2B5EF4-FFF2-40B4-BE49-F238E27FC236}">
                <a16:creationId xmlns:a16="http://schemas.microsoft.com/office/drawing/2014/main" id="{C130F6D3-0521-2D07-D342-26EECE5FB29A}"/>
              </a:ext>
            </a:extLst>
          </p:cNvPr>
          <p:cNvSpPr/>
          <p:nvPr/>
        </p:nvSpPr>
        <p:spPr>
          <a:xfrm>
            <a:off x="5181600" y="1311683"/>
            <a:ext cx="3912081" cy="461665"/>
          </a:xfrm>
          <a:prstGeom prst="rect">
            <a:avLst/>
          </a:prstGeom>
        </p:spPr>
        <p:txBody>
          <a:bodyPr wrap="square">
            <a:spAutoFit/>
          </a:bodyPr>
          <a:lstStyle/>
          <a:p>
            <a:r>
              <a:rPr lang="es-ES" sz="1200" dirty="0">
                <a:solidFill>
                  <a:srgbClr val="2C5697"/>
                </a:solidFill>
                <a:latin typeface="Arial"/>
                <a:cs typeface="Arial"/>
                <a:sym typeface="Times New Roman"/>
              </a:rPr>
              <a:t>Otras medidas incluyen: </a:t>
            </a:r>
            <a:r>
              <a:rPr lang="es-ES" sz="1200" dirty="0">
                <a:solidFill>
                  <a:srgbClr val="C00000"/>
                </a:solidFill>
                <a:latin typeface="Arial"/>
                <a:cs typeface="Arial"/>
                <a:sym typeface="Times New Roman"/>
              </a:rPr>
              <a:t>luz</a:t>
            </a:r>
            <a:r>
              <a:rPr lang="es-ES" sz="1200" dirty="0">
                <a:solidFill>
                  <a:srgbClr val="2C5697"/>
                </a:solidFill>
                <a:latin typeface="Arial"/>
                <a:cs typeface="Arial"/>
                <a:sym typeface="Times New Roman"/>
              </a:rPr>
              <a:t>, </a:t>
            </a:r>
            <a:r>
              <a:rPr lang="es-ES" sz="1200" dirty="0">
                <a:solidFill>
                  <a:srgbClr val="C00000"/>
                </a:solidFill>
                <a:latin typeface="Arial"/>
                <a:cs typeface="Arial"/>
                <a:sym typeface="Times New Roman"/>
              </a:rPr>
              <a:t>color</a:t>
            </a:r>
            <a:r>
              <a:rPr lang="es-ES" sz="1200" dirty="0">
                <a:solidFill>
                  <a:srgbClr val="2C5697"/>
                </a:solidFill>
                <a:latin typeface="Arial"/>
                <a:cs typeface="Arial"/>
                <a:sym typeface="Times New Roman"/>
              </a:rPr>
              <a:t>, </a:t>
            </a:r>
            <a:r>
              <a:rPr lang="es-ES" sz="1200" dirty="0">
                <a:solidFill>
                  <a:srgbClr val="C00000"/>
                </a:solidFill>
                <a:latin typeface="Arial"/>
                <a:cs typeface="Arial"/>
                <a:sym typeface="Times New Roman"/>
              </a:rPr>
              <a:t>turbidez</a:t>
            </a:r>
            <a:r>
              <a:rPr lang="es-ES" sz="1200" dirty="0">
                <a:solidFill>
                  <a:srgbClr val="2C5697"/>
                </a:solidFill>
                <a:latin typeface="Arial"/>
                <a:cs typeface="Arial"/>
                <a:sym typeface="Times New Roman"/>
              </a:rPr>
              <a:t>, recuento de partículas, detección de humo etc.</a:t>
            </a:r>
            <a:endParaRPr lang="es-CO" dirty="0"/>
          </a:p>
        </p:txBody>
      </p:sp>
    </p:spTree>
    <p:custDataLst>
      <p:tags r:id="rId1"/>
    </p:custDataLst>
    <p:extLst>
      <p:ext uri="{BB962C8B-B14F-4D97-AF65-F5344CB8AC3E}">
        <p14:creationId xmlns:p14="http://schemas.microsoft.com/office/powerpoint/2010/main" val="37684320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Medidas de variables mediante luz</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34699" y="5885920"/>
            <a:ext cx="358983"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13</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B003AF4A-C727-CBB5-76F9-6E839CED1AD9}"/>
              </a:ext>
            </a:extLst>
          </p:cNvPr>
          <p:cNvSpPr/>
          <p:nvPr/>
        </p:nvSpPr>
        <p:spPr>
          <a:xfrm>
            <a:off x="5181600" y="1311683"/>
            <a:ext cx="3842741" cy="461665"/>
          </a:xfrm>
          <a:prstGeom prst="rect">
            <a:avLst/>
          </a:prstGeom>
        </p:spPr>
        <p:txBody>
          <a:bodyPr wrap="square">
            <a:spAutoFit/>
          </a:bodyPr>
          <a:lstStyle/>
          <a:p>
            <a:r>
              <a:rPr lang="es-ES" sz="1200" dirty="0">
                <a:solidFill>
                  <a:srgbClr val="2C5697"/>
                </a:solidFill>
                <a:latin typeface="Arial"/>
                <a:cs typeface="Arial"/>
                <a:sym typeface="Times New Roman"/>
              </a:rPr>
              <a:t>Otras medidas incluyen: luz, color, turbidez, </a:t>
            </a:r>
            <a:r>
              <a:rPr lang="es-ES" sz="1200" dirty="0">
                <a:solidFill>
                  <a:srgbClr val="C00000"/>
                </a:solidFill>
                <a:latin typeface="Arial"/>
                <a:cs typeface="Arial"/>
                <a:sym typeface="Times New Roman"/>
              </a:rPr>
              <a:t>recuento de partículas</a:t>
            </a:r>
            <a:r>
              <a:rPr lang="es-ES" sz="1200" dirty="0">
                <a:solidFill>
                  <a:srgbClr val="2C5697"/>
                </a:solidFill>
                <a:latin typeface="Arial"/>
                <a:cs typeface="Arial"/>
                <a:sym typeface="Times New Roman"/>
              </a:rPr>
              <a:t>, </a:t>
            </a:r>
            <a:r>
              <a:rPr lang="es-ES" sz="1200" dirty="0">
                <a:solidFill>
                  <a:srgbClr val="C00000"/>
                </a:solidFill>
                <a:latin typeface="Arial"/>
                <a:cs typeface="Arial"/>
                <a:sym typeface="Times New Roman"/>
              </a:rPr>
              <a:t>detección de humo</a:t>
            </a:r>
            <a:r>
              <a:rPr lang="es-ES" sz="1200" dirty="0">
                <a:solidFill>
                  <a:srgbClr val="2C5697"/>
                </a:solidFill>
                <a:latin typeface="Arial"/>
                <a:cs typeface="Arial"/>
                <a:sym typeface="Times New Roman"/>
              </a:rPr>
              <a:t> etc.</a:t>
            </a:r>
            <a:endParaRPr lang="es-CO" dirty="0"/>
          </a:p>
        </p:txBody>
      </p:sp>
      <p:pic>
        <p:nvPicPr>
          <p:cNvPr id="10" name="Imagen 9">
            <a:extLst>
              <a:ext uri="{FF2B5EF4-FFF2-40B4-BE49-F238E27FC236}">
                <a16:creationId xmlns:a16="http://schemas.microsoft.com/office/drawing/2014/main" id="{D2B4BA6F-0552-65BB-B554-EBB96E395967}"/>
              </a:ext>
            </a:extLst>
          </p:cNvPr>
          <p:cNvPicPr>
            <a:picLocks noChangeAspect="1"/>
          </p:cNvPicPr>
          <p:nvPr/>
        </p:nvPicPr>
        <p:blipFill>
          <a:blip r:embed="rId4"/>
          <a:stretch>
            <a:fillRect/>
          </a:stretch>
        </p:blipFill>
        <p:spPr>
          <a:xfrm>
            <a:off x="4055487" y="2956704"/>
            <a:ext cx="5038195" cy="2830245"/>
          </a:xfrm>
          <a:prstGeom prst="rect">
            <a:avLst/>
          </a:prstGeom>
        </p:spPr>
      </p:pic>
      <p:pic>
        <p:nvPicPr>
          <p:cNvPr id="5" name="Imagen 4">
            <a:extLst>
              <a:ext uri="{FF2B5EF4-FFF2-40B4-BE49-F238E27FC236}">
                <a16:creationId xmlns:a16="http://schemas.microsoft.com/office/drawing/2014/main" id="{EF18F5AE-A0A5-8193-9622-9A09FD586E3D}"/>
              </a:ext>
            </a:extLst>
          </p:cNvPr>
          <p:cNvPicPr>
            <a:picLocks noChangeAspect="1"/>
          </p:cNvPicPr>
          <p:nvPr/>
        </p:nvPicPr>
        <p:blipFill>
          <a:blip r:embed="rId5"/>
          <a:stretch>
            <a:fillRect/>
          </a:stretch>
        </p:blipFill>
        <p:spPr>
          <a:xfrm>
            <a:off x="119658" y="598080"/>
            <a:ext cx="4748433" cy="2719867"/>
          </a:xfrm>
          <a:prstGeom prst="rect">
            <a:avLst/>
          </a:prstGeom>
        </p:spPr>
      </p:pic>
    </p:spTree>
    <p:custDataLst>
      <p:tags r:id="rId1"/>
    </p:custDataLst>
    <p:extLst>
      <p:ext uri="{BB962C8B-B14F-4D97-AF65-F5344CB8AC3E}">
        <p14:creationId xmlns:p14="http://schemas.microsoft.com/office/powerpoint/2010/main" val="3239024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Medidas de variables químicas</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34699" y="5885920"/>
            <a:ext cx="358983"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14</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B003AF4A-C727-CBB5-76F9-6E839CED1AD9}"/>
              </a:ext>
            </a:extLst>
          </p:cNvPr>
          <p:cNvSpPr/>
          <p:nvPr/>
        </p:nvSpPr>
        <p:spPr>
          <a:xfrm>
            <a:off x="4957408" y="373864"/>
            <a:ext cx="4084781" cy="646331"/>
          </a:xfrm>
          <a:prstGeom prst="rect">
            <a:avLst/>
          </a:prstGeom>
        </p:spPr>
        <p:txBody>
          <a:bodyPr wrap="square">
            <a:spAutoFit/>
          </a:bodyPr>
          <a:lstStyle/>
          <a:p>
            <a:r>
              <a:rPr lang="es-ES" sz="1200" dirty="0">
                <a:solidFill>
                  <a:srgbClr val="2C5697"/>
                </a:solidFill>
                <a:latin typeface="Arial"/>
                <a:cs typeface="Arial"/>
                <a:sym typeface="Times New Roman"/>
              </a:rPr>
              <a:t>Las medidas incluyen: </a:t>
            </a:r>
            <a:r>
              <a:rPr lang="es-ES" sz="1200" dirty="0">
                <a:solidFill>
                  <a:srgbClr val="C00000"/>
                </a:solidFill>
                <a:latin typeface="Arial"/>
                <a:cs typeface="Arial"/>
                <a:sym typeface="Times New Roman"/>
              </a:rPr>
              <a:t>luz</a:t>
            </a:r>
            <a:r>
              <a:rPr lang="es-ES" sz="1200" dirty="0">
                <a:solidFill>
                  <a:srgbClr val="2C5697"/>
                </a:solidFill>
                <a:latin typeface="Arial"/>
                <a:cs typeface="Arial"/>
                <a:sym typeface="Times New Roman"/>
              </a:rPr>
              <a:t>, </a:t>
            </a:r>
            <a:r>
              <a:rPr lang="es-ES" sz="1200" dirty="0">
                <a:solidFill>
                  <a:srgbClr val="C00000"/>
                </a:solidFill>
                <a:latin typeface="Arial"/>
                <a:cs typeface="Arial"/>
                <a:sym typeface="Times New Roman"/>
              </a:rPr>
              <a:t>espectrometría</a:t>
            </a:r>
            <a:r>
              <a:rPr lang="es-ES" sz="1200" dirty="0">
                <a:solidFill>
                  <a:srgbClr val="2C5697"/>
                </a:solidFill>
                <a:latin typeface="Arial"/>
                <a:cs typeface="Arial"/>
                <a:sym typeface="Times New Roman"/>
              </a:rPr>
              <a:t>, reflectometría, cantidad de gases de interés, Fluorescencia, concentración de sustancias, oxígeno en sangre, etc.</a:t>
            </a:r>
            <a:endParaRPr lang="es-CO" dirty="0"/>
          </a:p>
        </p:txBody>
      </p:sp>
      <p:pic>
        <p:nvPicPr>
          <p:cNvPr id="6" name="Imagen 5">
            <a:extLst>
              <a:ext uri="{FF2B5EF4-FFF2-40B4-BE49-F238E27FC236}">
                <a16:creationId xmlns:a16="http://schemas.microsoft.com/office/drawing/2014/main" id="{B396A779-2231-39E0-D879-D8956FDF3566}"/>
              </a:ext>
            </a:extLst>
          </p:cNvPr>
          <p:cNvPicPr>
            <a:picLocks noChangeAspect="1"/>
          </p:cNvPicPr>
          <p:nvPr/>
        </p:nvPicPr>
        <p:blipFill>
          <a:blip r:embed="rId4"/>
          <a:stretch>
            <a:fillRect/>
          </a:stretch>
        </p:blipFill>
        <p:spPr>
          <a:xfrm>
            <a:off x="64971" y="571297"/>
            <a:ext cx="4937125" cy="2786707"/>
          </a:xfrm>
          <a:prstGeom prst="rect">
            <a:avLst/>
          </a:prstGeom>
        </p:spPr>
      </p:pic>
      <p:pic>
        <p:nvPicPr>
          <p:cNvPr id="2050" name="Picture 2" descr="espectrometría, Utilización de espectrómetros en la industria y laboratorios">
            <a:extLst>
              <a:ext uri="{FF2B5EF4-FFF2-40B4-BE49-F238E27FC236}">
                <a16:creationId xmlns:a16="http://schemas.microsoft.com/office/drawing/2014/main" id="{0210866F-4601-3FE0-235A-53AFD6A5C6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71" y="3771668"/>
            <a:ext cx="3575391" cy="171422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espectrometría, Utilización de espectrómetros en la industria y laboratorios">
            <a:extLst>
              <a:ext uri="{FF2B5EF4-FFF2-40B4-BE49-F238E27FC236}">
                <a16:creationId xmlns:a16="http://schemas.microsoft.com/office/drawing/2014/main" id="{00E6F099-CDB9-6E51-3D5D-3E5D7F08D64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24477" y="3647349"/>
            <a:ext cx="4654551" cy="183854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32">
            <a:extLst>
              <a:ext uri="{FF2B5EF4-FFF2-40B4-BE49-F238E27FC236}">
                <a16:creationId xmlns:a16="http://schemas.microsoft.com/office/drawing/2014/main" id="{99FBFA4F-C335-E131-3E6D-DD6D7BEE5246}"/>
              </a:ext>
            </a:extLst>
          </p:cNvPr>
          <p:cNvSpPr txBox="1"/>
          <p:nvPr/>
        </p:nvSpPr>
        <p:spPr>
          <a:xfrm>
            <a:off x="5181600" y="5637750"/>
            <a:ext cx="3860589"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latin typeface="Arial"/>
              </a:rPr>
              <a:t>Fuente: https://mesurex.com/utilizacion-de-la-espectrometria-en-la-industria-y-laboratorios/</a:t>
            </a:r>
            <a:endParaRPr lang="en-US" sz="700" dirty="0">
              <a:cs typeface="Calibri"/>
            </a:endParaRPr>
          </a:p>
        </p:txBody>
      </p:sp>
      <p:pic>
        <p:nvPicPr>
          <p:cNvPr id="14" name="Imagen 13">
            <a:extLst>
              <a:ext uri="{FF2B5EF4-FFF2-40B4-BE49-F238E27FC236}">
                <a16:creationId xmlns:a16="http://schemas.microsoft.com/office/drawing/2014/main" id="{6F0FD008-4098-2D90-800C-138BA9A97EAB}"/>
              </a:ext>
            </a:extLst>
          </p:cNvPr>
          <p:cNvPicPr>
            <a:picLocks noChangeAspect="1"/>
          </p:cNvPicPr>
          <p:nvPr/>
        </p:nvPicPr>
        <p:blipFill>
          <a:blip r:embed="rId7"/>
          <a:stretch>
            <a:fillRect/>
          </a:stretch>
        </p:blipFill>
        <p:spPr>
          <a:xfrm>
            <a:off x="5347062" y="1200439"/>
            <a:ext cx="3567127" cy="1622731"/>
          </a:xfrm>
          <a:prstGeom prst="rect">
            <a:avLst/>
          </a:prstGeom>
        </p:spPr>
      </p:pic>
      <p:sp>
        <p:nvSpPr>
          <p:cNvPr id="16" name="CuadroTexto 15">
            <a:extLst>
              <a:ext uri="{FF2B5EF4-FFF2-40B4-BE49-F238E27FC236}">
                <a16:creationId xmlns:a16="http://schemas.microsoft.com/office/drawing/2014/main" id="{676FAD38-0D39-3A2F-1921-4436588C0312}"/>
              </a:ext>
            </a:extLst>
          </p:cNvPr>
          <p:cNvSpPr txBox="1"/>
          <p:nvPr/>
        </p:nvSpPr>
        <p:spPr>
          <a:xfrm>
            <a:off x="849086" y="5238826"/>
            <a:ext cx="1800265" cy="246221"/>
          </a:xfrm>
          <a:prstGeom prst="rect">
            <a:avLst/>
          </a:prstGeom>
          <a:noFill/>
        </p:spPr>
        <p:txBody>
          <a:bodyPr wrap="square">
            <a:spAutoFit/>
          </a:bodyPr>
          <a:lstStyle/>
          <a:p>
            <a:r>
              <a:rPr lang="es-ES" sz="1000" dirty="0">
                <a:solidFill>
                  <a:srgbClr val="2C5697"/>
                </a:solidFill>
                <a:latin typeface="Arial"/>
                <a:cs typeface="Arial"/>
                <a:sym typeface="Times New Roman"/>
              </a:rPr>
              <a:t>Espectrofotometría genérica</a:t>
            </a:r>
            <a:endParaRPr lang="es-MX" sz="1000" dirty="0"/>
          </a:p>
        </p:txBody>
      </p:sp>
      <p:sp>
        <p:nvSpPr>
          <p:cNvPr id="17" name="CuadroTexto 16">
            <a:extLst>
              <a:ext uri="{FF2B5EF4-FFF2-40B4-BE49-F238E27FC236}">
                <a16:creationId xmlns:a16="http://schemas.microsoft.com/office/drawing/2014/main" id="{42858144-6C3E-40C3-1E8F-851FEB40558D}"/>
              </a:ext>
            </a:extLst>
          </p:cNvPr>
          <p:cNvSpPr txBox="1"/>
          <p:nvPr/>
        </p:nvSpPr>
        <p:spPr>
          <a:xfrm>
            <a:off x="7293417" y="2467141"/>
            <a:ext cx="1800265" cy="246221"/>
          </a:xfrm>
          <a:prstGeom prst="rect">
            <a:avLst/>
          </a:prstGeom>
          <a:noFill/>
        </p:spPr>
        <p:txBody>
          <a:bodyPr wrap="square">
            <a:spAutoFit/>
          </a:bodyPr>
          <a:lstStyle/>
          <a:p>
            <a:r>
              <a:rPr lang="es-ES" sz="1000" dirty="0">
                <a:solidFill>
                  <a:srgbClr val="2C5697"/>
                </a:solidFill>
                <a:latin typeface="Arial"/>
                <a:cs typeface="Arial"/>
                <a:sym typeface="Times New Roman"/>
              </a:rPr>
              <a:t>Espectrofotometría láser</a:t>
            </a:r>
            <a:endParaRPr lang="es-MX" sz="1000" dirty="0"/>
          </a:p>
        </p:txBody>
      </p:sp>
      <p:sp>
        <p:nvSpPr>
          <p:cNvPr id="19" name="TextBox 32">
            <a:extLst>
              <a:ext uri="{FF2B5EF4-FFF2-40B4-BE49-F238E27FC236}">
                <a16:creationId xmlns:a16="http://schemas.microsoft.com/office/drawing/2014/main" id="{BE51744F-CF1B-1AD9-6042-A2DC32D60BF3}"/>
              </a:ext>
            </a:extLst>
          </p:cNvPr>
          <p:cNvSpPr txBox="1"/>
          <p:nvPr/>
        </p:nvSpPr>
        <p:spPr>
          <a:xfrm>
            <a:off x="5261628" y="2908072"/>
            <a:ext cx="3860589"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r"/>
            <a:r>
              <a:rPr lang="es-ES" sz="700" dirty="0">
                <a:latin typeface="Arial"/>
              </a:rPr>
              <a:t>Fuente: https://www.symtek.com/productos-para-el-analisis-de-materiales/espectrometria-laser/</a:t>
            </a:r>
            <a:endParaRPr lang="en-US" sz="700" dirty="0">
              <a:cs typeface="Calibri"/>
            </a:endParaRPr>
          </a:p>
        </p:txBody>
      </p:sp>
    </p:spTree>
    <p:custDataLst>
      <p:tags r:id="rId1"/>
    </p:custDataLst>
    <p:extLst>
      <p:ext uri="{BB962C8B-B14F-4D97-AF65-F5344CB8AC3E}">
        <p14:creationId xmlns:p14="http://schemas.microsoft.com/office/powerpoint/2010/main" val="2208728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Medidas de variables químicas</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34699" y="5885920"/>
            <a:ext cx="358983"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15</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B003AF4A-C727-CBB5-76F9-6E839CED1AD9}"/>
              </a:ext>
            </a:extLst>
          </p:cNvPr>
          <p:cNvSpPr/>
          <p:nvPr/>
        </p:nvSpPr>
        <p:spPr>
          <a:xfrm>
            <a:off x="76861" y="897997"/>
            <a:ext cx="4084781" cy="646331"/>
          </a:xfrm>
          <a:prstGeom prst="rect">
            <a:avLst/>
          </a:prstGeom>
        </p:spPr>
        <p:txBody>
          <a:bodyPr wrap="square">
            <a:spAutoFit/>
          </a:bodyPr>
          <a:lstStyle/>
          <a:p>
            <a:r>
              <a:rPr lang="es-ES" sz="1200" dirty="0">
                <a:solidFill>
                  <a:srgbClr val="2C5697"/>
                </a:solidFill>
                <a:latin typeface="Arial"/>
                <a:cs typeface="Arial"/>
                <a:sym typeface="Times New Roman"/>
              </a:rPr>
              <a:t>Las medidas incluyen: luz, espectrometría, </a:t>
            </a:r>
            <a:r>
              <a:rPr lang="es-ES" sz="1200" dirty="0">
                <a:solidFill>
                  <a:srgbClr val="C00000"/>
                </a:solidFill>
                <a:latin typeface="Arial"/>
                <a:cs typeface="Arial"/>
                <a:sym typeface="Times New Roman"/>
              </a:rPr>
              <a:t>reflectometría</a:t>
            </a:r>
            <a:r>
              <a:rPr lang="es-ES" sz="1200" dirty="0">
                <a:solidFill>
                  <a:srgbClr val="2C5697"/>
                </a:solidFill>
                <a:latin typeface="Arial"/>
                <a:cs typeface="Arial"/>
                <a:sym typeface="Times New Roman"/>
              </a:rPr>
              <a:t>, </a:t>
            </a:r>
            <a:r>
              <a:rPr lang="es-ES" sz="1200" dirty="0">
                <a:solidFill>
                  <a:srgbClr val="C00000"/>
                </a:solidFill>
                <a:latin typeface="Arial"/>
                <a:cs typeface="Arial"/>
                <a:sym typeface="Times New Roman"/>
              </a:rPr>
              <a:t>cantidad de gases de interés</a:t>
            </a:r>
            <a:r>
              <a:rPr lang="es-ES" sz="1200" dirty="0">
                <a:solidFill>
                  <a:srgbClr val="2C5697"/>
                </a:solidFill>
                <a:latin typeface="Arial"/>
                <a:cs typeface="Arial"/>
                <a:sym typeface="Times New Roman"/>
              </a:rPr>
              <a:t>, concentración de sustancias por fluorescencia, oxígeno en sangre, etc.</a:t>
            </a:r>
            <a:endParaRPr lang="es-CO" dirty="0"/>
          </a:p>
        </p:txBody>
      </p:sp>
      <p:pic>
        <p:nvPicPr>
          <p:cNvPr id="5" name="Imagen 4">
            <a:extLst>
              <a:ext uri="{FF2B5EF4-FFF2-40B4-BE49-F238E27FC236}">
                <a16:creationId xmlns:a16="http://schemas.microsoft.com/office/drawing/2014/main" id="{6615E236-417B-553F-4228-24C1DAA52CEC}"/>
              </a:ext>
            </a:extLst>
          </p:cNvPr>
          <p:cNvPicPr>
            <a:picLocks noChangeAspect="1"/>
          </p:cNvPicPr>
          <p:nvPr/>
        </p:nvPicPr>
        <p:blipFill>
          <a:blip r:embed="rId4"/>
          <a:stretch>
            <a:fillRect/>
          </a:stretch>
        </p:blipFill>
        <p:spPr>
          <a:xfrm>
            <a:off x="28286" y="2083550"/>
            <a:ext cx="4268366" cy="2154508"/>
          </a:xfrm>
          <a:prstGeom prst="rect">
            <a:avLst/>
          </a:prstGeom>
        </p:spPr>
      </p:pic>
      <p:pic>
        <p:nvPicPr>
          <p:cNvPr id="10" name="Imagen 9">
            <a:extLst>
              <a:ext uri="{FF2B5EF4-FFF2-40B4-BE49-F238E27FC236}">
                <a16:creationId xmlns:a16="http://schemas.microsoft.com/office/drawing/2014/main" id="{B36176CF-1D40-1A3D-1B00-3C3873922D81}"/>
              </a:ext>
            </a:extLst>
          </p:cNvPr>
          <p:cNvPicPr>
            <a:picLocks noChangeAspect="1"/>
          </p:cNvPicPr>
          <p:nvPr/>
        </p:nvPicPr>
        <p:blipFill>
          <a:blip r:embed="rId5"/>
          <a:stretch>
            <a:fillRect/>
          </a:stretch>
        </p:blipFill>
        <p:spPr>
          <a:xfrm>
            <a:off x="4357847" y="474144"/>
            <a:ext cx="4749158" cy="4895807"/>
          </a:xfrm>
          <a:prstGeom prst="rect">
            <a:avLst/>
          </a:prstGeom>
          <a:ln>
            <a:solidFill>
              <a:schemeClr val="tx1"/>
            </a:solidFill>
          </a:ln>
        </p:spPr>
      </p:pic>
    </p:spTree>
    <p:custDataLst>
      <p:tags r:id="rId1"/>
    </p:custDataLst>
    <p:extLst>
      <p:ext uri="{BB962C8B-B14F-4D97-AF65-F5344CB8AC3E}">
        <p14:creationId xmlns:p14="http://schemas.microsoft.com/office/powerpoint/2010/main" val="8091694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Medidas de variables químicas</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34699" y="5885920"/>
            <a:ext cx="358983"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16</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M. Pérez, Instrumentación electrónica, Paraninfo, 2014.</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B003AF4A-C727-CBB5-76F9-6E839CED1AD9}"/>
              </a:ext>
            </a:extLst>
          </p:cNvPr>
          <p:cNvSpPr/>
          <p:nvPr/>
        </p:nvSpPr>
        <p:spPr>
          <a:xfrm>
            <a:off x="38640" y="376122"/>
            <a:ext cx="8875550" cy="461665"/>
          </a:xfrm>
          <a:prstGeom prst="rect">
            <a:avLst/>
          </a:prstGeom>
        </p:spPr>
        <p:txBody>
          <a:bodyPr wrap="square">
            <a:spAutoFit/>
          </a:bodyPr>
          <a:lstStyle/>
          <a:p>
            <a:r>
              <a:rPr lang="es-ES" sz="1200" dirty="0">
                <a:solidFill>
                  <a:srgbClr val="2C5697"/>
                </a:solidFill>
                <a:latin typeface="Arial"/>
                <a:cs typeface="Arial"/>
                <a:sym typeface="Times New Roman"/>
              </a:rPr>
              <a:t>Las medidas incluyen: luz, espectrometría, reflectometría, cantidad de gases de interés, </a:t>
            </a:r>
            <a:r>
              <a:rPr lang="es-ES" sz="1200" dirty="0">
                <a:solidFill>
                  <a:srgbClr val="C00000"/>
                </a:solidFill>
                <a:latin typeface="Arial"/>
                <a:cs typeface="Arial"/>
                <a:sym typeface="Times New Roman"/>
              </a:rPr>
              <a:t>concentración de sustancias por fluorescencia</a:t>
            </a:r>
            <a:r>
              <a:rPr lang="es-ES" sz="1200" dirty="0">
                <a:solidFill>
                  <a:srgbClr val="2C5697"/>
                </a:solidFill>
                <a:latin typeface="Arial"/>
                <a:cs typeface="Arial"/>
                <a:sym typeface="Times New Roman"/>
              </a:rPr>
              <a:t>, </a:t>
            </a:r>
            <a:r>
              <a:rPr lang="es-ES" sz="1200" dirty="0">
                <a:solidFill>
                  <a:srgbClr val="C00000"/>
                </a:solidFill>
                <a:latin typeface="Arial"/>
                <a:cs typeface="Arial"/>
                <a:sym typeface="Times New Roman"/>
              </a:rPr>
              <a:t>oxígeno en sangre</a:t>
            </a:r>
            <a:r>
              <a:rPr lang="es-ES" sz="1200" dirty="0">
                <a:solidFill>
                  <a:srgbClr val="2C5697"/>
                </a:solidFill>
                <a:latin typeface="Arial"/>
                <a:cs typeface="Arial"/>
                <a:sym typeface="Times New Roman"/>
              </a:rPr>
              <a:t>, etc.</a:t>
            </a:r>
            <a:endParaRPr lang="es-CO" dirty="0"/>
          </a:p>
        </p:txBody>
      </p:sp>
      <p:pic>
        <p:nvPicPr>
          <p:cNvPr id="6" name="Imagen 5">
            <a:extLst>
              <a:ext uri="{FF2B5EF4-FFF2-40B4-BE49-F238E27FC236}">
                <a16:creationId xmlns:a16="http://schemas.microsoft.com/office/drawing/2014/main" id="{92085F00-87BA-DB4E-F355-34E85D17D7A6}"/>
              </a:ext>
            </a:extLst>
          </p:cNvPr>
          <p:cNvPicPr>
            <a:picLocks noChangeAspect="1"/>
          </p:cNvPicPr>
          <p:nvPr/>
        </p:nvPicPr>
        <p:blipFill>
          <a:blip r:embed="rId4"/>
          <a:stretch>
            <a:fillRect/>
          </a:stretch>
        </p:blipFill>
        <p:spPr>
          <a:xfrm>
            <a:off x="52254" y="1256025"/>
            <a:ext cx="4350933" cy="3879582"/>
          </a:xfrm>
          <a:prstGeom prst="rect">
            <a:avLst/>
          </a:prstGeom>
        </p:spPr>
      </p:pic>
      <p:pic>
        <p:nvPicPr>
          <p:cNvPr id="9" name="Imagen 8">
            <a:extLst>
              <a:ext uri="{FF2B5EF4-FFF2-40B4-BE49-F238E27FC236}">
                <a16:creationId xmlns:a16="http://schemas.microsoft.com/office/drawing/2014/main" id="{C48CFC8A-D06E-5982-3407-32C1F0370D1C}"/>
              </a:ext>
            </a:extLst>
          </p:cNvPr>
          <p:cNvPicPr>
            <a:picLocks noChangeAspect="1"/>
          </p:cNvPicPr>
          <p:nvPr/>
        </p:nvPicPr>
        <p:blipFill>
          <a:blip r:embed="rId5"/>
          <a:stretch>
            <a:fillRect/>
          </a:stretch>
        </p:blipFill>
        <p:spPr>
          <a:xfrm>
            <a:off x="4572000" y="1256025"/>
            <a:ext cx="4521682" cy="3879582"/>
          </a:xfrm>
          <a:prstGeom prst="rect">
            <a:avLst/>
          </a:prstGeom>
        </p:spPr>
      </p:pic>
      <p:cxnSp>
        <p:nvCxnSpPr>
          <p:cNvPr id="13" name="Conector recto 12">
            <a:extLst>
              <a:ext uri="{FF2B5EF4-FFF2-40B4-BE49-F238E27FC236}">
                <a16:creationId xmlns:a16="http://schemas.microsoft.com/office/drawing/2014/main" id="{B36BB625-F20C-0A6D-BFF0-CE9C86B64CDB}"/>
              </a:ext>
            </a:extLst>
          </p:cNvPr>
          <p:cNvCxnSpPr/>
          <p:nvPr/>
        </p:nvCxnSpPr>
        <p:spPr>
          <a:xfrm flipV="1">
            <a:off x="4476415" y="1010194"/>
            <a:ext cx="0" cy="4591781"/>
          </a:xfrm>
          <a:prstGeom prst="line">
            <a:avLst/>
          </a:prstGeom>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0248048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Medición de la frecuencia de pulso</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699863" y="5885920"/>
            <a:ext cx="393819"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17</a:t>
            </a:fld>
            <a:endParaRPr lang="es-CO" sz="1200" dirty="0">
              <a:solidFill>
                <a:schemeClr val="bg1"/>
              </a:solidFill>
            </a:endParaRPr>
          </a:p>
        </p:txBody>
      </p:sp>
      <p:sp>
        <p:nvSpPr>
          <p:cNvPr id="7" name="TextBox 32">
            <a:extLst>
              <a:ext uri="{FF2B5EF4-FFF2-40B4-BE49-F238E27FC236}">
                <a16:creationId xmlns:a16="http://schemas.microsoft.com/office/drawing/2014/main" id="{9CAA202A-6AFB-4D01-89EC-17D6D2FD8044}"/>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R. S. </a:t>
            </a:r>
            <a:r>
              <a:rPr lang="es-ES" sz="700" dirty="0" err="1">
                <a:solidFill>
                  <a:schemeClr val="bg1"/>
                </a:solidFill>
                <a:latin typeface="Arial"/>
              </a:rPr>
              <a:t>Khandpur</a:t>
            </a:r>
            <a:r>
              <a:rPr lang="es-ES" sz="700" dirty="0">
                <a:solidFill>
                  <a:schemeClr val="bg1"/>
                </a:solidFill>
                <a:latin typeface="Arial"/>
              </a:rPr>
              <a:t>, Biomedical </a:t>
            </a:r>
            <a:r>
              <a:rPr lang="es-ES" sz="700" dirty="0" err="1">
                <a:solidFill>
                  <a:schemeClr val="bg1"/>
                </a:solidFill>
                <a:latin typeface="Arial"/>
              </a:rPr>
              <a:t>instrumentation</a:t>
            </a:r>
            <a:r>
              <a:rPr lang="es-ES" sz="700" dirty="0">
                <a:solidFill>
                  <a:schemeClr val="bg1"/>
                </a:solidFill>
                <a:latin typeface="Arial"/>
              </a:rPr>
              <a:t> – </a:t>
            </a:r>
            <a:r>
              <a:rPr lang="es-ES" sz="700" dirty="0" err="1">
                <a:solidFill>
                  <a:schemeClr val="bg1"/>
                </a:solidFill>
                <a:latin typeface="Arial"/>
              </a:rPr>
              <a:t>Technology</a:t>
            </a:r>
            <a:r>
              <a:rPr lang="es-ES" sz="700" dirty="0">
                <a:solidFill>
                  <a:schemeClr val="bg1"/>
                </a:solidFill>
                <a:latin typeface="Arial"/>
              </a:rPr>
              <a:t> and </a:t>
            </a:r>
            <a:r>
              <a:rPr lang="es-ES" sz="700" dirty="0" err="1">
                <a:solidFill>
                  <a:schemeClr val="bg1"/>
                </a:solidFill>
                <a:latin typeface="Arial"/>
              </a:rPr>
              <a:t>applications</a:t>
            </a:r>
            <a:r>
              <a:rPr lang="es-ES" sz="700" dirty="0">
                <a:solidFill>
                  <a:schemeClr val="bg1"/>
                </a:solidFill>
                <a:latin typeface="Arial"/>
              </a:rPr>
              <a:t>, McGraw Hill, 2003</a:t>
            </a:r>
            <a:endParaRPr lang="en-US" sz="700" dirty="0">
              <a:solidFill>
                <a:schemeClr val="bg1"/>
              </a:solidFill>
              <a:cs typeface="Calibri"/>
            </a:endParaRPr>
          </a:p>
        </p:txBody>
      </p:sp>
      <p:pic>
        <p:nvPicPr>
          <p:cNvPr id="4" name="Imagen 3">
            <a:extLst>
              <a:ext uri="{FF2B5EF4-FFF2-40B4-BE49-F238E27FC236}">
                <a16:creationId xmlns:a16="http://schemas.microsoft.com/office/drawing/2014/main" id="{33A35B5E-3071-EA54-62C6-632BC5C50E55}"/>
              </a:ext>
            </a:extLst>
          </p:cNvPr>
          <p:cNvPicPr>
            <a:picLocks noChangeAspect="1"/>
          </p:cNvPicPr>
          <p:nvPr/>
        </p:nvPicPr>
        <p:blipFill>
          <a:blip r:embed="rId4"/>
          <a:stretch>
            <a:fillRect/>
          </a:stretch>
        </p:blipFill>
        <p:spPr>
          <a:xfrm>
            <a:off x="21249" y="443921"/>
            <a:ext cx="4031863" cy="1997605"/>
          </a:xfrm>
          <a:prstGeom prst="rect">
            <a:avLst/>
          </a:prstGeom>
        </p:spPr>
      </p:pic>
      <p:pic>
        <p:nvPicPr>
          <p:cNvPr id="6" name="Imagen 5">
            <a:extLst>
              <a:ext uri="{FF2B5EF4-FFF2-40B4-BE49-F238E27FC236}">
                <a16:creationId xmlns:a16="http://schemas.microsoft.com/office/drawing/2014/main" id="{CB51003C-8979-5248-F5AA-60B873D7A9D8}"/>
              </a:ext>
            </a:extLst>
          </p:cNvPr>
          <p:cNvPicPr>
            <a:picLocks noChangeAspect="1"/>
          </p:cNvPicPr>
          <p:nvPr/>
        </p:nvPicPr>
        <p:blipFill>
          <a:blip r:embed="rId5"/>
          <a:stretch>
            <a:fillRect/>
          </a:stretch>
        </p:blipFill>
        <p:spPr>
          <a:xfrm>
            <a:off x="4432871" y="693660"/>
            <a:ext cx="4444198" cy="4414603"/>
          </a:xfrm>
          <a:prstGeom prst="rect">
            <a:avLst/>
          </a:prstGeom>
          <a:ln>
            <a:solidFill>
              <a:schemeClr val="tx1"/>
            </a:solidFill>
          </a:ln>
        </p:spPr>
      </p:pic>
      <p:pic>
        <p:nvPicPr>
          <p:cNvPr id="3074" name="Picture 2" descr="Buy Heart Rate Sensor Module Online in India | Robocraze">
            <a:extLst>
              <a:ext uri="{FF2B5EF4-FFF2-40B4-BE49-F238E27FC236}">
                <a16:creationId xmlns:a16="http://schemas.microsoft.com/office/drawing/2014/main" id="{E855FA36-0D69-406A-99E5-D94D9D2565F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745" y="2523879"/>
            <a:ext cx="2216876" cy="221687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Sensor ritmo cardiaco pinza">
            <a:extLst>
              <a:ext uri="{FF2B5EF4-FFF2-40B4-BE49-F238E27FC236}">
                <a16:creationId xmlns:a16="http://schemas.microsoft.com/office/drawing/2014/main" id="{9C8B1536-0BD1-8C26-1344-C713297206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47487" y="3891186"/>
            <a:ext cx="1768248" cy="1768248"/>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32">
            <a:extLst>
              <a:ext uri="{FF2B5EF4-FFF2-40B4-BE49-F238E27FC236}">
                <a16:creationId xmlns:a16="http://schemas.microsoft.com/office/drawing/2014/main" id="{5B261555-94BD-A68B-3294-A07838F73796}"/>
              </a:ext>
            </a:extLst>
          </p:cNvPr>
          <p:cNvSpPr txBox="1"/>
          <p:nvPr/>
        </p:nvSpPr>
        <p:spPr>
          <a:xfrm>
            <a:off x="-28432" y="5421657"/>
            <a:ext cx="3860589"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r"/>
            <a:r>
              <a:rPr lang="es-ES" sz="700" dirty="0">
                <a:latin typeface="Arial"/>
              </a:rPr>
              <a:t>Fuente: https://www.ventusciencia.com/sensor-ritmo-cardiaco-pinza.html</a:t>
            </a:r>
            <a:endParaRPr lang="en-US" sz="700" dirty="0">
              <a:cs typeface="Calibri"/>
            </a:endParaRPr>
          </a:p>
        </p:txBody>
      </p:sp>
    </p:spTree>
    <p:custDataLst>
      <p:tags r:id="rId1"/>
    </p:custDataLst>
    <p:extLst>
      <p:ext uri="{BB962C8B-B14F-4D97-AF65-F5344CB8AC3E}">
        <p14:creationId xmlns:p14="http://schemas.microsoft.com/office/powerpoint/2010/main" val="32014541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Medición de </a:t>
            </a:r>
            <a:r>
              <a:rPr lang="es-ES" b="1" dirty="0" err="1">
                <a:solidFill>
                  <a:srgbClr val="2C5697"/>
                </a:solidFill>
                <a:latin typeface="Arial"/>
                <a:cs typeface="Arial"/>
                <a:sym typeface="Times New Roman"/>
              </a:rPr>
              <a:t>pulsoximetría</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08571" y="5885920"/>
            <a:ext cx="385111"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18</a:t>
            </a:fld>
            <a:endParaRPr lang="es-CO" sz="1200" dirty="0">
              <a:solidFill>
                <a:schemeClr val="bg1"/>
              </a:solidFill>
            </a:endParaRPr>
          </a:p>
        </p:txBody>
      </p:sp>
      <p:sp>
        <p:nvSpPr>
          <p:cNvPr id="8" name="TextBox 32">
            <a:extLst>
              <a:ext uri="{FF2B5EF4-FFF2-40B4-BE49-F238E27FC236}">
                <a16:creationId xmlns:a16="http://schemas.microsoft.com/office/drawing/2014/main" id="{863C20E2-F490-405E-A6DB-F0F17F6EA701}"/>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R. S. </a:t>
            </a:r>
            <a:r>
              <a:rPr lang="es-ES" sz="700" dirty="0" err="1">
                <a:solidFill>
                  <a:schemeClr val="bg1"/>
                </a:solidFill>
                <a:latin typeface="Arial"/>
              </a:rPr>
              <a:t>Khandpur</a:t>
            </a:r>
            <a:r>
              <a:rPr lang="es-ES" sz="700" dirty="0">
                <a:solidFill>
                  <a:schemeClr val="bg1"/>
                </a:solidFill>
                <a:latin typeface="Arial"/>
              </a:rPr>
              <a:t>, Biomedical </a:t>
            </a:r>
            <a:r>
              <a:rPr lang="es-ES" sz="700" dirty="0" err="1">
                <a:solidFill>
                  <a:schemeClr val="bg1"/>
                </a:solidFill>
                <a:latin typeface="Arial"/>
              </a:rPr>
              <a:t>instrumentation</a:t>
            </a:r>
            <a:r>
              <a:rPr lang="es-ES" sz="700" dirty="0">
                <a:solidFill>
                  <a:schemeClr val="bg1"/>
                </a:solidFill>
                <a:latin typeface="Arial"/>
              </a:rPr>
              <a:t> – </a:t>
            </a:r>
            <a:r>
              <a:rPr lang="es-ES" sz="700" dirty="0" err="1">
                <a:solidFill>
                  <a:schemeClr val="bg1"/>
                </a:solidFill>
                <a:latin typeface="Arial"/>
              </a:rPr>
              <a:t>Technology</a:t>
            </a:r>
            <a:r>
              <a:rPr lang="es-ES" sz="700" dirty="0">
                <a:solidFill>
                  <a:schemeClr val="bg1"/>
                </a:solidFill>
                <a:latin typeface="Arial"/>
              </a:rPr>
              <a:t> and </a:t>
            </a:r>
            <a:r>
              <a:rPr lang="es-ES" sz="700" dirty="0" err="1">
                <a:solidFill>
                  <a:schemeClr val="bg1"/>
                </a:solidFill>
                <a:latin typeface="Arial"/>
              </a:rPr>
              <a:t>applications</a:t>
            </a:r>
            <a:r>
              <a:rPr lang="es-ES" sz="700" dirty="0">
                <a:solidFill>
                  <a:schemeClr val="bg1"/>
                </a:solidFill>
                <a:latin typeface="Arial"/>
              </a:rPr>
              <a:t>, McGraw Hill, 2003</a:t>
            </a:r>
            <a:endParaRPr lang="en-US" sz="700" dirty="0">
              <a:solidFill>
                <a:schemeClr val="bg1"/>
              </a:solidFill>
              <a:cs typeface="Calibri"/>
            </a:endParaRPr>
          </a:p>
        </p:txBody>
      </p:sp>
      <p:sp>
        <p:nvSpPr>
          <p:cNvPr id="2" name="Rectángulo 1">
            <a:extLst>
              <a:ext uri="{FF2B5EF4-FFF2-40B4-BE49-F238E27FC236}">
                <a16:creationId xmlns:a16="http://schemas.microsoft.com/office/drawing/2014/main" id="{8B6B3E96-04D1-0CED-EFEB-9DEB405D1123}"/>
              </a:ext>
            </a:extLst>
          </p:cNvPr>
          <p:cNvSpPr/>
          <p:nvPr/>
        </p:nvSpPr>
        <p:spPr>
          <a:xfrm>
            <a:off x="4328159" y="733409"/>
            <a:ext cx="4765522" cy="830997"/>
          </a:xfrm>
          <a:prstGeom prst="rect">
            <a:avLst/>
          </a:prstGeom>
        </p:spPr>
        <p:txBody>
          <a:bodyPr wrap="square">
            <a:spAutoFit/>
          </a:bodyPr>
          <a:lstStyle/>
          <a:p>
            <a:r>
              <a:rPr lang="es-MX" sz="1200" dirty="0">
                <a:solidFill>
                  <a:srgbClr val="2C5697"/>
                </a:solidFill>
                <a:latin typeface="Arial"/>
                <a:cs typeface="Arial"/>
                <a:sym typeface="Times New Roman"/>
              </a:rPr>
              <a:t>Se basa en el concepto de que las mediciones de la saturación arterial de oxígeno se pueden realizar utilizando </a:t>
            </a:r>
            <a:r>
              <a:rPr lang="es-MX" sz="1200" dirty="0">
                <a:solidFill>
                  <a:srgbClr val="C00000"/>
                </a:solidFill>
                <a:latin typeface="Arial"/>
                <a:cs typeface="Arial"/>
                <a:sym typeface="Times New Roman"/>
              </a:rPr>
              <a:t>dos longitudes de onda </a:t>
            </a:r>
            <a:r>
              <a:rPr lang="es-MX" sz="1200" dirty="0">
                <a:solidFill>
                  <a:srgbClr val="2C5697"/>
                </a:solidFill>
                <a:latin typeface="Arial"/>
                <a:cs typeface="Arial"/>
                <a:sym typeface="Times New Roman"/>
              </a:rPr>
              <a:t>(siempre que las mediciones se realicen en la parte pulsátil de la forma de onda).</a:t>
            </a:r>
          </a:p>
        </p:txBody>
      </p:sp>
      <p:pic>
        <p:nvPicPr>
          <p:cNvPr id="5" name="Imagen 4">
            <a:extLst>
              <a:ext uri="{FF2B5EF4-FFF2-40B4-BE49-F238E27FC236}">
                <a16:creationId xmlns:a16="http://schemas.microsoft.com/office/drawing/2014/main" id="{0D1BC0A6-A97D-9E1D-4A9F-092E584217BC}"/>
              </a:ext>
            </a:extLst>
          </p:cNvPr>
          <p:cNvPicPr>
            <a:picLocks noChangeAspect="1"/>
          </p:cNvPicPr>
          <p:nvPr/>
        </p:nvPicPr>
        <p:blipFill>
          <a:blip r:embed="rId4"/>
          <a:stretch>
            <a:fillRect/>
          </a:stretch>
        </p:blipFill>
        <p:spPr>
          <a:xfrm>
            <a:off x="5013248" y="2267108"/>
            <a:ext cx="3395345" cy="3254637"/>
          </a:xfrm>
          <a:prstGeom prst="rect">
            <a:avLst/>
          </a:prstGeom>
        </p:spPr>
      </p:pic>
      <p:pic>
        <p:nvPicPr>
          <p:cNvPr id="7" name="Imagen 6">
            <a:extLst>
              <a:ext uri="{FF2B5EF4-FFF2-40B4-BE49-F238E27FC236}">
                <a16:creationId xmlns:a16="http://schemas.microsoft.com/office/drawing/2014/main" id="{062FA38B-B062-6B07-ABFD-F9CA6AA613DD}"/>
              </a:ext>
            </a:extLst>
          </p:cNvPr>
          <p:cNvPicPr>
            <a:picLocks noChangeAspect="1"/>
          </p:cNvPicPr>
          <p:nvPr/>
        </p:nvPicPr>
        <p:blipFill>
          <a:blip r:embed="rId5"/>
          <a:stretch>
            <a:fillRect/>
          </a:stretch>
        </p:blipFill>
        <p:spPr>
          <a:xfrm>
            <a:off x="146111" y="443921"/>
            <a:ext cx="4080435" cy="5309482"/>
          </a:xfrm>
          <a:prstGeom prst="rect">
            <a:avLst/>
          </a:prstGeom>
          <a:ln>
            <a:solidFill>
              <a:schemeClr val="tx1"/>
            </a:solidFill>
          </a:ln>
        </p:spPr>
      </p:pic>
    </p:spTree>
    <p:custDataLst>
      <p:tags r:id="rId1"/>
    </p:custDataLst>
    <p:extLst>
      <p:ext uri="{BB962C8B-B14F-4D97-AF65-F5344CB8AC3E}">
        <p14:creationId xmlns:p14="http://schemas.microsoft.com/office/powerpoint/2010/main" val="4296593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ángulo 3">
            <a:extLst>
              <a:ext uri="{FF2B5EF4-FFF2-40B4-BE49-F238E27FC236}">
                <a16:creationId xmlns:a16="http://schemas.microsoft.com/office/drawing/2014/main" id="{BA78C997-9AFA-617C-2246-1E5D696CD074}"/>
              </a:ext>
            </a:extLst>
          </p:cNvPr>
          <p:cNvSpPr/>
          <p:nvPr/>
        </p:nvSpPr>
        <p:spPr>
          <a:xfrm>
            <a:off x="261463" y="6076950"/>
            <a:ext cx="6510812" cy="571500"/>
          </a:xfrm>
          <a:prstGeom prst="rect">
            <a:avLst/>
          </a:prstGeom>
          <a:solidFill>
            <a:srgbClr val="2C5697"/>
          </a:solidFill>
          <a:ln>
            <a:solidFill>
              <a:srgbClr val="2C569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Título 1">
            <a:extLst>
              <a:ext uri="{FF2B5EF4-FFF2-40B4-BE49-F238E27FC236}">
                <a16:creationId xmlns:a16="http://schemas.microsoft.com/office/drawing/2014/main" id="{A4D1AAEC-93DE-C95C-08EF-CF9033451CE1}"/>
              </a:ext>
            </a:extLst>
          </p:cNvPr>
          <p:cNvSpPr txBox="1">
            <a:spLocks/>
          </p:cNvSpPr>
          <p:nvPr/>
        </p:nvSpPr>
        <p:spPr>
          <a:xfrm>
            <a:off x="20283" y="6139451"/>
            <a:ext cx="4937125" cy="489949"/>
          </a:xfrm>
          <a:prstGeom prst="rect">
            <a:avLst/>
          </a:prstGeom>
        </p:spPr>
        <p:txBody>
          <a:bodyPr vert="horz" lIns="91440" tIns="45720" rIns="91440" bIns="45720" rtlCol="0" anchor="t">
            <a:noAutofit/>
          </a:bodyPr>
          <a:lstStyle>
            <a:lvl1pPr algn="l" defTabSz="457200" rtl="0" eaLnBrk="1" latinLnBrk="0" hangingPunct="1">
              <a:spcBef>
                <a:spcPct val="0"/>
              </a:spcBef>
              <a:buNone/>
              <a:defRPr sz="3000" b="1" kern="1200">
                <a:solidFill>
                  <a:srgbClr val="2C5697"/>
                </a:solidFill>
                <a:latin typeface="Arial"/>
                <a:ea typeface="+mj-ea"/>
                <a:cs typeface="Arial"/>
              </a:defRPr>
            </a:lvl1pPr>
          </a:lstStyle>
          <a:p>
            <a:r>
              <a:rPr lang="es-ES_tradnl" sz="1600" b="0" dirty="0">
                <a:solidFill>
                  <a:schemeClr val="bg1"/>
                </a:solidFill>
              </a:rPr>
              <a:t>Instrumentación optoelectrónica</a:t>
            </a:r>
            <a:endParaRPr lang="en-US" dirty="0">
              <a:solidFill>
                <a:schemeClr val="bg1"/>
              </a:solidFill>
            </a:endParaRPr>
          </a:p>
        </p:txBody>
      </p:sp>
      <p:sp>
        <p:nvSpPr>
          <p:cNvPr id="12" name="Rectángulo 6">
            <a:extLst>
              <a:ext uri="{FF2B5EF4-FFF2-40B4-BE49-F238E27FC236}">
                <a16:creationId xmlns:a16="http://schemas.microsoft.com/office/drawing/2014/main" id="{396E011B-4BAA-685E-2E9E-0082F05E8034}"/>
              </a:ext>
            </a:extLst>
          </p:cNvPr>
          <p:cNvSpPr/>
          <p:nvPr/>
        </p:nvSpPr>
        <p:spPr>
          <a:xfrm>
            <a:off x="-2262" y="74589"/>
            <a:ext cx="7435995" cy="369332"/>
          </a:xfrm>
          <a:prstGeom prst="rect">
            <a:avLst/>
          </a:prstGeom>
        </p:spPr>
        <p:txBody>
          <a:bodyPr wrap="square" lIns="91440" tIns="45720" rIns="91440" bIns="45720" anchor="t">
            <a:spAutoFit/>
          </a:bodyPr>
          <a:lstStyle/>
          <a:p>
            <a:r>
              <a:rPr lang="es-ES" b="1" dirty="0">
                <a:solidFill>
                  <a:srgbClr val="2C5697"/>
                </a:solidFill>
                <a:latin typeface="Arial"/>
                <a:cs typeface="Arial"/>
                <a:sym typeface="Times New Roman"/>
              </a:rPr>
              <a:t>Medición de oximetría</a:t>
            </a:r>
            <a:endParaRPr lang="en-US" dirty="0"/>
          </a:p>
        </p:txBody>
      </p:sp>
      <p:sp>
        <p:nvSpPr>
          <p:cNvPr id="18" name="Marcador de número de diapositiva 3">
            <a:extLst>
              <a:ext uri="{FF2B5EF4-FFF2-40B4-BE49-F238E27FC236}">
                <a16:creationId xmlns:a16="http://schemas.microsoft.com/office/drawing/2014/main" id="{05297B29-4A8C-4AAD-AF4F-01A7DE44607E}"/>
              </a:ext>
            </a:extLst>
          </p:cNvPr>
          <p:cNvSpPr txBox="1">
            <a:spLocks/>
          </p:cNvSpPr>
          <p:nvPr/>
        </p:nvSpPr>
        <p:spPr>
          <a:xfrm>
            <a:off x="8725989" y="5885920"/>
            <a:ext cx="367693" cy="365125"/>
          </a:xfrm>
          <a:prstGeom prst="rect">
            <a:avLst/>
          </a:prstGeom>
        </p:spPr>
        <p:txBody>
          <a:bodyPr/>
          <a:ls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B2BE6C9-F3B7-42C6-B5E1-6B1202CD821D}" type="slidenum">
              <a:rPr lang="es-CO" sz="1200" smtClean="0">
                <a:solidFill>
                  <a:schemeClr val="bg1"/>
                </a:solidFill>
              </a:rPr>
              <a:pPr algn="r"/>
              <a:t>19</a:t>
            </a:fld>
            <a:endParaRPr lang="es-CO" sz="1200" dirty="0">
              <a:solidFill>
                <a:schemeClr val="bg1"/>
              </a:solidFill>
            </a:endParaRPr>
          </a:p>
        </p:txBody>
      </p:sp>
      <p:sp>
        <p:nvSpPr>
          <p:cNvPr id="8" name="TextBox 32">
            <a:extLst>
              <a:ext uri="{FF2B5EF4-FFF2-40B4-BE49-F238E27FC236}">
                <a16:creationId xmlns:a16="http://schemas.microsoft.com/office/drawing/2014/main" id="{863C20E2-F490-405E-A6DB-F0F17F6EA701}"/>
              </a:ext>
            </a:extLst>
          </p:cNvPr>
          <p:cNvSpPr txBox="1"/>
          <p:nvPr/>
        </p:nvSpPr>
        <p:spPr>
          <a:xfrm>
            <a:off x="21249" y="5909173"/>
            <a:ext cx="5978105" cy="2000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s-ES" sz="700" dirty="0">
                <a:solidFill>
                  <a:schemeClr val="bg1"/>
                </a:solidFill>
                <a:latin typeface="Arial"/>
              </a:rPr>
              <a:t>Fuente: R. S. </a:t>
            </a:r>
            <a:r>
              <a:rPr lang="es-ES" sz="700" dirty="0" err="1">
                <a:solidFill>
                  <a:schemeClr val="bg1"/>
                </a:solidFill>
                <a:latin typeface="Arial"/>
              </a:rPr>
              <a:t>Khandpur</a:t>
            </a:r>
            <a:r>
              <a:rPr lang="es-ES" sz="700" dirty="0">
                <a:solidFill>
                  <a:schemeClr val="bg1"/>
                </a:solidFill>
                <a:latin typeface="Arial"/>
              </a:rPr>
              <a:t>, Biomedical </a:t>
            </a:r>
            <a:r>
              <a:rPr lang="es-ES" sz="700" dirty="0" err="1">
                <a:solidFill>
                  <a:schemeClr val="bg1"/>
                </a:solidFill>
                <a:latin typeface="Arial"/>
              </a:rPr>
              <a:t>instrumentation</a:t>
            </a:r>
            <a:r>
              <a:rPr lang="es-ES" sz="700" dirty="0">
                <a:solidFill>
                  <a:schemeClr val="bg1"/>
                </a:solidFill>
                <a:latin typeface="Arial"/>
              </a:rPr>
              <a:t> – </a:t>
            </a:r>
            <a:r>
              <a:rPr lang="es-ES" sz="700" dirty="0" err="1">
                <a:solidFill>
                  <a:schemeClr val="bg1"/>
                </a:solidFill>
                <a:latin typeface="Arial"/>
              </a:rPr>
              <a:t>Technology</a:t>
            </a:r>
            <a:r>
              <a:rPr lang="es-ES" sz="700" dirty="0">
                <a:solidFill>
                  <a:schemeClr val="bg1"/>
                </a:solidFill>
                <a:latin typeface="Arial"/>
              </a:rPr>
              <a:t> and </a:t>
            </a:r>
            <a:r>
              <a:rPr lang="es-ES" sz="700" dirty="0" err="1">
                <a:solidFill>
                  <a:schemeClr val="bg1"/>
                </a:solidFill>
                <a:latin typeface="Arial"/>
              </a:rPr>
              <a:t>applications</a:t>
            </a:r>
            <a:r>
              <a:rPr lang="es-ES" sz="700" dirty="0">
                <a:solidFill>
                  <a:schemeClr val="bg1"/>
                </a:solidFill>
                <a:latin typeface="Arial"/>
              </a:rPr>
              <a:t>, McGraw Hill, 2003</a:t>
            </a:r>
            <a:endParaRPr lang="en-US" sz="700" dirty="0">
              <a:solidFill>
                <a:schemeClr val="bg1"/>
              </a:solidFill>
              <a:cs typeface="Calibri"/>
            </a:endParaRPr>
          </a:p>
        </p:txBody>
      </p:sp>
      <p:pic>
        <p:nvPicPr>
          <p:cNvPr id="6" name="Imagen 5">
            <a:extLst>
              <a:ext uri="{FF2B5EF4-FFF2-40B4-BE49-F238E27FC236}">
                <a16:creationId xmlns:a16="http://schemas.microsoft.com/office/drawing/2014/main" id="{2952CF7A-C6E5-BAD9-7A8A-C36D89670D5F}"/>
              </a:ext>
            </a:extLst>
          </p:cNvPr>
          <p:cNvPicPr>
            <a:picLocks noChangeAspect="1"/>
          </p:cNvPicPr>
          <p:nvPr/>
        </p:nvPicPr>
        <p:blipFill>
          <a:blip r:embed="rId4"/>
          <a:stretch>
            <a:fillRect/>
          </a:stretch>
        </p:blipFill>
        <p:spPr>
          <a:xfrm>
            <a:off x="1543594" y="467265"/>
            <a:ext cx="6056811" cy="2187181"/>
          </a:xfrm>
          <a:prstGeom prst="rect">
            <a:avLst/>
          </a:prstGeom>
          <a:ln>
            <a:solidFill>
              <a:schemeClr val="tx1"/>
            </a:solidFill>
          </a:ln>
        </p:spPr>
      </p:pic>
      <p:pic>
        <p:nvPicPr>
          <p:cNvPr id="10" name="Imagen 9">
            <a:extLst>
              <a:ext uri="{FF2B5EF4-FFF2-40B4-BE49-F238E27FC236}">
                <a16:creationId xmlns:a16="http://schemas.microsoft.com/office/drawing/2014/main" id="{1127E154-5E4C-02E6-E9F0-AE43EEDD3A32}"/>
              </a:ext>
            </a:extLst>
          </p:cNvPr>
          <p:cNvPicPr>
            <a:picLocks noChangeAspect="1"/>
          </p:cNvPicPr>
          <p:nvPr/>
        </p:nvPicPr>
        <p:blipFill>
          <a:blip r:embed="rId5"/>
          <a:stretch>
            <a:fillRect/>
          </a:stretch>
        </p:blipFill>
        <p:spPr>
          <a:xfrm>
            <a:off x="876224" y="3182117"/>
            <a:ext cx="3412593" cy="2466817"/>
          </a:xfrm>
          <a:prstGeom prst="rect">
            <a:avLst/>
          </a:prstGeom>
        </p:spPr>
      </p:pic>
      <p:pic>
        <p:nvPicPr>
          <p:cNvPr id="13" name="Imagen 12">
            <a:extLst>
              <a:ext uri="{FF2B5EF4-FFF2-40B4-BE49-F238E27FC236}">
                <a16:creationId xmlns:a16="http://schemas.microsoft.com/office/drawing/2014/main" id="{8D335DE0-A9E7-F948-ABF9-A636653F7A54}"/>
              </a:ext>
            </a:extLst>
          </p:cNvPr>
          <p:cNvPicPr>
            <a:picLocks noChangeAspect="1"/>
          </p:cNvPicPr>
          <p:nvPr/>
        </p:nvPicPr>
        <p:blipFill>
          <a:blip r:embed="rId6"/>
          <a:stretch>
            <a:fillRect/>
          </a:stretch>
        </p:blipFill>
        <p:spPr>
          <a:xfrm>
            <a:off x="4779720" y="3783453"/>
            <a:ext cx="3723188" cy="1437466"/>
          </a:xfrm>
          <a:prstGeom prst="rect">
            <a:avLst/>
          </a:prstGeom>
        </p:spPr>
      </p:pic>
      <p:sp>
        <p:nvSpPr>
          <p:cNvPr id="15" name="CuadroTexto 14">
            <a:extLst>
              <a:ext uri="{FF2B5EF4-FFF2-40B4-BE49-F238E27FC236}">
                <a16:creationId xmlns:a16="http://schemas.microsoft.com/office/drawing/2014/main" id="{4C1AA3A7-61F7-0F4F-45AD-2EE77E24F349}"/>
              </a:ext>
            </a:extLst>
          </p:cNvPr>
          <p:cNvSpPr txBox="1"/>
          <p:nvPr/>
        </p:nvSpPr>
        <p:spPr>
          <a:xfrm>
            <a:off x="43972" y="2787422"/>
            <a:ext cx="4606834" cy="307777"/>
          </a:xfrm>
          <a:prstGeom prst="rect">
            <a:avLst/>
          </a:prstGeom>
          <a:noFill/>
        </p:spPr>
        <p:txBody>
          <a:bodyPr wrap="square">
            <a:spAutoFit/>
          </a:bodyPr>
          <a:lstStyle/>
          <a:p>
            <a:r>
              <a:rPr lang="es-MX" sz="1400" dirty="0">
                <a:solidFill>
                  <a:srgbClr val="2C5697"/>
                </a:solidFill>
                <a:latin typeface="Arial"/>
                <a:cs typeface="Arial"/>
                <a:sym typeface="Times New Roman"/>
              </a:rPr>
              <a:t>Otros métodos</a:t>
            </a:r>
            <a:endParaRPr lang="es-MX" sz="1400" dirty="0"/>
          </a:p>
        </p:txBody>
      </p:sp>
      <p:sp>
        <p:nvSpPr>
          <p:cNvPr id="2" name="Sol 1">
            <a:hlinkClick r:id="rId7"/>
            <a:extLst>
              <a:ext uri="{FF2B5EF4-FFF2-40B4-BE49-F238E27FC236}">
                <a16:creationId xmlns:a16="http://schemas.microsoft.com/office/drawing/2014/main" id="{F18E6325-E72E-BC19-8BBC-E6F0E2361DF2}"/>
              </a:ext>
            </a:extLst>
          </p:cNvPr>
          <p:cNvSpPr/>
          <p:nvPr/>
        </p:nvSpPr>
        <p:spPr>
          <a:xfrm>
            <a:off x="8187304" y="194731"/>
            <a:ext cx="631207" cy="545068"/>
          </a:xfrm>
          <a:prstGeom prst="sun">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s-CO"/>
          </a:p>
        </p:txBody>
      </p:sp>
    </p:spTree>
    <p:custDataLst>
      <p:tags r:id="rId1"/>
    </p:custDataLst>
    <p:extLst>
      <p:ext uri="{BB962C8B-B14F-4D97-AF65-F5344CB8AC3E}">
        <p14:creationId xmlns:p14="http://schemas.microsoft.com/office/powerpoint/2010/main" val="41967510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2.7"/>
</p:tagLst>
</file>

<file path=ppt/tags/tag2.xml><?xml version="1.0" encoding="utf-8"?>
<p:tagLst xmlns:a="http://schemas.openxmlformats.org/drawingml/2006/main" xmlns:r="http://schemas.openxmlformats.org/officeDocument/2006/relationships" xmlns:p="http://schemas.openxmlformats.org/presentationml/2006/main">
  <p:tag name="TIMING" val="|2.7"/>
</p:tagLst>
</file>

<file path=ppt/tags/tag3.xml><?xml version="1.0" encoding="utf-8"?>
<p:tagLst xmlns:a="http://schemas.openxmlformats.org/drawingml/2006/main" xmlns:r="http://schemas.openxmlformats.org/officeDocument/2006/relationships" xmlns:p="http://schemas.openxmlformats.org/presentationml/2006/main">
  <p:tag name="TIMING" val="|2.7"/>
</p:tagLst>
</file>

<file path=ppt/tags/tag4.xml><?xml version="1.0" encoding="utf-8"?>
<p:tagLst xmlns:a="http://schemas.openxmlformats.org/drawingml/2006/main" xmlns:r="http://schemas.openxmlformats.org/officeDocument/2006/relationships" xmlns:p="http://schemas.openxmlformats.org/presentationml/2006/main">
  <p:tag name="TIMING" val="|2.7"/>
</p:tagLst>
</file>

<file path=ppt/tags/tag5.xml><?xml version="1.0" encoding="utf-8"?>
<p:tagLst xmlns:a="http://schemas.openxmlformats.org/drawingml/2006/main" xmlns:r="http://schemas.openxmlformats.org/officeDocument/2006/relationships" xmlns:p="http://schemas.openxmlformats.org/presentationml/2006/main">
  <p:tag name="TIMING" val="|2.7"/>
</p:tagLst>
</file>

<file path=ppt/tags/tag6.xml><?xml version="1.0" encoding="utf-8"?>
<p:tagLst xmlns:a="http://schemas.openxmlformats.org/drawingml/2006/main" xmlns:r="http://schemas.openxmlformats.org/officeDocument/2006/relationships" xmlns:p="http://schemas.openxmlformats.org/presentationml/2006/main">
  <p:tag name="TIMING" val="|2.7"/>
</p:tagLst>
</file>

<file path=ppt/tags/tag7.xml><?xml version="1.0" encoding="utf-8"?>
<p:tagLst xmlns:a="http://schemas.openxmlformats.org/drawingml/2006/main" xmlns:r="http://schemas.openxmlformats.org/officeDocument/2006/relationships" xmlns:p="http://schemas.openxmlformats.org/presentationml/2006/main">
  <p:tag name="TIMING" val="|2.7"/>
</p:tagLst>
</file>

<file path=ppt/tags/tag8.xml><?xml version="1.0" encoding="utf-8"?>
<p:tagLst xmlns:a="http://schemas.openxmlformats.org/drawingml/2006/main" xmlns:r="http://schemas.openxmlformats.org/officeDocument/2006/relationships" xmlns:p="http://schemas.openxmlformats.org/presentationml/2006/main">
  <p:tag name="TIMING" val="|2.7"/>
</p:tagLst>
</file>

<file path=ppt/tags/tag9.xml><?xml version="1.0" encoding="utf-8"?>
<p:tagLst xmlns:a="http://schemas.openxmlformats.org/drawingml/2006/main" xmlns:r="http://schemas.openxmlformats.org/officeDocument/2006/relationships" xmlns:p="http://schemas.openxmlformats.org/presentationml/2006/main">
  <p:tag name="TIMING" val="|2.7"/>
</p:tagLst>
</file>

<file path=ppt/tags/tag10.xml><?xml version="1.0" encoding="utf-8"?>
<p:tagLst xmlns:a="http://schemas.openxmlformats.org/drawingml/2006/main" xmlns:r="http://schemas.openxmlformats.org/officeDocument/2006/relationships" xmlns:p="http://schemas.openxmlformats.org/presentationml/2006/main">
  <p:tag name="TIMING" val="|2.7"/>
</p:tagLst>
</file>

<file path=ppt/tags/tag11.xml><?xml version="1.0" encoding="utf-8"?>
<p:tagLst xmlns:a="http://schemas.openxmlformats.org/drawingml/2006/main" xmlns:r="http://schemas.openxmlformats.org/officeDocument/2006/relationships" xmlns:p="http://schemas.openxmlformats.org/presentationml/2006/main">
  <p:tag name="TIMING" val="|2.7"/>
</p:tagLst>
</file>

<file path=ppt/tags/tag12.xml><?xml version="1.0" encoding="utf-8"?>
<p:tagLst xmlns:a="http://schemas.openxmlformats.org/drawingml/2006/main" xmlns:r="http://schemas.openxmlformats.org/officeDocument/2006/relationships" xmlns:p="http://schemas.openxmlformats.org/presentationml/2006/main">
  <p:tag name="TIMING" val="|2.7"/>
</p:tagLst>
</file>

<file path=ppt/tags/tag13.xml><?xml version="1.0" encoding="utf-8"?>
<p:tagLst xmlns:a="http://schemas.openxmlformats.org/drawingml/2006/main" xmlns:r="http://schemas.openxmlformats.org/officeDocument/2006/relationships" xmlns:p="http://schemas.openxmlformats.org/presentationml/2006/main">
  <p:tag name="TIMING" val="|2.7"/>
</p:tagLst>
</file>

<file path=ppt/tags/tag14.xml><?xml version="1.0" encoding="utf-8"?>
<p:tagLst xmlns:a="http://schemas.openxmlformats.org/drawingml/2006/main" xmlns:r="http://schemas.openxmlformats.org/officeDocument/2006/relationships" xmlns:p="http://schemas.openxmlformats.org/presentationml/2006/main">
  <p:tag name="TIMING" val="|2.7"/>
</p:tagLst>
</file>

<file path=ppt/tags/tag15.xml><?xml version="1.0" encoding="utf-8"?>
<p:tagLst xmlns:a="http://schemas.openxmlformats.org/drawingml/2006/main" xmlns:r="http://schemas.openxmlformats.org/officeDocument/2006/relationships" xmlns:p="http://schemas.openxmlformats.org/presentationml/2006/main">
  <p:tag name="TIMING" val="|2.7"/>
</p:tagLst>
</file>

<file path=ppt/tags/tag16.xml><?xml version="1.0" encoding="utf-8"?>
<p:tagLst xmlns:a="http://schemas.openxmlformats.org/drawingml/2006/main" xmlns:r="http://schemas.openxmlformats.org/officeDocument/2006/relationships" xmlns:p="http://schemas.openxmlformats.org/presentationml/2006/main">
  <p:tag name="TIMING" val="|2.7"/>
</p:tagLst>
</file>

<file path=ppt/tags/tag17.xml><?xml version="1.0" encoding="utf-8"?>
<p:tagLst xmlns:a="http://schemas.openxmlformats.org/drawingml/2006/main" xmlns:r="http://schemas.openxmlformats.org/officeDocument/2006/relationships" xmlns:p="http://schemas.openxmlformats.org/presentationml/2006/main">
  <p:tag name="TIMING" val="|2.7"/>
</p:tagLst>
</file>

<file path=ppt/tags/tag18.xml><?xml version="1.0" encoding="utf-8"?>
<p:tagLst xmlns:a="http://schemas.openxmlformats.org/drawingml/2006/main" xmlns:r="http://schemas.openxmlformats.org/officeDocument/2006/relationships" xmlns:p="http://schemas.openxmlformats.org/presentationml/2006/main">
  <p:tag name="TIMING" val="|2.7"/>
</p:tagLst>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2900F3A557F714198AE6C43099F60F5" ma:contentTypeVersion="8" ma:contentTypeDescription="Create a new document." ma:contentTypeScope="" ma:versionID="55cdc5e3aca1604c0bb86a11a9089b99">
  <xsd:schema xmlns:xsd="http://www.w3.org/2001/XMLSchema" xmlns:xs="http://www.w3.org/2001/XMLSchema" xmlns:p="http://schemas.microsoft.com/office/2006/metadata/properties" xmlns:ns3="c0c46fdd-2a6c-49f1-bb4d-a6e06b52ee64" targetNamespace="http://schemas.microsoft.com/office/2006/metadata/properties" ma:root="true" ma:fieldsID="e39a03982c3bb4093a616dd515f6b552" ns3:_="">
    <xsd:import namespace="c0c46fdd-2a6c-49f1-bb4d-a6e06b52ee64"/>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0c46fdd-2a6c-49f1-bb4d-a6e06b52ee6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EF6A44-0F3A-4D8D-83B8-7DB654162EC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0c46fdd-2a6c-49f1-bb4d-a6e06b52ee6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EF68008-267B-42B0-9C9F-2DD9B1D5EE7A}">
  <ds:schemaRefs>
    <ds:schemaRef ds:uri="http://purl.org/dc/terms/"/>
    <ds:schemaRef ds:uri="http://purl.org/dc/elements/1.1/"/>
    <ds:schemaRef ds:uri="http://www.w3.org/XML/1998/namespace"/>
    <ds:schemaRef ds:uri="http://schemas.microsoft.com/office/2006/documentManagement/types"/>
    <ds:schemaRef ds:uri="http://schemas.openxmlformats.org/package/2006/metadata/core-properties"/>
    <ds:schemaRef ds:uri="c0c46fdd-2a6c-49f1-bb4d-a6e06b52ee64"/>
    <ds:schemaRef ds:uri="http://schemas.microsoft.com/office/infopath/2007/PartnerControls"/>
    <ds:schemaRef ds:uri="http://purl.org/dc/dcmitype/"/>
    <ds:schemaRef ds:uri="http://schemas.microsoft.com/office/2006/metadata/properties"/>
  </ds:schemaRefs>
</ds:datastoreItem>
</file>

<file path=customXml/itemProps3.xml><?xml version="1.0" encoding="utf-8"?>
<ds:datastoreItem xmlns:ds="http://schemas.openxmlformats.org/officeDocument/2006/customXml" ds:itemID="{EB7352B7-29C2-4831-B08B-DA9095F0296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1859</TotalTime>
  <Words>1003</Words>
  <Application>Microsoft Office PowerPoint</Application>
  <PresentationFormat>Presentación en pantalla (4:3)</PresentationFormat>
  <Paragraphs>115</Paragraphs>
  <Slides>19</Slides>
  <Notes>18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19</vt:i4>
      </vt:variant>
    </vt:vector>
  </HeadingPairs>
  <TitlesOfParts>
    <vt:vector size="23" baseType="lpstr">
      <vt:lpstr>Arial</vt:lpstr>
      <vt:lpstr>Calibri</vt:lpstr>
      <vt:lpstr>Wingdings</vt:lpstr>
      <vt:lpstr>Tema de Office</vt:lpstr>
      <vt:lpstr>Instrumentación optoelectrónica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Vistad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Instrumentación optoelectrónica</dc:title>
  <dc:creator>Jenny Rojas</dc:creator>
  <cp:lastModifiedBy>Pedro Antonio Aya Parra</cp:lastModifiedBy>
  <cp:revision>1809</cp:revision>
  <dcterms:created xsi:type="dcterms:W3CDTF">2018-06-28T02:15:01Z</dcterms:created>
  <dcterms:modified xsi:type="dcterms:W3CDTF">2025-10-31T03:00:24Z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0x01010092900F3A557F714198AE6C43099F60F5</vt:lpwstr>
  </property>
</Properties>
</file>