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6" r:id="rId5"/>
    <p:sldId id="305" r:id="rId6"/>
    <p:sldId id="322" r:id="rId7"/>
    <p:sldId id="311" r:id="rId8"/>
    <p:sldId id="313" r:id="rId9"/>
    <p:sldId id="314" r:id="rId10"/>
    <p:sldId id="312" r:id="rId11"/>
    <p:sldId id="306" r:id="rId12"/>
    <p:sldId id="307" r:id="rId13"/>
    <p:sldId id="315" r:id="rId14"/>
    <p:sldId id="308" r:id="rId15"/>
    <p:sldId id="316" r:id="rId16"/>
    <p:sldId id="317" r:id="rId17"/>
    <p:sldId id="318" r:id="rId18"/>
    <p:sldId id="319" r:id="rId19"/>
    <p:sldId id="320" r:id="rId20"/>
    <p:sldId id="309" r:id="rId21"/>
    <p:sldId id="310" r:id="rId22"/>
    <p:sldId id="321" r:id="rId23"/>
    <p:sldId id="324" r:id="rId24"/>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64" d="100"/>
          <a:sy n="64" d="100"/>
        </p:scale>
        <p:origin x="168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Rodríguez Dueñas" userId="ba4d89e2-4f4b-4d11-bd59-56b1da6828aa" providerId="ADAL" clId="{010D7612-8C50-4E24-A5AB-66622A0429D8}"/>
    <pc:docChg chg="modSld">
      <pc:chgData name="William Ricardo Rodríguez Dueñas" userId="ba4d89e2-4f4b-4d11-bd59-56b1da6828aa" providerId="ADAL" clId="{010D7612-8C50-4E24-A5AB-66622A0429D8}" dt="2024-04-15T21:37:15.440" v="21" actId="20577"/>
      <pc:docMkLst>
        <pc:docMk/>
      </pc:docMkLst>
      <pc:sldChg chg="modSp">
        <pc:chgData name="William Ricardo Rodríguez Dueñas" userId="ba4d89e2-4f4b-4d11-bd59-56b1da6828aa" providerId="ADAL" clId="{010D7612-8C50-4E24-A5AB-66622A0429D8}" dt="2024-04-15T21:37:15.440" v="21" actId="20577"/>
        <pc:sldMkLst>
          <pc:docMk/>
          <pc:sldMk cId="3908148806" sldId="256"/>
        </pc:sldMkLst>
        <pc:spChg chg="mod">
          <ac:chgData name="William Ricardo Rodríguez Dueñas" userId="ba4d89e2-4f4b-4d11-bd59-56b1da6828aa" providerId="ADAL" clId="{010D7612-8C50-4E24-A5AB-66622A0429D8}" dt="2024-04-15T21:37:15.440" v="21" actId="20577"/>
          <ac:spMkLst>
            <pc:docMk/>
            <pc:sldMk cId="3908148806" sldId="25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19/10/2026</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19/10/2026</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F4C2D-1949-6C1C-E8CF-761BF2E11A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02C8DF-158B-8419-61CD-4EDD0993DC85}"/>
              </a:ext>
            </a:extLst>
          </p:cNvPr>
          <p:cNvSpPr>
            <a:spLocks noGrp="1" noRot="1" noChangeAspect="1"/>
          </p:cNvSpPr>
          <p:nvPr>
            <p:ph type="sldImg"/>
          </p:nvPr>
        </p:nvSpPr>
        <p:spPr>
          <a:xfrm>
            <a:off x="1371600" y="1143000"/>
            <a:ext cx="4114800" cy="3086100"/>
          </a:xfrm>
        </p:spPr>
        <p:txBody>
          <a:bodyPr/>
          <a:lstStyle/>
          <a:p>
            <a:endParaRPr lang="es-CO"/>
          </a:p>
        </p:txBody>
      </p:sp>
      <p:sp>
        <p:nvSpPr>
          <p:cNvPr id="3" name="Marcador de notas 2">
            <a:extLst>
              <a:ext uri="{FF2B5EF4-FFF2-40B4-BE49-F238E27FC236}">
                <a16:creationId xmlns:a16="http://schemas.microsoft.com/office/drawing/2014/main" id="{7D4AE55F-921B-C043-E495-913DAF787198}"/>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170600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638134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531223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893126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34396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963824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986846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0547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52517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479623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020191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264548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815907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266526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77936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275310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txBody>
          <a:bodyPr/>
          <a:lstStyle/>
          <a:p>
            <a:endParaRPr lang="es-CO"/>
          </a:p>
        </p:txBody>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121604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notesSlide" Target="../notesSlides/notesSlide1.xml"/><Relationship Id="rId7" Type="http://schemas.openxmlformats.org/officeDocument/2006/relationships/image" Target="../media/image8.jpeg"/><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hyperlink" Target="https://www.youtube.com/watch?v=cKKM9boWqZs" TargetMode="External"/><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notesSlide" Target="../notesSlides/notesSlide6.xml"/><Relationship Id="rId7" Type="http://schemas.openxmlformats.org/officeDocument/2006/relationships/image" Target="../media/image26.jpe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5" Type="http://schemas.openxmlformats.org/officeDocument/2006/relationships/image" Target="../media/image33.pn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2.png"/><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50.jpeg"/><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 Id="rId5" Type="http://schemas.openxmlformats.org/officeDocument/2006/relationships/image" Target="../media/image52.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hyperlink" Target="https://www.youtube.com/watch?v=xlPoa3uH1PA" TargetMode="External"/><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593725"/>
          </a:xfrm>
        </p:spPr>
        <p:txBody>
          <a:bodyPr>
            <a:normAutofit fontScale="90000"/>
          </a:bodyPr>
          <a:lstStyle/>
          <a:p>
            <a:pPr algn="ctr"/>
            <a:r>
              <a:rPr lang="es-ES_tradnl" sz="2800" dirty="0"/>
              <a:t>Instrumentación optoelectrónica</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 mundo de la optoelectrónica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5" name="CuadroTexto 4">
            <a:extLst>
              <a:ext uri="{FF2B5EF4-FFF2-40B4-BE49-F238E27FC236}">
                <a16:creationId xmlns:a16="http://schemas.microsoft.com/office/drawing/2014/main" id="{373C887E-75DF-40BE-C616-FFB147D5E821}"/>
              </a:ext>
            </a:extLst>
          </p:cNvPr>
          <p:cNvSpPr txBox="1"/>
          <p:nvPr/>
        </p:nvSpPr>
        <p:spPr>
          <a:xfrm>
            <a:off x="165212" y="1166842"/>
            <a:ext cx="5982926" cy="4524315"/>
          </a:xfrm>
          <a:prstGeom prst="rect">
            <a:avLst/>
          </a:prstGeom>
          <a:noFill/>
        </p:spPr>
        <p:txBody>
          <a:bodyPr wrap="square">
            <a:spAutoFit/>
          </a:bodyPr>
          <a:lstStyle/>
          <a:p>
            <a:pPr algn="just"/>
            <a:r>
              <a:rPr lang="es-ES" sz="1200" dirty="0">
                <a:solidFill>
                  <a:srgbClr val="C00000"/>
                </a:solidFill>
                <a:latin typeface="Arial"/>
                <a:cs typeface="Arial"/>
              </a:rPr>
              <a:t>Fotodiodos</a:t>
            </a:r>
            <a:r>
              <a:rPr lang="es-ES" sz="1200" dirty="0">
                <a:solidFill>
                  <a:srgbClr val="2C5697"/>
                </a:solidFill>
                <a:latin typeface="Arial"/>
                <a:cs typeface="Arial"/>
              </a:rPr>
              <a:t>: sensores de luz semiconductores construidos a partir de una unión P-N activa que genera una corriente o tensión cuando la luz incide sobre la unión. Tienen distintos modos de funcionamiento y se utilizan, entre otros. en equipos médicos e industriales.</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Células fotovoltaicas</a:t>
            </a:r>
            <a:r>
              <a:rPr lang="es-ES" sz="1200" dirty="0">
                <a:solidFill>
                  <a:srgbClr val="2C5697"/>
                </a:solidFill>
                <a:latin typeface="Arial"/>
                <a:cs typeface="Arial"/>
              </a:rPr>
              <a:t>: convierten la energía solar directamente en electricidad. Ampliamente utilizado en sistemas de telecomunicaciones, navegación marítima o electrificación rural. </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Fotoresistencias</a:t>
            </a:r>
            <a:r>
              <a:rPr lang="es-ES" sz="1200" dirty="0">
                <a:solidFill>
                  <a:srgbClr val="2C5697"/>
                </a:solidFill>
                <a:latin typeface="Arial"/>
                <a:cs typeface="Arial"/>
              </a:rPr>
              <a:t>: resistencias controladas por la luz cuya resistencia disminuye con la iluminación. Se utiliza en sensores de luz e interruptores.</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LED:</a:t>
            </a:r>
            <a:r>
              <a:rPr lang="es-ES" sz="1200" dirty="0">
                <a:solidFill>
                  <a:srgbClr val="2C5697"/>
                </a:solidFill>
                <a:latin typeface="Arial"/>
                <a:cs typeface="Arial"/>
              </a:rPr>
              <a:t> diodos semiconductores que emiten luz por electroluminiscencia. Se utilizan mucho como indicadores y fuentes de luz en electrónica.</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Circuitos integrados de sensores codificadores</a:t>
            </a:r>
            <a:r>
              <a:rPr lang="es-ES" sz="1200" dirty="0">
                <a:solidFill>
                  <a:srgbClr val="2C5697"/>
                </a:solidFill>
                <a:latin typeface="Arial"/>
                <a:cs typeface="Arial"/>
              </a:rPr>
              <a:t>: convierten el movimiento rotativo o lineal en señales eléctricas en sistemas de control de movimiento. </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Diodos láser</a:t>
            </a:r>
            <a:r>
              <a:rPr lang="es-ES" sz="1200" dirty="0">
                <a:solidFill>
                  <a:srgbClr val="2C5697"/>
                </a:solidFill>
                <a:latin typeface="Arial"/>
                <a:cs typeface="Arial"/>
              </a:rPr>
              <a:t>: diodos semiconductores que convierten la energía eléctrica en luz láser. Se aplica, entre otras cosas, a en reproductores de CD, dispositivos médicos y telecomunicaciones.</a:t>
            </a:r>
          </a:p>
          <a:p>
            <a:pPr algn="just">
              <a:buFont typeface="Arial" panose="020B0604020202020204" pitchFamily="34" charset="0"/>
              <a:buChar char="•"/>
            </a:pPr>
            <a:endParaRPr lang="es-ES" sz="1200" dirty="0">
              <a:solidFill>
                <a:srgbClr val="2C5697"/>
              </a:solidFill>
              <a:latin typeface="Arial"/>
              <a:cs typeface="Arial"/>
            </a:endParaRPr>
          </a:p>
          <a:p>
            <a:pPr algn="just"/>
            <a:r>
              <a:rPr lang="es-ES" sz="1200" dirty="0">
                <a:solidFill>
                  <a:srgbClr val="C00000"/>
                </a:solidFill>
                <a:latin typeface="Arial"/>
                <a:cs typeface="Arial"/>
              </a:rPr>
              <a:t>Fibra óptica</a:t>
            </a:r>
            <a:r>
              <a:rPr lang="es-ES" sz="1200" dirty="0">
                <a:solidFill>
                  <a:srgbClr val="2C5697"/>
                </a:solidFill>
                <a:latin typeface="Arial"/>
                <a:cs typeface="Arial"/>
              </a:rPr>
              <a:t>: transmite información en forma de luz modulada. Utilizado en telecomunicaciones, sensores y las</a:t>
            </a:r>
          </a:p>
        </p:txBody>
      </p:sp>
      <p:pic>
        <p:nvPicPr>
          <p:cNvPr id="9" name="Imagen 8" descr="Diagrama, Dibujo de ingeniería&#10;&#10;El contenido generado por IA puede ser incorrecto.">
            <a:extLst>
              <a:ext uri="{FF2B5EF4-FFF2-40B4-BE49-F238E27FC236}">
                <a16:creationId xmlns:a16="http://schemas.microsoft.com/office/drawing/2014/main" id="{2A733F5B-B7D5-E5A6-0AB0-D09AA765E9BB}"/>
              </a:ext>
            </a:extLst>
          </p:cNvPr>
          <p:cNvPicPr>
            <a:picLocks noChangeAspect="1"/>
          </p:cNvPicPr>
          <p:nvPr/>
        </p:nvPicPr>
        <p:blipFill>
          <a:blip r:embed="rId4"/>
          <a:stretch>
            <a:fillRect/>
          </a:stretch>
        </p:blipFill>
        <p:spPr>
          <a:xfrm>
            <a:off x="6148138" y="178408"/>
            <a:ext cx="1671991" cy="1080280"/>
          </a:xfrm>
          <a:prstGeom prst="rect">
            <a:avLst/>
          </a:prstGeom>
        </p:spPr>
      </p:pic>
      <p:pic>
        <p:nvPicPr>
          <p:cNvPr id="13" name="Imagen 12" descr="Diagrama&#10;&#10;El contenido generado por IA puede ser incorrecto.">
            <a:extLst>
              <a:ext uri="{FF2B5EF4-FFF2-40B4-BE49-F238E27FC236}">
                <a16:creationId xmlns:a16="http://schemas.microsoft.com/office/drawing/2014/main" id="{9696A3BD-7751-2428-2956-DF1DAAACAA29}"/>
              </a:ext>
            </a:extLst>
          </p:cNvPr>
          <p:cNvPicPr>
            <a:picLocks noChangeAspect="1"/>
          </p:cNvPicPr>
          <p:nvPr/>
        </p:nvPicPr>
        <p:blipFill>
          <a:blip r:embed="rId5"/>
          <a:stretch>
            <a:fillRect/>
          </a:stretch>
        </p:blipFill>
        <p:spPr>
          <a:xfrm>
            <a:off x="6772274" y="1478424"/>
            <a:ext cx="2273682" cy="974435"/>
          </a:xfrm>
          <a:prstGeom prst="rect">
            <a:avLst/>
          </a:prstGeom>
        </p:spPr>
      </p:pic>
      <p:pic>
        <p:nvPicPr>
          <p:cNvPr id="16" name="Imagen 15" descr="Imagen que contiene corte&#10;&#10;El contenido generado por IA puede ser incorrecto.">
            <a:extLst>
              <a:ext uri="{FF2B5EF4-FFF2-40B4-BE49-F238E27FC236}">
                <a16:creationId xmlns:a16="http://schemas.microsoft.com/office/drawing/2014/main" id="{21FF4F8A-D9A8-31E0-464C-5B7169DDE131}"/>
              </a:ext>
            </a:extLst>
          </p:cNvPr>
          <p:cNvPicPr>
            <a:picLocks noChangeAspect="1"/>
          </p:cNvPicPr>
          <p:nvPr/>
        </p:nvPicPr>
        <p:blipFill>
          <a:blip r:embed="rId6"/>
          <a:stretch>
            <a:fillRect/>
          </a:stretch>
        </p:blipFill>
        <p:spPr>
          <a:xfrm>
            <a:off x="6148138" y="2485825"/>
            <a:ext cx="1010797" cy="751583"/>
          </a:xfrm>
          <a:prstGeom prst="rect">
            <a:avLst/>
          </a:prstGeom>
        </p:spPr>
      </p:pic>
      <p:pic>
        <p:nvPicPr>
          <p:cNvPr id="19" name="Imagen 18" descr="Diagrama&#10;&#10;El contenido generado por IA puede ser incorrecto.">
            <a:extLst>
              <a:ext uri="{FF2B5EF4-FFF2-40B4-BE49-F238E27FC236}">
                <a16:creationId xmlns:a16="http://schemas.microsoft.com/office/drawing/2014/main" id="{7E22C192-3F28-10CB-5676-C2CB1952ACED}"/>
              </a:ext>
            </a:extLst>
          </p:cNvPr>
          <p:cNvPicPr>
            <a:picLocks noChangeAspect="1"/>
          </p:cNvPicPr>
          <p:nvPr/>
        </p:nvPicPr>
        <p:blipFill>
          <a:blip r:embed="rId7"/>
          <a:stretch>
            <a:fillRect/>
          </a:stretch>
        </p:blipFill>
        <p:spPr>
          <a:xfrm>
            <a:off x="6950030" y="3056062"/>
            <a:ext cx="1996736" cy="1328737"/>
          </a:xfrm>
          <a:prstGeom prst="rect">
            <a:avLst/>
          </a:prstGeom>
        </p:spPr>
      </p:pic>
      <p:pic>
        <p:nvPicPr>
          <p:cNvPr id="21" name="Imagen 20" descr="Un circuito electrónico&#10;&#10;El contenido generado por IA puede ser incorrecto.">
            <a:extLst>
              <a:ext uri="{FF2B5EF4-FFF2-40B4-BE49-F238E27FC236}">
                <a16:creationId xmlns:a16="http://schemas.microsoft.com/office/drawing/2014/main" id="{5E8C07C3-E9FF-0D85-A526-F84FBB0931F2}"/>
              </a:ext>
            </a:extLst>
          </p:cNvPr>
          <p:cNvPicPr>
            <a:picLocks noChangeAspect="1"/>
          </p:cNvPicPr>
          <p:nvPr/>
        </p:nvPicPr>
        <p:blipFill>
          <a:blip r:embed="rId8"/>
          <a:srcRect t="5872" b="6975"/>
          <a:stretch>
            <a:fillRect/>
          </a:stretch>
        </p:blipFill>
        <p:spPr>
          <a:xfrm>
            <a:off x="6313320" y="3872630"/>
            <a:ext cx="917909" cy="799980"/>
          </a:xfrm>
          <a:prstGeom prst="rect">
            <a:avLst/>
          </a:prstGeom>
        </p:spPr>
      </p:pic>
      <p:pic>
        <p:nvPicPr>
          <p:cNvPr id="23" name="Imagen 22">
            <a:extLst>
              <a:ext uri="{FF2B5EF4-FFF2-40B4-BE49-F238E27FC236}">
                <a16:creationId xmlns:a16="http://schemas.microsoft.com/office/drawing/2014/main" id="{9AF01BD5-D878-6B41-8E0E-290C4A2B9AE4}"/>
              </a:ext>
            </a:extLst>
          </p:cNvPr>
          <p:cNvPicPr>
            <a:picLocks noChangeAspect="1"/>
          </p:cNvPicPr>
          <p:nvPr/>
        </p:nvPicPr>
        <p:blipFill>
          <a:blip r:embed="rId9"/>
          <a:srcRect l="13740" t="36248" r="10443" b="18420"/>
          <a:stretch>
            <a:fillRect/>
          </a:stretch>
        </p:blipFill>
        <p:spPr>
          <a:xfrm>
            <a:off x="7712532" y="4499115"/>
            <a:ext cx="1087318" cy="872528"/>
          </a:xfrm>
          <a:prstGeom prst="rect">
            <a:avLst/>
          </a:prstGeom>
        </p:spPr>
      </p:pic>
      <p:pic>
        <p:nvPicPr>
          <p:cNvPr id="25" name="Imagen 24" descr="Imagen que contiene luz&#10;&#10;El contenido generado por IA puede ser incorrecto.">
            <a:extLst>
              <a:ext uri="{FF2B5EF4-FFF2-40B4-BE49-F238E27FC236}">
                <a16:creationId xmlns:a16="http://schemas.microsoft.com/office/drawing/2014/main" id="{C8C30531-48A8-59E1-CAD3-471391CB6247}"/>
              </a:ext>
            </a:extLst>
          </p:cNvPr>
          <p:cNvPicPr>
            <a:picLocks noChangeAspect="1"/>
          </p:cNvPicPr>
          <p:nvPr/>
        </p:nvPicPr>
        <p:blipFill>
          <a:blip r:embed="rId10"/>
          <a:stretch>
            <a:fillRect/>
          </a:stretch>
        </p:blipFill>
        <p:spPr>
          <a:xfrm>
            <a:off x="6186285" y="5201367"/>
            <a:ext cx="1285595" cy="723147"/>
          </a:xfrm>
          <a:prstGeom prst="rect">
            <a:avLst/>
          </a:prstGeom>
        </p:spPr>
      </p:pic>
    </p:spTree>
    <p:custDataLst>
      <p:tags r:id="rId1"/>
    </p:custDataLst>
    <p:extLst>
      <p:ext uri="{BB962C8B-B14F-4D97-AF65-F5344CB8AC3E}">
        <p14:creationId xmlns:p14="http://schemas.microsoft.com/office/powerpoint/2010/main" val="3076905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5BC857-A358-0C2A-31AB-0C3628A92FA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8C1CA62F-AFAD-DAFE-BB57-58198A2B9BF6}"/>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E3740653-8454-0AD1-F961-A0FADB41D34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E1EEB6BD-C1E9-97A6-937A-1BA9D32919CD}"/>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 mundo de la optoelectrónica</a:t>
            </a:r>
            <a:endParaRPr lang="en-US" dirty="0"/>
          </a:p>
        </p:txBody>
      </p:sp>
      <p:sp>
        <p:nvSpPr>
          <p:cNvPr id="18" name="Marcador de número de diapositiva 3">
            <a:extLst>
              <a:ext uri="{FF2B5EF4-FFF2-40B4-BE49-F238E27FC236}">
                <a16:creationId xmlns:a16="http://schemas.microsoft.com/office/drawing/2014/main" id="{9374ED58-90F6-79A6-7AC4-9A2D4C5F9491}"/>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7" name="TextBox 32">
            <a:extLst>
              <a:ext uri="{FF2B5EF4-FFF2-40B4-BE49-F238E27FC236}">
                <a16:creationId xmlns:a16="http://schemas.microsoft.com/office/drawing/2014/main" id="{F339C39A-10E8-3713-6865-8F90B99C79F0}"/>
              </a:ext>
            </a:extLst>
          </p:cNvPr>
          <p:cNvSpPr txBox="1"/>
          <p:nvPr/>
        </p:nvSpPr>
        <p:spPr>
          <a:xfrm>
            <a:off x="6204691" y="396845"/>
            <a:ext cx="245808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https://www.wenglor.com/es/Sensores/Sensores-optoelectronicos/c/cxmCID195613</a:t>
            </a:r>
            <a:endParaRPr lang="en-US" sz="700" dirty="0">
              <a:cs typeface="Calibri"/>
            </a:endParaRPr>
          </a:p>
        </p:txBody>
      </p:sp>
      <p:pic>
        <p:nvPicPr>
          <p:cNvPr id="2" name="Imagen 1">
            <a:extLst>
              <a:ext uri="{FF2B5EF4-FFF2-40B4-BE49-F238E27FC236}">
                <a16:creationId xmlns:a16="http://schemas.microsoft.com/office/drawing/2014/main" id="{9EDB6A43-EC30-18F2-15E0-27217601DD3D}"/>
              </a:ext>
            </a:extLst>
          </p:cNvPr>
          <p:cNvPicPr>
            <a:picLocks noChangeAspect="1"/>
          </p:cNvPicPr>
          <p:nvPr/>
        </p:nvPicPr>
        <p:blipFill>
          <a:blip r:embed="rId4"/>
          <a:stretch>
            <a:fillRect/>
          </a:stretch>
        </p:blipFill>
        <p:spPr>
          <a:xfrm>
            <a:off x="115790" y="374929"/>
            <a:ext cx="6092446" cy="3729713"/>
          </a:xfrm>
          <a:prstGeom prst="rect">
            <a:avLst/>
          </a:prstGeom>
        </p:spPr>
      </p:pic>
      <p:pic>
        <p:nvPicPr>
          <p:cNvPr id="1026" name="Picture 2" descr="Tubos fotomultiplicadores: ¿Qué multiplican?">
            <a:extLst>
              <a:ext uri="{FF2B5EF4-FFF2-40B4-BE49-F238E27FC236}">
                <a16:creationId xmlns:a16="http://schemas.microsoft.com/office/drawing/2014/main" id="{DCA1B78B-7188-DF93-0131-4E04B33D10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331" y="4288245"/>
            <a:ext cx="2384486" cy="119928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32">
            <a:extLst>
              <a:ext uri="{FF2B5EF4-FFF2-40B4-BE49-F238E27FC236}">
                <a16:creationId xmlns:a16="http://schemas.microsoft.com/office/drawing/2014/main" id="{ADBFB306-4F37-C5DE-B161-9A5758F121B3}"/>
              </a:ext>
            </a:extLst>
          </p:cNvPr>
          <p:cNvSpPr txBox="1"/>
          <p:nvPr/>
        </p:nvSpPr>
        <p:spPr>
          <a:xfrm>
            <a:off x="1175979" y="5527336"/>
            <a:ext cx="3172983"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https://www.anahuac.mx/mexico/noticias/Tubos-fotomultiplicadores</a:t>
            </a:r>
            <a:endParaRPr lang="en-US" sz="700" dirty="0">
              <a:cs typeface="Calibri"/>
            </a:endParaRPr>
          </a:p>
        </p:txBody>
      </p:sp>
      <p:pic>
        <p:nvPicPr>
          <p:cNvPr id="6" name="Imagen 5">
            <a:extLst>
              <a:ext uri="{FF2B5EF4-FFF2-40B4-BE49-F238E27FC236}">
                <a16:creationId xmlns:a16="http://schemas.microsoft.com/office/drawing/2014/main" id="{CFD5B71E-2605-6432-0DFA-1B644E59039C}"/>
              </a:ext>
            </a:extLst>
          </p:cNvPr>
          <p:cNvPicPr>
            <a:picLocks noChangeAspect="1"/>
          </p:cNvPicPr>
          <p:nvPr/>
        </p:nvPicPr>
        <p:blipFill>
          <a:blip r:embed="rId6"/>
          <a:stretch>
            <a:fillRect/>
          </a:stretch>
        </p:blipFill>
        <p:spPr>
          <a:xfrm>
            <a:off x="5773783" y="4130776"/>
            <a:ext cx="3172983" cy="1463855"/>
          </a:xfrm>
          <a:prstGeom prst="rect">
            <a:avLst/>
          </a:prstGeom>
        </p:spPr>
      </p:pic>
      <p:sp>
        <p:nvSpPr>
          <p:cNvPr id="14" name="TextBox 32">
            <a:extLst>
              <a:ext uri="{FF2B5EF4-FFF2-40B4-BE49-F238E27FC236}">
                <a16:creationId xmlns:a16="http://schemas.microsoft.com/office/drawing/2014/main" id="{EC095913-5F17-715E-89C9-48065A005133}"/>
              </a:ext>
            </a:extLst>
          </p:cNvPr>
          <p:cNvSpPr txBox="1"/>
          <p:nvPr/>
        </p:nvSpPr>
        <p:spPr>
          <a:xfrm>
            <a:off x="5839738" y="5614536"/>
            <a:ext cx="3253944"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err="1">
                <a:latin typeface="Arial"/>
              </a:rPr>
              <a:t>Fuente:https</a:t>
            </a:r>
            <a:r>
              <a:rPr lang="es-ES" sz="700" dirty="0">
                <a:latin typeface="Arial"/>
              </a:rPr>
              <a:t>://www.infoteknico.com/sensores-de-imagen-una-guia-esencial/</a:t>
            </a:r>
            <a:endParaRPr lang="en-US" sz="700" dirty="0">
              <a:cs typeface="Calibri"/>
            </a:endParaRPr>
          </a:p>
        </p:txBody>
      </p:sp>
    </p:spTree>
    <p:custDataLst>
      <p:tags r:id="rId1"/>
    </p:custDataLst>
    <p:extLst>
      <p:ext uri="{BB962C8B-B14F-4D97-AF65-F5344CB8AC3E}">
        <p14:creationId xmlns:p14="http://schemas.microsoft.com/office/powerpoint/2010/main" val="137224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Fotodiodos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D8A682F4-E685-4681-BC48-1C61EE6B5338}"/>
              </a:ext>
            </a:extLst>
          </p:cNvPr>
          <p:cNvSpPr/>
          <p:nvPr/>
        </p:nvSpPr>
        <p:spPr>
          <a:xfrm>
            <a:off x="97449" y="443921"/>
            <a:ext cx="6825865" cy="461665"/>
          </a:xfrm>
          <a:prstGeom prst="rect">
            <a:avLst/>
          </a:prstGeom>
        </p:spPr>
        <p:txBody>
          <a:bodyPr wrap="square">
            <a:spAutoFit/>
          </a:bodyPr>
          <a:lstStyle/>
          <a:p>
            <a:r>
              <a:rPr lang="es-ES" sz="1200" dirty="0">
                <a:solidFill>
                  <a:srgbClr val="2C5697"/>
                </a:solidFill>
                <a:latin typeface="Arial"/>
                <a:cs typeface="Arial"/>
                <a:sym typeface="Times New Roman"/>
              </a:rPr>
              <a:t>Se basan en la </a:t>
            </a:r>
            <a:r>
              <a:rPr lang="es-ES" sz="1200" dirty="0">
                <a:solidFill>
                  <a:srgbClr val="C00000"/>
                </a:solidFill>
                <a:latin typeface="Arial"/>
                <a:cs typeface="Arial"/>
                <a:sym typeface="Times New Roman"/>
              </a:rPr>
              <a:t>generación de portadores de carga </a:t>
            </a:r>
            <a:r>
              <a:rPr lang="es-ES" sz="1200" dirty="0">
                <a:solidFill>
                  <a:srgbClr val="2C5697"/>
                </a:solidFill>
                <a:latin typeface="Arial"/>
                <a:cs typeface="Arial"/>
                <a:sym typeface="Times New Roman"/>
              </a:rPr>
              <a:t>capaces de alcanzar la banda de conducción mediante la </a:t>
            </a:r>
            <a:r>
              <a:rPr lang="es-ES" sz="1200" dirty="0">
                <a:solidFill>
                  <a:srgbClr val="C00000"/>
                </a:solidFill>
                <a:latin typeface="Arial"/>
                <a:cs typeface="Arial"/>
                <a:sym typeface="Times New Roman"/>
              </a:rPr>
              <a:t>excitación</a:t>
            </a:r>
            <a:r>
              <a:rPr lang="es-ES" sz="1200" dirty="0">
                <a:solidFill>
                  <a:srgbClr val="2C5697"/>
                </a:solidFill>
                <a:latin typeface="Arial"/>
                <a:cs typeface="Arial"/>
                <a:sym typeface="Times New Roman"/>
              </a:rPr>
              <a:t> de los electrones por </a:t>
            </a:r>
            <a:r>
              <a:rPr lang="es-ES" sz="1200" dirty="0">
                <a:solidFill>
                  <a:srgbClr val="C00000"/>
                </a:solidFill>
                <a:latin typeface="Arial"/>
                <a:cs typeface="Arial"/>
                <a:sym typeface="Times New Roman"/>
              </a:rPr>
              <a:t>absorción</a:t>
            </a:r>
            <a:r>
              <a:rPr lang="es-ES" sz="1200" dirty="0">
                <a:solidFill>
                  <a:srgbClr val="2C5697"/>
                </a:solidFill>
                <a:latin typeface="Arial"/>
                <a:cs typeface="Arial"/>
                <a:sym typeface="Times New Roman"/>
              </a:rPr>
              <a:t> de fotones.</a:t>
            </a:r>
            <a:endParaRPr lang="es-CO" sz="1600" dirty="0"/>
          </a:p>
        </p:txBody>
      </p:sp>
      <p:pic>
        <p:nvPicPr>
          <p:cNvPr id="4" name="Imagen 3">
            <a:extLst>
              <a:ext uri="{FF2B5EF4-FFF2-40B4-BE49-F238E27FC236}">
                <a16:creationId xmlns:a16="http://schemas.microsoft.com/office/drawing/2014/main" id="{C45F867E-11AC-4619-A9B8-5FDB197D5F23}"/>
              </a:ext>
            </a:extLst>
          </p:cNvPr>
          <p:cNvPicPr>
            <a:picLocks noChangeAspect="1"/>
          </p:cNvPicPr>
          <p:nvPr/>
        </p:nvPicPr>
        <p:blipFill>
          <a:blip r:embed="rId4"/>
          <a:stretch>
            <a:fillRect/>
          </a:stretch>
        </p:blipFill>
        <p:spPr>
          <a:xfrm>
            <a:off x="1077510" y="1073363"/>
            <a:ext cx="4842140" cy="2538475"/>
          </a:xfrm>
          <a:prstGeom prst="rect">
            <a:avLst/>
          </a:prstGeom>
        </p:spPr>
      </p:pic>
      <p:pic>
        <p:nvPicPr>
          <p:cNvPr id="5" name="Imagen 4">
            <a:extLst>
              <a:ext uri="{FF2B5EF4-FFF2-40B4-BE49-F238E27FC236}">
                <a16:creationId xmlns:a16="http://schemas.microsoft.com/office/drawing/2014/main" id="{DD1C298A-8C18-43B7-A90F-A57F3B48079A}"/>
              </a:ext>
            </a:extLst>
          </p:cNvPr>
          <p:cNvPicPr>
            <a:picLocks noChangeAspect="1"/>
          </p:cNvPicPr>
          <p:nvPr/>
        </p:nvPicPr>
        <p:blipFill>
          <a:blip r:embed="rId5"/>
          <a:stretch>
            <a:fillRect/>
          </a:stretch>
        </p:blipFill>
        <p:spPr>
          <a:xfrm>
            <a:off x="1042676" y="3875848"/>
            <a:ext cx="4765613" cy="1860859"/>
          </a:xfrm>
          <a:prstGeom prst="rect">
            <a:avLst/>
          </a:prstGeom>
        </p:spPr>
      </p:pic>
      <p:pic>
        <p:nvPicPr>
          <p:cNvPr id="8" name="Imagen 7">
            <a:extLst>
              <a:ext uri="{FF2B5EF4-FFF2-40B4-BE49-F238E27FC236}">
                <a16:creationId xmlns:a16="http://schemas.microsoft.com/office/drawing/2014/main" id="{2C82438C-5A80-FB78-638E-D0895A52A366}"/>
              </a:ext>
            </a:extLst>
          </p:cNvPr>
          <p:cNvPicPr>
            <a:picLocks noChangeAspect="1"/>
          </p:cNvPicPr>
          <p:nvPr/>
        </p:nvPicPr>
        <p:blipFill>
          <a:blip r:embed="rId6"/>
          <a:stretch>
            <a:fillRect/>
          </a:stretch>
        </p:blipFill>
        <p:spPr>
          <a:xfrm>
            <a:off x="7153835" y="606955"/>
            <a:ext cx="1778549" cy="4835259"/>
          </a:xfrm>
          <a:prstGeom prst="rect">
            <a:avLst/>
          </a:prstGeom>
          <a:ln>
            <a:solidFill>
              <a:schemeClr val="tx1"/>
            </a:solidFill>
          </a:ln>
        </p:spPr>
      </p:pic>
      <p:sp>
        <p:nvSpPr>
          <p:cNvPr id="6" name="Sol 5">
            <a:hlinkClick r:id="rId7"/>
            <a:extLst>
              <a:ext uri="{FF2B5EF4-FFF2-40B4-BE49-F238E27FC236}">
                <a16:creationId xmlns:a16="http://schemas.microsoft.com/office/drawing/2014/main" id="{E94EF2A8-45D8-98F2-792F-6D6D8A3C6041}"/>
              </a:ext>
            </a:extLst>
          </p:cNvPr>
          <p:cNvSpPr/>
          <p:nvPr/>
        </p:nvSpPr>
        <p:spPr>
          <a:xfrm>
            <a:off x="1455820" y="58644"/>
            <a:ext cx="385011" cy="370165"/>
          </a:xfrm>
          <a:prstGeom prst="su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1504507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Fotodiodos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8" name="Imagen 7">
            <a:extLst>
              <a:ext uri="{FF2B5EF4-FFF2-40B4-BE49-F238E27FC236}">
                <a16:creationId xmlns:a16="http://schemas.microsoft.com/office/drawing/2014/main" id="{A1A32C20-6AF8-4F28-A840-D69FC9DA091F}"/>
              </a:ext>
            </a:extLst>
          </p:cNvPr>
          <p:cNvPicPr>
            <a:picLocks noChangeAspect="1"/>
          </p:cNvPicPr>
          <p:nvPr/>
        </p:nvPicPr>
        <p:blipFill>
          <a:blip r:embed="rId4"/>
          <a:stretch>
            <a:fillRect/>
          </a:stretch>
        </p:blipFill>
        <p:spPr>
          <a:xfrm>
            <a:off x="364946" y="1430484"/>
            <a:ext cx="1961884" cy="2819300"/>
          </a:xfrm>
          <a:prstGeom prst="rect">
            <a:avLst/>
          </a:prstGeom>
        </p:spPr>
      </p:pic>
      <p:pic>
        <p:nvPicPr>
          <p:cNvPr id="4" name="Imagen 3">
            <a:extLst>
              <a:ext uri="{FF2B5EF4-FFF2-40B4-BE49-F238E27FC236}">
                <a16:creationId xmlns:a16="http://schemas.microsoft.com/office/drawing/2014/main" id="{967994AA-979B-08A7-2EB3-89A54531209B}"/>
              </a:ext>
            </a:extLst>
          </p:cNvPr>
          <p:cNvPicPr>
            <a:picLocks noChangeAspect="1"/>
          </p:cNvPicPr>
          <p:nvPr/>
        </p:nvPicPr>
        <p:blipFill>
          <a:blip r:embed="rId5"/>
          <a:stretch>
            <a:fillRect/>
          </a:stretch>
        </p:blipFill>
        <p:spPr>
          <a:xfrm>
            <a:off x="3331711" y="510945"/>
            <a:ext cx="5143399" cy="2157302"/>
          </a:xfrm>
          <a:prstGeom prst="rect">
            <a:avLst/>
          </a:prstGeom>
        </p:spPr>
      </p:pic>
      <p:pic>
        <p:nvPicPr>
          <p:cNvPr id="9" name="Imagen 8">
            <a:extLst>
              <a:ext uri="{FF2B5EF4-FFF2-40B4-BE49-F238E27FC236}">
                <a16:creationId xmlns:a16="http://schemas.microsoft.com/office/drawing/2014/main" id="{3914AE66-82CC-0B6C-33DD-4D53FD90AD5F}"/>
              </a:ext>
            </a:extLst>
          </p:cNvPr>
          <p:cNvPicPr>
            <a:picLocks noChangeAspect="1"/>
          </p:cNvPicPr>
          <p:nvPr/>
        </p:nvPicPr>
        <p:blipFill>
          <a:blip r:embed="rId6"/>
          <a:stretch>
            <a:fillRect/>
          </a:stretch>
        </p:blipFill>
        <p:spPr>
          <a:xfrm>
            <a:off x="3408410" y="3429000"/>
            <a:ext cx="4990003" cy="2031645"/>
          </a:xfrm>
          <a:prstGeom prst="rect">
            <a:avLst/>
          </a:prstGeom>
        </p:spPr>
      </p:pic>
    </p:spTree>
    <p:custDataLst>
      <p:tags r:id="rId1"/>
    </p:custDataLst>
    <p:extLst>
      <p:ext uri="{BB962C8B-B14F-4D97-AF65-F5344CB8AC3E}">
        <p14:creationId xmlns:p14="http://schemas.microsoft.com/office/powerpoint/2010/main" val="240232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Fotodiodos – Curvas y modelo del fotodiodo</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10" name="Imagen 9">
            <a:extLst>
              <a:ext uri="{FF2B5EF4-FFF2-40B4-BE49-F238E27FC236}">
                <a16:creationId xmlns:a16="http://schemas.microsoft.com/office/drawing/2014/main" id="{2BEF0BA5-F5C4-AB08-8C0F-D6A1F3F54B40}"/>
              </a:ext>
            </a:extLst>
          </p:cNvPr>
          <p:cNvPicPr>
            <a:picLocks noChangeAspect="1"/>
          </p:cNvPicPr>
          <p:nvPr/>
        </p:nvPicPr>
        <p:blipFill>
          <a:blip r:embed="rId4"/>
          <a:stretch>
            <a:fillRect/>
          </a:stretch>
        </p:blipFill>
        <p:spPr>
          <a:xfrm>
            <a:off x="4496566" y="3417736"/>
            <a:ext cx="4521682" cy="2311919"/>
          </a:xfrm>
          <a:prstGeom prst="rect">
            <a:avLst/>
          </a:prstGeom>
        </p:spPr>
      </p:pic>
      <p:pic>
        <p:nvPicPr>
          <p:cNvPr id="5" name="Imagen 4">
            <a:extLst>
              <a:ext uri="{FF2B5EF4-FFF2-40B4-BE49-F238E27FC236}">
                <a16:creationId xmlns:a16="http://schemas.microsoft.com/office/drawing/2014/main" id="{A41CCDF4-C4C5-AD52-95B2-88FF35E42783}"/>
              </a:ext>
            </a:extLst>
          </p:cNvPr>
          <p:cNvPicPr>
            <a:picLocks noChangeAspect="1"/>
          </p:cNvPicPr>
          <p:nvPr/>
        </p:nvPicPr>
        <p:blipFill>
          <a:blip r:embed="rId5"/>
          <a:stretch>
            <a:fillRect/>
          </a:stretch>
        </p:blipFill>
        <p:spPr>
          <a:xfrm>
            <a:off x="50318" y="450399"/>
            <a:ext cx="4281809" cy="3389976"/>
          </a:xfrm>
          <a:prstGeom prst="rect">
            <a:avLst/>
          </a:prstGeom>
        </p:spPr>
      </p:pic>
      <p:sp>
        <p:nvSpPr>
          <p:cNvPr id="11" name="Rectángulo 10">
            <a:extLst>
              <a:ext uri="{FF2B5EF4-FFF2-40B4-BE49-F238E27FC236}">
                <a16:creationId xmlns:a16="http://schemas.microsoft.com/office/drawing/2014/main" id="{607CA067-9F4D-3885-C302-F09A8FC4F680}"/>
              </a:ext>
            </a:extLst>
          </p:cNvPr>
          <p:cNvSpPr/>
          <p:nvPr/>
        </p:nvSpPr>
        <p:spPr>
          <a:xfrm>
            <a:off x="4496566" y="668046"/>
            <a:ext cx="4647434" cy="2000548"/>
          </a:xfrm>
          <a:prstGeom prst="rect">
            <a:avLst/>
          </a:prstGeom>
        </p:spPr>
        <p:txBody>
          <a:bodyPr wrap="square">
            <a:spAutoFit/>
          </a:bodyPr>
          <a:lstStyle/>
          <a:p>
            <a:r>
              <a:rPr lang="es-ES" sz="1400" dirty="0">
                <a:solidFill>
                  <a:srgbClr val="C00000"/>
                </a:solidFill>
                <a:latin typeface="Arial"/>
                <a:cs typeface="Arial"/>
                <a:sym typeface="Times New Roman"/>
              </a:rPr>
              <a:t>Zonas de funcionamiento </a:t>
            </a:r>
          </a:p>
          <a:p>
            <a:endParaRPr lang="es-ES" sz="1400" dirty="0">
              <a:solidFill>
                <a:srgbClr val="C00000"/>
              </a:solidFill>
              <a:latin typeface="Arial"/>
              <a:cs typeface="Arial"/>
              <a:sym typeface="Times New Roman"/>
            </a:endParaRPr>
          </a:p>
          <a:p>
            <a:r>
              <a:rPr lang="es-ES" sz="1200" dirty="0">
                <a:solidFill>
                  <a:srgbClr val="C00000"/>
                </a:solidFill>
                <a:latin typeface="Arial"/>
                <a:cs typeface="Arial"/>
                <a:sym typeface="Times New Roman"/>
              </a:rPr>
              <a:t>Cortocircuito: </a:t>
            </a:r>
            <a:r>
              <a:rPr lang="es-ES" sz="1200" dirty="0">
                <a:solidFill>
                  <a:srgbClr val="2C5697"/>
                </a:solidFill>
                <a:latin typeface="Arial"/>
                <a:cs typeface="Arial"/>
                <a:sym typeface="Times New Roman"/>
              </a:rPr>
              <a:t>la tensión en el dispositivo es nula y la corriente depende de la luz incidente</a:t>
            </a:r>
          </a:p>
          <a:p>
            <a:endParaRPr lang="es-ES" sz="1200" dirty="0">
              <a:solidFill>
                <a:srgbClr val="C00000"/>
              </a:solidFill>
              <a:latin typeface="Arial"/>
              <a:cs typeface="Arial"/>
              <a:sym typeface="Times New Roman"/>
            </a:endParaRPr>
          </a:p>
          <a:p>
            <a:r>
              <a:rPr lang="es-ES" sz="1200" dirty="0">
                <a:solidFill>
                  <a:srgbClr val="C00000"/>
                </a:solidFill>
                <a:latin typeface="Arial"/>
                <a:cs typeface="Arial"/>
                <a:sym typeface="Times New Roman"/>
              </a:rPr>
              <a:t>Tensión inversa: </a:t>
            </a:r>
            <a:r>
              <a:rPr lang="es-ES" sz="1200" dirty="0">
                <a:solidFill>
                  <a:srgbClr val="2C5697"/>
                </a:solidFill>
                <a:latin typeface="Arial"/>
                <a:cs typeface="Arial"/>
                <a:sym typeface="Times New Roman"/>
              </a:rPr>
              <a:t>si aplicamos tensión inversa, la corriente será lineal con la luz incidente</a:t>
            </a:r>
          </a:p>
          <a:p>
            <a:endParaRPr lang="es-ES" sz="1200" dirty="0">
              <a:solidFill>
                <a:srgbClr val="C00000"/>
              </a:solidFill>
              <a:latin typeface="Arial"/>
              <a:cs typeface="Arial"/>
              <a:sym typeface="Times New Roman"/>
            </a:endParaRPr>
          </a:p>
          <a:p>
            <a:r>
              <a:rPr lang="es-ES" sz="1200" dirty="0">
                <a:solidFill>
                  <a:srgbClr val="C00000"/>
                </a:solidFill>
                <a:latin typeface="Arial"/>
                <a:cs typeface="Arial"/>
                <a:sym typeface="Times New Roman"/>
              </a:rPr>
              <a:t>Avalancha: </a:t>
            </a:r>
            <a:r>
              <a:rPr lang="es-ES" sz="1200" dirty="0">
                <a:solidFill>
                  <a:srgbClr val="2C5697"/>
                </a:solidFill>
                <a:latin typeface="Arial"/>
                <a:cs typeface="Arial"/>
                <a:sym typeface="Times New Roman"/>
              </a:rPr>
              <a:t>fuerte aumento de la ganancia para aumentar sensibilidad (si el dispositivo lo permite)</a:t>
            </a:r>
            <a:endParaRPr lang="es-CO" sz="1200" dirty="0"/>
          </a:p>
        </p:txBody>
      </p:sp>
    </p:spTree>
    <p:custDataLst>
      <p:tags r:id="rId1"/>
    </p:custDataLst>
    <p:extLst>
      <p:ext uri="{BB962C8B-B14F-4D97-AF65-F5344CB8AC3E}">
        <p14:creationId xmlns:p14="http://schemas.microsoft.com/office/powerpoint/2010/main" val="3868177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Fototransistores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4" name="Imagen 3">
            <a:extLst>
              <a:ext uri="{FF2B5EF4-FFF2-40B4-BE49-F238E27FC236}">
                <a16:creationId xmlns:a16="http://schemas.microsoft.com/office/drawing/2014/main" id="{BB481289-64B2-A69F-7436-49842CF5B2B9}"/>
              </a:ext>
            </a:extLst>
          </p:cNvPr>
          <p:cNvPicPr>
            <a:picLocks noChangeAspect="1"/>
          </p:cNvPicPr>
          <p:nvPr/>
        </p:nvPicPr>
        <p:blipFill>
          <a:blip r:embed="rId4"/>
          <a:stretch>
            <a:fillRect/>
          </a:stretch>
        </p:blipFill>
        <p:spPr>
          <a:xfrm>
            <a:off x="422407" y="907634"/>
            <a:ext cx="4149593" cy="1932086"/>
          </a:xfrm>
          <a:prstGeom prst="rect">
            <a:avLst/>
          </a:prstGeom>
        </p:spPr>
      </p:pic>
      <p:pic>
        <p:nvPicPr>
          <p:cNvPr id="6" name="Imagen 5">
            <a:extLst>
              <a:ext uri="{FF2B5EF4-FFF2-40B4-BE49-F238E27FC236}">
                <a16:creationId xmlns:a16="http://schemas.microsoft.com/office/drawing/2014/main" id="{C64323FE-44C6-0A13-43A5-D3A7A6D12265}"/>
              </a:ext>
            </a:extLst>
          </p:cNvPr>
          <p:cNvPicPr>
            <a:picLocks noChangeAspect="1"/>
          </p:cNvPicPr>
          <p:nvPr/>
        </p:nvPicPr>
        <p:blipFill>
          <a:blip r:embed="rId5"/>
          <a:stretch>
            <a:fillRect/>
          </a:stretch>
        </p:blipFill>
        <p:spPr>
          <a:xfrm>
            <a:off x="261463" y="3273910"/>
            <a:ext cx="4951111" cy="2134505"/>
          </a:xfrm>
          <a:prstGeom prst="rect">
            <a:avLst/>
          </a:prstGeom>
        </p:spPr>
      </p:pic>
      <p:pic>
        <p:nvPicPr>
          <p:cNvPr id="1026" name="Picture 2" descr="Sensor óptico reflectivo Infrarrojo TCRT5000L - Electronilab">
            <a:extLst>
              <a:ext uri="{FF2B5EF4-FFF2-40B4-BE49-F238E27FC236}">
                <a16:creationId xmlns:a16="http://schemas.microsoft.com/office/drawing/2014/main" id="{F7AC8C10-FC75-C172-A6CB-C6D9D79269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9467" y="290519"/>
            <a:ext cx="1125408" cy="11254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942C285-6A34-30AE-DCFE-A2336A3E60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4874" y="1025090"/>
            <a:ext cx="1985419" cy="198541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liable Detection  of Clear Bottles">
            <a:extLst>
              <a:ext uri="{FF2B5EF4-FFF2-40B4-BE49-F238E27FC236}">
                <a16:creationId xmlns:a16="http://schemas.microsoft.com/office/drawing/2014/main" id="{5514E9F1-8B3C-38E9-0457-715E618F0F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8112" y="3334643"/>
            <a:ext cx="1533525" cy="153352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C116DD58-DE32-CFF3-8AB1-F853CBCD9AF8}"/>
              </a:ext>
            </a:extLst>
          </p:cNvPr>
          <p:cNvSpPr txBox="1"/>
          <p:nvPr/>
        </p:nvSpPr>
        <p:spPr>
          <a:xfrm>
            <a:off x="6059874" y="5171890"/>
            <a:ext cx="2886892" cy="200055"/>
          </a:xfrm>
          <a:prstGeom prst="rect">
            <a:avLst/>
          </a:prstGeom>
          <a:noFill/>
        </p:spPr>
        <p:txBody>
          <a:bodyPr wrap="square">
            <a:spAutoFit/>
          </a:bodyPr>
          <a:lstStyle/>
          <a:p>
            <a:r>
              <a:rPr lang="es-ES" sz="700" dirty="0">
                <a:latin typeface="Arial"/>
                <a:sym typeface="Times New Roman"/>
              </a:rPr>
              <a:t>Fuente: https://www.pepperl-fuchs.com/spain/es/35568.htm</a:t>
            </a:r>
            <a:endParaRPr lang="es-MX" sz="700" dirty="0">
              <a:latin typeface="Arial"/>
            </a:endParaRPr>
          </a:p>
        </p:txBody>
      </p:sp>
    </p:spTree>
    <p:custDataLst>
      <p:tags r:id="rId1"/>
    </p:custDataLst>
    <p:extLst>
      <p:ext uri="{BB962C8B-B14F-4D97-AF65-F5344CB8AC3E}">
        <p14:creationId xmlns:p14="http://schemas.microsoft.com/office/powerpoint/2010/main" val="2882634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Circuitos de acondicionamiento</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4" name="Imagen 3">
            <a:extLst>
              <a:ext uri="{FF2B5EF4-FFF2-40B4-BE49-F238E27FC236}">
                <a16:creationId xmlns:a16="http://schemas.microsoft.com/office/drawing/2014/main" id="{6CA4B4AC-6084-0499-021A-884145BEAE8B}"/>
              </a:ext>
            </a:extLst>
          </p:cNvPr>
          <p:cNvPicPr>
            <a:picLocks noChangeAspect="1"/>
          </p:cNvPicPr>
          <p:nvPr/>
        </p:nvPicPr>
        <p:blipFill>
          <a:blip r:embed="rId4"/>
          <a:stretch>
            <a:fillRect/>
          </a:stretch>
        </p:blipFill>
        <p:spPr>
          <a:xfrm>
            <a:off x="261463" y="806736"/>
            <a:ext cx="4590423" cy="1528295"/>
          </a:xfrm>
          <a:prstGeom prst="rect">
            <a:avLst/>
          </a:prstGeom>
        </p:spPr>
      </p:pic>
      <p:pic>
        <p:nvPicPr>
          <p:cNvPr id="9" name="Imagen 8">
            <a:extLst>
              <a:ext uri="{FF2B5EF4-FFF2-40B4-BE49-F238E27FC236}">
                <a16:creationId xmlns:a16="http://schemas.microsoft.com/office/drawing/2014/main" id="{549EECA4-B884-B4AB-33CB-F56D25644F9F}"/>
              </a:ext>
            </a:extLst>
          </p:cNvPr>
          <p:cNvPicPr>
            <a:picLocks noChangeAspect="1"/>
          </p:cNvPicPr>
          <p:nvPr/>
        </p:nvPicPr>
        <p:blipFill>
          <a:blip r:embed="rId5"/>
          <a:stretch>
            <a:fillRect/>
          </a:stretch>
        </p:blipFill>
        <p:spPr>
          <a:xfrm>
            <a:off x="197234" y="3383319"/>
            <a:ext cx="4377223" cy="2357767"/>
          </a:xfrm>
          <a:prstGeom prst="rect">
            <a:avLst/>
          </a:prstGeom>
        </p:spPr>
      </p:pic>
      <p:pic>
        <p:nvPicPr>
          <p:cNvPr id="6" name="Imagen 5">
            <a:extLst>
              <a:ext uri="{FF2B5EF4-FFF2-40B4-BE49-F238E27FC236}">
                <a16:creationId xmlns:a16="http://schemas.microsoft.com/office/drawing/2014/main" id="{D2F0FDC3-8A63-4EBF-689A-A4FFB42C82E1}"/>
              </a:ext>
            </a:extLst>
          </p:cNvPr>
          <p:cNvPicPr>
            <a:picLocks noChangeAspect="1"/>
          </p:cNvPicPr>
          <p:nvPr/>
        </p:nvPicPr>
        <p:blipFill>
          <a:blip r:embed="rId6"/>
          <a:stretch>
            <a:fillRect/>
          </a:stretch>
        </p:blipFill>
        <p:spPr>
          <a:xfrm>
            <a:off x="4449363" y="2110106"/>
            <a:ext cx="4497403" cy="2182485"/>
          </a:xfrm>
          <a:prstGeom prst="rect">
            <a:avLst/>
          </a:prstGeom>
        </p:spPr>
      </p:pic>
    </p:spTree>
    <p:custDataLst>
      <p:tags r:id="rId1"/>
    </p:custDataLst>
    <p:extLst>
      <p:ext uri="{BB962C8B-B14F-4D97-AF65-F5344CB8AC3E}">
        <p14:creationId xmlns:p14="http://schemas.microsoft.com/office/powerpoint/2010/main" val="330624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Tubos fotomultiplicadores TFM</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4" name="Imagen 3">
            <a:extLst>
              <a:ext uri="{FF2B5EF4-FFF2-40B4-BE49-F238E27FC236}">
                <a16:creationId xmlns:a16="http://schemas.microsoft.com/office/drawing/2014/main" id="{B5E59553-9F28-038D-8BE7-89E72357DFCF}"/>
              </a:ext>
            </a:extLst>
          </p:cNvPr>
          <p:cNvPicPr>
            <a:picLocks noChangeAspect="1"/>
          </p:cNvPicPr>
          <p:nvPr/>
        </p:nvPicPr>
        <p:blipFill>
          <a:blip r:embed="rId4"/>
          <a:stretch>
            <a:fillRect/>
          </a:stretch>
        </p:blipFill>
        <p:spPr>
          <a:xfrm>
            <a:off x="4681695" y="606955"/>
            <a:ext cx="4265071" cy="2123223"/>
          </a:xfrm>
          <a:prstGeom prst="rect">
            <a:avLst/>
          </a:prstGeom>
        </p:spPr>
      </p:pic>
      <p:sp>
        <p:nvSpPr>
          <p:cNvPr id="5" name="Rectángulo 4">
            <a:extLst>
              <a:ext uri="{FF2B5EF4-FFF2-40B4-BE49-F238E27FC236}">
                <a16:creationId xmlns:a16="http://schemas.microsoft.com/office/drawing/2014/main" id="{FF71F1CE-C7F1-DE6D-7673-A78A87615C9D}"/>
              </a:ext>
            </a:extLst>
          </p:cNvPr>
          <p:cNvSpPr/>
          <p:nvPr/>
        </p:nvSpPr>
        <p:spPr>
          <a:xfrm>
            <a:off x="90028" y="628397"/>
            <a:ext cx="5483457" cy="1569660"/>
          </a:xfrm>
          <a:prstGeom prst="rect">
            <a:avLst/>
          </a:prstGeom>
        </p:spPr>
        <p:txBody>
          <a:bodyPr wrap="square">
            <a:spAutoFit/>
          </a:bodyPr>
          <a:lstStyle/>
          <a:p>
            <a:r>
              <a:rPr lang="es-ES" sz="1200" dirty="0">
                <a:solidFill>
                  <a:srgbClr val="2C5697"/>
                </a:solidFill>
                <a:latin typeface="Arial"/>
                <a:cs typeface="Arial"/>
                <a:sym typeface="Times New Roman"/>
              </a:rPr>
              <a:t>Cuando la luz incide sobre un material conductor es posible que pueda arrancar electrones (</a:t>
            </a:r>
            <a:r>
              <a:rPr lang="es-ES" sz="1200" dirty="0">
                <a:solidFill>
                  <a:srgbClr val="C00000"/>
                </a:solidFill>
                <a:latin typeface="Arial"/>
                <a:cs typeface="Arial"/>
                <a:sym typeface="Times New Roman"/>
              </a:rPr>
              <a:t>efecto fotoeléctrico</a:t>
            </a:r>
            <a:r>
              <a:rPr lang="es-ES" sz="1200" dirty="0">
                <a:solidFill>
                  <a:srgbClr val="2C5697"/>
                </a:solidFill>
                <a:latin typeface="Arial"/>
                <a:cs typeface="Arial"/>
                <a:sym typeface="Times New Roman"/>
              </a:rPr>
              <a:t>). </a:t>
            </a:r>
          </a:p>
          <a:p>
            <a:endParaRPr lang="es-ES" sz="1200" dirty="0">
              <a:solidFill>
                <a:srgbClr val="2C5697"/>
              </a:solidFill>
              <a:latin typeface="Arial"/>
              <a:cs typeface="Arial"/>
              <a:sym typeface="Times New Roman"/>
            </a:endParaRPr>
          </a:p>
          <a:p>
            <a:r>
              <a:rPr lang="es-ES" sz="1200" dirty="0">
                <a:solidFill>
                  <a:srgbClr val="C00000"/>
                </a:solidFill>
                <a:latin typeface="Arial"/>
                <a:cs typeface="Arial"/>
                <a:sym typeface="Times New Roman"/>
              </a:rPr>
              <a:t>TFM</a:t>
            </a:r>
            <a:r>
              <a:rPr lang="es-ES" sz="1200" dirty="0">
                <a:solidFill>
                  <a:srgbClr val="2C5697"/>
                </a:solidFill>
                <a:latin typeface="Arial"/>
                <a:cs typeface="Arial"/>
                <a:sym typeface="Times New Roman"/>
              </a:rPr>
              <a:t>: tubo al vacío que dispone de un </a:t>
            </a:r>
            <a:r>
              <a:rPr lang="es-ES" sz="1200" dirty="0">
                <a:solidFill>
                  <a:srgbClr val="C00000"/>
                </a:solidFill>
                <a:latin typeface="Arial"/>
                <a:cs typeface="Arial"/>
                <a:sym typeface="Times New Roman"/>
              </a:rPr>
              <a:t>fotocátodo</a:t>
            </a:r>
            <a:r>
              <a:rPr lang="es-ES" sz="1200" dirty="0">
                <a:solidFill>
                  <a:srgbClr val="2C5697"/>
                </a:solidFill>
                <a:latin typeface="Arial"/>
                <a:cs typeface="Arial"/>
                <a:sym typeface="Times New Roman"/>
              </a:rPr>
              <a:t> que recoge la luz para emitir electrones. El siguiente </a:t>
            </a:r>
            <a:r>
              <a:rPr lang="es-ES" sz="1200" dirty="0">
                <a:solidFill>
                  <a:srgbClr val="C00000"/>
                </a:solidFill>
                <a:latin typeface="Arial"/>
                <a:cs typeface="Arial"/>
                <a:sym typeface="Times New Roman"/>
              </a:rPr>
              <a:t>electrodo</a:t>
            </a:r>
            <a:r>
              <a:rPr lang="es-ES" sz="1200" dirty="0">
                <a:solidFill>
                  <a:srgbClr val="2C5697"/>
                </a:solidFill>
                <a:latin typeface="Arial"/>
                <a:cs typeface="Arial"/>
                <a:sym typeface="Times New Roman"/>
              </a:rPr>
              <a:t> está polarizado + respecto al fotocátodo, luego este acelerará los electrones hasta que impacten sobre él y provoquen una </a:t>
            </a:r>
            <a:r>
              <a:rPr lang="es-ES" sz="1200" dirty="0">
                <a:solidFill>
                  <a:srgbClr val="C00000"/>
                </a:solidFill>
                <a:latin typeface="Arial"/>
                <a:cs typeface="Arial"/>
                <a:sym typeface="Times New Roman"/>
              </a:rPr>
              <a:t>emisión secundaria</a:t>
            </a:r>
            <a:r>
              <a:rPr lang="es-ES" sz="1200" dirty="0">
                <a:solidFill>
                  <a:srgbClr val="2C5697"/>
                </a:solidFill>
                <a:latin typeface="Arial"/>
                <a:cs typeface="Arial"/>
                <a:sym typeface="Times New Roman"/>
              </a:rPr>
              <a:t>. El proceso se repite con un </a:t>
            </a:r>
            <a:r>
              <a:rPr lang="es-ES" sz="1200" dirty="0">
                <a:solidFill>
                  <a:srgbClr val="C00000"/>
                </a:solidFill>
                <a:latin typeface="Arial"/>
                <a:cs typeface="Arial"/>
                <a:sym typeface="Times New Roman"/>
              </a:rPr>
              <a:t>tercer electrodo </a:t>
            </a:r>
            <a:r>
              <a:rPr lang="es-ES" sz="1200" dirty="0">
                <a:solidFill>
                  <a:srgbClr val="2C5697"/>
                </a:solidFill>
                <a:latin typeface="Arial"/>
                <a:cs typeface="Arial"/>
                <a:sym typeface="Times New Roman"/>
              </a:rPr>
              <a:t>y así sucesivamente.</a:t>
            </a:r>
            <a:endParaRPr lang="es-CO" dirty="0"/>
          </a:p>
        </p:txBody>
      </p:sp>
      <p:pic>
        <p:nvPicPr>
          <p:cNvPr id="8" name="Imagen 7">
            <a:extLst>
              <a:ext uri="{FF2B5EF4-FFF2-40B4-BE49-F238E27FC236}">
                <a16:creationId xmlns:a16="http://schemas.microsoft.com/office/drawing/2014/main" id="{481FEB7B-5BC5-EF10-1528-B77A35654965}"/>
              </a:ext>
            </a:extLst>
          </p:cNvPr>
          <p:cNvPicPr>
            <a:picLocks noChangeAspect="1"/>
          </p:cNvPicPr>
          <p:nvPr/>
        </p:nvPicPr>
        <p:blipFill>
          <a:blip r:embed="rId5"/>
          <a:stretch>
            <a:fillRect/>
          </a:stretch>
        </p:blipFill>
        <p:spPr>
          <a:xfrm>
            <a:off x="1975751" y="3123877"/>
            <a:ext cx="5192497" cy="2577615"/>
          </a:xfrm>
          <a:prstGeom prst="rect">
            <a:avLst/>
          </a:prstGeom>
        </p:spPr>
      </p:pic>
    </p:spTree>
    <p:custDataLst>
      <p:tags r:id="rId1"/>
    </p:custDataLst>
    <p:extLst>
      <p:ext uri="{BB962C8B-B14F-4D97-AF65-F5344CB8AC3E}">
        <p14:creationId xmlns:p14="http://schemas.microsoft.com/office/powerpoint/2010/main" val="1317150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Tubos fotomultiplicadores TFM</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9" name="Picture 2" descr="Tubos fotomultiplicadores: ¿Qué multiplican?">
            <a:extLst>
              <a:ext uri="{FF2B5EF4-FFF2-40B4-BE49-F238E27FC236}">
                <a16:creationId xmlns:a16="http://schemas.microsoft.com/office/drawing/2014/main" id="{7631746F-C5C8-7A53-F166-CF2FA9F4A3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9443" y="527809"/>
            <a:ext cx="4765113" cy="239662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32">
            <a:extLst>
              <a:ext uri="{FF2B5EF4-FFF2-40B4-BE49-F238E27FC236}">
                <a16:creationId xmlns:a16="http://schemas.microsoft.com/office/drawing/2014/main" id="{E5E8711F-7B83-A226-721A-377AB47D23BF}"/>
              </a:ext>
            </a:extLst>
          </p:cNvPr>
          <p:cNvSpPr txBox="1"/>
          <p:nvPr/>
        </p:nvSpPr>
        <p:spPr>
          <a:xfrm>
            <a:off x="3891974" y="2933787"/>
            <a:ext cx="3216913"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https://www.anahuac.mx/mexico/noticias/Tubos-fotomultiplicadores</a:t>
            </a:r>
            <a:endParaRPr lang="en-US" sz="700" dirty="0">
              <a:cs typeface="Calibri"/>
            </a:endParaRPr>
          </a:p>
        </p:txBody>
      </p:sp>
      <p:pic>
        <p:nvPicPr>
          <p:cNvPr id="6" name="Imagen 5">
            <a:extLst>
              <a:ext uri="{FF2B5EF4-FFF2-40B4-BE49-F238E27FC236}">
                <a16:creationId xmlns:a16="http://schemas.microsoft.com/office/drawing/2014/main" id="{8917CA2B-5150-58B0-D1E8-783A2A570A6E}"/>
              </a:ext>
            </a:extLst>
          </p:cNvPr>
          <p:cNvPicPr>
            <a:picLocks noChangeAspect="1"/>
          </p:cNvPicPr>
          <p:nvPr/>
        </p:nvPicPr>
        <p:blipFill>
          <a:blip r:embed="rId5"/>
          <a:stretch>
            <a:fillRect/>
          </a:stretch>
        </p:blipFill>
        <p:spPr>
          <a:xfrm>
            <a:off x="2021266" y="3358389"/>
            <a:ext cx="5320059" cy="2339046"/>
          </a:xfrm>
          <a:prstGeom prst="rect">
            <a:avLst/>
          </a:prstGeom>
        </p:spPr>
      </p:pic>
    </p:spTree>
    <p:custDataLst>
      <p:tags r:id="rId1"/>
    </p:custDataLst>
    <p:extLst>
      <p:ext uri="{BB962C8B-B14F-4D97-AF65-F5344CB8AC3E}">
        <p14:creationId xmlns:p14="http://schemas.microsoft.com/office/powerpoint/2010/main" val="312423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mediante luz</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38903" y="5885920"/>
            <a:ext cx="45477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B003AF4A-C727-CBB5-76F9-6E839CED1AD9}"/>
              </a:ext>
            </a:extLst>
          </p:cNvPr>
          <p:cNvSpPr/>
          <p:nvPr/>
        </p:nvSpPr>
        <p:spPr>
          <a:xfrm>
            <a:off x="49292" y="575032"/>
            <a:ext cx="8897217" cy="276999"/>
          </a:xfrm>
          <a:prstGeom prst="rect">
            <a:avLst/>
          </a:prstGeom>
        </p:spPr>
        <p:txBody>
          <a:bodyPr wrap="square">
            <a:spAutoFit/>
          </a:bodyPr>
          <a:lstStyle/>
          <a:p>
            <a:r>
              <a:rPr lang="es-ES" sz="1200" dirty="0">
                <a:solidFill>
                  <a:srgbClr val="2C5697"/>
                </a:solidFill>
                <a:latin typeface="Arial"/>
                <a:cs typeface="Arial"/>
                <a:sym typeface="Times New Roman"/>
              </a:rPr>
              <a:t>Una medida común es la velocidad de </a:t>
            </a:r>
            <a:r>
              <a:rPr lang="es-ES" sz="1200" dirty="0">
                <a:solidFill>
                  <a:srgbClr val="C00000"/>
                </a:solidFill>
                <a:latin typeface="Arial"/>
                <a:cs typeface="Arial"/>
                <a:sym typeface="Times New Roman"/>
              </a:rPr>
              <a:t>rotación</a:t>
            </a:r>
            <a:r>
              <a:rPr lang="es-ES" sz="1200" dirty="0">
                <a:solidFill>
                  <a:srgbClr val="2C5697"/>
                </a:solidFill>
                <a:latin typeface="Arial"/>
                <a:cs typeface="Arial"/>
                <a:sym typeface="Times New Roman"/>
              </a:rPr>
              <a:t> de ejes, para controlar </a:t>
            </a:r>
            <a:r>
              <a:rPr lang="es-ES" sz="1200" dirty="0">
                <a:solidFill>
                  <a:srgbClr val="C00000"/>
                </a:solidFill>
                <a:latin typeface="Arial"/>
                <a:cs typeface="Arial"/>
                <a:sym typeface="Times New Roman"/>
              </a:rPr>
              <a:t>velocidad</a:t>
            </a:r>
            <a:r>
              <a:rPr lang="es-ES" sz="1200" dirty="0">
                <a:solidFill>
                  <a:srgbClr val="2C5697"/>
                </a:solidFill>
                <a:latin typeface="Arial"/>
                <a:cs typeface="Arial"/>
                <a:sym typeface="Times New Roman"/>
              </a:rPr>
              <a:t> y </a:t>
            </a:r>
            <a:r>
              <a:rPr lang="es-ES" sz="1200" dirty="0">
                <a:solidFill>
                  <a:srgbClr val="C00000"/>
                </a:solidFill>
                <a:latin typeface="Arial"/>
                <a:cs typeface="Arial"/>
                <a:sym typeface="Times New Roman"/>
              </a:rPr>
              <a:t>posición</a:t>
            </a:r>
            <a:r>
              <a:rPr lang="es-ES" sz="1200" dirty="0">
                <a:solidFill>
                  <a:srgbClr val="2C5697"/>
                </a:solidFill>
                <a:latin typeface="Arial"/>
                <a:cs typeface="Arial"/>
                <a:sym typeface="Times New Roman"/>
              </a:rPr>
              <a:t> en la industria y robótica.</a:t>
            </a:r>
            <a:endParaRPr lang="es-CO" dirty="0"/>
          </a:p>
        </p:txBody>
      </p:sp>
      <p:pic>
        <p:nvPicPr>
          <p:cNvPr id="5" name="Imagen 4">
            <a:extLst>
              <a:ext uri="{FF2B5EF4-FFF2-40B4-BE49-F238E27FC236}">
                <a16:creationId xmlns:a16="http://schemas.microsoft.com/office/drawing/2014/main" id="{579F39A8-D86E-5307-63CF-AC7605568363}"/>
              </a:ext>
            </a:extLst>
          </p:cNvPr>
          <p:cNvPicPr>
            <a:picLocks noChangeAspect="1"/>
          </p:cNvPicPr>
          <p:nvPr/>
        </p:nvPicPr>
        <p:blipFill>
          <a:blip r:embed="rId4"/>
          <a:stretch>
            <a:fillRect/>
          </a:stretch>
        </p:blipFill>
        <p:spPr>
          <a:xfrm>
            <a:off x="1494564" y="1419551"/>
            <a:ext cx="5958637" cy="3682310"/>
          </a:xfrm>
          <a:prstGeom prst="rect">
            <a:avLst/>
          </a:prstGeom>
        </p:spPr>
      </p:pic>
    </p:spTree>
    <p:custDataLst>
      <p:tags r:id="rId1"/>
    </p:custDataLst>
    <p:extLst>
      <p:ext uri="{BB962C8B-B14F-4D97-AF65-F5344CB8AC3E}">
        <p14:creationId xmlns:p14="http://schemas.microsoft.com/office/powerpoint/2010/main" val="3581315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mediante luz</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9" name="Imagen 8">
            <a:extLst>
              <a:ext uri="{FF2B5EF4-FFF2-40B4-BE49-F238E27FC236}">
                <a16:creationId xmlns:a16="http://schemas.microsoft.com/office/drawing/2014/main" id="{285D1978-E4AF-B530-6FED-07278448A0C7}"/>
              </a:ext>
            </a:extLst>
          </p:cNvPr>
          <p:cNvPicPr>
            <a:picLocks noChangeAspect="1"/>
          </p:cNvPicPr>
          <p:nvPr/>
        </p:nvPicPr>
        <p:blipFill>
          <a:blip r:embed="rId4"/>
          <a:stretch>
            <a:fillRect/>
          </a:stretch>
        </p:blipFill>
        <p:spPr>
          <a:xfrm>
            <a:off x="4040777" y="3524920"/>
            <a:ext cx="5052905" cy="2277112"/>
          </a:xfrm>
          <a:prstGeom prst="rect">
            <a:avLst/>
          </a:prstGeom>
        </p:spPr>
      </p:pic>
      <p:pic>
        <p:nvPicPr>
          <p:cNvPr id="6" name="Imagen 5">
            <a:extLst>
              <a:ext uri="{FF2B5EF4-FFF2-40B4-BE49-F238E27FC236}">
                <a16:creationId xmlns:a16="http://schemas.microsoft.com/office/drawing/2014/main" id="{14E116AA-018E-6852-88A5-0DCF0F6E92B3}"/>
              </a:ext>
            </a:extLst>
          </p:cNvPr>
          <p:cNvPicPr>
            <a:picLocks noChangeAspect="1"/>
          </p:cNvPicPr>
          <p:nvPr/>
        </p:nvPicPr>
        <p:blipFill>
          <a:blip r:embed="rId5"/>
          <a:stretch>
            <a:fillRect/>
          </a:stretch>
        </p:blipFill>
        <p:spPr>
          <a:xfrm>
            <a:off x="50318" y="378350"/>
            <a:ext cx="4577941" cy="3520655"/>
          </a:xfrm>
          <a:prstGeom prst="rect">
            <a:avLst/>
          </a:prstGeom>
        </p:spPr>
      </p:pic>
      <p:sp>
        <p:nvSpPr>
          <p:cNvPr id="10" name="Rectángulo 9">
            <a:extLst>
              <a:ext uri="{FF2B5EF4-FFF2-40B4-BE49-F238E27FC236}">
                <a16:creationId xmlns:a16="http://schemas.microsoft.com/office/drawing/2014/main" id="{C130F6D3-0521-2D07-D342-26EECE5FB29A}"/>
              </a:ext>
            </a:extLst>
          </p:cNvPr>
          <p:cNvSpPr/>
          <p:nvPr/>
        </p:nvSpPr>
        <p:spPr>
          <a:xfrm>
            <a:off x="5181600" y="1311683"/>
            <a:ext cx="3912081" cy="461665"/>
          </a:xfrm>
          <a:prstGeom prst="rect">
            <a:avLst/>
          </a:prstGeom>
        </p:spPr>
        <p:txBody>
          <a:bodyPr wrap="square">
            <a:spAutoFit/>
          </a:bodyPr>
          <a:lstStyle/>
          <a:p>
            <a:r>
              <a:rPr lang="es-ES" sz="1200" dirty="0">
                <a:solidFill>
                  <a:srgbClr val="2C5697"/>
                </a:solidFill>
                <a:latin typeface="Arial"/>
                <a:cs typeface="Arial"/>
                <a:sym typeface="Times New Roman"/>
              </a:rPr>
              <a:t>Otras medidas incluyen: </a:t>
            </a:r>
            <a:r>
              <a:rPr lang="es-ES" sz="1200" dirty="0">
                <a:solidFill>
                  <a:srgbClr val="C00000"/>
                </a:solidFill>
                <a:latin typeface="Arial"/>
                <a:cs typeface="Arial"/>
                <a:sym typeface="Times New Roman"/>
              </a:rPr>
              <a:t>luz</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color</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turbidez</a:t>
            </a:r>
            <a:r>
              <a:rPr lang="es-ES" sz="1200" dirty="0">
                <a:solidFill>
                  <a:srgbClr val="2C5697"/>
                </a:solidFill>
                <a:latin typeface="Arial"/>
                <a:cs typeface="Arial"/>
                <a:sym typeface="Times New Roman"/>
              </a:rPr>
              <a:t>, recuento de partículas, detección de humo etc.</a:t>
            </a:r>
            <a:endParaRPr lang="es-CO" dirty="0"/>
          </a:p>
        </p:txBody>
      </p:sp>
    </p:spTree>
    <p:custDataLst>
      <p:tags r:id="rId1"/>
    </p:custDataLst>
    <p:extLst>
      <p:ext uri="{BB962C8B-B14F-4D97-AF65-F5344CB8AC3E}">
        <p14:creationId xmlns:p14="http://schemas.microsoft.com/office/powerpoint/2010/main" val="3768432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mediante luz</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34699" y="5885920"/>
            <a:ext cx="358983"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B003AF4A-C727-CBB5-76F9-6E839CED1AD9}"/>
              </a:ext>
            </a:extLst>
          </p:cNvPr>
          <p:cNvSpPr/>
          <p:nvPr/>
        </p:nvSpPr>
        <p:spPr>
          <a:xfrm>
            <a:off x="5181600" y="1311683"/>
            <a:ext cx="3842741" cy="461665"/>
          </a:xfrm>
          <a:prstGeom prst="rect">
            <a:avLst/>
          </a:prstGeom>
        </p:spPr>
        <p:txBody>
          <a:bodyPr wrap="square">
            <a:spAutoFit/>
          </a:bodyPr>
          <a:lstStyle/>
          <a:p>
            <a:r>
              <a:rPr lang="es-ES" sz="1200" dirty="0">
                <a:solidFill>
                  <a:srgbClr val="2C5697"/>
                </a:solidFill>
                <a:latin typeface="Arial"/>
                <a:cs typeface="Arial"/>
                <a:sym typeface="Times New Roman"/>
              </a:rPr>
              <a:t>Otras medidas incluyen: luz, color, turbidez, </a:t>
            </a:r>
            <a:r>
              <a:rPr lang="es-ES" sz="1200" dirty="0">
                <a:solidFill>
                  <a:srgbClr val="C00000"/>
                </a:solidFill>
                <a:latin typeface="Arial"/>
                <a:cs typeface="Arial"/>
                <a:sym typeface="Times New Roman"/>
              </a:rPr>
              <a:t>recuento de partículas</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detección de humo</a:t>
            </a:r>
            <a:r>
              <a:rPr lang="es-ES" sz="1200" dirty="0">
                <a:solidFill>
                  <a:srgbClr val="2C5697"/>
                </a:solidFill>
                <a:latin typeface="Arial"/>
                <a:cs typeface="Arial"/>
                <a:sym typeface="Times New Roman"/>
              </a:rPr>
              <a:t> etc.</a:t>
            </a:r>
            <a:endParaRPr lang="es-CO" dirty="0"/>
          </a:p>
        </p:txBody>
      </p:sp>
      <p:pic>
        <p:nvPicPr>
          <p:cNvPr id="10" name="Imagen 9">
            <a:extLst>
              <a:ext uri="{FF2B5EF4-FFF2-40B4-BE49-F238E27FC236}">
                <a16:creationId xmlns:a16="http://schemas.microsoft.com/office/drawing/2014/main" id="{D2B4BA6F-0552-65BB-B554-EBB96E395967}"/>
              </a:ext>
            </a:extLst>
          </p:cNvPr>
          <p:cNvPicPr>
            <a:picLocks noChangeAspect="1"/>
          </p:cNvPicPr>
          <p:nvPr/>
        </p:nvPicPr>
        <p:blipFill>
          <a:blip r:embed="rId4"/>
          <a:stretch>
            <a:fillRect/>
          </a:stretch>
        </p:blipFill>
        <p:spPr>
          <a:xfrm>
            <a:off x="4055487" y="2956704"/>
            <a:ext cx="5038195" cy="2830245"/>
          </a:xfrm>
          <a:prstGeom prst="rect">
            <a:avLst/>
          </a:prstGeom>
        </p:spPr>
      </p:pic>
      <p:pic>
        <p:nvPicPr>
          <p:cNvPr id="5" name="Imagen 4">
            <a:extLst>
              <a:ext uri="{FF2B5EF4-FFF2-40B4-BE49-F238E27FC236}">
                <a16:creationId xmlns:a16="http://schemas.microsoft.com/office/drawing/2014/main" id="{EF18F5AE-A0A5-8193-9622-9A09FD586E3D}"/>
              </a:ext>
            </a:extLst>
          </p:cNvPr>
          <p:cNvPicPr>
            <a:picLocks noChangeAspect="1"/>
          </p:cNvPicPr>
          <p:nvPr/>
        </p:nvPicPr>
        <p:blipFill>
          <a:blip r:embed="rId5"/>
          <a:stretch>
            <a:fillRect/>
          </a:stretch>
        </p:blipFill>
        <p:spPr>
          <a:xfrm>
            <a:off x="119658" y="598080"/>
            <a:ext cx="4748433" cy="2719867"/>
          </a:xfrm>
          <a:prstGeom prst="rect">
            <a:avLst/>
          </a:prstGeom>
        </p:spPr>
      </p:pic>
    </p:spTree>
    <p:custDataLst>
      <p:tags r:id="rId1"/>
    </p:custDataLst>
    <p:extLst>
      <p:ext uri="{BB962C8B-B14F-4D97-AF65-F5344CB8AC3E}">
        <p14:creationId xmlns:p14="http://schemas.microsoft.com/office/powerpoint/2010/main" val="3239024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químicas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34699" y="5885920"/>
            <a:ext cx="358983"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B003AF4A-C727-CBB5-76F9-6E839CED1AD9}"/>
              </a:ext>
            </a:extLst>
          </p:cNvPr>
          <p:cNvSpPr/>
          <p:nvPr/>
        </p:nvSpPr>
        <p:spPr>
          <a:xfrm>
            <a:off x="4957408" y="373864"/>
            <a:ext cx="4084781" cy="646331"/>
          </a:xfrm>
          <a:prstGeom prst="rect">
            <a:avLst/>
          </a:prstGeom>
        </p:spPr>
        <p:txBody>
          <a:bodyPr wrap="square">
            <a:spAutoFit/>
          </a:bodyPr>
          <a:lstStyle/>
          <a:p>
            <a:r>
              <a:rPr lang="es-ES" sz="1200" dirty="0">
                <a:solidFill>
                  <a:srgbClr val="2C5697"/>
                </a:solidFill>
                <a:latin typeface="Arial"/>
                <a:cs typeface="Arial"/>
                <a:sym typeface="Times New Roman"/>
              </a:rPr>
              <a:t>Las medidas incluyen: </a:t>
            </a:r>
            <a:r>
              <a:rPr lang="es-ES" sz="1200" dirty="0">
                <a:solidFill>
                  <a:srgbClr val="C00000"/>
                </a:solidFill>
                <a:latin typeface="Arial"/>
                <a:cs typeface="Arial"/>
                <a:sym typeface="Times New Roman"/>
              </a:rPr>
              <a:t>luz</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espectrometría</a:t>
            </a:r>
            <a:r>
              <a:rPr lang="es-ES" sz="1200" dirty="0">
                <a:solidFill>
                  <a:srgbClr val="2C5697"/>
                </a:solidFill>
                <a:latin typeface="Arial"/>
                <a:cs typeface="Arial"/>
                <a:sym typeface="Times New Roman"/>
              </a:rPr>
              <a:t>, reflectometría, cantidad de gases de interés, Fluorescencia, concentración de sustancias, oxígeno en sangre, etc.</a:t>
            </a:r>
            <a:endParaRPr lang="es-CO" dirty="0"/>
          </a:p>
        </p:txBody>
      </p:sp>
      <p:pic>
        <p:nvPicPr>
          <p:cNvPr id="6" name="Imagen 5">
            <a:extLst>
              <a:ext uri="{FF2B5EF4-FFF2-40B4-BE49-F238E27FC236}">
                <a16:creationId xmlns:a16="http://schemas.microsoft.com/office/drawing/2014/main" id="{B396A779-2231-39E0-D879-D8956FDF3566}"/>
              </a:ext>
            </a:extLst>
          </p:cNvPr>
          <p:cNvPicPr>
            <a:picLocks noChangeAspect="1"/>
          </p:cNvPicPr>
          <p:nvPr/>
        </p:nvPicPr>
        <p:blipFill>
          <a:blip r:embed="rId4"/>
          <a:stretch>
            <a:fillRect/>
          </a:stretch>
        </p:blipFill>
        <p:spPr>
          <a:xfrm>
            <a:off x="64971" y="571297"/>
            <a:ext cx="4937125" cy="2786707"/>
          </a:xfrm>
          <a:prstGeom prst="rect">
            <a:avLst/>
          </a:prstGeom>
        </p:spPr>
      </p:pic>
      <p:pic>
        <p:nvPicPr>
          <p:cNvPr id="2050" name="Picture 2" descr="espectrometría, Utilización de espectrómetros en la industria y laboratorios">
            <a:extLst>
              <a:ext uri="{FF2B5EF4-FFF2-40B4-BE49-F238E27FC236}">
                <a16:creationId xmlns:a16="http://schemas.microsoft.com/office/drawing/2014/main" id="{0210866F-4601-3FE0-235A-53AFD6A5C6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71" y="3771668"/>
            <a:ext cx="3575391" cy="17142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spectrometría, Utilización de espectrómetros en la industria y laboratorios">
            <a:extLst>
              <a:ext uri="{FF2B5EF4-FFF2-40B4-BE49-F238E27FC236}">
                <a16:creationId xmlns:a16="http://schemas.microsoft.com/office/drawing/2014/main" id="{00E6F099-CDB9-6E51-3D5D-3E5D7F08D6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4477" y="3647349"/>
            <a:ext cx="4654551" cy="183854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32">
            <a:extLst>
              <a:ext uri="{FF2B5EF4-FFF2-40B4-BE49-F238E27FC236}">
                <a16:creationId xmlns:a16="http://schemas.microsoft.com/office/drawing/2014/main" id="{99FBFA4F-C335-E131-3E6D-DD6D7BEE5246}"/>
              </a:ext>
            </a:extLst>
          </p:cNvPr>
          <p:cNvSpPr txBox="1"/>
          <p:nvPr/>
        </p:nvSpPr>
        <p:spPr>
          <a:xfrm>
            <a:off x="5181600" y="5637750"/>
            <a:ext cx="3860589"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https://mesurex.com/utilizacion-de-la-espectrometria-en-la-industria-y-laboratorios/</a:t>
            </a:r>
            <a:endParaRPr lang="en-US" sz="700" dirty="0">
              <a:cs typeface="Calibri"/>
            </a:endParaRPr>
          </a:p>
        </p:txBody>
      </p:sp>
      <p:pic>
        <p:nvPicPr>
          <p:cNvPr id="14" name="Imagen 13">
            <a:extLst>
              <a:ext uri="{FF2B5EF4-FFF2-40B4-BE49-F238E27FC236}">
                <a16:creationId xmlns:a16="http://schemas.microsoft.com/office/drawing/2014/main" id="{6F0FD008-4098-2D90-800C-138BA9A97EAB}"/>
              </a:ext>
            </a:extLst>
          </p:cNvPr>
          <p:cNvPicPr>
            <a:picLocks noChangeAspect="1"/>
          </p:cNvPicPr>
          <p:nvPr/>
        </p:nvPicPr>
        <p:blipFill>
          <a:blip r:embed="rId7"/>
          <a:stretch>
            <a:fillRect/>
          </a:stretch>
        </p:blipFill>
        <p:spPr>
          <a:xfrm>
            <a:off x="5347062" y="1200439"/>
            <a:ext cx="3567127" cy="1622731"/>
          </a:xfrm>
          <a:prstGeom prst="rect">
            <a:avLst/>
          </a:prstGeom>
        </p:spPr>
      </p:pic>
      <p:sp>
        <p:nvSpPr>
          <p:cNvPr id="16" name="CuadroTexto 15">
            <a:extLst>
              <a:ext uri="{FF2B5EF4-FFF2-40B4-BE49-F238E27FC236}">
                <a16:creationId xmlns:a16="http://schemas.microsoft.com/office/drawing/2014/main" id="{676FAD38-0D39-3A2F-1921-4436588C0312}"/>
              </a:ext>
            </a:extLst>
          </p:cNvPr>
          <p:cNvSpPr txBox="1"/>
          <p:nvPr/>
        </p:nvSpPr>
        <p:spPr>
          <a:xfrm>
            <a:off x="849086" y="5238826"/>
            <a:ext cx="1800265" cy="246221"/>
          </a:xfrm>
          <a:prstGeom prst="rect">
            <a:avLst/>
          </a:prstGeom>
          <a:noFill/>
        </p:spPr>
        <p:txBody>
          <a:bodyPr wrap="square">
            <a:spAutoFit/>
          </a:bodyPr>
          <a:lstStyle/>
          <a:p>
            <a:r>
              <a:rPr lang="es-ES" sz="1000" dirty="0">
                <a:solidFill>
                  <a:srgbClr val="2C5697"/>
                </a:solidFill>
                <a:latin typeface="Arial"/>
                <a:cs typeface="Arial"/>
                <a:sym typeface="Times New Roman"/>
              </a:rPr>
              <a:t>Espectrofotometría genérica</a:t>
            </a:r>
            <a:endParaRPr lang="es-MX" sz="1000" dirty="0"/>
          </a:p>
        </p:txBody>
      </p:sp>
      <p:sp>
        <p:nvSpPr>
          <p:cNvPr id="17" name="CuadroTexto 16">
            <a:extLst>
              <a:ext uri="{FF2B5EF4-FFF2-40B4-BE49-F238E27FC236}">
                <a16:creationId xmlns:a16="http://schemas.microsoft.com/office/drawing/2014/main" id="{42858144-6C3E-40C3-1E8F-851FEB40558D}"/>
              </a:ext>
            </a:extLst>
          </p:cNvPr>
          <p:cNvSpPr txBox="1"/>
          <p:nvPr/>
        </p:nvSpPr>
        <p:spPr>
          <a:xfrm>
            <a:off x="7293417" y="2467141"/>
            <a:ext cx="1800265" cy="246221"/>
          </a:xfrm>
          <a:prstGeom prst="rect">
            <a:avLst/>
          </a:prstGeom>
          <a:noFill/>
        </p:spPr>
        <p:txBody>
          <a:bodyPr wrap="square">
            <a:spAutoFit/>
          </a:bodyPr>
          <a:lstStyle/>
          <a:p>
            <a:r>
              <a:rPr lang="es-ES" sz="1000" dirty="0">
                <a:solidFill>
                  <a:srgbClr val="2C5697"/>
                </a:solidFill>
                <a:latin typeface="Arial"/>
                <a:cs typeface="Arial"/>
                <a:sym typeface="Times New Roman"/>
              </a:rPr>
              <a:t>Espectrofotometría láser</a:t>
            </a:r>
            <a:endParaRPr lang="es-MX" sz="1000" dirty="0"/>
          </a:p>
        </p:txBody>
      </p:sp>
      <p:sp>
        <p:nvSpPr>
          <p:cNvPr id="19" name="TextBox 32">
            <a:extLst>
              <a:ext uri="{FF2B5EF4-FFF2-40B4-BE49-F238E27FC236}">
                <a16:creationId xmlns:a16="http://schemas.microsoft.com/office/drawing/2014/main" id="{BE51744F-CF1B-1AD9-6042-A2DC32D60BF3}"/>
              </a:ext>
            </a:extLst>
          </p:cNvPr>
          <p:cNvSpPr txBox="1"/>
          <p:nvPr/>
        </p:nvSpPr>
        <p:spPr>
          <a:xfrm>
            <a:off x="5261628" y="2908072"/>
            <a:ext cx="386058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s-ES" sz="700" dirty="0">
                <a:latin typeface="Arial"/>
              </a:rPr>
              <a:t>Fuente: https://www.symtek.com/productos-para-el-analisis-de-materiales/espectrometria-laser/</a:t>
            </a:r>
            <a:endParaRPr lang="en-US" sz="700" dirty="0">
              <a:cs typeface="Calibri"/>
            </a:endParaRPr>
          </a:p>
        </p:txBody>
      </p:sp>
    </p:spTree>
    <p:custDataLst>
      <p:tags r:id="rId1"/>
    </p:custDataLst>
    <p:extLst>
      <p:ext uri="{BB962C8B-B14F-4D97-AF65-F5344CB8AC3E}">
        <p14:creationId xmlns:p14="http://schemas.microsoft.com/office/powerpoint/2010/main" val="2208728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químicas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34699" y="5885920"/>
            <a:ext cx="358983"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B003AF4A-C727-CBB5-76F9-6E839CED1AD9}"/>
              </a:ext>
            </a:extLst>
          </p:cNvPr>
          <p:cNvSpPr/>
          <p:nvPr/>
        </p:nvSpPr>
        <p:spPr>
          <a:xfrm>
            <a:off x="76861" y="897997"/>
            <a:ext cx="4084781" cy="646331"/>
          </a:xfrm>
          <a:prstGeom prst="rect">
            <a:avLst/>
          </a:prstGeom>
        </p:spPr>
        <p:txBody>
          <a:bodyPr wrap="square">
            <a:spAutoFit/>
          </a:bodyPr>
          <a:lstStyle/>
          <a:p>
            <a:r>
              <a:rPr lang="es-ES" sz="1200" dirty="0">
                <a:solidFill>
                  <a:srgbClr val="2C5697"/>
                </a:solidFill>
                <a:latin typeface="Arial"/>
                <a:cs typeface="Arial"/>
                <a:sym typeface="Times New Roman"/>
              </a:rPr>
              <a:t>Las medidas incluyen: luz, espectrometría, </a:t>
            </a:r>
            <a:r>
              <a:rPr lang="es-ES" sz="1200" dirty="0">
                <a:solidFill>
                  <a:srgbClr val="C00000"/>
                </a:solidFill>
                <a:latin typeface="Arial"/>
                <a:cs typeface="Arial"/>
                <a:sym typeface="Times New Roman"/>
              </a:rPr>
              <a:t>reflectometría</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cantidad de gases de interés</a:t>
            </a:r>
            <a:r>
              <a:rPr lang="es-ES" sz="1200" dirty="0">
                <a:solidFill>
                  <a:srgbClr val="2C5697"/>
                </a:solidFill>
                <a:latin typeface="Arial"/>
                <a:cs typeface="Arial"/>
                <a:sym typeface="Times New Roman"/>
              </a:rPr>
              <a:t>, concentración de sustancias por fluorescencia, oxígeno en sangre, etc.</a:t>
            </a:r>
            <a:endParaRPr lang="es-CO" dirty="0"/>
          </a:p>
        </p:txBody>
      </p:sp>
      <p:pic>
        <p:nvPicPr>
          <p:cNvPr id="5" name="Imagen 4">
            <a:extLst>
              <a:ext uri="{FF2B5EF4-FFF2-40B4-BE49-F238E27FC236}">
                <a16:creationId xmlns:a16="http://schemas.microsoft.com/office/drawing/2014/main" id="{6615E236-417B-553F-4228-24C1DAA52CEC}"/>
              </a:ext>
            </a:extLst>
          </p:cNvPr>
          <p:cNvPicPr>
            <a:picLocks noChangeAspect="1"/>
          </p:cNvPicPr>
          <p:nvPr/>
        </p:nvPicPr>
        <p:blipFill>
          <a:blip r:embed="rId4"/>
          <a:stretch>
            <a:fillRect/>
          </a:stretch>
        </p:blipFill>
        <p:spPr>
          <a:xfrm>
            <a:off x="28286" y="2083550"/>
            <a:ext cx="4268366" cy="2154508"/>
          </a:xfrm>
          <a:prstGeom prst="rect">
            <a:avLst/>
          </a:prstGeom>
        </p:spPr>
      </p:pic>
      <p:pic>
        <p:nvPicPr>
          <p:cNvPr id="10" name="Imagen 9">
            <a:extLst>
              <a:ext uri="{FF2B5EF4-FFF2-40B4-BE49-F238E27FC236}">
                <a16:creationId xmlns:a16="http://schemas.microsoft.com/office/drawing/2014/main" id="{B36176CF-1D40-1A3D-1B00-3C3873922D81}"/>
              </a:ext>
            </a:extLst>
          </p:cNvPr>
          <p:cNvPicPr>
            <a:picLocks noChangeAspect="1"/>
          </p:cNvPicPr>
          <p:nvPr/>
        </p:nvPicPr>
        <p:blipFill>
          <a:blip r:embed="rId5"/>
          <a:stretch>
            <a:fillRect/>
          </a:stretch>
        </p:blipFill>
        <p:spPr>
          <a:xfrm>
            <a:off x="4357847" y="474144"/>
            <a:ext cx="4749158" cy="4895807"/>
          </a:xfrm>
          <a:prstGeom prst="rect">
            <a:avLst/>
          </a:prstGeom>
          <a:ln>
            <a:solidFill>
              <a:schemeClr val="tx1"/>
            </a:solidFill>
          </a:ln>
        </p:spPr>
      </p:pic>
    </p:spTree>
    <p:custDataLst>
      <p:tags r:id="rId1"/>
    </p:custDataLst>
    <p:extLst>
      <p:ext uri="{BB962C8B-B14F-4D97-AF65-F5344CB8AC3E}">
        <p14:creationId xmlns:p14="http://schemas.microsoft.com/office/powerpoint/2010/main" val="809169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de variables químicas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34699" y="5885920"/>
            <a:ext cx="358983"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B003AF4A-C727-CBB5-76F9-6E839CED1AD9}"/>
              </a:ext>
            </a:extLst>
          </p:cNvPr>
          <p:cNvSpPr/>
          <p:nvPr/>
        </p:nvSpPr>
        <p:spPr>
          <a:xfrm>
            <a:off x="38640" y="376122"/>
            <a:ext cx="8875550" cy="461665"/>
          </a:xfrm>
          <a:prstGeom prst="rect">
            <a:avLst/>
          </a:prstGeom>
        </p:spPr>
        <p:txBody>
          <a:bodyPr wrap="square">
            <a:spAutoFit/>
          </a:bodyPr>
          <a:lstStyle/>
          <a:p>
            <a:r>
              <a:rPr lang="es-ES" sz="1200" dirty="0">
                <a:solidFill>
                  <a:srgbClr val="2C5697"/>
                </a:solidFill>
                <a:latin typeface="Arial"/>
                <a:cs typeface="Arial"/>
                <a:sym typeface="Times New Roman"/>
              </a:rPr>
              <a:t>Las medidas incluyen: luz, espectrometría, reflectometría, cantidad de gases de interés, </a:t>
            </a:r>
            <a:r>
              <a:rPr lang="es-ES" sz="1200" dirty="0">
                <a:solidFill>
                  <a:srgbClr val="C00000"/>
                </a:solidFill>
                <a:latin typeface="Arial"/>
                <a:cs typeface="Arial"/>
                <a:sym typeface="Times New Roman"/>
              </a:rPr>
              <a:t>concentración de sustancias por fluorescencia</a:t>
            </a:r>
            <a:r>
              <a:rPr lang="es-ES" sz="1200" dirty="0">
                <a:solidFill>
                  <a:srgbClr val="2C5697"/>
                </a:solidFill>
                <a:latin typeface="Arial"/>
                <a:cs typeface="Arial"/>
                <a:sym typeface="Times New Roman"/>
              </a:rPr>
              <a:t>, </a:t>
            </a:r>
            <a:r>
              <a:rPr lang="es-ES" sz="1200" dirty="0">
                <a:solidFill>
                  <a:srgbClr val="C00000"/>
                </a:solidFill>
                <a:latin typeface="Arial"/>
                <a:cs typeface="Arial"/>
                <a:sym typeface="Times New Roman"/>
              </a:rPr>
              <a:t>oxígeno en sangre</a:t>
            </a:r>
            <a:r>
              <a:rPr lang="es-ES" sz="1200" dirty="0">
                <a:solidFill>
                  <a:srgbClr val="2C5697"/>
                </a:solidFill>
                <a:latin typeface="Arial"/>
                <a:cs typeface="Arial"/>
                <a:sym typeface="Times New Roman"/>
              </a:rPr>
              <a:t>, etc.</a:t>
            </a:r>
            <a:endParaRPr lang="es-CO" dirty="0"/>
          </a:p>
        </p:txBody>
      </p:sp>
      <p:pic>
        <p:nvPicPr>
          <p:cNvPr id="6" name="Imagen 5">
            <a:extLst>
              <a:ext uri="{FF2B5EF4-FFF2-40B4-BE49-F238E27FC236}">
                <a16:creationId xmlns:a16="http://schemas.microsoft.com/office/drawing/2014/main" id="{92085F00-87BA-DB4E-F355-34E85D17D7A6}"/>
              </a:ext>
            </a:extLst>
          </p:cNvPr>
          <p:cNvPicPr>
            <a:picLocks noChangeAspect="1"/>
          </p:cNvPicPr>
          <p:nvPr/>
        </p:nvPicPr>
        <p:blipFill>
          <a:blip r:embed="rId4"/>
          <a:stretch>
            <a:fillRect/>
          </a:stretch>
        </p:blipFill>
        <p:spPr>
          <a:xfrm>
            <a:off x="52254" y="1256025"/>
            <a:ext cx="4350933" cy="3879582"/>
          </a:xfrm>
          <a:prstGeom prst="rect">
            <a:avLst/>
          </a:prstGeom>
        </p:spPr>
      </p:pic>
      <p:pic>
        <p:nvPicPr>
          <p:cNvPr id="9" name="Imagen 8">
            <a:extLst>
              <a:ext uri="{FF2B5EF4-FFF2-40B4-BE49-F238E27FC236}">
                <a16:creationId xmlns:a16="http://schemas.microsoft.com/office/drawing/2014/main" id="{C48CFC8A-D06E-5982-3407-32C1F0370D1C}"/>
              </a:ext>
            </a:extLst>
          </p:cNvPr>
          <p:cNvPicPr>
            <a:picLocks noChangeAspect="1"/>
          </p:cNvPicPr>
          <p:nvPr/>
        </p:nvPicPr>
        <p:blipFill>
          <a:blip r:embed="rId5"/>
          <a:stretch>
            <a:fillRect/>
          </a:stretch>
        </p:blipFill>
        <p:spPr>
          <a:xfrm>
            <a:off x="4572000" y="1256025"/>
            <a:ext cx="4521682" cy="3879582"/>
          </a:xfrm>
          <a:prstGeom prst="rect">
            <a:avLst/>
          </a:prstGeom>
        </p:spPr>
      </p:pic>
      <p:cxnSp>
        <p:nvCxnSpPr>
          <p:cNvPr id="13" name="Conector recto 12">
            <a:extLst>
              <a:ext uri="{FF2B5EF4-FFF2-40B4-BE49-F238E27FC236}">
                <a16:creationId xmlns:a16="http://schemas.microsoft.com/office/drawing/2014/main" id="{B36BB625-F20C-0A6D-BFF0-CE9C86B64CDB}"/>
              </a:ext>
            </a:extLst>
          </p:cNvPr>
          <p:cNvCxnSpPr/>
          <p:nvPr/>
        </p:nvCxnSpPr>
        <p:spPr>
          <a:xfrm flipV="1">
            <a:off x="4476415" y="1010194"/>
            <a:ext cx="0" cy="4591781"/>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2480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Medición de la frecuencia de pulso</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99863" y="5885920"/>
            <a:ext cx="39381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7" name="TextBox 32">
            <a:extLst>
              <a:ext uri="{FF2B5EF4-FFF2-40B4-BE49-F238E27FC236}">
                <a16:creationId xmlns:a16="http://schemas.microsoft.com/office/drawing/2014/main" id="{9CAA202A-6AFB-4D01-89EC-17D6D2FD804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R. S. </a:t>
            </a:r>
            <a:r>
              <a:rPr lang="es-ES" sz="700" dirty="0" err="1">
                <a:solidFill>
                  <a:schemeClr val="bg1"/>
                </a:solidFill>
                <a:latin typeface="Arial"/>
              </a:rPr>
              <a:t>Khandpur</a:t>
            </a:r>
            <a:r>
              <a:rPr lang="es-ES" sz="700" dirty="0">
                <a:solidFill>
                  <a:schemeClr val="bg1"/>
                </a:solidFill>
                <a:latin typeface="Arial"/>
              </a:rPr>
              <a:t>, Biomedical </a:t>
            </a:r>
            <a:r>
              <a:rPr lang="es-ES" sz="700" dirty="0" err="1">
                <a:solidFill>
                  <a:schemeClr val="bg1"/>
                </a:solidFill>
                <a:latin typeface="Arial"/>
              </a:rPr>
              <a:t>instrumentation</a:t>
            </a:r>
            <a:r>
              <a:rPr lang="es-ES" sz="700" dirty="0">
                <a:solidFill>
                  <a:schemeClr val="bg1"/>
                </a:solidFill>
                <a:latin typeface="Arial"/>
              </a:rPr>
              <a:t> – </a:t>
            </a:r>
            <a:r>
              <a:rPr lang="es-ES" sz="700" dirty="0" err="1">
                <a:solidFill>
                  <a:schemeClr val="bg1"/>
                </a:solidFill>
                <a:latin typeface="Arial"/>
              </a:rPr>
              <a:t>Technology</a:t>
            </a:r>
            <a:r>
              <a:rPr lang="es-ES" sz="700" dirty="0">
                <a:solidFill>
                  <a:schemeClr val="bg1"/>
                </a:solidFill>
                <a:latin typeface="Arial"/>
              </a:rPr>
              <a:t> and </a:t>
            </a:r>
            <a:r>
              <a:rPr lang="es-ES" sz="700" dirty="0" err="1">
                <a:solidFill>
                  <a:schemeClr val="bg1"/>
                </a:solidFill>
                <a:latin typeface="Arial"/>
              </a:rPr>
              <a:t>applications</a:t>
            </a:r>
            <a:r>
              <a:rPr lang="es-ES" sz="700" dirty="0">
                <a:solidFill>
                  <a:schemeClr val="bg1"/>
                </a:solidFill>
                <a:latin typeface="Arial"/>
              </a:rPr>
              <a:t>, McGraw Hill, 2003</a:t>
            </a:r>
            <a:endParaRPr lang="en-US" sz="700" dirty="0">
              <a:solidFill>
                <a:schemeClr val="bg1"/>
              </a:solidFill>
              <a:cs typeface="Calibri"/>
            </a:endParaRPr>
          </a:p>
        </p:txBody>
      </p:sp>
      <p:pic>
        <p:nvPicPr>
          <p:cNvPr id="4" name="Imagen 3">
            <a:extLst>
              <a:ext uri="{FF2B5EF4-FFF2-40B4-BE49-F238E27FC236}">
                <a16:creationId xmlns:a16="http://schemas.microsoft.com/office/drawing/2014/main" id="{33A35B5E-3071-EA54-62C6-632BC5C50E55}"/>
              </a:ext>
            </a:extLst>
          </p:cNvPr>
          <p:cNvPicPr>
            <a:picLocks noChangeAspect="1"/>
          </p:cNvPicPr>
          <p:nvPr/>
        </p:nvPicPr>
        <p:blipFill>
          <a:blip r:embed="rId4"/>
          <a:stretch>
            <a:fillRect/>
          </a:stretch>
        </p:blipFill>
        <p:spPr>
          <a:xfrm>
            <a:off x="21249" y="443921"/>
            <a:ext cx="4031863" cy="1997605"/>
          </a:xfrm>
          <a:prstGeom prst="rect">
            <a:avLst/>
          </a:prstGeom>
        </p:spPr>
      </p:pic>
      <p:pic>
        <p:nvPicPr>
          <p:cNvPr id="6" name="Imagen 5">
            <a:extLst>
              <a:ext uri="{FF2B5EF4-FFF2-40B4-BE49-F238E27FC236}">
                <a16:creationId xmlns:a16="http://schemas.microsoft.com/office/drawing/2014/main" id="{CB51003C-8979-5248-F5AA-60B873D7A9D8}"/>
              </a:ext>
            </a:extLst>
          </p:cNvPr>
          <p:cNvPicPr>
            <a:picLocks noChangeAspect="1"/>
          </p:cNvPicPr>
          <p:nvPr/>
        </p:nvPicPr>
        <p:blipFill>
          <a:blip r:embed="rId5"/>
          <a:stretch>
            <a:fillRect/>
          </a:stretch>
        </p:blipFill>
        <p:spPr>
          <a:xfrm>
            <a:off x="4432871" y="693660"/>
            <a:ext cx="4444198" cy="4414603"/>
          </a:xfrm>
          <a:prstGeom prst="rect">
            <a:avLst/>
          </a:prstGeom>
          <a:ln>
            <a:solidFill>
              <a:schemeClr val="tx1"/>
            </a:solidFill>
          </a:ln>
        </p:spPr>
      </p:pic>
      <p:pic>
        <p:nvPicPr>
          <p:cNvPr id="3074" name="Picture 2" descr="Buy Heart Rate Sensor Module Online in India | Robocraze">
            <a:extLst>
              <a:ext uri="{FF2B5EF4-FFF2-40B4-BE49-F238E27FC236}">
                <a16:creationId xmlns:a16="http://schemas.microsoft.com/office/drawing/2014/main" id="{E855FA36-0D69-406A-99E5-D94D9D2565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45" y="2523879"/>
            <a:ext cx="2216876" cy="221687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ensor ritmo cardiaco pinza">
            <a:extLst>
              <a:ext uri="{FF2B5EF4-FFF2-40B4-BE49-F238E27FC236}">
                <a16:creationId xmlns:a16="http://schemas.microsoft.com/office/drawing/2014/main" id="{9C8B1536-0BD1-8C26-1344-C713297206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47487" y="3891186"/>
            <a:ext cx="1768248" cy="176824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32">
            <a:extLst>
              <a:ext uri="{FF2B5EF4-FFF2-40B4-BE49-F238E27FC236}">
                <a16:creationId xmlns:a16="http://schemas.microsoft.com/office/drawing/2014/main" id="{5B261555-94BD-A68B-3294-A07838F73796}"/>
              </a:ext>
            </a:extLst>
          </p:cNvPr>
          <p:cNvSpPr txBox="1"/>
          <p:nvPr/>
        </p:nvSpPr>
        <p:spPr>
          <a:xfrm>
            <a:off x="-28432" y="5421657"/>
            <a:ext cx="3860589"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s-ES" sz="700" dirty="0">
                <a:latin typeface="Arial"/>
              </a:rPr>
              <a:t>Fuente: https://www.ventusciencia.com/sensor-ritmo-cardiaco-pinza.html</a:t>
            </a:r>
            <a:endParaRPr lang="en-US" sz="700" dirty="0">
              <a:cs typeface="Calibri"/>
            </a:endParaRPr>
          </a:p>
        </p:txBody>
      </p:sp>
    </p:spTree>
    <p:custDataLst>
      <p:tags r:id="rId1"/>
    </p:custDataLst>
    <p:extLst>
      <p:ext uri="{BB962C8B-B14F-4D97-AF65-F5344CB8AC3E}">
        <p14:creationId xmlns:p14="http://schemas.microsoft.com/office/powerpoint/2010/main" val="3201454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Medición de </a:t>
            </a:r>
            <a:r>
              <a:rPr lang="es-ES" b="1" dirty="0" err="1">
                <a:solidFill>
                  <a:srgbClr val="2C5697"/>
                </a:solidFill>
                <a:latin typeface="Arial"/>
                <a:cs typeface="Arial"/>
                <a:sym typeface="Times New Roman"/>
              </a:rPr>
              <a:t>pulsoximetría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08571" y="5885920"/>
            <a:ext cx="385111"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sp>
        <p:nvSpPr>
          <p:cNvPr id="8" name="TextBox 32">
            <a:extLst>
              <a:ext uri="{FF2B5EF4-FFF2-40B4-BE49-F238E27FC236}">
                <a16:creationId xmlns:a16="http://schemas.microsoft.com/office/drawing/2014/main" id="{863C20E2-F490-405E-A6DB-F0F17F6EA701}"/>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R. S. </a:t>
            </a:r>
            <a:r>
              <a:rPr lang="es-ES" sz="700" dirty="0" err="1">
                <a:solidFill>
                  <a:schemeClr val="bg1"/>
                </a:solidFill>
                <a:latin typeface="Arial"/>
              </a:rPr>
              <a:t>Khandpur</a:t>
            </a:r>
            <a:r>
              <a:rPr lang="es-ES" sz="700" dirty="0">
                <a:solidFill>
                  <a:schemeClr val="bg1"/>
                </a:solidFill>
                <a:latin typeface="Arial"/>
              </a:rPr>
              <a:t>, Biomedical </a:t>
            </a:r>
            <a:r>
              <a:rPr lang="es-ES" sz="700" dirty="0" err="1">
                <a:solidFill>
                  <a:schemeClr val="bg1"/>
                </a:solidFill>
                <a:latin typeface="Arial"/>
              </a:rPr>
              <a:t>instrumentation</a:t>
            </a:r>
            <a:r>
              <a:rPr lang="es-ES" sz="700" dirty="0">
                <a:solidFill>
                  <a:schemeClr val="bg1"/>
                </a:solidFill>
                <a:latin typeface="Arial"/>
              </a:rPr>
              <a:t> – </a:t>
            </a:r>
            <a:r>
              <a:rPr lang="es-ES" sz="700" dirty="0" err="1">
                <a:solidFill>
                  <a:schemeClr val="bg1"/>
                </a:solidFill>
                <a:latin typeface="Arial"/>
              </a:rPr>
              <a:t>Technology</a:t>
            </a:r>
            <a:r>
              <a:rPr lang="es-ES" sz="700" dirty="0">
                <a:solidFill>
                  <a:schemeClr val="bg1"/>
                </a:solidFill>
                <a:latin typeface="Arial"/>
              </a:rPr>
              <a:t> and </a:t>
            </a:r>
            <a:r>
              <a:rPr lang="es-ES" sz="700" dirty="0" err="1">
                <a:solidFill>
                  <a:schemeClr val="bg1"/>
                </a:solidFill>
                <a:latin typeface="Arial"/>
              </a:rPr>
              <a:t>applications</a:t>
            </a:r>
            <a:r>
              <a:rPr lang="es-ES" sz="700" dirty="0">
                <a:solidFill>
                  <a:schemeClr val="bg1"/>
                </a:solidFill>
                <a:latin typeface="Arial"/>
              </a:rPr>
              <a:t>, McGraw Hill, 2003</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8B6B3E96-04D1-0CED-EFEB-9DEB405D1123}"/>
              </a:ext>
            </a:extLst>
          </p:cNvPr>
          <p:cNvSpPr/>
          <p:nvPr/>
        </p:nvSpPr>
        <p:spPr>
          <a:xfrm>
            <a:off x="4328159" y="733409"/>
            <a:ext cx="4765522" cy="830997"/>
          </a:xfrm>
          <a:prstGeom prst="rect">
            <a:avLst/>
          </a:prstGeom>
        </p:spPr>
        <p:txBody>
          <a:bodyPr wrap="square">
            <a:spAutoFit/>
          </a:bodyPr>
          <a:lstStyle/>
          <a:p>
            <a:r>
              <a:rPr lang="es-MX" sz="1200" dirty="0">
                <a:solidFill>
                  <a:srgbClr val="2C5697"/>
                </a:solidFill>
                <a:latin typeface="Arial"/>
                <a:cs typeface="Arial"/>
                <a:sym typeface="Times New Roman"/>
              </a:rPr>
              <a:t>Se basa en el concepto de que las mediciones de la saturación arterial de oxígeno se pueden realizar utilizando </a:t>
            </a:r>
            <a:r>
              <a:rPr lang="es-MX" sz="1200" dirty="0">
                <a:solidFill>
                  <a:srgbClr val="C00000"/>
                </a:solidFill>
                <a:latin typeface="Arial"/>
                <a:cs typeface="Arial"/>
                <a:sym typeface="Times New Roman"/>
              </a:rPr>
              <a:t>dos longitudes de onda </a:t>
            </a:r>
            <a:r>
              <a:rPr lang="es-MX" sz="1200" dirty="0">
                <a:solidFill>
                  <a:srgbClr val="2C5697"/>
                </a:solidFill>
                <a:latin typeface="Arial"/>
                <a:cs typeface="Arial"/>
                <a:sym typeface="Times New Roman"/>
              </a:rPr>
              <a:t>(siempre que las mediciones se realicen en la parte pulsátil de la forma de onda).</a:t>
            </a:r>
          </a:p>
        </p:txBody>
      </p:sp>
      <p:pic>
        <p:nvPicPr>
          <p:cNvPr id="5" name="Imagen 4">
            <a:extLst>
              <a:ext uri="{FF2B5EF4-FFF2-40B4-BE49-F238E27FC236}">
                <a16:creationId xmlns:a16="http://schemas.microsoft.com/office/drawing/2014/main" id="{0D1BC0A6-A97D-9E1D-4A9F-092E584217BC}"/>
              </a:ext>
            </a:extLst>
          </p:cNvPr>
          <p:cNvPicPr>
            <a:picLocks noChangeAspect="1"/>
          </p:cNvPicPr>
          <p:nvPr/>
        </p:nvPicPr>
        <p:blipFill>
          <a:blip r:embed="rId4"/>
          <a:stretch>
            <a:fillRect/>
          </a:stretch>
        </p:blipFill>
        <p:spPr>
          <a:xfrm>
            <a:off x="5013248" y="2267108"/>
            <a:ext cx="3395345" cy="3254637"/>
          </a:xfrm>
          <a:prstGeom prst="rect">
            <a:avLst/>
          </a:prstGeom>
        </p:spPr>
      </p:pic>
      <p:pic>
        <p:nvPicPr>
          <p:cNvPr id="7" name="Imagen 6">
            <a:extLst>
              <a:ext uri="{FF2B5EF4-FFF2-40B4-BE49-F238E27FC236}">
                <a16:creationId xmlns:a16="http://schemas.microsoft.com/office/drawing/2014/main" id="{062FA38B-B062-6B07-ABFD-F9CA6AA613DD}"/>
              </a:ext>
            </a:extLst>
          </p:cNvPr>
          <p:cNvPicPr>
            <a:picLocks noChangeAspect="1"/>
          </p:cNvPicPr>
          <p:nvPr/>
        </p:nvPicPr>
        <p:blipFill>
          <a:blip r:embed="rId5"/>
          <a:stretch>
            <a:fillRect/>
          </a:stretch>
        </p:blipFill>
        <p:spPr>
          <a:xfrm>
            <a:off x="146111" y="443921"/>
            <a:ext cx="4080435" cy="5309482"/>
          </a:xfrm>
          <a:prstGeom prst="rect">
            <a:avLst/>
          </a:prstGeom>
          <a:ln>
            <a:solidFill>
              <a:schemeClr val="tx1"/>
            </a:solidFill>
          </a:ln>
        </p:spPr>
      </p:pic>
    </p:spTree>
    <p:custDataLst>
      <p:tags r:id="rId1"/>
    </p:custDataLst>
    <p:extLst>
      <p:ext uri="{BB962C8B-B14F-4D97-AF65-F5344CB8AC3E}">
        <p14:creationId xmlns:p14="http://schemas.microsoft.com/office/powerpoint/2010/main" val="429659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optoelectrónica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Medición de oximetría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25989" y="5885920"/>
            <a:ext cx="367693"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19</a:t>
            </a:fld>
            <a:endParaRPr lang="es-CO" sz="1200" dirty="0">
              <a:solidFill>
                <a:schemeClr val="bg1"/>
              </a:solidFill>
            </a:endParaRPr>
          </a:p>
        </p:txBody>
      </p:sp>
      <p:sp>
        <p:nvSpPr>
          <p:cNvPr id="8" name="TextBox 32">
            <a:extLst>
              <a:ext uri="{FF2B5EF4-FFF2-40B4-BE49-F238E27FC236}">
                <a16:creationId xmlns:a16="http://schemas.microsoft.com/office/drawing/2014/main" id="{863C20E2-F490-405E-A6DB-F0F17F6EA701}"/>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R. S. </a:t>
            </a:r>
            <a:r>
              <a:rPr lang="es-ES" sz="700" dirty="0" err="1">
                <a:solidFill>
                  <a:schemeClr val="bg1"/>
                </a:solidFill>
                <a:latin typeface="Arial"/>
              </a:rPr>
              <a:t>Khandpur</a:t>
            </a:r>
            <a:r>
              <a:rPr lang="es-ES" sz="700" dirty="0">
                <a:solidFill>
                  <a:schemeClr val="bg1"/>
                </a:solidFill>
                <a:latin typeface="Arial"/>
              </a:rPr>
              <a:t>, Biomedical </a:t>
            </a:r>
            <a:r>
              <a:rPr lang="es-ES" sz="700" dirty="0" err="1">
                <a:solidFill>
                  <a:schemeClr val="bg1"/>
                </a:solidFill>
                <a:latin typeface="Arial"/>
              </a:rPr>
              <a:t>instrumentation</a:t>
            </a:r>
            <a:r>
              <a:rPr lang="es-ES" sz="700" dirty="0">
                <a:solidFill>
                  <a:schemeClr val="bg1"/>
                </a:solidFill>
                <a:latin typeface="Arial"/>
              </a:rPr>
              <a:t> – </a:t>
            </a:r>
            <a:r>
              <a:rPr lang="es-ES" sz="700" dirty="0" err="1">
                <a:solidFill>
                  <a:schemeClr val="bg1"/>
                </a:solidFill>
                <a:latin typeface="Arial"/>
              </a:rPr>
              <a:t>Technology</a:t>
            </a:r>
            <a:r>
              <a:rPr lang="es-ES" sz="700" dirty="0">
                <a:solidFill>
                  <a:schemeClr val="bg1"/>
                </a:solidFill>
                <a:latin typeface="Arial"/>
              </a:rPr>
              <a:t> and </a:t>
            </a:r>
            <a:r>
              <a:rPr lang="es-ES" sz="700" dirty="0" err="1">
                <a:solidFill>
                  <a:schemeClr val="bg1"/>
                </a:solidFill>
                <a:latin typeface="Arial"/>
              </a:rPr>
              <a:t>applications</a:t>
            </a:r>
            <a:r>
              <a:rPr lang="es-ES" sz="700" dirty="0">
                <a:solidFill>
                  <a:schemeClr val="bg1"/>
                </a:solidFill>
                <a:latin typeface="Arial"/>
              </a:rPr>
              <a:t>, McGraw Hill, 2003</a:t>
            </a:r>
            <a:endParaRPr lang="en-US" sz="700" dirty="0">
              <a:solidFill>
                <a:schemeClr val="bg1"/>
              </a:solidFill>
              <a:cs typeface="Calibri"/>
            </a:endParaRPr>
          </a:p>
        </p:txBody>
      </p:sp>
      <p:pic>
        <p:nvPicPr>
          <p:cNvPr id="6" name="Imagen 5">
            <a:extLst>
              <a:ext uri="{FF2B5EF4-FFF2-40B4-BE49-F238E27FC236}">
                <a16:creationId xmlns:a16="http://schemas.microsoft.com/office/drawing/2014/main" id="{2952CF7A-C6E5-BAD9-7A8A-C36D89670D5F}"/>
              </a:ext>
            </a:extLst>
          </p:cNvPr>
          <p:cNvPicPr>
            <a:picLocks noChangeAspect="1"/>
          </p:cNvPicPr>
          <p:nvPr/>
        </p:nvPicPr>
        <p:blipFill>
          <a:blip r:embed="rId4"/>
          <a:stretch>
            <a:fillRect/>
          </a:stretch>
        </p:blipFill>
        <p:spPr>
          <a:xfrm>
            <a:off x="1543594" y="467265"/>
            <a:ext cx="6056811" cy="2187181"/>
          </a:xfrm>
          <a:prstGeom prst="rect">
            <a:avLst/>
          </a:prstGeom>
          <a:ln>
            <a:solidFill>
              <a:schemeClr val="tx1"/>
            </a:solidFill>
          </a:ln>
        </p:spPr>
      </p:pic>
      <p:pic>
        <p:nvPicPr>
          <p:cNvPr id="10" name="Imagen 9">
            <a:extLst>
              <a:ext uri="{FF2B5EF4-FFF2-40B4-BE49-F238E27FC236}">
                <a16:creationId xmlns:a16="http://schemas.microsoft.com/office/drawing/2014/main" id="{1127E154-5E4C-02E6-E9F0-AE43EEDD3A32}"/>
              </a:ext>
            </a:extLst>
          </p:cNvPr>
          <p:cNvPicPr>
            <a:picLocks noChangeAspect="1"/>
          </p:cNvPicPr>
          <p:nvPr/>
        </p:nvPicPr>
        <p:blipFill>
          <a:blip r:embed="rId5"/>
          <a:stretch>
            <a:fillRect/>
          </a:stretch>
        </p:blipFill>
        <p:spPr>
          <a:xfrm>
            <a:off x="876224" y="3182117"/>
            <a:ext cx="3412593" cy="2466817"/>
          </a:xfrm>
          <a:prstGeom prst="rect">
            <a:avLst/>
          </a:prstGeom>
        </p:spPr>
      </p:pic>
      <p:pic>
        <p:nvPicPr>
          <p:cNvPr id="13" name="Imagen 12">
            <a:extLst>
              <a:ext uri="{FF2B5EF4-FFF2-40B4-BE49-F238E27FC236}">
                <a16:creationId xmlns:a16="http://schemas.microsoft.com/office/drawing/2014/main" id="{8D335DE0-A9E7-F948-ABF9-A636653F7A54}"/>
              </a:ext>
            </a:extLst>
          </p:cNvPr>
          <p:cNvPicPr>
            <a:picLocks noChangeAspect="1"/>
          </p:cNvPicPr>
          <p:nvPr/>
        </p:nvPicPr>
        <p:blipFill>
          <a:blip r:embed="rId6"/>
          <a:stretch>
            <a:fillRect/>
          </a:stretch>
        </p:blipFill>
        <p:spPr>
          <a:xfrm>
            <a:off x="4779720" y="3783453"/>
            <a:ext cx="3723188" cy="1437466"/>
          </a:xfrm>
          <a:prstGeom prst="rect">
            <a:avLst/>
          </a:prstGeom>
        </p:spPr>
      </p:pic>
      <p:sp>
        <p:nvSpPr>
          <p:cNvPr id="15" name="CuadroTexto 14">
            <a:extLst>
              <a:ext uri="{FF2B5EF4-FFF2-40B4-BE49-F238E27FC236}">
                <a16:creationId xmlns:a16="http://schemas.microsoft.com/office/drawing/2014/main" id="{4C1AA3A7-61F7-0F4F-45AD-2EE77E24F349}"/>
              </a:ext>
            </a:extLst>
          </p:cNvPr>
          <p:cNvSpPr txBox="1"/>
          <p:nvPr/>
        </p:nvSpPr>
        <p:spPr>
          <a:xfrm>
            <a:off x="43972" y="2787422"/>
            <a:ext cx="4606834" cy="307777"/>
          </a:xfrm>
          <a:prstGeom prst="rect">
            <a:avLst/>
          </a:prstGeom>
          <a:noFill/>
        </p:spPr>
        <p:txBody>
          <a:bodyPr wrap="square">
            <a:spAutoFit/>
          </a:bodyPr>
          <a:lstStyle/>
          <a:p>
            <a:r>
              <a:rPr lang="es-MX" sz="1400" dirty="0">
                <a:solidFill>
                  <a:srgbClr val="2C5697"/>
                </a:solidFill>
                <a:latin typeface="Arial"/>
                <a:cs typeface="Arial"/>
                <a:sym typeface="Times New Roman"/>
              </a:rPr>
              <a:t>Otros métodos</a:t>
            </a:r>
            <a:endParaRPr lang="es-MX" sz="1400" dirty="0"/>
          </a:p>
        </p:txBody>
      </p:sp>
      <p:sp>
        <p:nvSpPr>
          <p:cNvPr id="2" name="Sol 1">
            <a:hlinkClick r:id="rId7"/>
            <a:extLst>
              <a:ext uri="{FF2B5EF4-FFF2-40B4-BE49-F238E27FC236}">
                <a16:creationId xmlns:a16="http://schemas.microsoft.com/office/drawing/2014/main" id="{F18E6325-E72E-BC19-8BBC-E6F0E2361DF2}"/>
              </a:ext>
            </a:extLst>
          </p:cNvPr>
          <p:cNvSpPr/>
          <p:nvPr/>
        </p:nvSpPr>
        <p:spPr>
          <a:xfrm>
            <a:off x="8187304" y="194731"/>
            <a:ext cx="631207" cy="545068"/>
          </a:xfrm>
          <a:prstGeom prst="su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4196751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You are more transparent than you think">
            <a:hlinkClick r:id="" action="ppaction://media"/>
            <a:extLst>
              <a:ext uri="{FF2B5EF4-FFF2-40B4-BE49-F238E27FC236}">
                <a16:creationId xmlns:a16="http://schemas.microsoft.com/office/drawing/2014/main" id="{CB4478E2-D684-B34F-1895-BDB5BFE867F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82420" y="539647"/>
            <a:ext cx="8379159" cy="4712924"/>
          </a:xfrm>
        </p:spPr>
      </p:pic>
    </p:spTree>
    <p:extLst>
      <p:ext uri="{BB962C8B-B14F-4D97-AF65-F5344CB8AC3E}">
        <p14:creationId xmlns:p14="http://schemas.microsoft.com/office/powerpoint/2010/main" val="319530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798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ags/tag18.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2.xml><?xml version="1.0" encoding="utf-8"?>
<ds:datastoreItem xmlns:ds="http://schemas.openxmlformats.org/officeDocument/2006/customXml" ds:itemID="{BEF68008-267B-42B0-9C9F-2DD9B1D5EE7A}">
  <ds:schemaRefs>
    <ds:schemaRef ds:uri="http://purl.org/dc/terms/"/>
    <ds:schemaRef ds:uri="http://purl.org/dc/elements/1.1/"/>
    <ds:schemaRef ds:uri="http://www.w3.org/XML/1998/namespace"/>
    <ds:schemaRef ds:uri="http://schemas.microsoft.com/office/2006/documentManagement/types"/>
    <ds:schemaRef ds:uri="http://schemas.openxmlformats.org/package/2006/metadata/core-properties"/>
    <ds:schemaRef ds:uri="c0c46fdd-2a6c-49f1-bb4d-a6e06b52ee64"/>
    <ds:schemaRef ds:uri="http://schemas.microsoft.com/office/infopath/2007/PartnerControls"/>
    <ds:schemaRef ds:uri="http://purl.org/dc/dcmitype/"/>
    <ds:schemaRef ds:uri="http://schemas.microsoft.com/office/2006/metadata/properties"/>
  </ds:schemaRefs>
</ds:datastoreItem>
</file>

<file path=customXml/itemProps3.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1860</TotalTime>
  <Words>1003</Words>
  <Application>Microsoft Office PowerPoint</Application>
  <PresentationFormat>Presentación en pantalla (4:3)</PresentationFormat>
  <Paragraphs>115</Paragraphs>
  <Slides>20</Slides>
  <Notes>18</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Wingdings</vt:lpstr>
      <vt:lpstr>Tema de Office</vt:lpstr>
      <vt:lpstr>Instrumentación optoelectrónica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Instrumentación optoelectrónica</dc:title>
  <dc:creator>Jenny Rojas</dc:creator>
  <cp:lastModifiedBy>Pedro Antonio Aya Parra</cp:lastModifiedBy>
  <cp:revision>1810</cp:revision>
  <dcterms:created xsi:type="dcterms:W3CDTF">2018-06-28T02:15:01Z</dcterms:created>
  <dcterms:modified xsi:type="dcterms:W3CDTF">2026-10-20T01:26:25Z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