
<file path=[Content_Types].xml><?xml version="1.0" encoding="utf-8"?>
<Types xmlns="http://schemas.openxmlformats.org/package/2006/content-types">
  <Default Extension="emf" ContentType="image/x-em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256" r:id="rId5"/>
    <p:sldId id="305" r:id="rId6"/>
    <p:sldId id="307" r:id="rId7"/>
    <p:sldId id="308" r:id="rId8"/>
    <p:sldId id="309" r:id="rId9"/>
    <p:sldId id="310" r:id="rId10"/>
    <p:sldId id="311" r:id="rId11"/>
    <p:sldId id="312" r:id="rId12"/>
    <p:sldId id="313" r:id="rId13"/>
    <p:sldId id="314" r:id="rId14"/>
    <p:sldId id="315" r:id="rId15"/>
    <p:sldId id="316" r:id="rId16"/>
    <p:sldId id="318" r:id="rId17"/>
    <p:sldId id="317" r:id="rId18"/>
    <p:sldId id="319" r:id="rId19"/>
    <p:sldId id="320" r:id="rId20"/>
    <p:sldId id="324" r:id="rId21"/>
    <p:sldId id="321" r:id="rId22"/>
    <p:sldId id="322" r:id="rId23"/>
    <p:sldId id="323" r:id="rId24"/>
    <p:sldId id="325" r:id="rId25"/>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25" autoAdjust="0"/>
    <p:restoredTop sz="94660"/>
  </p:normalViewPr>
  <p:slideViewPr>
    <p:cSldViewPr snapToGrid="0" snapToObjects="1">
      <p:cViewPr varScale="1">
        <p:scale>
          <a:sx n="78" d="100"/>
          <a:sy n="78" d="100"/>
        </p:scale>
        <p:origin x="1723" y="77"/>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Rodríguez Dueñas" userId="ba4d89e2-4f4b-4d11-bd59-56b1da6828aa" providerId="ADAL" clId="{96EC88D8-D662-44E4-8BC4-A83C2FFF5384}"/>
    <pc:docChg chg="undo custSel addSld modSld">
      <pc:chgData name="William Ricardo Rodríguez Dueñas" userId="ba4d89e2-4f4b-4d11-bd59-56b1da6828aa" providerId="ADAL" clId="{96EC88D8-D662-44E4-8BC4-A83C2FFF5384}" dt="2024-11-01T16:51:50.327" v="152" actId="20577"/>
      <pc:docMkLst>
        <pc:docMk/>
      </pc:docMkLst>
      <pc:sldChg chg="addSp delSp modSp add">
        <pc:chgData name="William Ricardo Rodríguez Dueñas" userId="ba4d89e2-4f4b-4d11-bd59-56b1da6828aa" providerId="ADAL" clId="{96EC88D8-D662-44E4-8BC4-A83C2FFF5384}" dt="2024-11-01T16:44:10.511" v="93" actId="1076"/>
        <pc:sldMkLst>
          <pc:docMk/>
          <pc:sldMk cId="1141744751" sldId="321"/>
        </pc:sldMkLst>
        <pc:spChg chg="add mod">
          <ac:chgData name="William Ricardo Rodríguez Dueñas" userId="ba4d89e2-4f4b-4d11-bd59-56b1da6828aa" providerId="ADAL" clId="{96EC88D8-D662-44E4-8BC4-A83C2FFF5384}" dt="2024-11-01T16:41:29.236" v="82" actId="1076"/>
          <ac:spMkLst>
            <pc:docMk/>
            <pc:sldMk cId="1141744751" sldId="321"/>
            <ac:spMk id="6" creationId="{0DD666BF-3A30-4C93-B847-9012B1D92C73}"/>
          </ac:spMkLst>
        </pc:spChg>
        <pc:spChg chg="del">
          <ac:chgData name="William Ricardo Rodríguez Dueñas" userId="ba4d89e2-4f4b-4d11-bd59-56b1da6828aa" providerId="ADAL" clId="{96EC88D8-D662-44E4-8BC4-A83C2FFF5384}" dt="2024-11-01T16:35:32.132" v="16" actId="478"/>
          <ac:spMkLst>
            <pc:docMk/>
            <pc:sldMk cId="1141744751" sldId="321"/>
            <ac:spMk id="8" creationId="{E7202C11-FCB6-40C0-829C-F5461528AA0D}"/>
          </ac:spMkLst>
        </pc:spChg>
        <pc:spChg chg="mod">
          <ac:chgData name="William Ricardo Rodríguez Dueñas" userId="ba4d89e2-4f4b-4d11-bd59-56b1da6828aa" providerId="ADAL" clId="{96EC88D8-D662-44E4-8BC4-A83C2FFF5384}" dt="2024-11-01T16:41:34.599" v="84" actId="113"/>
          <ac:spMkLst>
            <pc:docMk/>
            <pc:sldMk cId="1141744751" sldId="321"/>
            <ac:spMk id="13" creationId="{9B5E1A33-DD26-441E-AFDD-F9E157E69E58}"/>
          </ac:spMkLst>
        </pc:spChg>
        <pc:spChg chg="del">
          <ac:chgData name="William Ricardo Rodríguez Dueñas" userId="ba4d89e2-4f4b-4d11-bd59-56b1da6828aa" providerId="ADAL" clId="{96EC88D8-D662-44E4-8BC4-A83C2FFF5384}" dt="2024-11-01T16:35:32.132" v="16" actId="478"/>
          <ac:spMkLst>
            <pc:docMk/>
            <pc:sldMk cId="1141744751" sldId="321"/>
            <ac:spMk id="17" creationId="{B3B52721-4747-4F8B-BAE6-B6EE1BC1E22C}"/>
          </ac:spMkLst>
        </pc:spChg>
        <pc:spChg chg="del">
          <ac:chgData name="William Ricardo Rodríguez Dueñas" userId="ba4d89e2-4f4b-4d11-bd59-56b1da6828aa" providerId="ADAL" clId="{96EC88D8-D662-44E4-8BC4-A83C2FFF5384}" dt="2024-11-01T16:35:32.132" v="16" actId="478"/>
          <ac:spMkLst>
            <pc:docMk/>
            <pc:sldMk cId="1141744751" sldId="321"/>
            <ac:spMk id="19" creationId="{8777C5E2-4939-405D-B979-9C607F9B3A0A}"/>
          </ac:spMkLst>
        </pc:spChg>
        <pc:spChg chg="del">
          <ac:chgData name="William Ricardo Rodríguez Dueñas" userId="ba4d89e2-4f4b-4d11-bd59-56b1da6828aa" providerId="ADAL" clId="{96EC88D8-D662-44E4-8BC4-A83C2FFF5384}" dt="2024-11-01T16:35:32.132" v="16" actId="478"/>
          <ac:spMkLst>
            <pc:docMk/>
            <pc:sldMk cId="1141744751" sldId="321"/>
            <ac:spMk id="20" creationId="{AA457640-9C15-4D63-B538-D235BA0B1B73}"/>
          </ac:spMkLst>
        </pc:spChg>
        <pc:spChg chg="mod">
          <ac:chgData name="William Ricardo Rodríguez Dueñas" userId="ba4d89e2-4f4b-4d11-bd59-56b1da6828aa" providerId="ADAL" clId="{96EC88D8-D662-44E4-8BC4-A83C2FFF5384}" dt="2024-11-01T16:40:11.074" v="39"/>
          <ac:spMkLst>
            <pc:docMk/>
            <pc:sldMk cId="1141744751" sldId="321"/>
            <ac:spMk id="33" creationId="{9BE05D30-8AB6-01B0-DFD2-8F04CAA74F80}"/>
          </ac:spMkLst>
        </pc:spChg>
        <pc:picChg chg="add mod">
          <ac:chgData name="William Ricardo Rodríguez Dueñas" userId="ba4d89e2-4f4b-4d11-bd59-56b1da6828aa" providerId="ADAL" clId="{96EC88D8-D662-44E4-8BC4-A83C2FFF5384}" dt="2024-11-01T16:44:10.511" v="93" actId="1076"/>
          <ac:picMkLst>
            <pc:docMk/>
            <pc:sldMk cId="1141744751" sldId="321"/>
            <ac:picMk id="2" creationId="{69F53771-67A2-4568-A48C-3A64AE1908CF}"/>
          </ac:picMkLst>
        </pc:picChg>
        <pc:picChg chg="add mod">
          <ac:chgData name="William Ricardo Rodríguez Dueñas" userId="ba4d89e2-4f4b-4d11-bd59-56b1da6828aa" providerId="ADAL" clId="{96EC88D8-D662-44E4-8BC4-A83C2FFF5384}" dt="2024-11-01T16:43:37.505" v="92" actId="1076"/>
          <ac:picMkLst>
            <pc:docMk/>
            <pc:sldMk cId="1141744751" sldId="321"/>
            <ac:picMk id="4" creationId="{9E10F7C8-740F-4D97-85B5-8D02A9F67577}"/>
          </ac:picMkLst>
        </pc:picChg>
        <pc:picChg chg="add mod">
          <ac:chgData name="William Ricardo Rodríguez Dueñas" userId="ba4d89e2-4f4b-4d11-bd59-56b1da6828aa" providerId="ADAL" clId="{96EC88D8-D662-44E4-8BC4-A83C2FFF5384}" dt="2024-11-01T16:40:42.212" v="43" actId="1076"/>
          <ac:picMkLst>
            <pc:docMk/>
            <pc:sldMk cId="1141744751" sldId="321"/>
            <ac:picMk id="5" creationId="{32255315-4C60-4D33-9F7B-02F894FD5AF5}"/>
          </ac:picMkLst>
        </pc:picChg>
        <pc:picChg chg="add mod">
          <ac:chgData name="William Ricardo Rodríguez Dueñas" userId="ba4d89e2-4f4b-4d11-bd59-56b1da6828aa" providerId="ADAL" clId="{96EC88D8-D662-44E4-8BC4-A83C2FFF5384}" dt="2024-11-01T16:43:36.674" v="91" actId="1076"/>
          <ac:picMkLst>
            <pc:docMk/>
            <pc:sldMk cId="1141744751" sldId="321"/>
            <ac:picMk id="7" creationId="{A39E140D-560D-4A46-A036-83EBFD4C363D}"/>
          </ac:picMkLst>
        </pc:picChg>
        <pc:picChg chg="del">
          <ac:chgData name="William Ricardo Rodríguez Dueñas" userId="ba4d89e2-4f4b-4d11-bd59-56b1da6828aa" providerId="ADAL" clId="{96EC88D8-D662-44E4-8BC4-A83C2FFF5384}" dt="2024-11-01T16:35:33.344" v="18" actId="478"/>
          <ac:picMkLst>
            <pc:docMk/>
            <pc:sldMk cId="1141744751" sldId="321"/>
            <ac:picMk id="5122" creationId="{745BD9D4-E32E-44AE-B4A7-7D0FB7E8239A}"/>
          </ac:picMkLst>
        </pc:picChg>
        <pc:picChg chg="del">
          <ac:chgData name="William Ricardo Rodríguez Dueñas" userId="ba4d89e2-4f4b-4d11-bd59-56b1da6828aa" providerId="ADAL" clId="{96EC88D8-D662-44E4-8BC4-A83C2FFF5384}" dt="2024-11-01T16:35:33.071" v="17" actId="478"/>
          <ac:picMkLst>
            <pc:docMk/>
            <pc:sldMk cId="1141744751" sldId="321"/>
            <ac:picMk id="5124" creationId="{C7FF417A-9369-45C2-9A68-1604ACFA6FEF}"/>
          </ac:picMkLst>
        </pc:picChg>
        <pc:picChg chg="del">
          <ac:chgData name="William Ricardo Rodríguez Dueñas" userId="ba4d89e2-4f4b-4d11-bd59-56b1da6828aa" providerId="ADAL" clId="{96EC88D8-D662-44E4-8BC4-A83C2FFF5384}" dt="2024-11-01T16:35:33.947" v="19" actId="478"/>
          <ac:picMkLst>
            <pc:docMk/>
            <pc:sldMk cId="1141744751" sldId="321"/>
            <ac:picMk id="5126" creationId="{B4A57CC4-396B-4C4C-A381-83F462E8636B}"/>
          </ac:picMkLst>
        </pc:picChg>
        <pc:picChg chg="del">
          <ac:chgData name="William Ricardo Rodríguez Dueñas" userId="ba4d89e2-4f4b-4d11-bd59-56b1da6828aa" providerId="ADAL" clId="{96EC88D8-D662-44E4-8BC4-A83C2FFF5384}" dt="2024-11-01T16:35:32.132" v="16" actId="478"/>
          <ac:picMkLst>
            <pc:docMk/>
            <pc:sldMk cId="1141744751" sldId="321"/>
            <ac:picMk id="5128" creationId="{37740F55-864E-4526-B828-E6BBC946F076}"/>
          </ac:picMkLst>
        </pc:picChg>
        <pc:picChg chg="del">
          <ac:chgData name="William Ricardo Rodríguez Dueñas" userId="ba4d89e2-4f4b-4d11-bd59-56b1da6828aa" providerId="ADAL" clId="{96EC88D8-D662-44E4-8BC4-A83C2FFF5384}" dt="2024-11-01T16:35:32.132" v="16" actId="478"/>
          <ac:picMkLst>
            <pc:docMk/>
            <pc:sldMk cId="1141744751" sldId="321"/>
            <ac:picMk id="5130" creationId="{9BE8583B-8DE2-4BEE-AEF2-9EA2C8984BD9}"/>
          </ac:picMkLst>
        </pc:picChg>
      </pc:sldChg>
      <pc:sldChg chg="addSp delSp modSp add">
        <pc:chgData name="William Ricardo Rodríguez Dueñas" userId="ba4d89e2-4f4b-4d11-bd59-56b1da6828aa" providerId="ADAL" clId="{96EC88D8-D662-44E4-8BC4-A83C2FFF5384}" dt="2024-11-01T16:51:50.327" v="152" actId="20577"/>
        <pc:sldMkLst>
          <pc:docMk/>
          <pc:sldMk cId="1096225229" sldId="322"/>
        </pc:sldMkLst>
        <pc:spChg chg="mod">
          <ac:chgData name="William Ricardo Rodríguez Dueñas" userId="ba4d89e2-4f4b-4d11-bd59-56b1da6828aa" providerId="ADAL" clId="{96EC88D8-D662-44E4-8BC4-A83C2FFF5384}" dt="2024-11-01T16:48:37.031" v="123" actId="1076"/>
          <ac:spMkLst>
            <pc:docMk/>
            <pc:sldMk cId="1096225229" sldId="322"/>
            <ac:spMk id="6" creationId="{0DD666BF-3A30-4C93-B847-9012B1D92C73}"/>
          </ac:spMkLst>
        </pc:spChg>
        <pc:spChg chg="mod">
          <ac:chgData name="William Ricardo Rodríguez Dueñas" userId="ba4d89e2-4f4b-4d11-bd59-56b1da6828aa" providerId="ADAL" clId="{96EC88D8-D662-44E4-8BC4-A83C2FFF5384}" dt="2024-11-01T16:51:50.327" v="152" actId="20577"/>
          <ac:spMkLst>
            <pc:docMk/>
            <pc:sldMk cId="1096225229" sldId="322"/>
            <ac:spMk id="33" creationId="{9BE05D30-8AB6-01B0-DFD2-8F04CAA74F80}"/>
          </ac:spMkLst>
        </pc:spChg>
        <pc:picChg chg="del">
          <ac:chgData name="William Ricardo Rodríguez Dueñas" userId="ba4d89e2-4f4b-4d11-bd59-56b1da6828aa" providerId="ADAL" clId="{96EC88D8-D662-44E4-8BC4-A83C2FFF5384}" dt="2024-11-01T16:41:40.822" v="86" actId="478"/>
          <ac:picMkLst>
            <pc:docMk/>
            <pc:sldMk cId="1096225229" sldId="322"/>
            <ac:picMk id="2" creationId="{69F53771-67A2-4568-A48C-3A64AE1908CF}"/>
          </ac:picMkLst>
        </pc:picChg>
        <pc:picChg chg="del">
          <ac:chgData name="William Ricardo Rodríguez Dueñas" userId="ba4d89e2-4f4b-4d11-bd59-56b1da6828aa" providerId="ADAL" clId="{96EC88D8-D662-44E4-8BC4-A83C2FFF5384}" dt="2024-11-01T16:41:43.100" v="87" actId="478"/>
          <ac:picMkLst>
            <pc:docMk/>
            <pc:sldMk cId="1096225229" sldId="322"/>
            <ac:picMk id="4" creationId="{9E10F7C8-740F-4D97-85B5-8D02A9F67577}"/>
          </ac:picMkLst>
        </pc:picChg>
        <pc:picChg chg="del">
          <ac:chgData name="William Ricardo Rodríguez Dueñas" userId="ba4d89e2-4f4b-4d11-bd59-56b1da6828aa" providerId="ADAL" clId="{96EC88D8-D662-44E4-8BC4-A83C2FFF5384}" dt="2024-11-01T16:41:43.100" v="87" actId="478"/>
          <ac:picMkLst>
            <pc:docMk/>
            <pc:sldMk cId="1096225229" sldId="322"/>
            <ac:picMk id="5" creationId="{32255315-4C60-4D33-9F7B-02F894FD5AF5}"/>
          </ac:picMkLst>
        </pc:picChg>
        <pc:picChg chg="add mod">
          <ac:chgData name="William Ricardo Rodríguez Dueñas" userId="ba4d89e2-4f4b-4d11-bd59-56b1da6828aa" providerId="ADAL" clId="{96EC88D8-D662-44E4-8BC4-A83C2FFF5384}" dt="2024-11-01T16:46:16.727" v="106" actId="1076"/>
          <ac:picMkLst>
            <pc:docMk/>
            <pc:sldMk cId="1096225229" sldId="322"/>
            <ac:picMk id="7" creationId="{76DE6A37-B03F-4D1D-9478-5998391B1B27}"/>
          </ac:picMkLst>
        </pc:picChg>
        <pc:picChg chg="add mod">
          <ac:chgData name="William Ricardo Rodríguez Dueñas" userId="ba4d89e2-4f4b-4d11-bd59-56b1da6828aa" providerId="ADAL" clId="{96EC88D8-D662-44E4-8BC4-A83C2FFF5384}" dt="2024-11-01T16:48:34.896" v="122" actId="1076"/>
          <ac:picMkLst>
            <pc:docMk/>
            <pc:sldMk cId="1096225229" sldId="322"/>
            <ac:picMk id="8" creationId="{E4E16795-EEED-491E-87DD-1857406090EA}"/>
          </ac:picMkLst>
        </pc:picChg>
        <pc:picChg chg="add mod">
          <ac:chgData name="William Ricardo Rodríguez Dueñas" userId="ba4d89e2-4f4b-4d11-bd59-56b1da6828aa" providerId="ADAL" clId="{96EC88D8-D662-44E4-8BC4-A83C2FFF5384}" dt="2024-11-01T16:46:14.712" v="105" actId="1076"/>
          <ac:picMkLst>
            <pc:docMk/>
            <pc:sldMk cId="1096225229" sldId="322"/>
            <ac:picMk id="9" creationId="{B886B296-84B6-4CFC-A5C6-3B6E00CF22CE}"/>
          </ac:picMkLst>
        </pc:picChg>
      </pc:sldChg>
      <pc:sldChg chg="addSp delSp modSp add">
        <pc:chgData name="William Ricardo Rodríguez Dueñas" userId="ba4d89e2-4f4b-4d11-bd59-56b1da6828aa" providerId="ADAL" clId="{96EC88D8-D662-44E4-8BC4-A83C2FFF5384}" dt="2024-11-01T16:50:24.823" v="138" actId="1076"/>
        <pc:sldMkLst>
          <pc:docMk/>
          <pc:sldMk cId="3312461044" sldId="323"/>
        </pc:sldMkLst>
        <pc:spChg chg="del">
          <ac:chgData name="William Ricardo Rodríguez Dueñas" userId="ba4d89e2-4f4b-4d11-bd59-56b1da6828aa" providerId="ADAL" clId="{96EC88D8-D662-44E4-8BC4-A83C2FFF5384}" dt="2024-11-01T16:49:04.513" v="124" actId="478"/>
          <ac:spMkLst>
            <pc:docMk/>
            <pc:sldMk cId="3312461044" sldId="323"/>
            <ac:spMk id="6" creationId="{0DD666BF-3A30-4C93-B847-9012B1D92C73}"/>
          </ac:spMkLst>
        </pc:spChg>
        <pc:picChg chg="add mod">
          <ac:chgData name="William Ricardo Rodríguez Dueñas" userId="ba4d89e2-4f4b-4d11-bd59-56b1da6828aa" providerId="ADAL" clId="{96EC88D8-D662-44E4-8BC4-A83C2FFF5384}" dt="2024-11-01T16:50:24.823" v="138" actId="1076"/>
          <ac:picMkLst>
            <pc:docMk/>
            <pc:sldMk cId="3312461044" sldId="323"/>
            <ac:picMk id="2" creationId="{E7FEA671-0359-47F1-AD7F-B2EDFFA54505}"/>
          </ac:picMkLst>
        </pc:picChg>
        <pc:picChg chg="add mod">
          <ac:chgData name="William Ricardo Rodríguez Dueñas" userId="ba4d89e2-4f4b-4d11-bd59-56b1da6828aa" providerId="ADAL" clId="{96EC88D8-D662-44E4-8BC4-A83C2FFF5384}" dt="2024-11-01T16:50:22.286" v="137" actId="1076"/>
          <ac:picMkLst>
            <pc:docMk/>
            <pc:sldMk cId="3312461044" sldId="323"/>
            <ac:picMk id="4" creationId="{57D90A84-77E3-4949-903B-C882C0F43B60}"/>
          </ac:picMkLst>
        </pc:picChg>
        <pc:picChg chg="add mod">
          <ac:chgData name="William Ricardo Rodríguez Dueñas" userId="ba4d89e2-4f4b-4d11-bd59-56b1da6828aa" providerId="ADAL" clId="{96EC88D8-D662-44E4-8BC4-A83C2FFF5384}" dt="2024-11-01T16:50:15.255" v="135" actId="1076"/>
          <ac:picMkLst>
            <pc:docMk/>
            <pc:sldMk cId="3312461044" sldId="323"/>
            <ac:picMk id="5" creationId="{0F551FEA-766B-4B98-B1DD-CAFFB0C4C081}"/>
          </ac:picMkLst>
        </pc:picChg>
        <pc:picChg chg="del">
          <ac:chgData name="William Ricardo Rodríguez Dueñas" userId="ba4d89e2-4f4b-4d11-bd59-56b1da6828aa" providerId="ADAL" clId="{96EC88D8-D662-44E4-8BC4-A83C2FFF5384}" dt="2024-11-01T16:47:10.734" v="109" actId="478"/>
          <ac:picMkLst>
            <pc:docMk/>
            <pc:sldMk cId="3312461044" sldId="323"/>
            <ac:picMk id="7" creationId="{76DE6A37-B03F-4D1D-9478-5998391B1B27}"/>
          </ac:picMkLst>
        </pc:picChg>
        <pc:picChg chg="del">
          <ac:chgData name="William Ricardo Rodríguez Dueñas" userId="ba4d89e2-4f4b-4d11-bd59-56b1da6828aa" providerId="ADAL" clId="{96EC88D8-D662-44E4-8BC4-A83C2FFF5384}" dt="2024-11-01T16:47:11.129" v="110" actId="478"/>
          <ac:picMkLst>
            <pc:docMk/>
            <pc:sldMk cId="3312461044" sldId="323"/>
            <ac:picMk id="8" creationId="{E4E16795-EEED-491E-87DD-1857406090EA}"/>
          </ac:picMkLst>
        </pc:picChg>
        <pc:picChg chg="del">
          <ac:chgData name="William Ricardo Rodríguez Dueñas" userId="ba4d89e2-4f4b-4d11-bd59-56b1da6828aa" providerId="ADAL" clId="{96EC88D8-D662-44E4-8BC4-A83C2FFF5384}" dt="2024-11-01T16:47:11.662" v="111" actId="478"/>
          <ac:picMkLst>
            <pc:docMk/>
            <pc:sldMk cId="3312461044" sldId="323"/>
            <ac:picMk id="9" creationId="{B886B296-84B6-4CFC-A5C6-3B6E00CF22CE}"/>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13/11/2025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13/11/2025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65163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04967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365744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1232134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464190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946804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20599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4044302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30800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348719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333884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607887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11939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0759486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177531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29E51-5447-CB24-D4A8-FAE3C2D643C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28F2C8-CFD2-0502-63B6-AC5FC7D02413}"/>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240CCF88-0B0F-C5CA-4242-484B3350F511}"/>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569092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46099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282614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393435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5C534-36EA-05BC-A4D5-56403D3360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91D592-31FB-C2FD-5A63-39BFCFCE13C5}"/>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FAC71258-D9C2-45A2-79AA-39F5D74B73B9}"/>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932504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10.jpe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notesSlide" Target="../notesSlides/notesSlide6.xml"/><Relationship Id="rId7" Type="http://schemas.openxmlformats.org/officeDocument/2006/relationships/image" Target="../media/image18.png"/><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8.xml"/><Relationship Id="rId5" Type="http://schemas.openxmlformats.org/officeDocument/2006/relationships/image" Target="../media/image2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hyperlink" Target="https://www.youtube.com/watch?v=Y7WX8G6enbc" TargetMode="Externa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13.xml"/><Relationship Id="rId7" Type="http://schemas.openxmlformats.org/officeDocument/2006/relationships/image" Target="../media/image36.png"/><Relationship Id="rId2" Type="http://schemas.openxmlformats.org/officeDocument/2006/relationships/slideLayout" Target="../slideLayouts/slideLayout4.xml"/><Relationship Id="rId1" Type="http://schemas.openxmlformats.org/officeDocument/2006/relationships/tags" Target="../tags/tag13.xml"/><Relationship Id="rId6" Type="http://schemas.openxmlformats.org/officeDocument/2006/relationships/image" Target="../media/image35.png"/><Relationship Id="rId5" Type="http://schemas.openxmlformats.org/officeDocument/2006/relationships/image" Target="../media/image34.jfif"/><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15.xml"/><Relationship Id="rId7" Type="http://schemas.openxmlformats.org/officeDocument/2006/relationships/image" Target="../media/image44.png"/><Relationship Id="rId2" Type="http://schemas.openxmlformats.org/officeDocument/2006/relationships/slideLayout" Target="../slideLayouts/slideLayout4.xml"/><Relationship Id="rId1" Type="http://schemas.openxmlformats.org/officeDocument/2006/relationships/tags" Target="../tags/tag15.xml"/><Relationship Id="rId6" Type="http://schemas.openxmlformats.org/officeDocument/2006/relationships/image" Target="../media/image43.png"/><Relationship Id="rId5" Type="http://schemas.openxmlformats.org/officeDocument/2006/relationships/image" Target="../media/image42.jpeg"/><Relationship Id="rId4" Type="http://schemas.openxmlformats.org/officeDocument/2006/relationships/image" Target="../media/image4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 Id="rId6" Type="http://schemas.openxmlformats.org/officeDocument/2006/relationships/image" Target="../media/image48.png"/><Relationship Id="rId5" Type="http://schemas.openxmlformats.org/officeDocument/2006/relationships/image" Target="../media/image47.jpeg"/><Relationship Id="rId4"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52.png"/><Relationship Id="rId2" Type="http://schemas.openxmlformats.org/officeDocument/2006/relationships/slideLayout" Target="../slideLayouts/slideLayout4.xml"/><Relationship Id="rId1" Type="http://schemas.openxmlformats.org/officeDocument/2006/relationships/tags" Target="../tags/tag1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8.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9.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0.xml"/><Relationship Id="rId6" Type="http://schemas.openxmlformats.org/officeDocument/2006/relationships/hyperlink" Target="https://www.youtube.com/watch?v=sgrq_4sF-D4&amp;t=399s" TargetMode="External"/><Relationship Id="rId5" Type="http://schemas.openxmlformats.org/officeDocument/2006/relationships/image" Target="../media/image60.png"/><Relationship Id="rId4" Type="http://schemas.openxmlformats.org/officeDocument/2006/relationships/image" Target="../media/image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689369"/>
            <a:ext cx="5303520" cy="674670"/>
          </a:xfrm>
        </p:spPr>
        <p:txBody>
          <a:bodyPr>
            <a:normAutofit fontScale="90000"/>
          </a:bodyPr>
          <a:lstStyle/>
          <a:p>
            <a:pPr algn="ctr"/>
            <a:r>
              <a:rPr lang="es-ES_tradnl" sz="2800" dirty="0"/>
              <a:t>Instrumentación para la agroindustria</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Introduction</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pic>
        <p:nvPicPr>
          <p:cNvPr id="4" name="Imagen 3">
            <a:extLst>
              <a:ext uri="{FF2B5EF4-FFF2-40B4-BE49-F238E27FC236}">
                <a16:creationId xmlns:a16="http://schemas.microsoft.com/office/drawing/2014/main" id="{A2617AA1-F15E-423B-B343-53A2FB524F76}"/>
              </a:ext>
            </a:extLst>
          </p:cNvPr>
          <p:cNvPicPr>
            <a:picLocks noChangeAspect="1"/>
          </p:cNvPicPr>
          <p:nvPr/>
        </p:nvPicPr>
        <p:blipFill>
          <a:blip r:embed="rId4"/>
          <a:stretch>
            <a:fillRect/>
          </a:stretch>
        </p:blipFill>
        <p:spPr>
          <a:xfrm>
            <a:off x="5148540" y="1822169"/>
            <a:ext cx="3413070" cy="2939033"/>
          </a:xfrm>
          <a:prstGeom prst="rect">
            <a:avLst/>
          </a:prstGeom>
          <a:ln>
            <a:solidFill>
              <a:schemeClr val="bg1">
                <a:lumMod val="50000"/>
              </a:schemeClr>
            </a:solidFill>
          </a:ln>
        </p:spPr>
      </p:pic>
      <p:pic>
        <p:nvPicPr>
          <p:cNvPr id="5" name="Imagen 4">
            <a:extLst>
              <a:ext uri="{FF2B5EF4-FFF2-40B4-BE49-F238E27FC236}">
                <a16:creationId xmlns:a16="http://schemas.microsoft.com/office/drawing/2014/main" id="{940E0FED-F8F2-4241-A6F9-E6E41B49D63D}"/>
              </a:ext>
            </a:extLst>
          </p:cNvPr>
          <p:cNvPicPr>
            <a:picLocks noChangeAspect="1"/>
          </p:cNvPicPr>
          <p:nvPr/>
        </p:nvPicPr>
        <p:blipFill>
          <a:blip r:embed="rId5"/>
          <a:stretch>
            <a:fillRect/>
          </a:stretch>
        </p:blipFill>
        <p:spPr>
          <a:xfrm>
            <a:off x="582392" y="1598137"/>
            <a:ext cx="3413070" cy="3387096"/>
          </a:xfrm>
          <a:prstGeom prst="rect">
            <a:avLst/>
          </a:prstGeom>
          <a:ln>
            <a:solidFill>
              <a:schemeClr val="bg1">
                <a:lumMod val="50000"/>
              </a:schemeClr>
            </a:solidFill>
          </a:ln>
        </p:spPr>
      </p:pic>
      <p:sp>
        <p:nvSpPr>
          <p:cNvPr id="6" name="Rectángulo 5">
            <a:extLst>
              <a:ext uri="{FF2B5EF4-FFF2-40B4-BE49-F238E27FC236}">
                <a16:creationId xmlns:a16="http://schemas.microsoft.com/office/drawing/2014/main" id="{1FC34DC2-7813-4A1D-9F4E-E7D287DAD6D0}"/>
              </a:ext>
            </a:extLst>
          </p:cNvPr>
          <p:cNvSpPr/>
          <p:nvPr/>
        </p:nvSpPr>
        <p:spPr>
          <a:xfrm>
            <a:off x="155509" y="579495"/>
            <a:ext cx="3117520" cy="338554"/>
          </a:xfrm>
          <a:prstGeom prst="rect">
            <a:avLst/>
          </a:prstGeom>
        </p:spPr>
        <p:txBody>
          <a:bodyPr wrap="none">
            <a:spAutoFit/>
          </a:bodyPr>
          <a:lstStyle/>
          <a:p>
            <a:r>
              <a:rPr lang="es-ES_tradnl" sz="1600" dirty="0">
                <a:solidFill>
                  <a:srgbClr val="2C5697"/>
                </a:solidFill>
              </a:rPr>
              <a:t>¿</a:t>
            </a:r>
            <a:r>
              <a:rPr lang="es-ES_tradnl" sz="1600" dirty="0" err="1">
                <a:solidFill>
                  <a:srgbClr val="2C5697"/>
                </a:solidFill>
              </a:rPr>
              <a:t>Why</a:t>
            </a:r>
            <a:r>
              <a:rPr lang="es-ES_tradnl" sz="1600" dirty="0">
                <a:solidFill>
                  <a:srgbClr val="2C5697"/>
                </a:solidFill>
              </a:rPr>
              <a:t> </a:t>
            </a:r>
            <a:r>
              <a:rPr lang="es-ES_tradnl" sz="1600" dirty="0" err="1">
                <a:solidFill>
                  <a:srgbClr val="2C5697"/>
                </a:solidFill>
              </a:rPr>
              <a:t>technologies</a:t>
            </a:r>
            <a:r>
              <a:rPr lang="es-ES_tradnl" sz="1600" dirty="0">
                <a:solidFill>
                  <a:srgbClr val="2C5697"/>
                </a:solidFill>
              </a:rPr>
              <a:t> in </a:t>
            </a:r>
            <a:r>
              <a:rPr lang="es-ES_tradnl" sz="1600" dirty="0" err="1">
                <a:solidFill>
                  <a:srgbClr val="2C5697"/>
                </a:solidFill>
              </a:rPr>
              <a:t>agriculture</a:t>
            </a:r>
            <a:r>
              <a:rPr lang="es-ES_tradnl" sz="1600" dirty="0">
                <a:solidFill>
                  <a:srgbClr val="2C5697"/>
                </a:solidFill>
              </a:rPr>
              <a:t>?</a:t>
            </a:r>
            <a:endParaRPr lang="es-CO" sz="1600" dirty="0">
              <a:solidFill>
                <a:srgbClr val="2C5697"/>
              </a:solidFill>
            </a:endParaRPr>
          </a:p>
        </p:txBody>
      </p:sp>
    </p:spTree>
    <p:custDataLst>
      <p:tags r:id="rId1"/>
    </p:custDataLst>
    <p:extLst>
      <p:ext uri="{BB962C8B-B14F-4D97-AF65-F5344CB8AC3E}">
        <p14:creationId xmlns:p14="http://schemas.microsoft.com/office/powerpoint/2010/main" val="3076905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3989957" y="1222118"/>
            <a:ext cx="4669163" cy="338554"/>
          </a:xfrm>
          <a:prstGeom prst="rect">
            <a:avLst/>
          </a:prstGeom>
        </p:spPr>
        <p:txBody>
          <a:bodyPr wrap="none">
            <a:spAutoFit/>
          </a:bodyPr>
          <a:lstStyle/>
          <a:p>
            <a:r>
              <a:rPr lang="es-CO" sz="1600" dirty="0">
                <a:solidFill>
                  <a:srgbClr val="2C5697"/>
                </a:solidFill>
              </a:rPr>
              <a:t>GPS and </a:t>
            </a:r>
            <a:r>
              <a:rPr lang="es-CO" sz="1600" dirty="0" err="1">
                <a:solidFill>
                  <a:srgbClr val="2C5697"/>
                </a:solidFill>
              </a:rPr>
              <a:t>Differential</a:t>
            </a:r>
            <a:r>
              <a:rPr lang="es-CO" sz="1600" dirty="0">
                <a:solidFill>
                  <a:srgbClr val="2C5697"/>
                </a:solidFill>
              </a:rPr>
              <a:t> Global </a:t>
            </a:r>
            <a:r>
              <a:rPr lang="es-CO" sz="1600" dirty="0" err="1">
                <a:solidFill>
                  <a:srgbClr val="2C5697"/>
                </a:solidFill>
              </a:rPr>
              <a:t>Positioning</a:t>
            </a:r>
            <a:r>
              <a:rPr lang="es-CO" sz="1600" dirty="0">
                <a:solidFill>
                  <a:srgbClr val="2C5697"/>
                </a:solidFill>
              </a:rPr>
              <a:t> </a:t>
            </a:r>
            <a:r>
              <a:rPr lang="es-CO" sz="1600" dirty="0" err="1">
                <a:solidFill>
                  <a:srgbClr val="2C5697"/>
                </a:solidFill>
              </a:rPr>
              <a:t>System</a:t>
            </a:r>
            <a:r>
              <a:rPr lang="es-CO" sz="1600" dirty="0">
                <a:solidFill>
                  <a:srgbClr val="2C5697"/>
                </a:solidFill>
              </a:rPr>
              <a:t> (DGPS)</a:t>
            </a:r>
          </a:p>
        </p:txBody>
      </p:sp>
      <p:pic>
        <p:nvPicPr>
          <p:cNvPr id="5" name="Imagen 4">
            <a:extLst>
              <a:ext uri="{FF2B5EF4-FFF2-40B4-BE49-F238E27FC236}">
                <a16:creationId xmlns:a16="http://schemas.microsoft.com/office/drawing/2014/main" id="{996006FC-ED98-4D07-9588-D6B1A334229D}"/>
              </a:ext>
            </a:extLst>
          </p:cNvPr>
          <p:cNvPicPr>
            <a:picLocks noChangeAspect="1"/>
          </p:cNvPicPr>
          <p:nvPr/>
        </p:nvPicPr>
        <p:blipFill>
          <a:blip r:embed="rId4"/>
          <a:stretch>
            <a:fillRect/>
          </a:stretch>
        </p:blipFill>
        <p:spPr>
          <a:xfrm>
            <a:off x="4502083" y="2202485"/>
            <a:ext cx="4191158" cy="2970327"/>
          </a:xfrm>
          <a:prstGeom prst="rect">
            <a:avLst/>
          </a:prstGeom>
        </p:spPr>
      </p:pic>
      <p:pic>
        <p:nvPicPr>
          <p:cNvPr id="6" name="Imagen 5">
            <a:extLst>
              <a:ext uri="{FF2B5EF4-FFF2-40B4-BE49-F238E27FC236}">
                <a16:creationId xmlns:a16="http://schemas.microsoft.com/office/drawing/2014/main" id="{BD332B7C-0071-4AC1-920D-8ADA5C8D8708}"/>
              </a:ext>
            </a:extLst>
          </p:cNvPr>
          <p:cNvPicPr>
            <a:picLocks noChangeAspect="1"/>
          </p:cNvPicPr>
          <p:nvPr/>
        </p:nvPicPr>
        <p:blipFill>
          <a:blip r:embed="rId5"/>
          <a:stretch>
            <a:fillRect/>
          </a:stretch>
        </p:blipFill>
        <p:spPr>
          <a:xfrm>
            <a:off x="261463" y="1222118"/>
            <a:ext cx="3044676" cy="1960733"/>
          </a:xfrm>
          <a:prstGeom prst="rect">
            <a:avLst/>
          </a:prstGeom>
        </p:spPr>
      </p:pic>
    </p:spTree>
    <p:custDataLst>
      <p:tags r:id="rId1"/>
    </p:custDataLst>
    <p:extLst>
      <p:ext uri="{BB962C8B-B14F-4D97-AF65-F5344CB8AC3E}">
        <p14:creationId xmlns:p14="http://schemas.microsoft.com/office/powerpoint/2010/main" val="621273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301832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1" y="74589"/>
            <a:ext cx="3001494" cy="646331"/>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841812" y="1406559"/>
            <a:ext cx="1857624" cy="338554"/>
          </a:xfrm>
          <a:prstGeom prst="rect">
            <a:avLst/>
          </a:prstGeom>
        </p:spPr>
        <p:txBody>
          <a:bodyPr wrap="none">
            <a:spAutoFit/>
          </a:bodyPr>
          <a:lstStyle/>
          <a:p>
            <a:r>
              <a:rPr lang="es-CO" sz="1600" dirty="0">
                <a:solidFill>
                  <a:srgbClr val="2C5697"/>
                </a:solidFill>
              </a:rPr>
              <a:t>Sensor </a:t>
            </a:r>
            <a:r>
              <a:rPr lang="es-CO" sz="1600" dirty="0" err="1">
                <a:solidFill>
                  <a:srgbClr val="2C5697"/>
                </a:solidFill>
              </a:rPr>
              <a:t>technologies</a:t>
            </a:r>
            <a:endParaRPr lang="es-CO" sz="1600" dirty="0">
              <a:solidFill>
                <a:srgbClr val="2C5697"/>
              </a:solidFill>
            </a:endParaRPr>
          </a:p>
        </p:txBody>
      </p:sp>
      <p:pic>
        <p:nvPicPr>
          <p:cNvPr id="2" name="Imagen 1">
            <a:extLst>
              <a:ext uri="{FF2B5EF4-FFF2-40B4-BE49-F238E27FC236}">
                <a16:creationId xmlns:a16="http://schemas.microsoft.com/office/drawing/2014/main" id="{C8CD84AC-30D6-4756-BED1-B5F6821D07AD}"/>
              </a:ext>
            </a:extLst>
          </p:cNvPr>
          <p:cNvPicPr>
            <a:picLocks noChangeAspect="1"/>
          </p:cNvPicPr>
          <p:nvPr/>
        </p:nvPicPr>
        <p:blipFill>
          <a:blip r:embed="rId4"/>
          <a:stretch>
            <a:fillRect/>
          </a:stretch>
        </p:blipFill>
        <p:spPr>
          <a:xfrm>
            <a:off x="4020229" y="62183"/>
            <a:ext cx="4833074" cy="5692288"/>
          </a:xfrm>
          <a:prstGeom prst="rect">
            <a:avLst/>
          </a:prstGeom>
          <a:ln>
            <a:solidFill>
              <a:schemeClr val="bg1">
                <a:lumMod val="50000"/>
              </a:schemeClr>
            </a:solidFill>
          </a:ln>
        </p:spPr>
      </p:pic>
      <p:pic>
        <p:nvPicPr>
          <p:cNvPr id="1026" name="Picture 2" descr="How LIDAR is Transforming Remote Solar System Design | Aurora Solar">
            <a:extLst>
              <a:ext uri="{FF2B5EF4-FFF2-40B4-BE49-F238E27FC236}">
                <a16:creationId xmlns:a16="http://schemas.microsoft.com/office/drawing/2014/main" id="{841D7A04-140D-449E-8879-5BE876AE2A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205" y="2461846"/>
            <a:ext cx="3122837" cy="208243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6011581C-04D5-4D13-8AF0-3A23C69FA351}"/>
              </a:ext>
            </a:extLst>
          </p:cNvPr>
          <p:cNvSpPr/>
          <p:nvPr/>
        </p:nvSpPr>
        <p:spPr>
          <a:xfrm>
            <a:off x="598821" y="4822781"/>
            <a:ext cx="2838730" cy="307777"/>
          </a:xfrm>
          <a:prstGeom prst="rect">
            <a:avLst/>
          </a:prstGeom>
        </p:spPr>
        <p:txBody>
          <a:bodyPr wrap="square">
            <a:spAutoFit/>
          </a:bodyPr>
          <a:lstStyle/>
          <a:p>
            <a:r>
              <a:rPr lang="es-ES" sz="700" dirty="0" err="1">
                <a:latin typeface="Arial"/>
              </a:rPr>
              <a:t>Fuente:https</a:t>
            </a:r>
            <a:r>
              <a:rPr lang="es-ES" sz="700" dirty="0">
                <a:latin typeface="Arial"/>
              </a:rPr>
              <a:t>://aurorasolar.com/blog/</a:t>
            </a:r>
            <a:r>
              <a:rPr lang="es-ES" sz="700" dirty="0" err="1">
                <a:latin typeface="Arial"/>
              </a:rPr>
              <a:t>how</a:t>
            </a:r>
            <a:r>
              <a:rPr lang="es-ES" sz="700" dirty="0">
                <a:latin typeface="Arial"/>
              </a:rPr>
              <a:t>-</a:t>
            </a:r>
            <a:r>
              <a:rPr lang="es-ES" sz="700" dirty="0" err="1">
                <a:latin typeface="Arial"/>
              </a:rPr>
              <a:t>lidar</a:t>
            </a:r>
            <a:r>
              <a:rPr lang="es-ES" sz="700" dirty="0">
                <a:latin typeface="Arial"/>
              </a:rPr>
              <a:t>-</a:t>
            </a:r>
            <a:r>
              <a:rPr lang="es-ES" sz="700" dirty="0" err="1">
                <a:latin typeface="Arial"/>
              </a:rPr>
              <a:t>is</a:t>
            </a:r>
            <a:r>
              <a:rPr lang="es-ES" sz="700" dirty="0">
                <a:latin typeface="Arial"/>
              </a:rPr>
              <a:t>-</a:t>
            </a:r>
            <a:r>
              <a:rPr lang="es-ES" sz="700" dirty="0" err="1">
                <a:latin typeface="Arial"/>
              </a:rPr>
              <a:t>transforming</a:t>
            </a:r>
            <a:r>
              <a:rPr lang="es-ES" sz="700" dirty="0">
                <a:latin typeface="Arial"/>
              </a:rPr>
              <a:t>-</a:t>
            </a:r>
            <a:r>
              <a:rPr lang="es-ES" sz="700" dirty="0" err="1">
                <a:latin typeface="Arial"/>
              </a:rPr>
              <a:t>remote</a:t>
            </a:r>
            <a:r>
              <a:rPr lang="es-ES" sz="700" dirty="0">
                <a:latin typeface="Arial"/>
              </a:rPr>
              <a:t>-solar-</a:t>
            </a:r>
            <a:r>
              <a:rPr lang="es-ES" sz="700" dirty="0" err="1">
                <a:latin typeface="Arial"/>
              </a:rPr>
              <a:t>system</a:t>
            </a:r>
            <a:r>
              <a:rPr lang="es-ES" sz="700" dirty="0">
                <a:latin typeface="Arial"/>
              </a:rPr>
              <a:t>-</a:t>
            </a:r>
            <a:r>
              <a:rPr lang="es-ES" sz="700" dirty="0" err="1">
                <a:latin typeface="Arial"/>
              </a:rPr>
              <a:t>design</a:t>
            </a:r>
            <a:r>
              <a:rPr lang="es-ES" sz="700" dirty="0">
                <a:latin typeface="Arial"/>
              </a:rPr>
              <a:t>/</a:t>
            </a:r>
            <a:endParaRPr lang="es-CO" sz="1600" dirty="0"/>
          </a:p>
        </p:txBody>
      </p:sp>
      <p:sp>
        <p:nvSpPr>
          <p:cNvPr id="11" name="Rectángulo 3">
            <a:extLst>
              <a:ext uri="{FF2B5EF4-FFF2-40B4-BE49-F238E27FC236}">
                <a16:creationId xmlns:a16="http://schemas.microsoft.com/office/drawing/2014/main" id="{C4217B51-3607-457E-BD7F-8AA844FA954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3999946"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Tree>
    <p:custDataLst>
      <p:tags r:id="rId1"/>
    </p:custDataLst>
    <p:extLst>
      <p:ext uri="{BB962C8B-B14F-4D97-AF65-F5344CB8AC3E}">
        <p14:creationId xmlns:p14="http://schemas.microsoft.com/office/powerpoint/2010/main" val="2523327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7236058" y="74589"/>
            <a:ext cx="1857624" cy="338554"/>
          </a:xfrm>
          <a:prstGeom prst="rect">
            <a:avLst/>
          </a:prstGeom>
        </p:spPr>
        <p:txBody>
          <a:bodyPr wrap="none">
            <a:spAutoFit/>
          </a:bodyPr>
          <a:lstStyle/>
          <a:p>
            <a:r>
              <a:rPr lang="es-CO" sz="1600" dirty="0">
                <a:solidFill>
                  <a:srgbClr val="2C5697"/>
                </a:solidFill>
              </a:rPr>
              <a:t>Sensor </a:t>
            </a:r>
            <a:r>
              <a:rPr lang="es-CO" sz="1600" dirty="0" err="1">
                <a:solidFill>
                  <a:srgbClr val="2C5697"/>
                </a:solidFill>
              </a:rPr>
              <a:t>technologies</a:t>
            </a:r>
            <a:endParaRPr lang="es-CO" sz="1600" dirty="0">
              <a:solidFill>
                <a:srgbClr val="2C5697"/>
              </a:solidFill>
            </a:endParaRPr>
          </a:p>
        </p:txBody>
      </p:sp>
      <p:pic>
        <p:nvPicPr>
          <p:cNvPr id="7" name="Imagen 6">
            <a:extLst>
              <a:ext uri="{FF2B5EF4-FFF2-40B4-BE49-F238E27FC236}">
                <a16:creationId xmlns:a16="http://schemas.microsoft.com/office/drawing/2014/main" id="{937CB296-DB6E-4310-A69E-0E0BCC271C0C}"/>
              </a:ext>
            </a:extLst>
          </p:cNvPr>
          <p:cNvPicPr>
            <a:picLocks noChangeAspect="1"/>
          </p:cNvPicPr>
          <p:nvPr/>
        </p:nvPicPr>
        <p:blipFill>
          <a:blip r:embed="rId4"/>
          <a:stretch>
            <a:fillRect/>
          </a:stretch>
        </p:blipFill>
        <p:spPr>
          <a:xfrm>
            <a:off x="3668224" y="971994"/>
            <a:ext cx="5078069" cy="4178828"/>
          </a:xfrm>
          <a:prstGeom prst="rect">
            <a:avLst/>
          </a:prstGeom>
          <a:ln>
            <a:solidFill>
              <a:schemeClr val="bg1">
                <a:lumMod val="50000"/>
              </a:schemeClr>
            </a:solidFill>
          </a:ln>
        </p:spPr>
      </p:pic>
      <p:pic>
        <p:nvPicPr>
          <p:cNvPr id="2" name="Imagen 1">
            <a:extLst>
              <a:ext uri="{FF2B5EF4-FFF2-40B4-BE49-F238E27FC236}">
                <a16:creationId xmlns:a16="http://schemas.microsoft.com/office/drawing/2014/main" id="{4BA4371B-9BE9-405B-9076-84B973BDA8DB}"/>
              </a:ext>
            </a:extLst>
          </p:cNvPr>
          <p:cNvPicPr>
            <a:picLocks noChangeAspect="1"/>
          </p:cNvPicPr>
          <p:nvPr/>
        </p:nvPicPr>
        <p:blipFill>
          <a:blip r:embed="rId5"/>
          <a:stretch>
            <a:fillRect/>
          </a:stretch>
        </p:blipFill>
        <p:spPr>
          <a:xfrm>
            <a:off x="656518" y="740943"/>
            <a:ext cx="1832327" cy="4730262"/>
          </a:xfrm>
          <a:prstGeom prst="rect">
            <a:avLst/>
          </a:prstGeom>
        </p:spPr>
      </p:pic>
      <p:sp>
        <p:nvSpPr>
          <p:cNvPr id="5" name="Rectángulo 4">
            <a:extLst>
              <a:ext uri="{FF2B5EF4-FFF2-40B4-BE49-F238E27FC236}">
                <a16:creationId xmlns:a16="http://schemas.microsoft.com/office/drawing/2014/main" id="{90102236-827E-4F80-B8A1-7BDD97A1F1EA}"/>
              </a:ext>
            </a:extLst>
          </p:cNvPr>
          <p:cNvSpPr/>
          <p:nvPr/>
        </p:nvSpPr>
        <p:spPr>
          <a:xfrm>
            <a:off x="493312" y="5517373"/>
            <a:ext cx="2318263" cy="200055"/>
          </a:xfrm>
          <a:prstGeom prst="rect">
            <a:avLst/>
          </a:prstGeom>
        </p:spPr>
        <p:txBody>
          <a:bodyPr wrap="none">
            <a:spAutoFit/>
          </a:bodyPr>
          <a:lstStyle/>
          <a:p>
            <a:r>
              <a:rPr lang="es-ES" sz="700" dirty="0">
                <a:latin typeface="Arial"/>
              </a:rPr>
              <a:t>Fuente: https://en.wikipedia.org/wiki/Eddy_covariance</a:t>
            </a:r>
            <a:endParaRPr lang="es-CO" sz="1600" dirty="0"/>
          </a:p>
        </p:txBody>
      </p:sp>
    </p:spTree>
    <p:custDataLst>
      <p:tags r:id="rId1"/>
    </p:custDataLst>
    <p:extLst>
      <p:ext uri="{BB962C8B-B14F-4D97-AF65-F5344CB8AC3E}">
        <p14:creationId xmlns:p14="http://schemas.microsoft.com/office/powerpoint/2010/main" val="1754328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7236058" y="74589"/>
            <a:ext cx="1857624" cy="338554"/>
          </a:xfrm>
          <a:prstGeom prst="rect">
            <a:avLst/>
          </a:prstGeom>
        </p:spPr>
        <p:txBody>
          <a:bodyPr wrap="none">
            <a:spAutoFit/>
          </a:bodyPr>
          <a:lstStyle/>
          <a:p>
            <a:r>
              <a:rPr lang="es-CO" sz="1600" dirty="0">
                <a:solidFill>
                  <a:srgbClr val="2C5697"/>
                </a:solidFill>
              </a:rPr>
              <a:t>Sensor </a:t>
            </a:r>
            <a:r>
              <a:rPr lang="es-CO" sz="1600" dirty="0" err="1">
                <a:solidFill>
                  <a:srgbClr val="2C5697"/>
                </a:solidFill>
              </a:rPr>
              <a:t>technologies</a:t>
            </a:r>
            <a:endParaRPr lang="es-CO" sz="1600" dirty="0">
              <a:solidFill>
                <a:srgbClr val="2C5697"/>
              </a:solidFill>
            </a:endParaRPr>
          </a:p>
        </p:txBody>
      </p:sp>
      <p:pic>
        <p:nvPicPr>
          <p:cNvPr id="2" name="Imagen 1">
            <a:extLst>
              <a:ext uri="{FF2B5EF4-FFF2-40B4-BE49-F238E27FC236}">
                <a16:creationId xmlns:a16="http://schemas.microsoft.com/office/drawing/2014/main" id="{85971230-3AC7-49EB-ADD7-A99EE83443E3}"/>
              </a:ext>
            </a:extLst>
          </p:cNvPr>
          <p:cNvPicPr>
            <a:picLocks noChangeAspect="1"/>
          </p:cNvPicPr>
          <p:nvPr/>
        </p:nvPicPr>
        <p:blipFill>
          <a:blip r:embed="rId4"/>
          <a:stretch>
            <a:fillRect/>
          </a:stretch>
        </p:blipFill>
        <p:spPr>
          <a:xfrm>
            <a:off x="159818" y="748772"/>
            <a:ext cx="4099832" cy="3357561"/>
          </a:xfrm>
          <a:prstGeom prst="rect">
            <a:avLst/>
          </a:prstGeom>
        </p:spPr>
      </p:pic>
      <p:pic>
        <p:nvPicPr>
          <p:cNvPr id="5" name="Imagen 4">
            <a:extLst>
              <a:ext uri="{FF2B5EF4-FFF2-40B4-BE49-F238E27FC236}">
                <a16:creationId xmlns:a16="http://schemas.microsoft.com/office/drawing/2014/main" id="{460B9E81-069C-462E-A3D4-31DFF0D2537C}"/>
              </a:ext>
            </a:extLst>
          </p:cNvPr>
          <p:cNvPicPr>
            <a:picLocks noChangeAspect="1"/>
          </p:cNvPicPr>
          <p:nvPr/>
        </p:nvPicPr>
        <p:blipFill>
          <a:blip r:embed="rId5"/>
          <a:stretch>
            <a:fillRect/>
          </a:stretch>
        </p:blipFill>
        <p:spPr>
          <a:xfrm>
            <a:off x="4571999" y="2657856"/>
            <a:ext cx="3860801" cy="2724533"/>
          </a:xfrm>
          <a:prstGeom prst="rect">
            <a:avLst/>
          </a:prstGeom>
        </p:spPr>
      </p:pic>
    </p:spTree>
    <p:custDataLst>
      <p:tags r:id="rId1"/>
    </p:custDataLst>
    <p:extLst>
      <p:ext uri="{BB962C8B-B14F-4D97-AF65-F5344CB8AC3E}">
        <p14:creationId xmlns:p14="http://schemas.microsoft.com/office/powerpoint/2010/main" val="519767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[1]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p>
          <a:p>
            <a:r>
              <a:rPr lang="en-US" sz="700" dirty="0">
                <a:solidFill>
                  <a:schemeClr val="bg1"/>
                </a:solidFill>
                <a:latin typeface="Arial"/>
                <a:cs typeface="Calibri"/>
              </a:rPr>
              <a:t>             [2] Fuente: https://wingtra.com/es/dron-fotogrametria-vs-lidar/</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7236058" y="74589"/>
            <a:ext cx="1857624" cy="338554"/>
          </a:xfrm>
          <a:prstGeom prst="rect">
            <a:avLst/>
          </a:prstGeom>
        </p:spPr>
        <p:txBody>
          <a:bodyPr wrap="none">
            <a:spAutoFit/>
          </a:bodyPr>
          <a:lstStyle/>
          <a:p>
            <a:r>
              <a:rPr lang="es-CO" sz="1600" dirty="0">
                <a:solidFill>
                  <a:srgbClr val="2C5697"/>
                </a:solidFill>
              </a:rPr>
              <a:t>Sensor </a:t>
            </a:r>
            <a:r>
              <a:rPr lang="es-CO" sz="1600" dirty="0" err="1">
                <a:solidFill>
                  <a:srgbClr val="2C5697"/>
                </a:solidFill>
              </a:rPr>
              <a:t>technologies</a:t>
            </a:r>
            <a:endParaRPr lang="es-CO" sz="1600" dirty="0">
              <a:solidFill>
                <a:srgbClr val="2C5697"/>
              </a:solidFill>
            </a:endParaRPr>
          </a:p>
        </p:txBody>
      </p:sp>
      <p:pic>
        <p:nvPicPr>
          <p:cNvPr id="6" name="Imagen 5">
            <a:extLst>
              <a:ext uri="{FF2B5EF4-FFF2-40B4-BE49-F238E27FC236}">
                <a16:creationId xmlns:a16="http://schemas.microsoft.com/office/drawing/2014/main" id="{C1B9F33E-1D93-4FAC-920B-701FDCF14EAB}"/>
              </a:ext>
            </a:extLst>
          </p:cNvPr>
          <p:cNvPicPr>
            <a:picLocks noChangeAspect="1"/>
          </p:cNvPicPr>
          <p:nvPr/>
        </p:nvPicPr>
        <p:blipFill>
          <a:blip r:embed="rId4"/>
          <a:stretch>
            <a:fillRect/>
          </a:stretch>
        </p:blipFill>
        <p:spPr>
          <a:xfrm>
            <a:off x="329197" y="611698"/>
            <a:ext cx="3821417" cy="2588702"/>
          </a:xfrm>
          <a:prstGeom prst="rect">
            <a:avLst/>
          </a:prstGeom>
        </p:spPr>
      </p:pic>
      <p:pic>
        <p:nvPicPr>
          <p:cNvPr id="8" name="Imagen 7">
            <a:extLst>
              <a:ext uri="{FF2B5EF4-FFF2-40B4-BE49-F238E27FC236}">
                <a16:creationId xmlns:a16="http://schemas.microsoft.com/office/drawing/2014/main" id="{0CF65718-2E0D-4F73-8F35-B357D2B8E35F}"/>
              </a:ext>
            </a:extLst>
          </p:cNvPr>
          <p:cNvPicPr>
            <a:picLocks noChangeAspect="1"/>
          </p:cNvPicPr>
          <p:nvPr/>
        </p:nvPicPr>
        <p:blipFill>
          <a:blip r:embed="rId5"/>
          <a:stretch>
            <a:fillRect/>
          </a:stretch>
        </p:blipFill>
        <p:spPr>
          <a:xfrm>
            <a:off x="1818984" y="3789340"/>
            <a:ext cx="2273059" cy="1814229"/>
          </a:xfrm>
          <a:prstGeom prst="rect">
            <a:avLst/>
          </a:prstGeom>
        </p:spPr>
      </p:pic>
      <p:pic>
        <p:nvPicPr>
          <p:cNvPr id="9" name="Imagen 8">
            <a:extLst>
              <a:ext uri="{FF2B5EF4-FFF2-40B4-BE49-F238E27FC236}">
                <a16:creationId xmlns:a16="http://schemas.microsoft.com/office/drawing/2014/main" id="{D209CCEC-26B5-486D-81D9-6A154227BC97}"/>
              </a:ext>
            </a:extLst>
          </p:cNvPr>
          <p:cNvPicPr>
            <a:picLocks noChangeAspect="1"/>
          </p:cNvPicPr>
          <p:nvPr/>
        </p:nvPicPr>
        <p:blipFill>
          <a:blip r:embed="rId6"/>
          <a:stretch>
            <a:fillRect/>
          </a:stretch>
        </p:blipFill>
        <p:spPr>
          <a:xfrm>
            <a:off x="459855" y="5013498"/>
            <a:ext cx="948963" cy="341627"/>
          </a:xfrm>
          <a:prstGeom prst="rect">
            <a:avLst/>
          </a:prstGeom>
        </p:spPr>
      </p:pic>
      <p:cxnSp>
        <p:nvCxnSpPr>
          <p:cNvPr id="5" name="Conector recto 4">
            <a:extLst>
              <a:ext uri="{FF2B5EF4-FFF2-40B4-BE49-F238E27FC236}">
                <a16:creationId xmlns:a16="http://schemas.microsoft.com/office/drawing/2014/main" id="{BE76D0CD-36CD-435F-9EEB-5F35961518D8}"/>
              </a:ext>
            </a:extLst>
          </p:cNvPr>
          <p:cNvCxnSpPr/>
          <p:nvPr/>
        </p:nvCxnSpPr>
        <p:spPr>
          <a:xfrm>
            <a:off x="4572000" y="611698"/>
            <a:ext cx="0" cy="5053236"/>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
        <p:nvSpPr>
          <p:cNvPr id="13" name="Rectángulo 12">
            <a:extLst>
              <a:ext uri="{FF2B5EF4-FFF2-40B4-BE49-F238E27FC236}">
                <a16:creationId xmlns:a16="http://schemas.microsoft.com/office/drawing/2014/main" id="{EB5B0657-DB7B-4FF2-84F1-E1E7141E7BD7}"/>
              </a:ext>
            </a:extLst>
          </p:cNvPr>
          <p:cNvSpPr/>
          <p:nvPr/>
        </p:nvSpPr>
        <p:spPr>
          <a:xfrm>
            <a:off x="5444420" y="611698"/>
            <a:ext cx="2830455" cy="307777"/>
          </a:xfrm>
          <a:prstGeom prst="rect">
            <a:avLst/>
          </a:prstGeom>
        </p:spPr>
        <p:txBody>
          <a:bodyPr wrap="none">
            <a:spAutoFit/>
          </a:bodyPr>
          <a:lstStyle/>
          <a:p>
            <a:r>
              <a:rPr lang="es-CO" sz="1400" dirty="0" err="1">
                <a:solidFill>
                  <a:srgbClr val="2C5697"/>
                </a:solidFill>
              </a:rPr>
              <a:t>LiDAR</a:t>
            </a:r>
            <a:r>
              <a:rPr lang="es-CO" sz="1400" dirty="0">
                <a:solidFill>
                  <a:srgbClr val="2C5697"/>
                </a:solidFill>
              </a:rPr>
              <a:t> (Light </a:t>
            </a:r>
            <a:r>
              <a:rPr lang="es-CO" sz="1400" dirty="0" err="1">
                <a:solidFill>
                  <a:srgbClr val="2C5697"/>
                </a:solidFill>
              </a:rPr>
              <a:t>Detection</a:t>
            </a:r>
            <a:r>
              <a:rPr lang="es-CO" sz="1400" dirty="0">
                <a:solidFill>
                  <a:srgbClr val="2C5697"/>
                </a:solidFill>
              </a:rPr>
              <a:t> And </a:t>
            </a:r>
            <a:r>
              <a:rPr lang="es-CO" sz="1400" dirty="0" err="1">
                <a:solidFill>
                  <a:srgbClr val="2C5697"/>
                </a:solidFill>
              </a:rPr>
              <a:t>Ranging</a:t>
            </a:r>
            <a:r>
              <a:rPr lang="es-CO" sz="1400" dirty="0">
                <a:solidFill>
                  <a:srgbClr val="2C5697"/>
                </a:solidFill>
              </a:rPr>
              <a:t>)</a:t>
            </a:r>
          </a:p>
        </p:txBody>
      </p:sp>
      <p:pic>
        <p:nvPicPr>
          <p:cNvPr id="6148" name="Picture 4" descr="LIDAR vs photogrammetry comparison model">
            <a:extLst>
              <a:ext uri="{FF2B5EF4-FFF2-40B4-BE49-F238E27FC236}">
                <a16:creationId xmlns:a16="http://schemas.microsoft.com/office/drawing/2014/main" id="{D2965E68-57C8-4317-85A3-5610D77F1B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34164" y="1085018"/>
            <a:ext cx="2765703" cy="1832999"/>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D76C58C0-0967-4507-91A1-5BFE4A035D4A}"/>
              </a:ext>
            </a:extLst>
          </p:cNvPr>
          <p:cNvPicPr>
            <a:picLocks noChangeAspect="1"/>
          </p:cNvPicPr>
          <p:nvPr/>
        </p:nvPicPr>
        <p:blipFill>
          <a:blip r:embed="rId8"/>
          <a:stretch>
            <a:fillRect/>
          </a:stretch>
        </p:blipFill>
        <p:spPr>
          <a:xfrm>
            <a:off x="5587457" y="3083560"/>
            <a:ext cx="2659119" cy="2703494"/>
          </a:xfrm>
          <a:prstGeom prst="rect">
            <a:avLst/>
          </a:prstGeom>
        </p:spPr>
      </p:pic>
      <p:sp>
        <p:nvSpPr>
          <p:cNvPr id="17" name="Rectángulo 16">
            <a:extLst>
              <a:ext uri="{FF2B5EF4-FFF2-40B4-BE49-F238E27FC236}">
                <a16:creationId xmlns:a16="http://schemas.microsoft.com/office/drawing/2014/main" id="{94DF3E03-5DE9-4C94-9F93-8F093156319E}"/>
              </a:ext>
            </a:extLst>
          </p:cNvPr>
          <p:cNvSpPr/>
          <p:nvPr/>
        </p:nvSpPr>
        <p:spPr>
          <a:xfrm>
            <a:off x="4155241" y="5524427"/>
            <a:ext cx="300082" cy="215444"/>
          </a:xfrm>
          <a:prstGeom prst="rect">
            <a:avLst/>
          </a:prstGeom>
        </p:spPr>
        <p:txBody>
          <a:bodyPr wrap="none">
            <a:spAutoFit/>
          </a:bodyPr>
          <a:lstStyle/>
          <a:p>
            <a:r>
              <a:rPr lang="es-ES" sz="800" dirty="0"/>
              <a:t>[1]</a:t>
            </a:r>
            <a:endParaRPr lang="es-CO" sz="800" dirty="0"/>
          </a:p>
        </p:txBody>
      </p:sp>
      <p:sp>
        <p:nvSpPr>
          <p:cNvPr id="19" name="Rectángulo 18">
            <a:extLst>
              <a:ext uri="{FF2B5EF4-FFF2-40B4-BE49-F238E27FC236}">
                <a16:creationId xmlns:a16="http://schemas.microsoft.com/office/drawing/2014/main" id="{C5D2F646-FEAA-4876-A006-52B52154D089}"/>
              </a:ext>
            </a:extLst>
          </p:cNvPr>
          <p:cNvSpPr/>
          <p:nvPr/>
        </p:nvSpPr>
        <p:spPr>
          <a:xfrm>
            <a:off x="8646684" y="5557212"/>
            <a:ext cx="300082" cy="215444"/>
          </a:xfrm>
          <a:prstGeom prst="rect">
            <a:avLst/>
          </a:prstGeom>
        </p:spPr>
        <p:txBody>
          <a:bodyPr wrap="none">
            <a:spAutoFit/>
          </a:bodyPr>
          <a:lstStyle/>
          <a:p>
            <a:r>
              <a:rPr lang="es-ES" sz="800" dirty="0"/>
              <a:t>[2]</a:t>
            </a:r>
            <a:endParaRPr lang="es-CO" sz="800" dirty="0"/>
          </a:p>
        </p:txBody>
      </p:sp>
    </p:spTree>
    <p:custDataLst>
      <p:tags r:id="rId1"/>
    </p:custDataLst>
    <p:extLst>
      <p:ext uri="{BB962C8B-B14F-4D97-AF65-F5344CB8AC3E}">
        <p14:creationId xmlns:p14="http://schemas.microsoft.com/office/powerpoint/2010/main" val="22623442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51348" y="4183655"/>
            <a:ext cx="2858731" cy="307777"/>
          </a:xfrm>
          <a:prstGeom prst="rect">
            <a:avLst/>
          </a:prstGeom>
        </p:spPr>
        <p:txBody>
          <a:bodyPr wrap="none">
            <a:spAutoFit/>
          </a:bodyPr>
          <a:lstStyle/>
          <a:p>
            <a:r>
              <a:rPr lang="es-CO" sz="1400" dirty="0" err="1">
                <a:solidFill>
                  <a:srgbClr val="2C5697"/>
                </a:solidFill>
              </a:rPr>
              <a:t>Geographic</a:t>
            </a:r>
            <a:r>
              <a:rPr lang="es-CO" sz="1400" dirty="0">
                <a:solidFill>
                  <a:srgbClr val="2C5697"/>
                </a:solidFill>
              </a:rPr>
              <a:t> </a:t>
            </a:r>
            <a:r>
              <a:rPr lang="es-CO" sz="1400" dirty="0" err="1">
                <a:solidFill>
                  <a:srgbClr val="2C5697"/>
                </a:solidFill>
              </a:rPr>
              <a:t>information</a:t>
            </a:r>
            <a:r>
              <a:rPr lang="es-CO" sz="1400" dirty="0">
                <a:solidFill>
                  <a:srgbClr val="2C5697"/>
                </a:solidFill>
              </a:rPr>
              <a:t> </a:t>
            </a:r>
            <a:r>
              <a:rPr lang="es-CO" sz="1400" dirty="0" err="1">
                <a:solidFill>
                  <a:srgbClr val="2C5697"/>
                </a:solidFill>
              </a:rPr>
              <a:t>system</a:t>
            </a:r>
            <a:r>
              <a:rPr lang="es-CO" sz="1400" dirty="0">
                <a:solidFill>
                  <a:srgbClr val="2C5697"/>
                </a:solidFill>
              </a:rPr>
              <a:t> (GIS)</a:t>
            </a:r>
          </a:p>
        </p:txBody>
      </p:sp>
      <p:pic>
        <p:nvPicPr>
          <p:cNvPr id="2" name="Imagen 1">
            <a:extLst>
              <a:ext uri="{FF2B5EF4-FFF2-40B4-BE49-F238E27FC236}">
                <a16:creationId xmlns:a16="http://schemas.microsoft.com/office/drawing/2014/main" id="{93A48EB8-9D2B-41A0-8695-572CCF7845A5}"/>
              </a:ext>
            </a:extLst>
          </p:cNvPr>
          <p:cNvPicPr>
            <a:picLocks noChangeAspect="1"/>
          </p:cNvPicPr>
          <p:nvPr/>
        </p:nvPicPr>
        <p:blipFill>
          <a:blip r:embed="rId4"/>
          <a:stretch>
            <a:fillRect/>
          </a:stretch>
        </p:blipFill>
        <p:spPr>
          <a:xfrm>
            <a:off x="118785" y="872618"/>
            <a:ext cx="4550751" cy="3311037"/>
          </a:xfrm>
          <a:prstGeom prst="rect">
            <a:avLst/>
          </a:prstGeom>
        </p:spPr>
      </p:pic>
      <p:pic>
        <p:nvPicPr>
          <p:cNvPr id="5" name="Imagen 4">
            <a:extLst>
              <a:ext uri="{FF2B5EF4-FFF2-40B4-BE49-F238E27FC236}">
                <a16:creationId xmlns:a16="http://schemas.microsoft.com/office/drawing/2014/main" id="{BF241A60-9DE2-4EED-93EB-FA3EEE6E4438}"/>
              </a:ext>
            </a:extLst>
          </p:cNvPr>
          <p:cNvPicPr>
            <a:picLocks noChangeAspect="1"/>
          </p:cNvPicPr>
          <p:nvPr/>
        </p:nvPicPr>
        <p:blipFill>
          <a:blip r:embed="rId5"/>
          <a:stretch>
            <a:fillRect/>
          </a:stretch>
        </p:blipFill>
        <p:spPr>
          <a:xfrm>
            <a:off x="5081987" y="910002"/>
            <a:ext cx="3843195" cy="3743534"/>
          </a:xfrm>
          <a:prstGeom prst="rect">
            <a:avLst/>
          </a:prstGeom>
        </p:spPr>
      </p:pic>
      <p:sp>
        <p:nvSpPr>
          <p:cNvPr id="7" name="Rectángulo 6">
            <a:extLst>
              <a:ext uri="{FF2B5EF4-FFF2-40B4-BE49-F238E27FC236}">
                <a16:creationId xmlns:a16="http://schemas.microsoft.com/office/drawing/2014/main" id="{D7F41C32-5409-46C6-A5CA-0E5B31671DC1}"/>
              </a:ext>
            </a:extLst>
          </p:cNvPr>
          <p:cNvSpPr/>
          <p:nvPr/>
        </p:nvSpPr>
        <p:spPr>
          <a:xfrm>
            <a:off x="4541901" y="4723695"/>
            <a:ext cx="4550751" cy="307777"/>
          </a:xfrm>
          <a:prstGeom prst="rect">
            <a:avLst/>
          </a:prstGeom>
        </p:spPr>
        <p:txBody>
          <a:bodyPr wrap="square">
            <a:spAutoFit/>
          </a:bodyPr>
          <a:lstStyle/>
          <a:p>
            <a:pPr algn="r"/>
            <a:r>
              <a:rPr lang="en-US" sz="1400" dirty="0">
                <a:solidFill>
                  <a:srgbClr val="2C5697"/>
                </a:solidFill>
              </a:rPr>
              <a:t>Grid Soil Sampling and Variable Rate Fertilizer </a:t>
            </a:r>
            <a:r>
              <a:rPr lang="es-CO" sz="1400" dirty="0" err="1">
                <a:solidFill>
                  <a:srgbClr val="2C5697"/>
                </a:solidFill>
              </a:rPr>
              <a:t>Application</a:t>
            </a:r>
            <a:endParaRPr lang="es-CO" sz="1400" dirty="0">
              <a:solidFill>
                <a:srgbClr val="2C5697"/>
              </a:solidFill>
            </a:endParaRPr>
          </a:p>
        </p:txBody>
      </p:sp>
    </p:spTree>
    <p:custDataLst>
      <p:tags r:id="rId1"/>
    </p:custDataLst>
    <p:extLst>
      <p:ext uri="{BB962C8B-B14F-4D97-AF65-F5344CB8AC3E}">
        <p14:creationId xmlns:p14="http://schemas.microsoft.com/office/powerpoint/2010/main" val="725253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4" name="Rectángulo 3">
            <a:extLst>
              <a:ext uri="{FF2B5EF4-FFF2-40B4-BE49-F238E27FC236}">
                <a16:creationId xmlns:a16="http://schemas.microsoft.com/office/drawing/2014/main" id="{17A5A9C4-BCDF-4B3F-9BE3-CDA8618D3412}"/>
              </a:ext>
            </a:extLst>
          </p:cNvPr>
          <p:cNvSpPr/>
          <p:nvPr/>
        </p:nvSpPr>
        <p:spPr>
          <a:xfrm>
            <a:off x="51348" y="4392352"/>
            <a:ext cx="2182200" cy="307777"/>
          </a:xfrm>
          <a:prstGeom prst="rect">
            <a:avLst/>
          </a:prstGeom>
        </p:spPr>
        <p:txBody>
          <a:bodyPr wrap="none">
            <a:spAutoFit/>
          </a:bodyPr>
          <a:lstStyle/>
          <a:p>
            <a:r>
              <a:rPr lang="es-CO" sz="1400" dirty="0" err="1">
                <a:solidFill>
                  <a:srgbClr val="2C5697"/>
                </a:solidFill>
              </a:rPr>
              <a:t>Precision</a:t>
            </a:r>
            <a:r>
              <a:rPr lang="es-CO" sz="1400" dirty="0">
                <a:solidFill>
                  <a:srgbClr val="2C5697"/>
                </a:solidFill>
              </a:rPr>
              <a:t> </a:t>
            </a:r>
            <a:r>
              <a:rPr lang="es-CO" sz="1400" dirty="0" err="1">
                <a:solidFill>
                  <a:srgbClr val="2C5697"/>
                </a:solidFill>
              </a:rPr>
              <a:t>Livestock</a:t>
            </a:r>
            <a:r>
              <a:rPr lang="es-CO" sz="1400" dirty="0">
                <a:solidFill>
                  <a:srgbClr val="2C5697"/>
                </a:solidFill>
              </a:rPr>
              <a:t> </a:t>
            </a:r>
            <a:r>
              <a:rPr lang="es-CO" sz="1400" dirty="0" err="1">
                <a:solidFill>
                  <a:srgbClr val="2C5697"/>
                </a:solidFill>
              </a:rPr>
              <a:t>Farming</a:t>
            </a:r>
            <a:endParaRPr lang="es-CO" sz="1400" dirty="0">
              <a:solidFill>
                <a:srgbClr val="2C5697"/>
              </a:solidFill>
            </a:endParaRPr>
          </a:p>
        </p:txBody>
      </p:sp>
      <p:sp>
        <p:nvSpPr>
          <p:cNvPr id="7" name="Rectángulo 6">
            <a:extLst>
              <a:ext uri="{FF2B5EF4-FFF2-40B4-BE49-F238E27FC236}">
                <a16:creationId xmlns:a16="http://schemas.microsoft.com/office/drawing/2014/main" id="{D7F41C32-5409-46C6-A5CA-0E5B31671DC1}"/>
              </a:ext>
            </a:extLst>
          </p:cNvPr>
          <p:cNvSpPr/>
          <p:nvPr/>
        </p:nvSpPr>
        <p:spPr>
          <a:xfrm>
            <a:off x="4704653" y="551772"/>
            <a:ext cx="4135244" cy="523220"/>
          </a:xfrm>
          <a:prstGeom prst="rect">
            <a:avLst/>
          </a:prstGeom>
          <a:ln>
            <a:solidFill>
              <a:schemeClr val="bg1">
                <a:lumMod val="50000"/>
              </a:schemeClr>
            </a:solidFill>
          </a:ln>
        </p:spPr>
        <p:txBody>
          <a:bodyPr wrap="square">
            <a:spAutoFit/>
          </a:bodyPr>
          <a:lstStyle/>
          <a:p>
            <a:r>
              <a:rPr lang="en-US" sz="1400" dirty="0">
                <a:solidFill>
                  <a:srgbClr val="2C5697"/>
                </a:solidFill>
              </a:rPr>
              <a:t>Precision Farming Within the Fruits and Vegetables</a:t>
            </a:r>
          </a:p>
          <a:p>
            <a:r>
              <a:rPr lang="en-US" sz="1400" dirty="0">
                <a:solidFill>
                  <a:srgbClr val="2C5697"/>
                </a:solidFill>
              </a:rPr>
              <a:t>and Viticulture Sectors</a:t>
            </a:r>
            <a:endParaRPr lang="es-CO" sz="1400" dirty="0">
              <a:solidFill>
                <a:srgbClr val="2C5697"/>
              </a:solidFill>
            </a:endParaRPr>
          </a:p>
        </p:txBody>
      </p:sp>
      <p:pic>
        <p:nvPicPr>
          <p:cNvPr id="11" name="Imagen 10">
            <a:extLst>
              <a:ext uri="{FF2B5EF4-FFF2-40B4-BE49-F238E27FC236}">
                <a16:creationId xmlns:a16="http://schemas.microsoft.com/office/drawing/2014/main" id="{FCEE14E4-072E-4782-831A-9D987DE23B22}"/>
              </a:ext>
            </a:extLst>
          </p:cNvPr>
          <p:cNvPicPr>
            <a:picLocks noChangeAspect="1"/>
          </p:cNvPicPr>
          <p:nvPr/>
        </p:nvPicPr>
        <p:blipFill>
          <a:blip r:embed="rId4"/>
          <a:stretch>
            <a:fillRect/>
          </a:stretch>
        </p:blipFill>
        <p:spPr>
          <a:xfrm>
            <a:off x="183574" y="1302545"/>
            <a:ext cx="3326269" cy="2864288"/>
          </a:xfrm>
          <a:prstGeom prst="rect">
            <a:avLst/>
          </a:prstGeom>
          <a:ln>
            <a:solidFill>
              <a:schemeClr val="bg1">
                <a:lumMod val="50000"/>
              </a:schemeClr>
            </a:solidFill>
          </a:ln>
        </p:spPr>
      </p:pic>
      <p:sp>
        <p:nvSpPr>
          <p:cNvPr id="13" name="Rectángulo 12">
            <a:extLst>
              <a:ext uri="{FF2B5EF4-FFF2-40B4-BE49-F238E27FC236}">
                <a16:creationId xmlns:a16="http://schemas.microsoft.com/office/drawing/2014/main" id="{675C0A59-99BE-4B58-8078-BAE206B254C7}"/>
              </a:ext>
            </a:extLst>
          </p:cNvPr>
          <p:cNvSpPr/>
          <p:nvPr/>
        </p:nvSpPr>
        <p:spPr>
          <a:xfrm>
            <a:off x="6162294" y="1302545"/>
            <a:ext cx="2677603" cy="307777"/>
          </a:xfrm>
          <a:prstGeom prst="rect">
            <a:avLst/>
          </a:prstGeom>
          <a:ln>
            <a:solidFill>
              <a:schemeClr val="bg1">
                <a:lumMod val="50000"/>
              </a:schemeClr>
            </a:solidFill>
          </a:ln>
        </p:spPr>
        <p:txBody>
          <a:bodyPr wrap="square">
            <a:spAutoFit/>
          </a:bodyPr>
          <a:lstStyle/>
          <a:p>
            <a:r>
              <a:rPr lang="en-US" sz="1400" dirty="0">
                <a:solidFill>
                  <a:srgbClr val="2C5697"/>
                </a:solidFill>
              </a:rPr>
              <a:t>Precision Farming on Arable Land</a:t>
            </a:r>
            <a:endParaRPr lang="es-CO" sz="1400" dirty="0">
              <a:solidFill>
                <a:srgbClr val="2C5697"/>
              </a:solidFill>
            </a:endParaRPr>
          </a:p>
        </p:txBody>
      </p:sp>
      <p:sp>
        <p:nvSpPr>
          <p:cNvPr id="14" name="Rectángulo 13">
            <a:extLst>
              <a:ext uri="{FF2B5EF4-FFF2-40B4-BE49-F238E27FC236}">
                <a16:creationId xmlns:a16="http://schemas.microsoft.com/office/drawing/2014/main" id="{BC665B50-E838-4911-9842-400C1E79A76A}"/>
              </a:ext>
            </a:extLst>
          </p:cNvPr>
          <p:cNvSpPr/>
          <p:nvPr/>
        </p:nvSpPr>
        <p:spPr>
          <a:xfrm>
            <a:off x="7253784" y="2950806"/>
            <a:ext cx="1546066" cy="307777"/>
          </a:xfrm>
          <a:prstGeom prst="rect">
            <a:avLst/>
          </a:prstGeom>
          <a:ln>
            <a:noFill/>
          </a:ln>
        </p:spPr>
        <p:txBody>
          <a:bodyPr wrap="square">
            <a:spAutoFit/>
          </a:bodyPr>
          <a:lstStyle/>
          <a:p>
            <a:r>
              <a:rPr lang="en-US" sz="1400" dirty="0">
                <a:solidFill>
                  <a:srgbClr val="2C5697"/>
                </a:solidFill>
              </a:rPr>
              <a:t>Rate Controllers</a:t>
            </a:r>
            <a:endParaRPr lang="es-CO" sz="1400" dirty="0">
              <a:solidFill>
                <a:srgbClr val="2C5697"/>
              </a:solidFill>
            </a:endParaRPr>
          </a:p>
        </p:txBody>
      </p:sp>
      <p:pic>
        <p:nvPicPr>
          <p:cNvPr id="6" name="Imagen 5">
            <a:extLst>
              <a:ext uri="{FF2B5EF4-FFF2-40B4-BE49-F238E27FC236}">
                <a16:creationId xmlns:a16="http://schemas.microsoft.com/office/drawing/2014/main" id="{2A4F3A0F-D86D-490D-8423-3C61746DD43A}"/>
              </a:ext>
            </a:extLst>
          </p:cNvPr>
          <p:cNvPicPr>
            <a:picLocks noChangeAspect="1"/>
          </p:cNvPicPr>
          <p:nvPr/>
        </p:nvPicPr>
        <p:blipFill>
          <a:blip r:embed="rId5"/>
          <a:stretch>
            <a:fillRect/>
          </a:stretch>
        </p:blipFill>
        <p:spPr>
          <a:xfrm>
            <a:off x="5078505" y="3211031"/>
            <a:ext cx="3540689" cy="2546114"/>
          </a:xfrm>
          <a:prstGeom prst="rect">
            <a:avLst/>
          </a:prstGeom>
        </p:spPr>
      </p:pic>
    </p:spTree>
    <p:custDataLst>
      <p:tags r:id="rId1"/>
    </p:custDataLst>
    <p:extLst>
      <p:ext uri="{BB962C8B-B14F-4D97-AF65-F5344CB8AC3E}">
        <p14:creationId xmlns:p14="http://schemas.microsoft.com/office/powerpoint/2010/main" val="2056790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461248" y="5885920"/>
            <a:ext cx="632434"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14" name="Rectángulo 13">
            <a:extLst>
              <a:ext uri="{FF2B5EF4-FFF2-40B4-BE49-F238E27FC236}">
                <a16:creationId xmlns:a16="http://schemas.microsoft.com/office/drawing/2014/main" id="{BC665B50-E838-4911-9842-400C1E79A76A}"/>
              </a:ext>
            </a:extLst>
          </p:cNvPr>
          <p:cNvSpPr/>
          <p:nvPr/>
        </p:nvSpPr>
        <p:spPr>
          <a:xfrm>
            <a:off x="176797" y="904172"/>
            <a:ext cx="3152297" cy="307777"/>
          </a:xfrm>
          <a:prstGeom prst="rect">
            <a:avLst/>
          </a:prstGeom>
          <a:ln>
            <a:noFill/>
          </a:ln>
        </p:spPr>
        <p:txBody>
          <a:bodyPr wrap="square">
            <a:spAutoFit/>
          </a:bodyPr>
          <a:lstStyle/>
          <a:p>
            <a:r>
              <a:rPr lang="en-US" sz="1400" dirty="0">
                <a:solidFill>
                  <a:srgbClr val="2C5697"/>
                </a:solidFill>
              </a:rPr>
              <a:t>Variable Rate Controllers / Applications</a:t>
            </a:r>
            <a:endParaRPr lang="es-CO" sz="1400" dirty="0">
              <a:solidFill>
                <a:srgbClr val="2C5697"/>
              </a:solidFill>
            </a:endParaRPr>
          </a:p>
        </p:txBody>
      </p:sp>
      <p:pic>
        <p:nvPicPr>
          <p:cNvPr id="2" name="Imagen 1">
            <a:extLst>
              <a:ext uri="{FF2B5EF4-FFF2-40B4-BE49-F238E27FC236}">
                <a16:creationId xmlns:a16="http://schemas.microsoft.com/office/drawing/2014/main" id="{E7C0A06E-C027-4FA7-843C-D45115C6E552}"/>
              </a:ext>
            </a:extLst>
          </p:cNvPr>
          <p:cNvPicPr>
            <a:picLocks noChangeAspect="1"/>
          </p:cNvPicPr>
          <p:nvPr/>
        </p:nvPicPr>
        <p:blipFill>
          <a:blip r:embed="rId4"/>
          <a:stretch>
            <a:fillRect/>
          </a:stretch>
        </p:blipFill>
        <p:spPr>
          <a:xfrm>
            <a:off x="3566492" y="1006092"/>
            <a:ext cx="5303520" cy="2055316"/>
          </a:xfrm>
          <a:prstGeom prst="rect">
            <a:avLst/>
          </a:prstGeom>
        </p:spPr>
      </p:pic>
      <p:pic>
        <p:nvPicPr>
          <p:cNvPr id="5" name="Imagen 4">
            <a:extLst>
              <a:ext uri="{FF2B5EF4-FFF2-40B4-BE49-F238E27FC236}">
                <a16:creationId xmlns:a16="http://schemas.microsoft.com/office/drawing/2014/main" id="{9D6997DB-8B45-4336-BEEE-F39DA5524ACB}"/>
              </a:ext>
            </a:extLst>
          </p:cNvPr>
          <p:cNvPicPr>
            <a:picLocks noChangeAspect="1"/>
          </p:cNvPicPr>
          <p:nvPr/>
        </p:nvPicPr>
        <p:blipFill>
          <a:blip r:embed="rId5"/>
          <a:stretch>
            <a:fillRect/>
          </a:stretch>
        </p:blipFill>
        <p:spPr>
          <a:xfrm>
            <a:off x="261463" y="2497041"/>
            <a:ext cx="4132737" cy="3226161"/>
          </a:xfrm>
          <a:prstGeom prst="rect">
            <a:avLst/>
          </a:prstGeom>
        </p:spPr>
      </p:pic>
      <p:sp>
        <p:nvSpPr>
          <p:cNvPr id="4" name="Estrella: 5 puntas 3">
            <a:hlinkClick r:id="rId6"/>
            <a:extLst>
              <a:ext uri="{FF2B5EF4-FFF2-40B4-BE49-F238E27FC236}">
                <a16:creationId xmlns:a16="http://schemas.microsoft.com/office/drawing/2014/main" id="{B6B24DAD-CA6A-D028-57C8-D469F0594E53}"/>
              </a:ext>
            </a:extLst>
          </p:cNvPr>
          <p:cNvSpPr/>
          <p:nvPr/>
        </p:nvSpPr>
        <p:spPr>
          <a:xfrm>
            <a:off x="4277033" y="107907"/>
            <a:ext cx="383458" cy="403750"/>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3148187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L. Ahmad, S. </a:t>
            </a:r>
            <a:r>
              <a:rPr lang="es-ES" sz="700" dirty="0" err="1">
                <a:solidFill>
                  <a:schemeClr val="bg1"/>
                </a:solidFill>
                <a:latin typeface="Arial"/>
              </a:rPr>
              <a:t>Sheraz</a:t>
            </a:r>
            <a:r>
              <a:rPr lang="es-ES" sz="700" dirty="0">
                <a:solidFill>
                  <a:schemeClr val="bg1"/>
                </a:solidFill>
                <a:latin typeface="Arial"/>
              </a:rPr>
              <a:t> </a:t>
            </a:r>
            <a:r>
              <a:rPr lang="es-ES" sz="700" dirty="0" err="1">
                <a:solidFill>
                  <a:schemeClr val="bg1"/>
                </a:solidFill>
                <a:latin typeface="Arial"/>
              </a:rPr>
              <a:t>Mahdi</a:t>
            </a:r>
            <a:r>
              <a:rPr lang="es-ES" sz="700" dirty="0">
                <a:solidFill>
                  <a:schemeClr val="bg1"/>
                </a:solidFill>
                <a:latin typeface="Arial"/>
              </a:rPr>
              <a:t>, </a:t>
            </a:r>
            <a:r>
              <a:rPr lang="es-ES" sz="700" dirty="0" err="1">
                <a:solidFill>
                  <a:schemeClr val="bg1"/>
                </a:solidFill>
                <a:latin typeface="Arial"/>
              </a:rPr>
              <a:t>Satellite</a:t>
            </a:r>
            <a:r>
              <a:rPr lang="es-ES" sz="700" dirty="0">
                <a:solidFill>
                  <a:schemeClr val="bg1"/>
                </a:solidFill>
                <a:latin typeface="Arial"/>
              </a:rPr>
              <a:t> </a:t>
            </a:r>
            <a:r>
              <a:rPr lang="es-ES" sz="700" dirty="0" err="1">
                <a:solidFill>
                  <a:schemeClr val="bg1"/>
                </a:solidFill>
                <a:latin typeface="Arial"/>
              </a:rPr>
              <a:t>farming</a:t>
            </a:r>
            <a:r>
              <a:rPr lang="es-ES" sz="700" dirty="0">
                <a:solidFill>
                  <a:schemeClr val="bg1"/>
                </a:solidFill>
                <a:latin typeface="Arial"/>
              </a:rPr>
              <a:t>, </a:t>
            </a:r>
            <a:r>
              <a:rPr lang="en-US" sz="700" dirty="0">
                <a:solidFill>
                  <a:schemeClr val="bg1"/>
                </a:solidFill>
                <a:latin typeface="Arial"/>
              </a:rPr>
              <a:t>An Information and Technology Based Agriculture, </a:t>
            </a:r>
            <a:r>
              <a:rPr lang="de-DE" sz="700" dirty="0">
                <a:solidFill>
                  <a:schemeClr val="bg1"/>
                </a:solidFill>
                <a:latin typeface="Arial"/>
              </a:rPr>
              <a:t>Springer Nature Switzerland AG 2018</a:t>
            </a:r>
            <a:r>
              <a:rPr lang="en-US" sz="700" dirty="0">
                <a:solidFill>
                  <a:schemeClr val="bg1"/>
                </a:solidFill>
                <a:latin typeface="Arial"/>
              </a:rPr>
              <a:t>.</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err="1">
                <a:solidFill>
                  <a:srgbClr val="2C5697"/>
                </a:solidFill>
                <a:latin typeface="Arial"/>
                <a:cs typeface="Arial"/>
                <a:sym typeface="Times New Roman"/>
              </a:rPr>
              <a:t>Components</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of</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Precision</a:t>
            </a:r>
            <a:r>
              <a:rPr lang="es-ES" b="1" dirty="0">
                <a:solidFill>
                  <a:srgbClr val="2C5697"/>
                </a:solidFill>
                <a:latin typeface="Arial"/>
                <a:cs typeface="Arial"/>
                <a:sym typeface="Times New Roman"/>
              </a:rPr>
              <a:t> </a:t>
            </a:r>
            <a:r>
              <a:rPr lang="es-ES" b="1" dirty="0" err="1">
                <a:solidFill>
                  <a:srgbClr val="2C5697"/>
                </a:solidFill>
                <a:latin typeface="Arial"/>
                <a:cs typeface="Arial"/>
                <a:sym typeface="Times New Roman"/>
              </a:rPr>
              <a:t>Agriculture</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14" name="Rectángulo 13">
            <a:extLst>
              <a:ext uri="{FF2B5EF4-FFF2-40B4-BE49-F238E27FC236}">
                <a16:creationId xmlns:a16="http://schemas.microsoft.com/office/drawing/2014/main" id="{BC665B50-E838-4911-9842-400C1E79A76A}"/>
              </a:ext>
            </a:extLst>
          </p:cNvPr>
          <p:cNvSpPr/>
          <p:nvPr/>
        </p:nvSpPr>
        <p:spPr>
          <a:xfrm>
            <a:off x="4962143" y="1674752"/>
            <a:ext cx="3152297" cy="307777"/>
          </a:xfrm>
          <a:prstGeom prst="rect">
            <a:avLst/>
          </a:prstGeom>
          <a:ln>
            <a:noFill/>
          </a:ln>
        </p:spPr>
        <p:txBody>
          <a:bodyPr wrap="square">
            <a:spAutoFit/>
          </a:bodyPr>
          <a:lstStyle/>
          <a:p>
            <a:r>
              <a:rPr lang="en-US" sz="1400" dirty="0">
                <a:solidFill>
                  <a:srgbClr val="2C5697"/>
                </a:solidFill>
              </a:rPr>
              <a:t>Variable Rate Controllers / Applications</a:t>
            </a:r>
            <a:endParaRPr lang="es-CO" sz="1400" dirty="0">
              <a:solidFill>
                <a:srgbClr val="2C5697"/>
              </a:solidFill>
            </a:endParaRPr>
          </a:p>
        </p:txBody>
      </p:sp>
      <p:pic>
        <p:nvPicPr>
          <p:cNvPr id="6" name="Imagen 5">
            <a:extLst>
              <a:ext uri="{FF2B5EF4-FFF2-40B4-BE49-F238E27FC236}">
                <a16:creationId xmlns:a16="http://schemas.microsoft.com/office/drawing/2014/main" id="{8FE205C4-6D39-487B-A743-C3BC09FD254C}"/>
              </a:ext>
            </a:extLst>
          </p:cNvPr>
          <p:cNvPicPr>
            <a:picLocks noChangeAspect="1"/>
          </p:cNvPicPr>
          <p:nvPr/>
        </p:nvPicPr>
        <p:blipFill>
          <a:blip r:embed="rId4"/>
          <a:stretch>
            <a:fillRect/>
          </a:stretch>
        </p:blipFill>
        <p:spPr>
          <a:xfrm>
            <a:off x="4533404" y="3050391"/>
            <a:ext cx="4147300" cy="2405056"/>
          </a:xfrm>
          <a:prstGeom prst="rect">
            <a:avLst/>
          </a:prstGeom>
        </p:spPr>
      </p:pic>
      <p:pic>
        <p:nvPicPr>
          <p:cNvPr id="4" name="Imagen 3">
            <a:extLst>
              <a:ext uri="{FF2B5EF4-FFF2-40B4-BE49-F238E27FC236}">
                <a16:creationId xmlns:a16="http://schemas.microsoft.com/office/drawing/2014/main" id="{509E025B-7DAC-4BD0-8E84-3FC929BC5785}"/>
              </a:ext>
            </a:extLst>
          </p:cNvPr>
          <p:cNvPicPr>
            <a:picLocks noChangeAspect="1"/>
          </p:cNvPicPr>
          <p:nvPr/>
        </p:nvPicPr>
        <p:blipFill>
          <a:blip r:embed="rId5"/>
          <a:stretch>
            <a:fillRect/>
          </a:stretch>
        </p:blipFill>
        <p:spPr>
          <a:xfrm>
            <a:off x="463296" y="839799"/>
            <a:ext cx="3316674" cy="2336748"/>
          </a:xfrm>
          <a:prstGeom prst="rect">
            <a:avLst/>
          </a:prstGeom>
        </p:spPr>
      </p:pic>
    </p:spTree>
    <p:custDataLst>
      <p:tags r:id="rId1"/>
    </p:custDataLst>
    <p:extLst>
      <p:ext uri="{BB962C8B-B14F-4D97-AF65-F5344CB8AC3E}">
        <p14:creationId xmlns:p14="http://schemas.microsoft.com/office/powerpoint/2010/main" val="226550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https://programarfacil.com/blog/arduino-blog/sensor-dht11-temperatura-humedad-arduino/</a:t>
            </a: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14" name="Rectángulo 13">
            <a:extLst>
              <a:ext uri="{FF2B5EF4-FFF2-40B4-BE49-F238E27FC236}">
                <a16:creationId xmlns:a16="http://schemas.microsoft.com/office/drawing/2014/main" id="{BC665B50-E838-4911-9842-400C1E79A76A}"/>
              </a:ext>
            </a:extLst>
          </p:cNvPr>
          <p:cNvSpPr/>
          <p:nvPr/>
        </p:nvSpPr>
        <p:spPr>
          <a:xfrm>
            <a:off x="144609" y="504879"/>
            <a:ext cx="7435995" cy="307777"/>
          </a:xfrm>
          <a:prstGeom prst="rect">
            <a:avLst/>
          </a:prstGeom>
          <a:ln>
            <a:noFill/>
          </a:ln>
        </p:spPr>
        <p:txBody>
          <a:bodyPr wrap="square">
            <a:spAutoFit/>
          </a:bodyPr>
          <a:lstStyle/>
          <a:p>
            <a:r>
              <a:rPr lang="en-US" sz="1400" dirty="0">
                <a:solidFill>
                  <a:srgbClr val="2C5697"/>
                </a:solidFill>
              </a:rPr>
              <a:t>Arduino | </a:t>
            </a:r>
            <a:r>
              <a:rPr lang="en-US" sz="1400" dirty="0" err="1">
                <a:solidFill>
                  <a:srgbClr val="2C5697"/>
                </a:solidFill>
              </a:rPr>
              <a:t>Medición</a:t>
            </a:r>
            <a:r>
              <a:rPr lang="en-US" sz="1400" dirty="0">
                <a:solidFill>
                  <a:srgbClr val="2C5697"/>
                </a:solidFill>
              </a:rPr>
              <a:t> de </a:t>
            </a:r>
            <a:r>
              <a:rPr lang="en-US" sz="1400" dirty="0" err="1">
                <a:solidFill>
                  <a:srgbClr val="2C5697"/>
                </a:solidFill>
              </a:rPr>
              <a:t>humedad</a:t>
            </a:r>
            <a:r>
              <a:rPr lang="en-US" sz="1400" dirty="0">
                <a:solidFill>
                  <a:srgbClr val="2C5697"/>
                </a:solidFill>
              </a:rPr>
              <a:t> </a:t>
            </a:r>
            <a:r>
              <a:rPr lang="en-US" sz="1400" dirty="0" err="1">
                <a:solidFill>
                  <a:srgbClr val="2C5697"/>
                </a:solidFill>
              </a:rPr>
              <a:t>relativa</a:t>
            </a:r>
            <a:r>
              <a:rPr lang="en-US" sz="1400" dirty="0">
                <a:solidFill>
                  <a:srgbClr val="2C5697"/>
                </a:solidFill>
              </a:rPr>
              <a:t> y </a:t>
            </a:r>
            <a:r>
              <a:rPr lang="en-US" sz="1400" dirty="0" err="1">
                <a:solidFill>
                  <a:srgbClr val="2C5697"/>
                </a:solidFill>
              </a:rPr>
              <a:t>temperatura</a:t>
            </a:r>
            <a:r>
              <a:rPr lang="en-US" sz="1400" dirty="0">
                <a:solidFill>
                  <a:srgbClr val="2C5697"/>
                </a:solidFill>
              </a:rPr>
              <a:t> </a:t>
            </a:r>
            <a:r>
              <a:rPr lang="en-US" sz="1400" dirty="0" err="1">
                <a:solidFill>
                  <a:srgbClr val="2C5697"/>
                </a:solidFill>
              </a:rPr>
              <a:t>en</a:t>
            </a:r>
            <a:r>
              <a:rPr lang="en-US" sz="1400" dirty="0">
                <a:solidFill>
                  <a:srgbClr val="2C5697"/>
                </a:solidFill>
              </a:rPr>
              <a:t> </a:t>
            </a:r>
            <a:r>
              <a:rPr lang="en-US" sz="1400" dirty="0" err="1">
                <a:solidFill>
                  <a:srgbClr val="2C5697"/>
                </a:solidFill>
              </a:rPr>
              <a:t>aire</a:t>
            </a:r>
            <a:r>
              <a:rPr lang="en-US" sz="1400" dirty="0">
                <a:solidFill>
                  <a:srgbClr val="2C5697"/>
                </a:solidFill>
              </a:rPr>
              <a:t> con DTH 11</a:t>
            </a:r>
            <a:endParaRPr lang="es-CO" sz="1400" dirty="0">
              <a:solidFill>
                <a:srgbClr val="2C5697"/>
              </a:solidFill>
            </a:endParaRPr>
          </a:p>
        </p:txBody>
      </p:sp>
      <p:pic>
        <p:nvPicPr>
          <p:cNvPr id="1026" name="Picture 2" descr="https://static.wixstatic.com/media/c901e7_76305288ce514aad98959c786fdbeb43~mv2.jpg/v1/fill/w_740,h_484,al_c,q_80,usm_0.66_1.00_0.01,enc_auto/c901e7_76305288ce514aad98959c786fdbeb43~mv2.jpg">
            <a:extLst>
              <a:ext uri="{FF2B5EF4-FFF2-40B4-BE49-F238E27FC236}">
                <a16:creationId xmlns:a16="http://schemas.microsoft.com/office/drawing/2014/main" id="{2BD8EEFA-B7BC-4AEC-8EB2-85A90D7A45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083" y="890979"/>
            <a:ext cx="3318424" cy="2170429"/>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BF76D79F-651B-4DC6-9E7C-1EC8914DE0AE}"/>
              </a:ext>
            </a:extLst>
          </p:cNvPr>
          <p:cNvPicPr>
            <a:picLocks noChangeAspect="1"/>
          </p:cNvPicPr>
          <p:nvPr/>
        </p:nvPicPr>
        <p:blipFill>
          <a:blip r:embed="rId5"/>
          <a:stretch>
            <a:fillRect/>
          </a:stretch>
        </p:blipFill>
        <p:spPr>
          <a:xfrm>
            <a:off x="5077836" y="1136508"/>
            <a:ext cx="2502768" cy="1674880"/>
          </a:xfrm>
          <a:prstGeom prst="rect">
            <a:avLst/>
          </a:prstGeom>
        </p:spPr>
      </p:pic>
      <p:sp>
        <p:nvSpPr>
          <p:cNvPr id="7" name="Rectángulo 6">
            <a:extLst>
              <a:ext uri="{FF2B5EF4-FFF2-40B4-BE49-F238E27FC236}">
                <a16:creationId xmlns:a16="http://schemas.microsoft.com/office/drawing/2014/main" id="{484440EF-F9E7-4E14-B651-A81A60D0D089}"/>
              </a:ext>
            </a:extLst>
          </p:cNvPr>
          <p:cNvSpPr/>
          <p:nvPr/>
        </p:nvSpPr>
        <p:spPr>
          <a:xfrm>
            <a:off x="115165" y="4047888"/>
            <a:ext cx="4212056" cy="830997"/>
          </a:xfrm>
          <a:prstGeom prst="rect">
            <a:avLst/>
          </a:prstGeom>
        </p:spPr>
        <p:txBody>
          <a:bodyPr wrap="square">
            <a:spAutoFit/>
          </a:bodyPr>
          <a:lstStyle/>
          <a:p>
            <a:r>
              <a:rPr lang="es-ES" sz="1200" dirty="0">
                <a:solidFill>
                  <a:srgbClr val="2C5697"/>
                </a:solidFill>
              </a:rPr>
              <a:t>El DHT11 es un sensor de temperatura y humedad que utiliza un </a:t>
            </a:r>
            <a:r>
              <a:rPr lang="es-ES" sz="1200" dirty="0">
                <a:solidFill>
                  <a:srgbClr val="C00000"/>
                </a:solidFill>
              </a:rPr>
              <a:t>sensor capacitivo</a:t>
            </a:r>
            <a:r>
              <a:rPr lang="es-ES" sz="1200" dirty="0">
                <a:solidFill>
                  <a:srgbClr val="2C5697"/>
                </a:solidFill>
              </a:rPr>
              <a:t> de humedad y un </a:t>
            </a:r>
            <a:r>
              <a:rPr lang="es-ES" sz="1200" dirty="0">
                <a:solidFill>
                  <a:srgbClr val="C00000"/>
                </a:solidFill>
              </a:rPr>
              <a:t>termistor</a:t>
            </a:r>
            <a:r>
              <a:rPr lang="es-ES" sz="1200" dirty="0">
                <a:solidFill>
                  <a:srgbClr val="2C5697"/>
                </a:solidFill>
              </a:rPr>
              <a:t> para medir el aire circundante, y muestra los datos mediante una señal digital en el pin de datos</a:t>
            </a:r>
            <a:endParaRPr lang="es-CO" sz="1200" dirty="0">
              <a:solidFill>
                <a:srgbClr val="2C5697"/>
              </a:solidFill>
            </a:endParaRPr>
          </a:p>
        </p:txBody>
      </p:sp>
      <p:sp>
        <p:nvSpPr>
          <p:cNvPr id="20" name="Rectángulo 19">
            <a:extLst>
              <a:ext uri="{FF2B5EF4-FFF2-40B4-BE49-F238E27FC236}">
                <a16:creationId xmlns:a16="http://schemas.microsoft.com/office/drawing/2014/main" id="{A09D20F3-235B-4421-B414-A99A0A6FF5BB}"/>
              </a:ext>
            </a:extLst>
          </p:cNvPr>
          <p:cNvSpPr/>
          <p:nvPr/>
        </p:nvSpPr>
        <p:spPr>
          <a:xfrm>
            <a:off x="6177936" y="3910441"/>
            <a:ext cx="2502768" cy="1015663"/>
          </a:xfrm>
          <a:prstGeom prst="rect">
            <a:avLst/>
          </a:prstGeom>
          <a:ln>
            <a:solidFill>
              <a:schemeClr val="bg1">
                <a:lumMod val="65000"/>
              </a:schemeClr>
            </a:solidFill>
          </a:ln>
        </p:spPr>
        <p:txBody>
          <a:bodyPr wrap="square">
            <a:spAutoFit/>
          </a:bodyPr>
          <a:lstStyle/>
          <a:p>
            <a:r>
              <a:rPr lang="es-ES" sz="1200" dirty="0" err="1">
                <a:solidFill>
                  <a:srgbClr val="C00000"/>
                </a:solidFill>
              </a:rPr>
              <a:t>Heat</a:t>
            </a:r>
            <a:r>
              <a:rPr lang="es-ES" sz="1200" dirty="0">
                <a:solidFill>
                  <a:srgbClr val="C00000"/>
                </a:solidFill>
              </a:rPr>
              <a:t> </a:t>
            </a:r>
            <a:r>
              <a:rPr lang="es-ES" sz="1200" dirty="0" err="1">
                <a:solidFill>
                  <a:srgbClr val="C00000"/>
                </a:solidFill>
              </a:rPr>
              <a:t>index</a:t>
            </a:r>
            <a:r>
              <a:rPr lang="es-ES" sz="1200" dirty="0">
                <a:solidFill>
                  <a:srgbClr val="2C5697"/>
                </a:solidFill>
              </a:rPr>
              <a:t>: parámetro que tiene en cuenta la temperatura y la humedad relativa, determina la temperatura aparente o percibida por el ser humano.</a:t>
            </a:r>
            <a:endParaRPr lang="es-CO" sz="1200" dirty="0">
              <a:solidFill>
                <a:srgbClr val="2C5697"/>
              </a:solidFill>
            </a:endParaRPr>
          </a:p>
        </p:txBody>
      </p:sp>
      <p:sp>
        <p:nvSpPr>
          <p:cNvPr id="10" name="Flecha: a la derecha 9">
            <a:extLst>
              <a:ext uri="{FF2B5EF4-FFF2-40B4-BE49-F238E27FC236}">
                <a16:creationId xmlns:a16="http://schemas.microsoft.com/office/drawing/2014/main" id="{CC95037B-6810-4709-B541-BC3D004F7E1C}"/>
              </a:ext>
            </a:extLst>
          </p:cNvPr>
          <p:cNvSpPr/>
          <p:nvPr/>
        </p:nvSpPr>
        <p:spPr>
          <a:xfrm>
            <a:off x="4296723" y="1960576"/>
            <a:ext cx="380896" cy="14228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22" name="Flecha: a la derecha 21">
            <a:extLst>
              <a:ext uri="{FF2B5EF4-FFF2-40B4-BE49-F238E27FC236}">
                <a16:creationId xmlns:a16="http://schemas.microsoft.com/office/drawing/2014/main" id="{F30C5A90-42A1-4125-AC28-0DF701650CA9}"/>
              </a:ext>
            </a:extLst>
          </p:cNvPr>
          <p:cNvSpPr/>
          <p:nvPr/>
        </p:nvSpPr>
        <p:spPr>
          <a:xfrm rot="4198995">
            <a:off x="5848141" y="2970856"/>
            <a:ext cx="1758764" cy="105582"/>
          </a:xfrm>
          <a:prstGeom prst="rightArrow">
            <a:avLst/>
          </a:prstGeom>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CO"/>
          </a:p>
        </p:txBody>
      </p:sp>
      <p:pic>
        <p:nvPicPr>
          <p:cNvPr id="23" name="Picture 6" descr="dht11 con pcb">
            <a:extLst>
              <a:ext uri="{FF2B5EF4-FFF2-40B4-BE49-F238E27FC236}">
                <a16:creationId xmlns:a16="http://schemas.microsoft.com/office/drawing/2014/main" id="{DE3DFCE0-8F96-4131-945B-3DFB26017F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7363" y="3775519"/>
            <a:ext cx="959158" cy="151048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96847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2499E13-C81F-4A21-A3DD-FA9F94B7D27B}"/>
              </a:ext>
            </a:extLst>
          </p:cNvPr>
          <p:cNvPicPr>
            <a:picLocks noChangeAspect="1"/>
          </p:cNvPicPr>
          <p:nvPr/>
        </p:nvPicPr>
        <p:blipFill>
          <a:blip r:embed="rId4"/>
          <a:stretch>
            <a:fillRect/>
          </a:stretch>
        </p:blipFill>
        <p:spPr>
          <a:xfrm>
            <a:off x="6297332" y="388449"/>
            <a:ext cx="2566543" cy="2286556"/>
          </a:xfrm>
          <a:prstGeom prst="rect">
            <a:avLst/>
          </a:prstGeom>
          <a:ln>
            <a:solidFill>
              <a:schemeClr val="bg1">
                <a:lumMod val="65000"/>
              </a:schemeClr>
            </a:solidFill>
          </a:ln>
        </p:spPr>
      </p:pic>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649551" cy="4154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[1] </a:t>
            </a:r>
            <a:r>
              <a:rPr lang="es-ES" sz="700" dirty="0">
                <a:solidFill>
                  <a:schemeClr val="bg1"/>
                </a:solidFill>
                <a:latin typeface="Arial"/>
                <a:cs typeface="Calibri"/>
              </a:rPr>
              <a:t>http://ceca.uaeh.edu.mx/informatica/oas_final/OA4/temperatura_y_humedad_dht11.html	</a:t>
            </a:r>
          </a:p>
          <a:p>
            <a:r>
              <a:rPr lang="es-ES" sz="700" dirty="0">
                <a:solidFill>
                  <a:schemeClr val="bg1"/>
                </a:solidFill>
                <a:latin typeface="Arial"/>
                <a:cs typeface="Calibri"/>
              </a:rPr>
              <a:t>             [2] https://byjus.com/heat-index-formula/</a:t>
            </a:r>
          </a:p>
          <a:p>
            <a:r>
              <a:rPr lang="es-ES" sz="700" dirty="0">
                <a:solidFill>
                  <a:schemeClr val="bg1"/>
                </a:solidFill>
                <a:latin typeface="Arial"/>
                <a:cs typeface="Calibri"/>
              </a:rPr>
              <a:t>             [3] </a:t>
            </a:r>
            <a:r>
              <a:rPr lang="en-US" sz="700" dirty="0">
                <a:solidFill>
                  <a:schemeClr val="bg1"/>
                </a:solidFill>
                <a:latin typeface="Arial"/>
                <a:cs typeface="Calibri"/>
              </a:rPr>
              <a:t>Wikipedia contributors, "Heat index," Wikipedia, The Free Encyclopedia, https://en.wikipedia.org/w/index.php?title=Heat_index&amp;oldid=1171373578 (accessed October 26, 2023).</a:t>
            </a: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432394"/>
            <a:ext cx="4937125" cy="351018"/>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14" name="Rectángulo 13">
            <a:extLst>
              <a:ext uri="{FF2B5EF4-FFF2-40B4-BE49-F238E27FC236}">
                <a16:creationId xmlns:a16="http://schemas.microsoft.com/office/drawing/2014/main" id="{BC665B50-E838-4911-9842-400C1E79A76A}"/>
              </a:ext>
            </a:extLst>
          </p:cNvPr>
          <p:cNvSpPr/>
          <p:nvPr/>
        </p:nvSpPr>
        <p:spPr>
          <a:xfrm>
            <a:off x="144609" y="504879"/>
            <a:ext cx="7435995" cy="307777"/>
          </a:xfrm>
          <a:prstGeom prst="rect">
            <a:avLst/>
          </a:prstGeom>
          <a:ln>
            <a:noFill/>
          </a:ln>
        </p:spPr>
        <p:txBody>
          <a:bodyPr wrap="square">
            <a:spAutoFit/>
          </a:bodyPr>
          <a:lstStyle/>
          <a:p>
            <a:r>
              <a:rPr lang="en-US" sz="1400" dirty="0">
                <a:solidFill>
                  <a:srgbClr val="2C5697"/>
                </a:solidFill>
              </a:rPr>
              <a:t>Arduino | </a:t>
            </a:r>
            <a:r>
              <a:rPr lang="en-US" sz="1400" dirty="0" err="1">
                <a:solidFill>
                  <a:srgbClr val="2C5697"/>
                </a:solidFill>
              </a:rPr>
              <a:t>Medición</a:t>
            </a:r>
            <a:r>
              <a:rPr lang="en-US" sz="1400" dirty="0">
                <a:solidFill>
                  <a:srgbClr val="2C5697"/>
                </a:solidFill>
              </a:rPr>
              <a:t> de </a:t>
            </a:r>
            <a:r>
              <a:rPr lang="en-US" sz="1400" dirty="0" err="1">
                <a:solidFill>
                  <a:srgbClr val="2C5697"/>
                </a:solidFill>
              </a:rPr>
              <a:t>humedad</a:t>
            </a:r>
            <a:r>
              <a:rPr lang="en-US" sz="1400" dirty="0">
                <a:solidFill>
                  <a:srgbClr val="2C5697"/>
                </a:solidFill>
              </a:rPr>
              <a:t> </a:t>
            </a:r>
            <a:r>
              <a:rPr lang="en-US" sz="1400" dirty="0" err="1">
                <a:solidFill>
                  <a:srgbClr val="2C5697"/>
                </a:solidFill>
              </a:rPr>
              <a:t>relativa</a:t>
            </a:r>
            <a:r>
              <a:rPr lang="en-US" sz="1400" dirty="0">
                <a:solidFill>
                  <a:srgbClr val="2C5697"/>
                </a:solidFill>
              </a:rPr>
              <a:t> y </a:t>
            </a:r>
            <a:r>
              <a:rPr lang="en-US" sz="1400" dirty="0" err="1">
                <a:solidFill>
                  <a:srgbClr val="2C5697"/>
                </a:solidFill>
              </a:rPr>
              <a:t>temperatura</a:t>
            </a:r>
            <a:r>
              <a:rPr lang="en-US" sz="1400" dirty="0">
                <a:solidFill>
                  <a:srgbClr val="2C5697"/>
                </a:solidFill>
              </a:rPr>
              <a:t> </a:t>
            </a:r>
            <a:r>
              <a:rPr lang="en-US" sz="1400" dirty="0" err="1">
                <a:solidFill>
                  <a:srgbClr val="2C5697"/>
                </a:solidFill>
              </a:rPr>
              <a:t>en</a:t>
            </a:r>
            <a:r>
              <a:rPr lang="en-US" sz="1400" dirty="0">
                <a:solidFill>
                  <a:srgbClr val="2C5697"/>
                </a:solidFill>
              </a:rPr>
              <a:t> </a:t>
            </a:r>
            <a:r>
              <a:rPr lang="en-US" sz="1400" dirty="0" err="1">
                <a:solidFill>
                  <a:srgbClr val="2C5697"/>
                </a:solidFill>
              </a:rPr>
              <a:t>aire</a:t>
            </a:r>
            <a:r>
              <a:rPr lang="en-US" sz="1400" dirty="0">
                <a:solidFill>
                  <a:srgbClr val="2C5697"/>
                </a:solidFill>
              </a:rPr>
              <a:t> con DTH 11</a:t>
            </a:r>
            <a:endParaRPr lang="es-CO" sz="1400" dirty="0">
              <a:solidFill>
                <a:srgbClr val="2C5697"/>
              </a:solidFill>
            </a:endParaRPr>
          </a:p>
        </p:txBody>
      </p:sp>
      <p:pic>
        <p:nvPicPr>
          <p:cNvPr id="8" name="Imagen 7">
            <a:extLst>
              <a:ext uri="{FF2B5EF4-FFF2-40B4-BE49-F238E27FC236}">
                <a16:creationId xmlns:a16="http://schemas.microsoft.com/office/drawing/2014/main" id="{C3C987F3-E29A-41C5-B2DC-5720917FD837}"/>
              </a:ext>
            </a:extLst>
          </p:cNvPr>
          <p:cNvPicPr>
            <a:picLocks noChangeAspect="1"/>
          </p:cNvPicPr>
          <p:nvPr/>
        </p:nvPicPr>
        <p:blipFill>
          <a:blip r:embed="rId5"/>
          <a:stretch>
            <a:fillRect/>
          </a:stretch>
        </p:blipFill>
        <p:spPr>
          <a:xfrm>
            <a:off x="211778" y="873615"/>
            <a:ext cx="4563138" cy="1766046"/>
          </a:xfrm>
          <a:prstGeom prst="rect">
            <a:avLst/>
          </a:prstGeom>
        </p:spPr>
      </p:pic>
      <p:sp>
        <p:nvSpPr>
          <p:cNvPr id="19" name="Rectángulo 18">
            <a:extLst>
              <a:ext uri="{FF2B5EF4-FFF2-40B4-BE49-F238E27FC236}">
                <a16:creationId xmlns:a16="http://schemas.microsoft.com/office/drawing/2014/main" id="{F149994B-A88E-4C9A-A4E1-C6BFA35246D3}"/>
              </a:ext>
            </a:extLst>
          </p:cNvPr>
          <p:cNvSpPr/>
          <p:nvPr/>
        </p:nvSpPr>
        <p:spPr>
          <a:xfrm>
            <a:off x="4774916" y="2512542"/>
            <a:ext cx="300082" cy="215444"/>
          </a:xfrm>
          <a:prstGeom prst="rect">
            <a:avLst/>
          </a:prstGeom>
        </p:spPr>
        <p:txBody>
          <a:bodyPr wrap="none">
            <a:spAutoFit/>
          </a:bodyPr>
          <a:lstStyle/>
          <a:p>
            <a:r>
              <a:rPr lang="es-ES" sz="800" dirty="0"/>
              <a:t>[1]</a:t>
            </a:r>
            <a:endParaRPr lang="es-CO" sz="800" dirty="0"/>
          </a:p>
        </p:txBody>
      </p:sp>
      <p:sp>
        <p:nvSpPr>
          <p:cNvPr id="21" name="Rectángulo 20">
            <a:extLst>
              <a:ext uri="{FF2B5EF4-FFF2-40B4-BE49-F238E27FC236}">
                <a16:creationId xmlns:a16="http://schemas.microsoft.com/office/drawing/2014/main" id="{F7F4FA9A-119B-436E-908A-C0CDAC07B24E}"/>
              </a:ext>
            </a:extLst>
          </p:cNvPr>
          <p:cNvSpPr/>
          <p:nvPr/>
        </p:nvSpPr>
        <p:spPr>
          <a:xfrm>
            <a:off x="8660022" y="2470598"/>
            <a:ext cx="300082" cy="215444"/>
          </a:xfrm>
          <a:prstGeom prst="rect">
            <a:avLst/>
          </a:prstGeom>
        </p:spPr>
        <p:txBody>
          <a:bodyPr wrap="none">
            <a:spAutoFit/>
          </a:bodyPr>
          <a:lstStyle/>
          <a:p>
            <a:r>
              <a:rPr lang="es-ES" sz="800" dirty="0"/>
              <a:t>[2]</a:t>
            </a:r>
            <a:endParaRPr lang="es-CO" sz="800" dirty="0"/>
          </a:p>
        </p:txBody>
      </p:sp>
      <p:pic>
        <p:nvPicPr>
          <p:cNvPr id="4" name="Imagen 3">
            <a:extLst>
              <a:ext uri="{FF2B5EF4-FFF2-40B4-BE49-F238E27FC236}">
                <a16:creationId xmlns:a16="http://schemas.microsoft.com/office/drawing/2014/main" id="{F3876088-99E9-4791-84FB-1041342565B6}"/>
              </a:ext>
            </a:extLst>
          </p:cNvPr>
          <p:cNvPicPr>
            <a:picLocks noChangeAspect="1"/>
          </p:cNvPicPr>
          <p:nvPr/>
        </p:nvPicPr>
        <p:blipFill>
          <a:blip r:embed="rId6"/>
          <a:stretch>
            <a:fillRect/>
          </a:stretch>
        </p:blipFill>
        <p:spPr>
          <a:xfrm>
            <a:off x="2173086" y="2856300"/>
            <a:ext cx="5203660" cy="2999012"/>
          </a:xfrm>
          <a:prstGeom prst="rect">
            <a:avLst/>
          </a:prstGeom>
        </p:spPr>
      </p:pic>
      <p:sp>
        <p:nvSpPr>
          <p:cNvPr id="23" name="Rectángulo 22">
            <a:extLst>
              <a:ext uri="{FF2B5EF4-FFF2-40B4-BE49-F238E27FC236}">
                <a16:creationId xmlns:a16="http://schemas.microsoft.com/office/drawing/2014/main" id="{D56F3858-9979-4434-85D1-878BBF4CBB81}"/>
              </a:ext>
            </a:extLst>
          </p:cNvPr>
          <p:cNvSpPr/>
          <p:nvPr/>
        </p:nvSpPr>
        <p:spPr>
          <a:xfrm>
            <a:off x="6544449" y="5324994"/>
            <a:ext cx="300082" cy="215444"/>
          </a:xfrm>
          <a:prstGeom prst="rect">
            <a:avLst/>
          </a:prstGeom>
        </p:spPr>
        <p:txBody>
          <a:bodyPr wrap="none">
            <a:spAutoFit/>
          </a:bodyPr>
          <a:lstStyle/>
          <a:p>
            <a:r>
              <a:rPr lang="es-ES" sz="800" dirty="0"/>
              <a:t>[3]</a:t>
            </a:r>
            <a:endParaRPr lang="es-CO" sz="800" dirty="0"/>
          </a:p>
        </p:txBody>
      </p:sp>
    </p:spTree>
    <p:custDataLst>
      <p:tags r:id="rId1"/>
    </p:custDataLst>
    <p:extLst>
      <p:ext uri="{BB962C8B-B14F-4D97-AF65-F5344CB8AC3E}">
        <p14:creationId xmlns:p14="http://schemas.microsoft.com/office/powerpoint/2010/main" val="3839588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0283" y="5898418"/>
            <a:ext cx="5854618"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https://makersportal.com/blog/2020/5/26/capacitive-soil-moisture-calibration-with-arduino</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13" name="Rectángulo 12">
            <a:extLst>
              <a:ext uri="{FF2B5EF4-FFF2-40B4-BE49-F238E27FC236}">
                <a16:creationId xmlns:a16="http://schemas.microsoft.com/office/drawing/2014/main" id="{9B5E1A33-DD26-441E-AFDD-F9E157E69E58}"/>
              </a:ext>
            </a:extLst>
          </p:cNvPr>
          <p:cNvSpPr/>
          <p:nvPr/>
        </p:nvSpPr>
        <p:spPr>
          <a:xfrm>
            <a:off x="209088" y="611698"/>
            <a:ext cx="6918271" cy="307777"/>
          </a:xfrm>
          <a:prstGeom prst="rect">
            <a:avLst/>
          </a:prstGeom>
          <a:ln>
            <a:noFill/>
          </a:ln>
        </p:spPr>
        <p:txBody>
          <a:bodyPr wrap="square">
            <a:spAutoFit/>
          </a:bodyPr>
          <a:lstStyle/>
          <a:p>
            <a:r>
              <a:rPr lang="en-US" sz="1400" dirty="0">
                <a:solidFill>
                  <a:srgbClr val="2C5697"/>
                </a:solidFill>
              </a:rPr>
              <a:t>Arduino | </a:t>
            </a:r>
            <a:r>
              <a:rPr lang="en-US" sz="1400" dirty="0" err="1">
                <a:solidFill>
                  <a:srgbClr val="2C5697"/>
                </a:solidFill>
              </a:rPr>
              <a:t>Medición</a:t>
            </a:r>
            <a:r>
              <a:rPr lang="en-US" sz="1400" dirty="0">
                <a:solidFill>
                  <a:srgbClr val="2C5697"/>
                </a:solidFill>
              </a:rPr>
              <a:t> de </a:t>
            </a:r>
            <a:r>
              <a:rPr lang="en-US" sz="1400" dirty="0" err="1">
                <a:solidFill>
                  <a:srgbClr val="2C5697"/>
                </a:solidFill>
              </a:rPr>
              <a:t>humedad</a:t>
            </a:r>
            <a:r>
              <a:rPr lang="en-US" sz="1400" dirty="0">
                <a:solidFill>
                  <a:srgbClr val="2C5697"/>
                </a:solidFill>
              </a:rPr>
              <a:t> </a:t>
            </a:r>
            <a:r>
              <a:rPr lang="en-US" sz="1400" dirty="0" err="1">
                <a:solidFill>
                  <a:srgbClr val="2C5697"/>
                </a:solidFill>
              </a:rPr>
              <a:t>en</a:t>
            </a:r>
            <a:r>
              <a:rPr lang="en-US" sz="1400" dirty="0">
                <a:solidFill>
                  <a:srgbClr val="2C5697"/>
                </a:solidFill>
              </a:rPr>
              <a:t> </a:t>
            </a:r>
            <a:r>
              <a:rPr lang="en-US" sz="1400" dirty="0" err="1">
                <a:solidFill>
                  <a:srgbClr val="2C5697"/>
                </a:solidFill>
              </a:rPr>
              <a:t>suelos</a:t>
            </a:r>
            <a:r>
              <a:rPr lang="en-US" sz="1400" dirty="0">
                <a:solidFill>
                  <a:srgbClr val="2C5697"/>
                </a:solidFill>
              </a:rPr>
              <a:t> (</a:t>
            </a:r>
            <a:r>
              <a:rPr lang="en-US" sz="1400" i="1" dirty="0">
                <a:solidFill>
                  <a:srgbClr val="2C5697"/>
                </a:solidFill>
              </a:rPr>
              <a:t>Capacitive Soil Moisture sensor</a:t>
            </a:r>
            <a:r>
              <a:rPr lang="en-US" sz="1400" dirty="0">
                <a:solidFill>
                  <a:srgbClr val="2C5697"/>
                </a:solidFill>
              </a:rPr>
              <a:t>)</a:t>
            </a:r>
            <a:endParaRPr lang="es-CO" sz="1400" dirty="0">
              <a:solidFill>
                <a:srgbClr val="2C5697"/>
              </a:solidFill>
            </a:endParaRPr>
          </a:p>
        </p:txBody>
      </p:sp>
      <p:pic>
        <p:nvPicPr>
          <p:cNvPr id="1028" name="Picture 4" descr="cap_soil_sensor_arduino_wiring.png">
            <a:extLst>
              <a:ext uri="{FF2B5EF4-FFF2-40B4-BE49-F238E27FC236}">
                <a16:creationId xmlns:a16="http://schemas.microsoft.com/office/drawing/2014/main" id="{B665D71B-572B-4851-8725-D66F5CE189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5060" y="2966380"/>
            <a:ext cx="3445933" cy="2949560"/>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F9D1336C-8AC1-491B-BB51-68AF686D573D}"/>
              </a:ext>
            </a:extLst>
          </p:cNvPr>
          <p:cNvPicPr>
            <a:picLocks noChangeAspect="1"/>
          </p:cNvPicPr>
          <p:nvPr/>
        </p:nvPicPr>
        <p:blipFill>
          <a:blip r:embed="rId5"/>
          <a:stretch>
            <a:fillRect/>
          </a:stretch>
        </p:blipFill>
        <p:spPr>
          <a:xfrm>
            <a:off x="6496304" y="891298"/>
            <a:ext cx="2032000" cy="1353312"/>
          </a:xfrm>
          <a:prstGeom prst="rect">
            <a:avLst/>
          </a:prstGeom>
        </p:spPr>
      </p:pic>
      <p:pic>
        <p:nvPicPr>
          <p:cNvPr id="2050" name="Picture 2" descr="coplanar_capacitor_drawing.png">
            <a:extLst>
              <a:ext uri="{FF2B5EF4-FFF2-40B4-BE49-F238E27FC236}">
                <a16:creationId xmlns:a16="http://schemas.microsoft.com/office/drawing/2014/main" id="{82FF90F2-C38E-4F65-B7A8-8AD4036A00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317" y="3796022"/>
            <a:ext cx="4505270" cy="2027371"/>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E7202C11-FCB6-40C0-829C-F5461528AA0D}"/>
              </a:ext>
            </a:extLst>
          </p:cNvPr>
          <p:cNvSpPr/>
          <p:nvPr/>
        </p:nvSpPr>
        <p:spPr>
          <a:xfrm>
            <a:off x="202844" y="3259332"/>
            <a:ext cx="5461355" cy="461665"/>
          </a:xfrm>
          <a:prstGeom prst="rect">
            <a:avLst/>
          </a:prstGeom>
        </p:spPr>
        <p:txBody>
          <a:bodyPr wrap="square">
            <a:spAutoFit/>
          </a:bodyPr>
          <a:lstStyle/>
          <a:p>
            <a:r>
              <a:rPr lang="es-CO" sz="1200" dirty="0">
                <a:solidFill>
                  <a:srgbClr val="2C5697"/>
                </a:solidFill>
              </a:rPr>
              <a:t>Las placas son planas y están una al lado de la otra, en lugar de una encima de la otra. El material dieléctrico es el suelo.</a:t>
            </a:r>
          </a:p>
        </p:txBody>
      </p:sp>
      <p:pic>
        <p:nvPicPr>
          <p:cNvPr id="2052" name="Picture 4" descr="capacitor_drawing.png">
            <a:extLst>
              <a:ext uri="{FF2B5EF4-FFF2-40B4-BE49-F238E27FC236}">
                <a16:creationId xmlns:a16="http://schemas.microsoft.com/office/drawing/2014/main" id="{F19F2ABC-B062-4E4F-A760-7EBA51D2B5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714" y="1230647"/>
            <a:ext cx="2559510" cy="1485493"/>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FA74DD01-39C8-4D19-A7E7-8D8F65BA3FE3}"/>
              </a:ext>
            </a:extLst>
          </p:cNvPr>
          <p:cNvPicPr>
            <a:picLocks noChangeAspect="1"/>
          </p:cNvPicPr>
          <p:nvPr/>
        </p:nvPicPr>
        <p:blipFill>
          <a:blip r:embed="rId8"/>
          <a:stretch>
            <a:fillRect/>
          </a:stretch>
        </p:blipFill>
        <p:spPr>
          <a:xfrm>
            <a:off x="3767745" y="1761778"/>
            <a:ext cx="1399331" cy="587719"/>
          </a:xfrm>
          <a:prstGeom prst="rect">
            <a:avLst/>
          </a:prstGeom>
        </p:spPr>
      </p:pic>
    </p:spTree>
    <p:custDataLst>
      <p:tags r:id="rId1"/>
    </p:custDataLst>
    <p:extLst>
      <p:ext uri="{BB962C8B-B14F-4D97-AF65-F5344CB8AC3E}">
        <p14:creationId xmlns:p14="http://schemas.microsoft.com/office/powerpoint/2010/main" val="941288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https://www.electronicwings.com/esp32/soil-moisture-sensor-interfacing-with-esp32</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13" name="Rectángulo 12">
            <a:extLst>
              <a:ext uri="{FF2B5EF4-FFF2-40B4-BE49-F238E27FC236}">
                <a16:creationId xmlns:a16="http://schemas.microsoft.com/office/drawing/2014/main" id="{9B5E1A33-DD26-441E-AFDD-F9E157E69E58}"/>
              </a:ext>
            </a:extLst>
          </p:cNvPr>
          <p:cNvSpPr/>
          <p:nvPr/>
        </p:nvSpPr>
        <p:spPr>
          <a:xfrm>
            <a:off x="209088" y="611698"/>
            <a:ext cx="6918271" cy="307777"/>
          </a:xfrm>
          <a:prstGeom prst="rect">
            <a:avLst/>
          </a:prstGeom>
          <a:ln>
            <a:noFill/>
          </a:ln>
        </p:spPr>
        <p:txBody>
          <a:bodyPr wrap="square">
            <a:spAutoFit/>
          </a:bodyPr>
          <a:lstStyle/>
          <a:p>
            <a:r>
              <a:rPr lang="en-US" sz="1400" dirty="0">
                <a:solidFill>
                  <a:srgbClr val="2C5697"/>
                </a:solidFill>
              </a:rPr>
              <a:t>ESP32 | </a:t>
            </a:r>
            <a:r>
              <a:rPr lang="en-US" sz="1400" dirty="0" err="1">
                <a:solidFill>
                  <a:srgbClr val="2C5697"/>
                </a:solidFill>
              </a:rPr>
              <a:t>Medición</a:t>
            </a:r>
            <a:r>
              <a:rPr lang="en-US" sz="1400" dirty="0">
                <a:solidFill>
                  <a:srgbClr val="2C5697"/>
                </a:solidFill>
              </a:rPr>
              <a:t> de </a:t>
            </a:r>
            <a:r>
              <a:rPr lang="en-US" sz="1400" dirty="0" err="1">
                <a:solidFill>
                  <a:srgbClr val="2C5697"/>
                </a:solidFill>
              </a:rPr>
              <a:t>humedad</a:t>
            </a:r>
            <a:r>
              <a:rPr lang="en-US" sz="1400" dirty="0">
                <a:solidFill>
                  <a:srgbClr val="2C5697"/>
                </a:solidFill>
              </a:rPr>
              <a:t> </a:t>
            </a:r>
            <a:r>
              <a:rPr lang="en-US" sz="1400" dirty="0" err="1">
                <a:solidFill>
                  <a:srgbClr val="2C5697"/>
                </a:solidFill>
              </a:rPr>
              <a:t>en</a:t>
            </a:r>
            <a:r>
              <a:rPr lang="en-US" sz="1400" dirty="0">
                <a:solidFill>
                  <a:srgbClr val="2C5697"/>
                </a:solidFill>
              </a:rPr>
              <a:t> </a:t>
            </a:r>
            <a:r>
              <a:rPr lang="en-US" sz="1400" dirty="0" err="1">
                <a:solidFill>
                  <a:srgbClr val="2C5697"/>
                </a:solidFill>
              </a:rPr>
              <a:t>suelos</a:t>
            </a:r>
            <a:r>
              <a:rPr lang="en-US" sz="1400" dirty="0">
                <a:solidFill>
                  <a:srgbClr val="2C5697"/>
                </a:solidFill>
              </a:rPr>
              <a:t> (</a:t>
            </a:r>
            <a:r>
              <a:rPr lang="en-US" sz="1400" i="1" dirty="0">
                <a:solidFill>
                  <a:srgbClr val="2C5697"/>
                </a:solidFill>
              </a:rPr>
              <a:t>Resistive Soil Moisture sensor</a:t>
            </a:r>
            <a:r>
              <a:rPr lang="en-US" sz="1400" dirty="0">
                <a:solidFill>
                  <a:srgbClr val="2C5697"/>
                </a:solidFill>
              </a:rPr>
              <a:t>)</a:t>
            </a:r>
            <a:endParaRPr lang="es-CO" sz="1400" dirty="0">
              <a:solidFill>
                <a:srgbClr val="2C5697"/>
              </a:solidFill>
            </a:endParaRPr>
          </a:p>
        </p:txBody>
      </p:sp>
      <p:sp>
        <p:nvSpPr>
          <p:cNvPr id="8" name="Rectángulo 7">
            <a:extLst>
              <a:ext uri="{FF2B5EF4-FFF2-40B4-BE49-F238E27FC236}">
                <a16:creationId xmlns:a16="http://schemas.microsoft.com/office/drawing/2014/main" id="{E7202C11-FCB6-40C0-829C-F5461528AA0D}"/>
              </a:ext>
            </a:extLst>
          </p:cNvPr>
          <p:cNvSpPr/>
          <p:nvPr/>
        </p:nvSpPr>
        <p:spPr>
          <a:xfrm>
            <a:off x="299161" y="4210328"/>
            <a:ext cx="4572000" cy="646331"/>
          </a:xfrm>
          <a:prstGeom prst="rect">
            <a:avLst/>
          </a:prstGeom>
        </p:spPr>
        <p:txBody>
          <a:bodyPr>
            <a:spAutoFit/>
          </a:bodyPr>
          <a:lstStyle/>
          <a:p>
            <a:r>
              <a:rPr lang="es-CO" sz="1200" dirty="0">
                <a:solidFill>
                  <a:srgbClr val="2C5697"/>
                </a:solidFill>
              </a:rPr>
              <a:t>Las tarjetas ESPXX facilitan la conexión con sensores, periféricos, la comunicación con dispositivos móviles, y puede programarse con el Arduino IDE</a:t>
            </a:r>
          </a:p>
        </p:txBody>
      </p:sp>
      <p:pic>
        <p:nvPicPr>
          <p:cNvPr id="4098" name="Picture 2" descr="This is the picture of Soil Moisture Sensor Working Principle">
            <a:extLst>
              <a:ext uri="{FF2B5EF4-FFF2-40B4-BE49-F238E27FC236}">
                <a16:creationId xmlns:a16="http://schemas.microsoft.com/office/drawing/2014/main" id="{240B329C-F22B-483C-BAB8-4E1CE9597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809" y="1624401"/>
            <a:ext cx="3492326" cy="155214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www.electronicwings.com/storage/PlatformSection/TopicContent/442/description/Soil%20Moisture%20Sensor%20Interfacing%20With%20ESP32.jpg">
            <a:extLst>
              <a:ext uri="{FF2B5EF4-FFF2-40B4-BE49-F238E27FC236}">
                <a16:creationId xmlns:a16="http://schemas.microsoft.com/office/drawing/2014/main" id="{8BFCF41F-74D8-483B-8A4B-EBF3897D42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0701" y="3166926"/>
            <a:ext cx="3017921" cy="254846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oil Moisture Sensor Interfacing with ESP32">
            <a:extLst>
              <a:ext uri="{FF2B5EF4-FFF2-40B4-BE49-F238E27FC236}">
                <a16:creationId xmlns:a16="http://schemas.microsoft.com/office/drawing/2014/main" id="{CAD66832-6BC8-4FF2-BF4A-03BFA9AD89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73195" y="1033200"/>
            <a:ext cx="2540760" cy="190557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886805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[1] https://how2electronics.com/capacitive-soil-moisture-sensor-esp8266-esp32-oled-display/</a:t>
            </a:r>
          </a:p>
          <a:p>
            <a:r>
              <a:rPr lang="en-US" sz="700" dirty="0">
                <a:solidFill>
                  <a:schemeClr val="bg1"/>
                </a:solidFill>
                <a:cs typeface="Calibri"/>
              </a:rPr>
              <a:t>                [2] https://randomnerdtutorials.com/esp8266-nodemcu-access-point-ap-web-server/</a:t>
            </a: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13" name="Rectángulo 12">
            <a:extLst>
              <a:ext uri="{FF2B5EF4-FFF2-40B4-BE49-F238E27FC236}">
                <a16:creationId xmlns:a16="http://schemas.microsoft.com/office/drawing/2014/main" id="{9B5E1A33-DD26-441E-AFDD-F9E157E69E58}"/>
              </a:ext>
            </a:extLst>
          </p:cNvPr>
          <p:cNvSpPr/>
          <p:nvPr/>
        </p:nvSpPr>
        <p:spPr>
          <a:xfrm>
            <a:off x="209088" y="611698"/>
            <a:ext cx="6918271" cy="307777"/>
          </a:xfrm>
          <a:prstGeom prst="rect">
            <a:avLst/>
          </a:prstGeom>
          <a:ln>
            <a:noFill/>
          </a:ln>
        </p:spPr>
        <p:txBody>
          <a:bodyPr wrap="square">
            <a:spAutoFit/>
          </a:bodyPr>
          <a:lstStyle/>
          <a:p>
            <a:r>
              <a:rPr lang="en-US" sz="1400" dirty="0">
                <a:solidFill>
                  <a:srgbClr val="2C5697"/>
                </a:solidFill>
              </a:rPr>
              <a:t>ESP32 | </a:t>
            </a:r>
            <a:r>
              <a:rPr lang="en-US" sz="1400" dirty="0" err="1">
                <a:solidFill>
                  <a:srgbClr val="2C5697"/>
                </a:solidFill>
              </a:rPr>
              <a:t>Medición</a:t>
            </a:r>
            <a:r>
              <a:rPr lang="en-US" sz="1400" dirty="0">
                <a:solidFill>
                  <a:srgbClr val="2C5697"/>
                </a:solidFill>
              </a:rPr>
              <a:t> de </a:t>
            </a:r>
            <a:r>
              <a:rPr lang="en-US" sz="1400" dirty="0" err="1">
                <a:solidFill>
                  <a:srgbClr val="2C5697"/>
                </a:solidFill>
              </a:rPr>
              <a:t>humedad</a:t>
            </a:r>
            <a:r>
              <a:rPr lang="en-US" sz="1400" dirty="0">
                <a:solidFill>
                  <a:srgbClr val="2C5697"/>
                </a:solidFill>
              </a:rPr>
              <a:t> </a:t>
            </a:r>
            <a:r>
              <a:rPr lang="en-US" sz="1400" dirty="0" err="1">
                <a:solidFill>
                  <a:srgbClr val="2C5697"/>
                </a:solidFill>
              </a:rPr>
              <a:t>en</a:t>
            </a:r>
            <a:r>
              <a:rPr lang="en-US" sz="1400" dirty="0">
                <a:solidFill>
                  <a:srgbClr val="2C5697"/>
                </a:solidFill>
              </a:rPr>
              <a:t> </a:t>
            </a:r>
            <a:r>
              <a:rPr lang="en-US" sz="1400" dirty="0" err="1">
                <a:solidFill>
                  <a:srgbClr val="2C5697"/>
                </a:solidFill>
              </a:rPr>
              <a:t>suelos</a:t>
            </a:r>
            <a:r>
              <a:rPr lang="en-US" sz="1400" dirty="0">
                <a:solidFill>
                  <a:srgbClr val="2C5697"/>
                </a:solidFill>
              </a:rPr>
              <a:t> (</a:t>
            </a:r>
            <a:r>
              <a:rPr lang="en-US" sz="1400" i="1" dirty="0">
                <a:solidFill>
                  <a:srgbClr val="2C5697"/>
                </a:solidFill>
              </a:rPr>
              <a:t>Capacitive Soil Moisture sensor</a:t>
            </a:r>
            <a:r>
              <a:rPr lang="en-US" sz="1400" dirty="0">
                <a:solidFill>
                  <a:srgbClr val="2C5697"/>
                </a:solidFill>
              </a:rPr>
              <a:t>)</a:t>
            </a:r>
            <a:endParaRPr lang="es-CO" sz="1400" dirty="0">
              <a:solidFill>
                <a:srgbClr val="2C5697"/>
              </a:solidFill>
            </a:endParaRPr>
          </a:p>
        </p:txBody>
      </p:sp>
      <p:sp>
        <p:nvSpPr>
          <p:cNvPr id="8" name="Rectángulo 7">
            <a:extLst>
              <a:ext uri="{FF2B5EF4-FFF2-40B4-BE49-F238E27FC236}">
                <a16:creationId xmlns:a16="http://schemas.microsoft.com/office/drawing/2014/main" id="{E7202C11-FCB6-40C0-829C-F5461528AA0D}"/>
              </a:ext>
            </a:extLst>
          </p:cNvPr>
          <p:cNvSpPr/>
          <p:nvPr/>
        </p:nvSpPr>
        <p:spPr>
          <a:xfrm>
            <a:off x="1158802" y="3303567"/>
            <a:ext cx="5113866" cy="276999"/>
          </a:xfrm>
          <a:prstGeom prst="rect">
            <a:avLst/>
          </a:prstGeom>
        </p:spPr>
        <p:txBody>
          <a:bodyPr wrap="square">
            <a:spAutoFit/>
          </a:bodyPr>
          <a:lstStyle/>
          <a:p>
            <a:pPr algn="ctr"/>
            <a:r>
              <a:rPr lang="es-CO" sz="1200" dirty="0">
                <a:solidFill>
                  <a:srgbClr val="2C5697"/>
                </a:solidFill>
              </a:rPr>
              <a:t>Las tarjetas ESPXX facilitan la conexión inalámbrica por </a:t>
            </a:r>
            <a:r>
              <a:rPr lang="es-CO" sz="1200" dirty="0" err="1">
                <a:solidFill>
                  <a:srgbClr val="2C5697"/>
                </a:solidFill>
              </a:rPr>
              <a:t>WiFi</a:t>
            </a:r>
            <a:r>
              <a:rPr lang="es-CO" sz="1200" dirty="0">
                <a:solidFill>
                  <a:srgbClr val="2C5697"/>
                </a:solidFill>
              </a:rPr>
              <a:t> o Bluetooth</a:t>
            </a:r>
          </a:p>
        </p:txBody>
      </p:sp>
      <p:pic>
        <p:nvPicPr>
          <p:cNvPr id="5122" name="Picture 2" descr="Capacitive Soil Moisture Sensor ESP32">
            <a:extLst>
              <a:ext uri="{FF2B5EF4-FFF2-40B4-BE49-F238E27FC236}">
                <a16:creationId xmlns:a16="http://schemas.microsoft.com/office/drawing/2014/main" id="{745BD9D4-E32E-44AE-B4A7-7D0FB7E823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4420" y="1170035"/>
            <a:ext cx="3067580" cy="156254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apacitive Soil Moisture Sensor with ESP32 &amp; OLED Display">
            <a:extLst>
              <a:ext uri="{FF2B5EF4-FFF2-40B4-BE49-F238E27FC236}">
                <a16:creationId xmlns:a16="http://schemas.microsoft.com/office/drawing/2014/main" id="{C7FF417A-9369-45C2-9A68-1604ACFA6F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1916" y="1229422"/>
            <a:ext cx="2373279" cy="146131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ESP8266 NodeMCU Access Point Web Server using Arduino IDE">
            <a:extLst>
              <a:ext uri="{FF2B5EF4-FFF2-40B4-BE49-F238E27FC236}">
                <a16:creationId xmlns:a16="http://schemas.microsoft.com/office/drawing/2014/main" id="{B4A57CC4-396B-4C4C-A381-83F462E863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62257" y="2953912"/>
            <a:ext cx="1317384" cy="2775289"/>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ESP866 NodeMCU set as a Wi-Fi Station">
            <a:extLst>
              <a:ext uri="{FF2B5EF4-FFF2-40B4-BE49-F238E27FC236}">
                <a16:creationId xmlns:a16="http://schemas.microsoft.com/office/drawing/2014/main" id="{37740F55-864E-4526-B828-E6BBC946F0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1152" y="3704425"/>
            <a:ext cx="3461808" cy="1689362"/>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pic>
      <p:pic>
        <p:nvPicPr>
          <p:cNvPr id="5130" name="Picture 10" descr="ESP866 NodeMCU Set as an Access Point (AP) Mode">
            <a:extLst>
              <a:ext uri="{FF2B5EF4-FFF2-40B4-BE49-F238E27FC236}">
                <a16:creationId xmlns:a16="http://schemas.microsoft.com/office/drawing/2014/main" id="{9BE8583B-8DE2-4BEE-AEF2-9EA2C8984BD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9767" y="3700169"/>
            <a:ext cx="3038788" cy="1693618"/>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pic>
      <p:sp>
        <p:nvSpPr>
          <p:cNvPr id="17" name="Flecha: a la derecha 16">
            <a:extLst>
              <a:ext uri="{FF2B5EF4-FFF2-40B4-BE49-F238E27FC236}">
                <a16:creationId xmlns:a16="http://schemas.microsoft.com/office/drawing/2014/main" id="{B3B52721-4747-4F8B-BAE6-B6EE1BC1E22C}"/>
              </a:ext>
            </a:extLst>
          </p:cNvPr>
          <p:cNvSpPr/>
          <p:nvPr/>
        </p:nvSpPr>
        <p:spPr>
          <a:xfrm>
            <a:off x="7103721" y="4470400"/>
            <a:ext cx="355599" cy="13103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8777C5E2-4939-405D-B979-9C607F9B3A0A}"/>
              </a:ext>
            </a:extLst>
          </p:cNvPr>
          <p:cNvSpPr/>
          <p:nvPr/>
        </p:nvSpPr>
        <p:spPr>
          <a:xfrm>
            <a:off x="4774916" y="2512542"/>
            <a:ext cx="300082" cy="215444"/>
          </a:xfrm>
          <a:prstGeom prst="rect">
            <a:avLst/>
          </a:prstGeom>
        </p:spPr>
        <p:txBody>
          <a:bodyPr wrap="none">
            <a:spAutoFit/>
          </a:bodyPr>
          <a:lstStyle/>
          <a:p>
            <a:r>
              <a:rPr lang="es-ES" sz="800" dirty="0"/>
              <a:t>[1]</a:t>
            </a:r>
            <a:endParaRPr lang="es-CO" sz="800" dirty="0"/>
          </a:p>
        </p:txBody>
      </p:sp>
      <p:sp>
        <p:nvSpPr>
          <p:cNvPr id="20" name="Rectángulo 19">
            <a:extLst>
              <a:ext uri="{FF2B5EF4-FFF2-40B4-BE49-F238E27FC236}">
                <a16:creationId xmlns:a16="http://schemas.microsoft.com/office/drawing/2014/main" id="{AA457640-9C15-4D63-B538-D235BA0B1B73}"/>
              </a:ext>
            </a:extLst>
          </p:cNvPr>
          <p:cNvSpPr/>
          <p:nvPr/>
        </p:nvSpPr>
        <p:spPr>
          <a:xfrm>
            <a:off x="7179449" y="5244215"/>
            <a:ext cx="300082" cy="215444"/>
          </a:xfrm>
          <a:prstGeom prst="rect">
            <a:avLst/>
          </a:prstGeom>
        </p:spPr>
        <p:txBody>
          <a:bodyPr wrap="none">
            <a:spAutoFit/>
          </a:bodyPr>
          <a:lstStyle/>
          <a:p>
            <a:r>
              <a:rPr lang="es-ES" sz="800" dirty="0"/>
              <a:t>[2]</a:t>
            </a:r>
            <a:endParaRPr lang="es-CO" sz="800" dirty="0"/>
          </a:p>
        </p:txBody>
      </p:sp>
    </p:spTree>
    <p:custDataLst>
      <p:tags r:id="rId1"/>
    </p:custDataLst>
    <p:extLst>
      <p:ext uri="{BB962C8B-B14F-4D97-AF65-F5344CB8AC3E}">
        <p14:creationId xmlns:p14="http://schemas.microsoft.com/office/powerpoint/2010/main" val="248184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77083F-A8F1-20F6-97F3-8CD4F1578071}"/>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2E7FB360-D6C6-FC71-C3C7-27CCF31D6FCF}"/>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1FB1BCEF-8C43-185C-F0F7-DA74E49BA216}"/>
              </a:ext>
            </a:extLst>
          </p:cNvPr>
          <p:cNvSpPr txBox="1"/>
          <p:nvPr/>
        </p:nvSpPr>
        <p:spPr>
          <a:xfrm>
            <a:off x="21249" y="5909173"/>
            <a:ext cx="729395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[1] https://how2electronics.com/capacitive-soil-moisture-sensor-esp8266-esp32-oled-display/</a:t>
            </a:r>
          </a:p>
          <a:p>
            <a:r>
              <a:rPr lang="en-US" sz="700" dirty="0">
                <a:solidFill>
                  <a:schemeClr val="bg1"/>
                </a:solidFill>
                <a:cs typeface="Calibri"/>
              </a:rPr>
              <a:t>                [2] https://randomnerdtutorials.com/esp8266-nodemcu-access-point-ap-web-server/</a:t>
            </a:r>
          </a:p>
        </p:txBody>
      </p:sp>
      <p:sp>
        <p:nvSpPr>
          <p:cNvPr id="3" name="Título 1">
            <a:extLst>
              <a:ext uri="{FF2B5EF4-FFF2-40B4-BE49-F238E27FC236}">
                <a16:creationId xmlns:a16="http://schemas.microsoft.com/office/drawing/2014/main" id="{9D24FA36-0ED5-E9A8-D567-61B3C3F3B366}"/>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8DACCC41-825D-B41B-4DD9-444125C2A339}"/>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IoT para agricultura</a:t>
            </a:r>
            <a:endParaRPr lang="en-US" dirty="0"/>
          </a:p>
        </p:txBody>
      </p:sp>
      <p:sp>
        <p:nvSpPr>
          <p:cNvPr id="18" name="Marcador de número de diapositiva 3">
            <a:extLst>
              <a:ext uri="{FF2B5EF4-FFF2-40B4-BE49-F238E27FC236}">
                <a16:creationId xmlns:a16="http://schemas.microsoft.com/office/drawing/2014/main" id="{62916CFA-2121-6EEC-44B5-CECC788F924C}"/>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17" name="Flecha: a la derecha 16">
            <a:extLst>
              <a:ext uri="{FF2B5EF4-FFF2-40B4-BE49-F238E27FC236}">
                <a16:creationId xmlns:a16="http://schemas.microsoft.com/office/drawing/2014/main" id="{3AAF777E-5919-6787-9D59-BC28E6DF675F}"/>
              </a:ext>
            </a:extLst>
          </p:cNvPr>
          <p:cNvSpPr/>
          <p:nvPr/>
        </p:nvSpPr>
        <p:spPr>
          <a:xfrm>
            <a:off x="5634338" y="3045515"/>
            <a:ext cx="355599" cy="13103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19" name="Rectángulo 18">
            <a:extLst>
              <a:ext uri="{FF2B5EF4-FFF2-40B4-BE49-F238E27FC236}">
                <a16:creationId xmlns:a16="http://schemas.microsoft.com/office/drawing/2014/main" id="{89D5EDD8-B02B-FFE3-2330-37815E58DCE9}"/>
              </a:ext>
            </a:extLst>
          </p:cNvPr>
          <p:cNvSpPr/>
          <p:nvPr/>
        </p:nvSpPr>
        <p:spPr>
          <a:xfrm>
            <a:off x="4774916" y="2512542"/>
            <a:ext cx="300082" cy="215444"/>
          </a:xfrm>
          <a:prstGeom prst="rect">
            <a:avLst/>
          </a:prstGeom>
        </p:spPr>
        <p:txBody>
          <a:bodyPr wrap="none">
            <a:spAutoFit/>
          </a:bodyPr>
          <a:lstStyle/>
          <a:p>
            <a:r>
              <a:rPr lang="es-ES" sz="800" dirty="0"/>
              <a:t>[1]</a:t>
            </a:r>
            <a:endParaRPr lang="es-CO" sz="800" dirty="0"/>
          </a:p>
        </p:txBody>
      </p:sp>
      <p:pic>
        <p:nvPicPr>
          <p:cNvPr id="1026" name="Picture 2" descr="Sensors 25 03583 g007">
            <a:extLst>
              <a:ext uri="{FF2B5EF4-FFF2-40B4-BE49-F238E27FC236}">
                <a16:creationId xmlns:a16="http://schemas.microsoft.com/office/drawing/2014/main" id="{E5925C56-94F1-BB2E-4C1D-2ED888B65C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3757" y="728494"/>
            <a:ext cx="2379951" cy="399898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nsors 25 03583 g006">
            <a:extLst>
              <a:ext uri="{FF2B5EF4-FFF2-40B4-BE49-F238E27FC236}">
                <a16:creationId xmlns:a16="http://schemas.microsoft.com/office/drawing/2014/main" id="{73E3BDBF-61FB-EFA7-D2A2-EDBF1B552A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221" y="1668985"/>
            <a:ext cx="5238750" cy="220980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C37F185E-19D8-050E-BFFD-BA477E4CE2FF}"/>
              </a:ext>
            </a:extLst>
          </p:cNvPr>
          <p:cNvPicPr>
            <a:picLocks noChangeAspect="1"/>
          </p:cNvPicPr>
          <p:nvPr/>
        </p:nvPicPr>
        <p:blipFill>
          <a:blip r:embed="rId6"/>
          <a:stretch>
            <a:fillRect/>
          </a:stretch>
        </p:blipFill>
        <p:spPr>
          <a:xfrm>
            <a:off x="0" y="5103849"/>
            <a:ext cx="4957408" cy="704145"/>
          </a:xfrm>
          <a:prstGeom prst="rect">
            <a:avLst/>
          </a:prstGeom>
        </p:spPr>
      </p:pic>
    </p:spTree>
    <p:custDataLst>
      <p:tags r:id="rId1"/>
    </p:custDataLst>
    <p:extLst>
      <p:ext uri="{BB962C8B-B14F-4D97-AF65-F5344CB8AC3E}">
        <p14:creationId xmlns:p14="http://schemas.microsoft.com/office/powerpoint/2010/main" val="1295638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https://detectoresgas.com/formato/sensores-mq/</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sp>
        <p:nvSpPr>
          <p:cNvPr id="13" name="Rectángulo 12">
            <a:extLst>
              <a:ext uri="{FF2B5EF4-FFF2-40B4-BE49-F238E27FC236}">
                <a16:creationId xmlns:a16="http://schemas.microsoft.com/office/drawing/2014/main" id="{9B5E1A33-DD26-441E-AFDD-F9E157E69E58}"/>
              </a:ext>
            </a:extLst>
          </p:cNvPr>
          <p:cNvSpPr/>
          <p:nvPr/>
        </p:nvSpPr>
        <p:spPr>
          <a:xfrm>
            <a:off x="3932004" y="80603"/>
            <a:ext cx="4955189" cy="338554"/>
          </a:xfrm>
          <a:prstGeom prst="rect">
            <a:avLst/>
          </a:prstGeom>
          <a:ln>
            <a:noFill/>
          </a:ln>
        </p:spPr>
        <p:txBody>
          <a:bodyPr wrap="square">
            <a:spAutoFit/>
          </a:bodyPr>
          <a:lstStyle/>
          <a:p>
            <a:r>
              <a:rPr lang="en-US" sz="1600" b="1" dirty="0" err="1">
                <a:solidFill>
                  <a:srgbClr val="2C5697"/>
                </a:solidFill>
              </a:rPr>
              <a:t>Sensores</a:t>
            </a:r>
            <a:r>
              <a:rPr lang="en-US" sz="1600" b="1" dirty="0">
                <a:solidFill>
                  <a:srgbClr val="2C5697"/>
                </a:solidFill>
              </a:rPr>
              <a:t> de Gas</a:t>
            </a:r>
            <a:endParaRPr lang="es-CO" sz="1600" b="1" dirty="0">
              <a:solidFill>
                <a:srgbClr val="2C5697"/>
              </a:solidFill>
            </a:endParaRPr>
          </a:p>
        </p:txBody>
      </p:sp>
      <p:pic>
        <p:nvPicPr>
          <p:cNvPr id="2" name="Imagen 1">
            <a:extLst>
              <a:ext uri="{FF2B5EF4-FFF2-40B4-BE49-F238E27FC236}">
                <a16:creationId xmlns:a16="http://schemas.microsoft.com/office/drawing/2014/main" id="{69F53771-67A2-4568-A48C-3A64AE1908CF}"/>
              </a:ext>
            </a:extLst>
          </p:cNvPr>
          <p:cNvPicPr>
            <a:picLocks noChangeAspect="1"/>
          </p:cNvPicPr>
          <p:nvPr/>
        </p:nvPicPr>
        <p:blipFill>
          <a:blip r:embed="rId4"/>
          <a:stretch>
            <a:fillRect/>
          </a:stretch>
        </p:blipFill>
        <p:spPr>
          <a:xfrm>
            <a:off x="1099984" y="1407315"/>
            <a:ext cx="6944031" cy="2157207"/>
          </a:xfrm>
          <a:prstGeom prst="rect">
            <a:avLst/>
          </a:prstGeom>
        </p:spPr>
      </p:pic>
      <p:pic>
        <p:nvPicPr>
          <p:cNvPr id="4" name="Imagen 3">
            <a:extLst>
              <a:ext uri="{FF2B5EF4-FFF2-40B4-BE49-F238E27FC236}">
                <a16:creationId xmlns:a16="http://schemas.microsoft.com/office/drawing/2014/main" id="{9E10F7C8-740F-4D97-85B5-8D02A9F67577}"/>
              </a:ext>
            </a:extLst>
          </p:cNvPr>
          <p:cNvPicPr>
            <a:picLocks noChangeAspect="1"/>
          </p:cNvPicPr>
          <p:nvPr/>
        </p:nvPicPr>
        <p:blipFill>
          <a:blip r:embed="rId5"/>
          <a:stretch>
            <a:fillRect/>
          </a:stretch>
        </p:blipFill>
        <p:spPr>
          <a:xfrm>
            <a:off x="3718660" y="3811608"/>
            <a:ext cx="2185728" cy="1897578"/>
          </a:xfrm>
          <a:prstGeom prst="rect">
            <a:avLst/>
          </a:prstGeom>
        </p:spPr>
      </p:pic>
      <p:pic>
        <p:nvPicPr>
          <p:cNvPr id="5" name="Imagen 4">
            <a:extLst>
              <a:ext uri="{FF2B5EF4-FFF2-40B4-BE49-F238E27FC236}">
                <a16:creationId xmlns:a16="http://schemas.microsoft.com/office/drawing/2014/main" id="{32255315-4C60-4D33-9F7B-02F894FD5AF5}"/>
              </a:ext>
            </a:extLst>
          </p:cNvPr>
          <p:cNvPicPr>
            <a:picLocks noChangeAspect="1"/>
          </p:cNvPicPr>
          <p:nvPr/>
        </p:nvPicPr>
        <p:blipFill>
          <a:blip r:embed="rId6"/>
          <a:stretch>
            <a:fillRect/>
          </a:stretch>
        </p:blipFill>
        <p:spPr>
          <a:xfrm>
            <a:off x="6604063" y="4082071"/>
            <a:ext cx="2076641" cy="1496728"/>
          </a:xfrm>
          <a:prstGeom prst="rect">
            <a:avLst/>
          </a:prstGeom>
        </p:spPr>
      </p:pic>
      <p:sp>
        <p:nvSpPr>
          <p:cNvPr id="6" name="Rectángulo 5">
            <a:extLst>
              <a:ext uri="{FF2B5EF4-FFF2-40B4-BE49-F238E27FC236}">
                <a16:creationId xmlns:a16="http://schemas.microsoft.com/office/drawing/2014/main" id="{0DD666BF-3A30-4C93-B847-9012B1D92C73}"/>
              </a:ext>
            </a:extLst>
          </p:cNvPr>
          <p:cNvSpPr/>
          <p:nvPr/>
        </p:nvSpPr>
        <p:spPr>
          <a:xfrm>
            <a:off x="143201" y="641607"/>
            <a:ext cx="8950481" cy="523220"/>
          </a:xfrm>
          <a:prstGeom prst="rect">
            <a:avLst/>
          </a:prstGeom>
        </p:spPr>
        <p:txBody>
          <a:bodyPr wrap="square">
            <a:spAutoFit/>
          </a:bodyPr>
          <a:lstStyle/>
          <a:p>
            <a:r>
              <a:rPr lang="es-ES" sz="1400" dirty="0">
                <a:solidFill>
                  <a:srgbClr val="3A3A3A"/>
                </a:solidFill>
                <a:latin typeface="Arial" panose="020B0604020202020204" pitchFamily="34" charset="0"/>
                <a:cs typeface="Arial" panose="020B0604020202020204" pitchFamily="34" charset="0"/>
              </a:rPr>
              <a:t>Tienen gran aplicación en la monitorización de la calidad del aire en interiores, hasta la creación de detectores de gas personalizados para entornos domésticos y comerciales</a:t>
            </a:r>
            <a:endParaRPr lang="es-US" sz="1400" dirty="0">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A39E140D-560D-4A46-A036-83EBFD4C363D}"/>
              </a:ext>
            </a:extLst>
          </p:cNvPr>
          <p:cNvPicPr>
            <a:picLocks noChangeAspect="1"/>
          </p:cNvPicPr>
          <p:nvPr/>
        </p:nvPicPr>
        <p:blipFill>
          <a:blip r:embed="rId7"/>
          <a:stretch>
            <a:fillRect/>
          </a:stretch>
        </p:blipFill>
        <p:spPr>
          <a:xfrm>
            <a:off x="463296" y="3852610"/>
            <a:ext cx="2743015" cy="1777473"/>
          </a:xfrm>
          <a:prstGeom prst="rect">
            <a:avLst/>
          </a:prstGeom>
        </p:spPr>
      </p:pic>
    </p:spTree>
    <p:custDataLst>
      <p:tags r:id="rId1"/>
    </p:custDataLst>
    <p:extLst>
      <p:ext uri="{BB962C8B-B14F-4D97-AF65-F5344CB8AC3E}">
        <p14:creationId xmlns:p14="http://schemas.microsoft.com/office/powerpoint/2010/main" val="1141744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www.mikroe.com</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19</a:t>
            </a:fld>
            <a:endParaRPr lang="es-CO" sz="1200" dirty="0">
              <a:solidFill>
                <a:schemeClr val="bg1"/>
              </a:solidFill>
            </a:endParaRPr>
          </a:p>
        </p:txBody>
      </p:sp>
      <p:sp>
        <p:nvSpPr>
          <p:cNvPr id="13" name="Rectángulo 12">
            <a:extLst>
              <a:ext uri="{FF2B5EF4-FFF2-40B4-BE49-F238E27FC236}">
                <a16:creationId xmlns:a16="http://schemas.microsoft.com/office/drawing/2014/main" id="{9B5E1A33-DD26-441E-AFDD-F9E157E69E58}"/>
              </a:ext>
            </a:extLst>
          </p:cNvPr>
          <p:cNvSpPr/>
          <p:nvPr/>
        </p:nvSpPr>
        <p:spPr>
          <a:xfrm>
            <a:off x="3932004" y="80603"/>
            <a:ext cx="4955189" cy="338554"/>
          </a:xfrm>
          <a:prstGeom prst="rect">
            <a:avLst/>
          </a:prstGeom>
          <a:ln>
            <a:noFill/>
          </a:ln>
        </p:spPr>
        <p:txBody>
          <a:bodyPr wrap="square">
            <a:spAutoFit/>
          </a:bodyPr>
          <a:lstStyle/>
          <a:p>
            <a:r>
              <a:rPr lang="en-US" sz="1600" b="1" dirty="0" err="1">
                <a:solidFill>
                  <a:srgbClr val="2C5697"/>
                </a:solidFill>
              </a:rPr>
              <a:t>Sensores</a:t>
            </a:r>
            <a:r>
              <a:rPr lang="en-US" sz="1600" b="1" dirty="0">
                <a:solidFill>
                  <a:srgbClr val="2C5697"/>
                </a:solidFill>
              </a:rPr>
              <a:t> de Gas</a:t>
            </a:r>
            <a:endParaRPr lang="es-CO" sz="1600" b="1" dirty="0">
              <a:solidFill>
                <a:srgbClr val="2C5697"/>
              </a:solidFill>
            </a:endParaRPr>
          </a:p>
        </p:txBody>
      </p:sp>
      <p:sp>
        <p:nvSpPr>
          <p:cNvPr id="6" name="Rectángulo 5">
            <a:extLst>
              <a:ext uri="{FF2B5EF4-FFF2-40B4-BE49-F238E27FC236}">
                <a16:creationId xmlns:a16="http://schemas.microsoft.com/office/drawing/2014/main" id="{0DD666BF-3A30-4C93-B847-9012B1D92C73}"/>
              </a:ext>
            </a:extLst>
          </p:cNvPr>
          <p:cNvSpPr/>
          <p:nvPr/>
        </p:nvSpPr>
        <p:spPr>
          <a:xfrm>
            <a:off x="143201" y="748772"/>
            <a:ext cx="8950481" cy="523220"/>
          </a:xfrm>
          <a:prstGeom prst="rect">
            <a:avLst/>
          </a:prstGeom>
        </p:spPr>
        <p:txBody>
          <a:bodyPr wrap="square">
            <a:spAutoFit/>
          </a:bodyPr>
          <a:lstStyle/>
          <a:p>
            <a:r>
              <a:rPr lang="en-US" sz="1400" dirty="0">
                <a:solidFill>
                  <a:srgbClr val="3A3A3A"/>
                </a:solidFill>
                <a:latin typeface="Arial" panose="020B0604020202020204" pitchFamily="34" charset="0"/>
                <a:cs typeface="Arial" panose="020B0604020202020204" pitchFamily="34" charset="0"/>
              </a:rPr>
              <a:t>Methane click™ is a simple solution for adding a high sensitivity methane (CH4) sensor to your design. It’s  suitable for designing gas leakage equipment.</a:t>
            </a:r>
            <a:endParaRPr lang="es-US" sz="1400" dirty="0">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76DE6A37-B03F-4D1D-9478-5998391B1B27}"/>
              </a:ext>
            </a:extLst>
          </p:cNvPr>
          <p:cNvPicPr>
            <a:picLocks noChangeAspect="1"/>
          </p:cNvPicPr>
          <p:nvPr/>
        </p:nvPicPr>
        <p:blipFill>
          <a:blip r:embed="rId4"/>
          <a:stretch>
            <a:fillRect/>
          </a:stretch>
        </p:blipFill>
        <p:spPr>
          <a:xfrm>
            <a:off x="261463" y="2937422"/>
            <a:ext cx="2561998" cy="2108912"/>
          </a:xfrm>
          <a:prstGeom prst="rect">
            <a:avLst/>
          </a:prstGeom>
        </p:spPr>
      </p:pic>
      <p:pic>
        <p:nvPicPr>
          <p:cNvPr id="8" name="Imagen 7">
            <a:extLst>
              <a:ext uri="{FF2B5EF4-FFF2-40B4-BE49-F238E27FC236}">
                <a16:creationId xmlns:a16="http://schemas.microsoft.com/office/drawing/2014/main" id="{E4E16795-EEED-491E-87DD-1857406090EA}"/>
              </a:ext>
            </a:extLst>
          </p:cNvPr>
          <p:cNvPicPr>
            <a:picLocks noChangeAspect="1"/>
          </p:cNvPicPr>
          <p:nvPr/>
        </p:nvPicPr>
        <p:blipFill>
          <a:blip r:embed="rId5"/>
          <a:stretch>
            <a:fillRect/>
          </a:stretch>
        </p:blipFill>
        <p:spPr>
          <a:xfrm>
            <a:off x="3442062" y="1727770"/>
            <a:ext cx="4999192" cy="2339122"/>
          </a:xfrm>
          <a:prstGeom prst="rect">
            <a:avLst/>
          </a:prstGeom>
        </p:spPr>
      </p:pic>
      <p:pic>
        <p:nvPicPr>
          <p:cNvPr id="9" name="Imagen 8">
            <a:extLst>
              <a:ext uri="{FF2B5EF4-FFF2-40B4-BE49-F238E27FC236}">
                <a16:creationId xmlns:a16="http://schemas.microsoft.com/office/drawing/2014/main" id="{B886B296-84B6-4CFC-A5C6-3B6E00CF22CE}"/>
              </a:ext>
            </a:extLst>
          </p:cNvPr>
          <p:cNvPicPr>
            <a:picLocks noChangeAspect="1"/>
          </p:cNvPicPr>
          <p:nvPr/>
        </p:nvPicPr>
        <p:blipFill>
          <a:blip r:embed="rId6"/>
          <a:stretch>
            <a:fillRect/>
          </a:stretch>
        </p:blipFill>
        <p:spPr>
          <a:xfrm>
            <a:off x="7083585" y="4242774"/>
            <a:ext cx="1514687" cy="1314634"/>
          </a:xfrm>
          <a:prstGeom prst="rect">
            <a:avLst/>
          </a:prstGeom>
        </p:spPr>
      </p:pic>
    </p:spTree>
    <p:custDataLst>
      <p:tags r:id="rId1"/>
    </p:custDataLst>
    <p:extLst>
      <p:ext uri="{BB962C8B-B14F-4D97-AF65-F5344CB8AC3E}">
        <p14:creationId xmlns:p14="http://schemas.microsoft.com/office/powerpoint/2010/main" val="1096225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https://detectoresgas.com/formato/sensores-mq/</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20</a:t>
            </a:fld>
            <a:endParaRPr lang="es-CO" sz="1200" dirty="0">
              <a:solidFill>
                <a:schemeClr val="bg1"/>
              </a:solidFill>
            </a:endParaRPr>
          </a:p>
        </p:txBody>
      </p:sp>
      <p:sp>
        <p:nvSpPr>
          <p:cNvPr id="13" name="Rectángulo 12">
            <a:extLst>
              <a:ext uri="{FF2B5EF4-FFF2-40B4-BE49-F238E27FC236}">
                <a16:creationId xmlns:a16="http://schemas.microsoft.com/office/drawing/2014/main" id="{9B5E1A33-DD26-441E-AFDD-F9E157E69E58}"/>
              </a:ext>
            </a:extLst>
          </p:cNvPr>
          <p:cNvSpPr/>
          <p:nvPr/>
        </p:nvSpPr>
        <p:spPr>
          <a:xfrm>
            <a:off x="3932004" y="80603"/>
            <a:ext cx="4955189" cy="338554"/>
          </a:xfrm>
          <a:prstGeom prst="rect">
            <a:avLst/>
          </a:prstGeom>
          <a:ln>
            <a:noFill/>
          </a:ln>
        </p:spPr>
        <p:txBody>
          <a:bodyPr wrap="square">
            <a:spAutoFit/>
          </a:bodyPr>
          <a:lstStyle/>
          <a:p>
            <a:r>
              <a:rPr lang="en-US" sz="1600" b="1" dirty="0" err="1">
                <a:solidFill>
                  <a:srgbClr val="2C5697"/>
                </a:solidFill>
              </a:rPr>
              <a:t>Sensores</a:t>
            </a:r>
            <a:r>
              <a:rPr lang="en-US" sz="1600" b="1" dirty="0">
                <a:solidFill>
                  <a:srgbClr val="2C5697"/>
                </a:solidFill>
              </a:rPr>
              <a:t> de Gas</a:t>
            </a:r>
            <a:endParaRPr lang="es-CO" sz="1600" b="1" dirty="0">
              <a:solidFill>
                <a:srgbClr val="2C5697"/>
              </a:solidFill>
            </a:endParaRPr>
          </a:p>
        </p:txBody>
      </p:sp>
      <p:pic>
        <p:nvPicPr>
          <p:cNvPr id="2" name="Imagen 1">
            <a:extLst>
              <a:ext uri="{FF2B5EF4-FFF2-40B4-BE49-F238E27FC236}">
                <a16:creationId xmlns:a16="http://schemas.microsoft.com/office/drawing/2014/main" id="{E7FEA671-0359-47F1-AD7F-B2EDFFA54505}"/>
              </a:ext>
            </a:extLst>
          </p:cNvPr>
          <p:cNvPicPr>
            <a:picLocks noChangeAspect="1"/>
          </p:cNvPicPr>
          <p:nvPr/>
        </p:nvPicPr>
        <p:blipFill>
          <a:blip r:embed="rId4"/>
          <a:stretch>
            <a:fillRect/>
          </a:stretch>
        </p:blipFill>
        <p:spPr>
          <a:xfrm>
            <a:off x="1416005" y="648319"/>
            <a:ext cx="5788358" cy="1688271"/>
          </a:xfrm>
          <a:prstGeom prst="rect">
            <a:avLst/>
          </a:prstGeom>
        </p:spPr>
      </p:pic>
      <p:pic>
        <p:nvPicPr>
          <p:cNvPr id="4" name="Imagen 3">
            <a:extLst>
              <a:ext uri="{FF2B5EF4-FFF2-40B4-BE49-F238E27FC236}">
                <a16:creationId xmlns:a16="http://schemas.microsoft.com/office/drawing/2014/main" id="{57D90A84-77E3-4949-903B-C882C0F43B60}"/>
              </a:ext>
            </a:extLst>
          </p:cNvPr>
          <p:cNvPicPr>
            <a:picLocks noChangeAspect="1"/>
          </p:cNvPicPr>
          <p:nvPr/>
        </p:nvPicPr>
        <p:blipFill>
          <a:blip r:embed="rId5"/>
          <a:stretch>
            <a:fillRect/>
          </a:stretch>
        </p:blipFill>
        <p:spPr>
          <a:xfrm>
            <a:off x="3380207" y="3237967"/>
            <a:ext cx="5763793" cy="1882581"/>
          </a:xfrm>
          <a:prstGeom prst="rect">
            <a:avLst/>
          </a:prstGeom>
        </p:spPr>
      </p:pic>
      <p:pic>
        <p:nvPicPr>
          <p:cNvPr id="5" name="Imagen 4">
            <a:extLst>
              <a:ext uri="{FF2B5EF4-FFF2-40B4-BE49-F238E27FC236}">
                <a16:creationId xmlns:a16="http://schemas.microsoft.com/office/drawing/2014/main" id="{0F551FEA-766B-4B98-B1DD-CAFFB0C4C081}"/>
              </a:ext>
            </a:extLst>
          </p:cNvPr>
          <p:cNvPicPr>
            <a:picLocks noChangeAspect="1"/>
          </p:cNvPicPr>
          <p:nvPr/>
        </p:nvPicPr>
        <p:blipFill>
          <a:blip r:embed="rId6"/>
          <a:stretch>
            <a:fillRect/>
          </a:stretch>
        </p:blipFill>
        <p:spPr>
          <a:xfrm>
            <a:off x="50318" y="2632363"/>
            <a:ext cx="3351692" cy="3084448"/>
          </a:xfrm>
          <a:prstGeom prst="rect">
            <a:avLst/>
          </a:prstGeom>
        </p:spPr>
      </p:pic>
    </p:spTree>
    <p:custDataLst>
      <p:tags r:id="rId1"/>
    </p:custDataLst>
    <p:extLst>
      <p:ext uri="{BB962C8B-B14F-4D97-AF65-F5344CB8AC3E}">
        <p14:creationId xmlns:p14="http://schemas.microsoft.com/office/powerpoint/2010/main" val="3312461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098F0B-DAF5-4E70-953D-BE166AF73495}"/>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1938AE9C-E59B-284E-6714-F0B88D17B0DD}"/>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3BEE60A2-2D40-CF11-D91C-5699F2A5E84D}"/>
              </a:ext>
            </a:extLst>
          </p:cNvPr>
          <p:cNvSpPr txBox="1"/>
          <p:nvPr/>
        </p:nvSpPr>
        <p:spPr>
          <a:xfrm>
            <a:off x="21249" y="5909173"/>
            <a:ext cx="7293951"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https://detectoresgas.com/formato/sensores-mq/</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D1559BF1-1E11-0069-7165-46B287A87213}"/>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Instrumentación para la agroindustria</a:t>
            </a:r>
            <a:endParaRPr lang="en-US" dirty="0">
              <a:solidFill>
                <a:schemeClr val="bg1"/>
              </a:solidFill>
            </a:endParaRPr>
          </a:p>
        </p:txBody>
      </p:sp>
      <p:sp>
        <p:nvSpPr>
          <p:cNvPr id="12" name="Rectángulo 6">
            <a:extLst>
              <a:ext uri="{FF2B5EF4-FFF2-40B4-BE49-F238E27FC236}">
                <a16:creationId xmlns:a16="http://schemas.microsoft.com/office/drawing/2014/main" id="{038843CF-AB71-DC3A-50BF-730F5D5F294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Electrónica para agricultura</a:t>
            </a:r>
            <a:endParaRPr lang="en-US" dirty="0"/>
          </a:p>
        </p:txBody>
      </p:sp>
      <p:sp>
        <p:nvSpPr>
          <p:cNvPr id="18" name="Marcador de número de diapositiva 3">
            <a:extLst>
              <a:ext uri="{FF2B5EF4-FFF2-40B4-BE49-F238E27FC236}">
                <a16:creationId xmlns:a16="http://schemas.microsoft.com/office/drawing/2014/main" id="{1EA8D9A1-4DBB-400D-302E-F1A7B6A37C6A}"/>
              </a:ext>
            </a:extLst>
          </p:cNvPr>
          <p:cNvSpPr txBox="1">
            <a:spLocks/>
          </p:cNvSpPr>
          <p:nvPr/>
        </p:nvSpPr>
        <p:spPr>
          <a:xfrm>
            <a:off x="8680704" y="5885920"/>
            <a:ext cx="412978"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21</a:t>
            </a:fld>
            <a:endParaRPr lang="es-CO" sz="1200" dirty="0">
              <a:solidFill>
                <a:schemeClr val="bg1"/>
              </a:solidFill>
            </a:endParaRPr>
          </a:p>
        </p:txBody>
      </p:sp>
      <p:pic>
        <p:nvPicPr>
          <p:cNvPr id="2050" name="Picture 2" descr="Refer to caption">
            <a:extLst>
              <a:ext uri="{FF2B5EF4-FFF2-40B4-BE49-F238E27FC236}">
                <a16:creationId xmlns:a16="http://schemas.microsoft.com/office/drawing/2014/main" id="{66C81E17-A8A6-07E7-078C-E4AC4F55C4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9" y="565168"/>
            <a:ext cx="9144000" cy="43481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E272112C-0692-6E6E-33F9-18A0DB2E3A31}"/>
              </a:ext>
            </a:extLst>
          </p:cNvPr>
          <p:cNvPicPr>
            <a:picLocks noChangeAspect="1"/>
          </p:cNvPicPr>
          <p:nvPr/>
        </p:nvPicPr>
        <p:blipFill>
          <a:blip r:embed="rId5"/>
          <a:stretch>
            <a:fillRect/>
          </a:stretch>
        </p:blipFill>
        <p:spPr>
          <a:xfrm>
            <a:off x="-2262" y="4964113"/>
            <a:ext cx="4473677" cy="861172"/>
          </a:xfrm>
          <a:prstGeom prst="rect">
            <a:avLst/>
          </a:prstGeom>
        </p:spPr>
      </p:pic>
      <p:sp>
        <p:nvSpPr>
          <p:cNvPr id="8" name="Estrella: 5 puntas 7">
            <a:hlinkClick r:id="rId6"/>
            <a:extLst>
              <a:ext uri="{FF2B5EF4-FFF2-40B4-BE49-F238E27FC236}">
                <a16:creationId xmlns:a16="http://schemas.microsoft.com/office/drawing/2014/main" id="{ED330376-608B-6BAD-CE0A-EA77B5E0B548}"/>
              </a:ext>
            </a:extLst>
          </p:cNvPr>
          <p:cNvSpPr/>
          <p:nvPr/>
        </p:nvSpPr>
        <p:spPr>
          <a:xfrm>
            <a:off x="3221901" y="-2892"/>
            <a:ext cx="294968" cy="424883"/>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14970197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ags/tag17.xml><?xml version="1.0" encoding="utf-8"?>
<p:tagLst xmlns:a="http://schemas.openxmlformats.org/drawingml/2006/main" xmlns:r="http://schemas.openxmlformats.org/officeDocument/2006/relationships" xmlns:p="http://schemas.openxmlformats.org/presentationml/2006/main">
  <p:tag name="TIMING" val="|2.7"/>
</p:tagLst>
</file>

<file path=ppt/tags/tag18.xml><?xml version="1.0" encoding="utf-8"?>
<p:tagLst xmlns:a="http://schemas.openxmlformats.org/drawingml/2006/main" xmlns:r="http://schemas.openxmlformats.org/officeDocument/2006/relationships" xmlns:p="http://schemas.openxmlformats.org/presentationml/2006/main">
  <p:tag name="TIMING" val="|2.7"/>
</p:tagLst>
</file>

<file path=ppt/tags/tag19.xml><?xml version="1.0" encoding="utf-8"?>
<p:tagLst xmlns:a="http://schemas.openxmlformats.org/drawingml/2006/main" xmlns:r="http://schemas.openxmlformats.org/officeDocument/2006/relationships" xmlns:p="http://schemas.openxmlformats.org/presentationml/2006/main">
  <p:tag name="TIMING" val="|2.7"/>
</p:tagLst>
</file>

<file path=ppt/tags/tag20.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3.xml><?xml version="1.0" encoding="utf-8"?>
<ds:datastoreItem xmlns:ds="http://schemas.openxmlformats.org/officeDocument/2006/customXml" ds:itemID="{BEF68008-267B-42B0-9C9F-2DD9B1D5EE7A}">
  <ds:schemaRefs>
    <ds:schemaRef ds:uri="http://purl.org/dc/dcmitype/"/>
    <ds:schemaRef ds:uri="http://www.w3.org/XML/1998/namespace"/>
    <ds:schemaRef ds:uri="http://schemas.openxmlformats.org/package/2006/metadata/core-properties"/>
    <ds:schemaRef ds:uri="http://purl.org/dc/elements/1.1/"/>
    <ds:schemaRef ds:uri="http://purl.org/dc/terms/"/>
    <ds:schemaRef ds:uri="http://schemas.microsoft.com/office/2006/metadata/properties"/>
    <ds:schemaRef ds:uri="http://schemas.microsoft.com/office/2006/documentManagement/types"/>
    <ds:schemaRef ds:uri="http://schemas.microsoft.com/office/infopath/2007/PartnerControls"/>
    <ds:schemaRef ds:uri="c0c46fdd-2a6c-49f1-bb4d-a6e06b52ee64"/>
  </ds:schemaRefs>
</ds:datastoreItem>
</file>

<file path=docProps/app.xml><?xml version="1.0" encoding="utf-8"?>
<Properties xmlns="http://schemas.openxmlformats.org/officeDocument/2006/extended-properties" xmlns:vt="http://schemas.openxmlformats.org/officeDocument/2006/docPropsVTypes">
  <Template/>
  <TotalTime>1898</TotalTime>
  <Words>1075</Words>
  <Application>Microsoft Office PowerPoint</Application>
  <PresentationFormat>Presentación en pantalla (4:3)</PresentationFormat>
  <Paragraphs>129</Paragraphs>
  <Slides>21</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Wingdings</vt:lpstr>
      <vt:lpstr>Tema de Office</vt:lpstr>
      <vt:lpstr>Instrumentación para la agroindustria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Instrumentación Agro</dc:title>
  <dc:creator>Jenny Rojas</dc:creator>
  <cp:lastModifiedBy>Pedro Antonio Aya Parra</cp:lastModifiedBy>
  <cp:revision>1820</cp:revision>
  <dcterms:created xsi:type="dcterms:W3CDTF">2018-06-28T02:15:01Z</dcterms:created>
  <dcterms:modified xsi:type="dcterms:W3CDTF">2025-11-14T02:43:57Z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