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6" r:id="rId5"/>
    <p:sldId id="306" r:id="rId6"/>
    <p:sldId id="308" r:id="rId7"/>
    <p:sldId id="309" r:id="rId8"/>
    <p:sldId id="310" r:id="rId9"/>
    <p:sldId id="307" r:id="rId10"/>
    <p:sldId id="287" r:id="rId11"/>
    <p:sldId id="299" r:id="rId12"/>
    <p:sldId id="300" r:id="rId13"/>
    <p:sldId id="289" r:id="rId14"/>
    <p:sldId id="290" r:id="rId15"/>
    <p:sldId id="304" r:id="rId16"/>
    <p:sldId id="292" r:id="rId17"/>
    <p:sldId id="293" r:id="rId18"/>
    <p:sldId id="295" r:id="rId19"/>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5" autoAdjust="0"/>
    <p:restoredTop sz="94660"/>
  </p:normalViewPr>
  <p:slideViewPr>
    <p:cSldViewPr snapToGrid="0" snapToObjects="1">
      <p:cViewPr varScale="1">
        <p:scale>
          <a:sx n="64" d="100"/>
          <a:sy n="64" d="100"/>
        </p:scale>
        <p:origin x="1680"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9/02/2026</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09/02/2026</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5163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E9E83-DF47-910E-8462-C0B9BE19A4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79F602-0A53-759C-BA03-2243BCF9C831}"/>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D11D5181-6F62-D248-611E-18257BB9AD04}"/>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1B9F109A-F357-C521-B3D5-3462A70602F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8905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C1B15-C4A2-762A-8499-08118C902B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19AF95-967F-B987-53DC-F05D047FC3A7}"/>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53640ECB-1C1C-16DD-B4E0-35856373250D}"/>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575B86F2-8C4E-1EED-C959-C2FDE3A5E05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4005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EED2E-2049-FECC-1BEE-5594BF133B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5265FC-FEC1-9AE0-027F-B9E051DBD86F}"/>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002CDC38-70CF-5BF5-8C2A-A0C677EF6066}"/>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D072999D-E6E4-EAFD-0601-E1A6C1451F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9939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0AB25-2C57-574D-F62A-58FC5FB5D5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F0B158-CEFF-0DD5-2D6A-D377AB521814}"/>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F015F1B8-32F1-4612-BB98-FD92EED2C92F}"/>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DE0F6602-3C61-D03D-F690-E0351322F43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6931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1379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4346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3876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0563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549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3640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065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8758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3514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5">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png"/><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10.pn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4.xml"/><Relationship Id="rId7" Type="http://schemas.openxmlformats.org/officeDocument/2006/relationships/image" Target="../media/image120.png"/><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image" Target="../media/image110.png"/><Relationship Id="rId5" Type="http://schemas.openxmlformats.org/officeDocument/2006/relationships/image" Target="../media/image6.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5.xml"/><Relationship Id="rId7" Type="http://schemas.openxmlformats.org/officeDocument/2006/relationships/image" Target="../media/image17.png"/><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image" Target="../media/image16.png"/><Relationship Id="rId11" Type="http://schemas.openxmlformats.org/officeDocument/2006/relationships/image" Target="../media/image21.jpeg"/><Relationship Id="rId5" Type="http://schemas.openxmlformats.org/officeDocument/2006/relationships/image" Target="../media/image15.png"/><Relationship Id="rId10" Type="http://schemas.openxmlformats.org/officeDocument/2006/relationships/image" Target="../media/image20.jpeg"/><Relationship Id="rId4" Type="http://schemas.openxmlformats.org/officeDocument/2006/relationships/image" Target="../media/image14.png"/><Relationship Id="rId9"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25.png"/><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32.png"/><Relationship Id="rId2" Type="http://schemas.openxmlformats.org/officeDocument/2006/relationships/slideLayout" Target="../slideLayouts/slideLayout4.xml"/><Relationship Id="rId1" Type="http://schemas.openxmlformats.org/officeDocument/2006/relationships/tags" Target="../tags/tag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9.xml"/><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notesSlide" Target="../notesSlides/notesSlide10.xml"/><Relationship Id="rId7" Type="http://schemas.openxmlformats.org/officeDocument/2006/relationships/image" Target="../media/image38.png"/><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notesSlide" Target="../notesSlides/notesSlide11.xml"/><Relationship Id="rId7" Type="http://schemas.openxmlformats.org/officeDocument/2006/relationships/image" Target="../media/image45.png"/><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38.png"/><Relationship Id="rId9" Type="http://schemas.openxmlformats.org/officeDocument/2006/relationships/image" Target="../media/image47.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notesSlide" Target="../notesSlides/notesSlide12.xml"/><Relationship Id="rId7" Type="http://schemas.openxmlformats.org/officeDocument/2006/relationships/image" Target="../media/image51.png"/><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notesSlide" Target="../notesSlides/notesSlide13.xml"/><Relationship Id="rId7" Type="http://schemas.openxmlformats.org/officeDocument/2006/relationships/image" Target="../media/image57.png"/><Relationship Id="rId2" Type="http://schemas.openxmlformats.org/officeDocument/2006/relationships/slideLayout" Target="../slideLayouts/slideLayout4.xml"/><Relationship Id="rId1" Type="http://schemas.openxmlformats.org/officeDocument/2006/relationships/tags" Target="../tags/tag1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 Id="rId5" Type="http://schemas.openxmlformats.org/officeDocument/2006/relationships/image" Target="../media/image60.jpeg"/><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920240" y="3770313"/>
            <a:ext cx="5303520" cy="786057"/>
          </a:xfrm>
        </p:spPr>
        <p:txBody>
          <a:bodyPr>
            <a:normAutofit/>
          </a:bodyPr>
          <a:lstStyle/>
          <a:p>
            <a:pPr algn="ctr"/>
            <a:r>
              <a:rPr lang="es-ES_tradnl" sz="2800" dirty="0"/>
              <a:t>Filtros pasivos</a:t>
            </a:r>
            <a:endParaRPr lang="es-ES_tradnl" sz="2800" b="1" dirty="0">
              <a:solidFill>
                <a:srgbClr val="2C5697"/>
              </a:solidFill>
              <a:latin typeface="Arial"/>
              <a:cs typeface="Arial"/>
            </a:endParaRP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Decibeles</a:t>
            </a:r>
            <a:endParaRPr lang="en-US" dirty="0"/>
          </a:p>
        </p:txBody>
      </p:sp>
      <p:sp>
        <p:nvSpPr>
          <p:cNvPr id="18" name="Marcador de número de diapositiva 3">
            <a:extLst>
              <a:ext uri="{FF2B5EF4-FFF2-40B4-BE49-F238E27FC236}">
                <a16:creationId xmlns:a16="http://schemas.microsoft.com/office/drawing/2014/main" id="{3E291EB3-14FB-4CB4-94CD-C05310F2F6FC}"/>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sp>
        <p:nvSpPr>
          <p:cNvPr id="19" name="Título 1">
            <a:extLst>
              <a:ext uri="{FF2B5EF4-FFF2-40B4-BE49-F238E27FC236}">
                <a16:creationId xmlns:a16="http://schemas.microsoft.com/office/drawing/2014/main" id="{57E5F6E8-827C-4FA4-83E0-3BA309A21C7E}"/>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
        <p:nvSpPr>
          <p:cNvPr id="3" name="CuadroTexto 9">
            <a:extLst>
              <a:ext uri="{FF2B5EF4-FFF2-40B4-BE49-F238E27FC236}">
                <a16:creationId xmlns:a16="http://schemas.microsoft.com/office/drawing/2014/main" id="{52506DA4-5F0F-E424-DB49-A55767E24E55}"/>
              </a:ext>
            </a:extLst>
          </p:cNvPr>
          <p:cNvSpPr txBox="1"/>
          <p:nvPr/>
        </p:nvSpPr>
        <p:spPr>
          <a:xfrm>
            <a:off x="21248" y="609144"/>
            <a:ext cx="6538223" cy="646331"/>
          </a:xfrm>
          <a:prstGeom prst="rect">
            <a:avLst/>
          </a:prstGeom>
          <a:noFill/>
        </p:spPr>
        <p:txBody>
          <a:bodyPr wrap="square" lIns="91440" tIns="45720" rIns="91440" bIns="45720" anchor="t">
            <a:spAutoFit/>
          </a:bodyPr>
          <a:lstStyle/>
          <a:p>
            <a:pPr marL="285750" indent="-285750">
              <a:buFont typeface="Arial"/>
              <a:buChar char="•"/>
            </a:pPr>
            <a:r>
              <a:rPr lang="es-ES" sz="1200" dirty="0">
                <a:ea typeface="+mn-lt"/>
                <a:cs typeface="+mn-lt"/>
              </a:rPr>
              <a:t>Los decibelios se utilizan para hallar la diferencia entre dos o más magnitudes, como es el caso de voltajes, corrientes, potencias.</a:t>
            </a:r>
          </a:p>
          <a:p>
            <a:pPr marL="285750" indent="-285750">
              <a:buFont typeface="Arial"/>
              <a:buChar char="•"/>
            </a:pPr>
            <a:endParaRPr lang="es-MX" sz="1200" dirty="0">
              <a:ea typeface="+mn-lt"/>
              <a:cs typeface="+mn-lt"/>
            </a:endParaRPr>
          </a:p>
        </p:txBody>
      </p:sp>
      <p:pic>
        <p:nvPicPr>
          <p:cNvPr id="25" name="Imagen 24">
            <a:extLst>
              <a:ext uri="{FF2B5EF4-FFF2-40B4-BE49-F238E27FC236}">
                <a16:creationId xmlns:a16="http://schemas.microsoft.com/office/drawing/2014/main" id="{BB1F0ECE-2F49-5561-D04C-349634A4F8A0}"/>
              </a:ext>
            </a:extLst>
          </p:cNvPr>
          <p:cNvPicPr>
            <a:picLocks noChangeAspect="1"/>
          </p:cNvPicPr>
          <p:nvPr/>
        </p:nvPicPr>
        <p:blipFill>
          <a:blip r:embed="rId4"/>
          <a:stretch>
            <a:fillRect/>
          </a:stretch>
        </p:blipFill>
        <p:spPr>
          <a:xfrm>
            <a:off x="563802" y="1492114"/>
            <a:ext cx="2272763" cy="1750713"/>
          </a:xfrm>
          <a:prstGeom prst="rect">
            <a:avLst/>
          </a:prstGeom>
        </p:spPr>
      </p:pic>
      <p:pic>
        <p:nvPicPr>
          <p:cNvPr id="27" name="Imagen 26">
            <a:extLst>
              <a:ext uri="{FF2B5EF4-FFF2-40B4-BE49-F238E27FC236}">
                <a16:creationId xmlns:a16="http://schemas.microsoft.com/office/drawing/2014/main" id="{020DFC3A-296C-4209-9B3E-1479A5F3A458}"/>
              </a:ext>
            </a:extLst>
          </p:cNvPr>
          <p:cNvPicPr>
            <a:picLocks noChangeAspect="1"/>
          </p:cNvPicPr>
          <p:nvPr/>
        </p:nvPicPr>
        <p:blipFill>
          <a:blip r:embed="rId5"/>
          <a:srcRect r="15259"/>
          <a:stretch>
            <a:fillRect/>
          </a:stretch>
        </p:blipFill>
        <p:spPr>
          <a:xfrm>
            <a:off x="5023695" y="1813206"/>
            <a:ext cx="2272763" cy="985653"/>
          </a:xfrm>
          <a:prstGeom prst="rect">
            <a:avLst/>
          </a:prstGeom>
        </p:spPr>
      </p:pic>
      <p:sp>
        <p:nvSpPr>
          <p:cNvPr id="29" name="CuadroTexto 28">
            <a:extLst>
              <a:ext uri="{FF2B5EF4-FFF2-40B4-BE49-F238E27FC236}">
                <a16:creationId xmlns:a16="http://schemas.microsoft.com/office/drawing/2014/main" id="{B79A4F26-DB9E-F63B-76DE-BE0272A76760}"/>
              </a:ext>
            </a:extLst>
          </p:cNvPr>
          <p:cNvSpPr txBox="1"/>
          <p:nvPr/>
        </p:nvSpPr>
        <p:spPr>
          <a:xfrm>
            <a:off x="7411915" y="2211084"/>
            <a:ext cx="548548" cy="369332"/>
          </a:xfrm>
          <a:prstGeom prst="rect">
            <a:avLst/>
          </a:prstGeom>
          <a:noFill/>
        </p:spPr>
        <p:txBody>
          <a:bodyPr wrap="none" rtlCol="0">
            <a:spAutoFit/>
          </a:bodyPr>
          <a:lstStyle/>
          <a:p>
            <a:r>
              <a:rPr lang="es-ES" dirty="0"/>
              <a:t>0dB</a:t>
            </a:r>
            <a:endParaRPr lang="es-CO" dirty="0"/>
          </a:p>
        </p:txBody>
      </p:sp>
      <p:sp>
        <p:nvSpPr>
          <p:cNvPr id="30" name="CuadroTexto 29">
            <a:extLst>
              <a:ext uri="{FF2B5EF4-FFF2-40B4-BE49-F238E27FC236}">
                <a16:creationId xmlns:a16="http://schemas.microsoft.com/office/drawing/2014/main" id="{5051227D-0968-6D55-7D1C-3F5B9748BC82}"/>
              </a:ext>
            </a:extLst>
          </p:cNvPr>
          <p:cNvSpPr txBox="1"/>
          <p:nvPr/>
        </p:nvSpPr>
        <p:spPr>
          <a:xfrm>
            <a:off x="5002890" y="1171525"/>
            <a:ext cx="2683299" cy="369332"/>
          </a:xfrm>
          <a:prstGeom prst="rect">
            <a:avLst/>
          </a:prstGeom>
          <a:noFill/>
        </p:spPr>
        <p:txBody>
          <a:bodyPr wrap="none" rtlCol="0">
            <a:spAutoFit/>
          </a:bodyPr>
          <a:lstStyle/>
          <a:p>
            <a:r>
              <a:rPr lang="es-ES" dirty="0"/>
              <a:t>Misma magnitud o voltaje</a:t>
            </a:r>
            <a:endParaRPr lang="es-CO" dirty="0"/>
          </a:p>
        </p:txBody>
      </p:sp>
      <p:pic>
        <p:nvPicPr>
          <p:cNvPr id="31" name="Imagen 30">
            <a:extLst>
              <a:ext uri="{FF2B5EF4-FFF2-40B4-BE49-F238E27FC236}">
                <a16:creationId xmlns:a16="http://schemas.microsoft.com/office/drawing/2014/main" id="{6FCA6CEF-537C-75F9-ACA4-8A758FB26044}"/>
              </a:ext>
            </a:extLst>
          </p:cNvPr>
          <p:cNvPicPr>
            <a:picLocks noChangeAspect="1"/>
          </p:cNvPicPr>
          <p:nvPr/>
        </p:nvPicPr>
        <p:blipFill>
          <a:blip r:embed="rId6"/>
          <a:stretch>
            <a:fillRect/>
          </a:stretch>
        </p:blipFill>
        <p:spPr>
          <a:xfrm>
            <a:off x="563802" y="3979170"/>
            <a:ext cx="2177370" cy="1721764"/>
          </a:xfrm>
          <a:prstGeom prst="rect">
            <a:avLst/>
          </a:prstGeom>
        </p:spPr>
      </p:pic>
      <p:sp>
        <p:nvSpPr>
          <p:cNvPr id="32" name="CuadroTexto 31">
            <a:extLst>
              <a:ext uri="{FF2B5EF4-FFF2-40B4-BE49-F238E27FC236}">
                <a16:creationId xmlns:a16="http://schemas.microsoft.com/office/drawing/2014/main" id="{F0CEB546-D257-D39B-0887-62EBCE25D205}"/>
              </a:ext>
            </a:extLst>
          </p:cNvPr>
          <p:cNvSpPr txBox="1"/>
          <p:nvPr/>
        </p:nvSpPr>
        <p:spPr>
          <a:xfrm>
            <a:off x="2892650" y="4170915"/>
            <a:ext cx="548548" cy="369332"/>
          </a:xfrm>
          <a:prstGeom prst="rect">
            <a:avLst/>
          </a:prstGeom>
          <a:noFill/>
        </p:spPr>
        <p:txBody>
          <a:bodyPr wrap="none" rtlCol="0">
            <a:spAutoFit/>
          </a:bodyPr>
          <a:lstStyle/>
          <a:p>
            <a:r>
              <a:rPr lang="es-ES" dirty="0"/>
              <a:t>0dB</a:t>
            </a:r>
            <a:endParaRPr lang="es-CO" dirty="0"/>
          </a:p>
        </p:txBody>
      </p:sp>
      <p:sp>
        <p:nvSpPr>
          <p:cNvPr id="34" name="CuadroTexto 33">
            <a:extLst>
              <a:ext uri="{FF2B5EF4-FFF2-40B4-BE49-F238E27FC236}">
                <a16:creationId xmlns:a16="http://schemas.microsoft.com/office/drawing/2014/main" id="{A8FE6C24-891A-AD69-CF89-9743DCFF6BCD}"/>
              </a:ext>
            </a:extLst>
          </p:cNvPr>
          <p:cNvSpPr txBox="1"/>
          <p:nvPr/>
        </p:nvSpPr>
        <p:spPr>
          <a:xfrm>
            <a:off x="2769219" y="5331602"/>
            <a:ext cx="671979" cy="369332"/>
          </a:xfrm>
          <a:prstGeom prst="rect">
            <a:avLst/>
          </a:prstGeom>
          <a:noFill/>
        </p:spPr>
        <p:txBody>
          <a:bodyPr wrap="none" rtlCol="0">
            <a:spAutoFit/>
          </a:bodyPr>
          <a:lstStyle/>
          <a:p>
            <a:r>
              <a:rPr lang="es-ES" dirty="0"/>
              <a:t>-6 dB</a:t>
            </a:r>
            <a:endParaRPr lang="es-CO" dirty="0"/>
          </a:p>
        </p:txBody>
      </p:sp>
      <p:pic>
        <p:nvPicPr>
          <p:cNvPr id="35" name="Imagen 34">
            <a:extLst>
              <a:ext uri="{FF2B5EF4-FFF2-40B4-BE49-F238E27FC236}">
                <a16:creationId xmlns:a16="http://schemas.microsoft.com/office/drawing/2014/main" id="{70D137D0-DE31-4D6F-A458-27D446A23A7D}"/>
              </a:ext>
            </a:extLst>
          </p:cNvPr>
          <p:cNvPicPr>
            <a:picLocks noChangeAspect="1"/>
          </p:cNvPicPr>
          <p:nvPr/>
        </p:nvPicPr>
        <p:blipFill>
          <a:blip r:embed="rId7"/>
          <a:stretch>
            <a:fillRect/>
          </a:stretch>
        </p:blipFill>
        <p:spPr>
          <a:xfrm>
            <a:off x="5041217" y="3513808"/>
            <a:ext cx="2264239" cy="2290691"/>
          </a:xfrm>
          <a:prstGeom prst="rect">
            <a:avLst/>
          </a:prstGeom>
        </p:spPr>
      </p:pic>
      <p:sp>
        <p:nvSpPr>
          <p:cNvPr id="36" name="CuadroTexto 35">
            <a:extLst>
              <a:ext uri="{FF2B5EF4-FFF2-40B4-BE49-F238E27FC236}">
                <a16:creationId xmlns:a16="http://schemas.microsoft.com/office/drawing/2014/main" id="{DB21B189-B817-EDBD-B9C6-52DAF584339D}"/>
              </a:ext>
            </a:extLst>
          </p:cNvPr>
          <p:cNvSpPr txBox="1"/>
          <p:nvPr/>
        </p:nvSpPr>
        <p:spPr>
          <a:xfrm>
            <a:off x="7578418" y="3685776"/>
            <a:ext cx="548548" cy="369332"/>
          </a:xfrm>
          <a:prstGeom prst="rect">
            <a:avLst/>
          </a:prstGeom>
          <a:noFill/>
        </p:spPr>
        <p:txBody>
          <a:bodyPr wrap="none" rtlCol="0">
            <a:spAutoFit/>
          </a:bodyPr>
          <a:lstStyle/>
          <a:p>
            <a:r>
              <a:rPr lang="es-ES" dirty="0"/>
              <a:t>0dB</a:t>
            </a:r>
            <a:endParaRPr lang="es-CO" dirty="0"/>
          </a:p>
        </p:txBody>
      </p:sp>
      <p:sp>
        <p:nvSpPr>
          <p:cNvPr id="37" name="CuadroTexto 36">
            <a:extLst>
              <a:ext uri="{FF2B5EF4-FFF2-40B4-BE49-F238E27FC236}">
                <a16:creationId xmlns:a16="http://schemas.microsoft.com/office/drawing/2014/main" id="{80267618-6525-E0B4-2104-2954491BCC2F}"/>
              </a:ext>
            </a:extLst>
          </p:cNvPr>
          <p:cNvSpPr txBox="1"/>
          <p:nvPr/>
        </p:nvSpPr>
        <p:spPr>
          <a:xfrm>
            <a:off x="7467810" y="4949048"/>
            <a:ext cx="769763" cy="369332"/>
          </a:xfrm>
          <a:prstGeom prst="rect">
            <a:avLst/>
          </a:prstGeom>
          <a:noFill/>
        </p:spPr>
        <p:txBody>
          <a:bodyPr wrap="none" rtlCol="0">
            <a:spAutoFit/>
          </a:bodyPr>
          <a:lstStyle/>
          <a:p>
            <a:r>
              <a:rPr lang="es-ES" dirty="0"/>
              <a:t>+ 6 dB</a:t>
            </a:r>
            <a:endParaRPr lang="es-CO" dirty="0"/>
          </a:p>
        </p:txBody>
      </p:sp>
      <p:sp>
        <p:nvSpPr>
          <p:cNvPr id="2" name="CuadroTexto 1">
            <a:extLst>
              <a:ext uri="{FF2B5EF4-FFF2-40B4-BE49-F238E27FC236}">
                <a16:creationId xmlns:a16="http://schemas.microsoft.com/office/drawing/2014/main" id="{F7531D9F-1874-80EE-9894-9E489E3C2403}"/>
              </a:ext>
            </a:extLst>
          </p:cNvPr>
          <p:cNvSpPr txBox="1"/>
          <p:nvPr/>
        </p:nvSpPr>
        <p:spPr>
          <a:xfrm>
            <a:off x="483625" y="1128965"/>
            <a:ext cx="1287532" cy="369332"/>
          </a:xfrm>
          <a:prstGeom prst="rect">
            <a:avLst/>
          </a:prstGeom>
          <a:noFill/>
        </p:spPr>
        <p:txBody>
          <a:bodyPr wrap="none" rtlCol="0">
            <a:spAutoFit/>
          </a:bodyPr>
          <a:lstStyle/>
          <a:p>
            <a:r>
              <a:rPr lang="es-ES" dirty="0"/>
              <a:t>Dos señales</a:t>
            </a:r>
            <a:endParaRPr lang="es-CO" dirty="0"/>
          </a:p>
        </p:txBody>
      </p:sp>
    </p:spTree>
    <p:custDataLst>
      <p:tags r:id="rId1"/>
    </p:custDataLst>
    <p:extLst>
      <p:ext uri="{BB962C8B-B14F-4D97-AF65-F5344CB8AC3E}">
        <p14:creationId xmlns:p14="http://schemas.microsoft.com/office/powerpoint/2010/main" val="529575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FE6C6-45CD-F3FF-B5CD-0D54A311740B}"/>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A6039BD8-5540-E08E-A14F-FB39DEE97517}"/>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5D541792-0C45-E045-5AA6-2125D5C3B527}"/>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Decibeles</a:t>
            </a:r>
            <a:endParaRPr lang="en-US" dirty="0"/>
          </a:p>
        </p:txBody>
      </p:sp>
      <p:sp>
        <p:nvSpPr>
          <p:cNvPr id="18" name="Marcador de número de diapositiva 3">
            <a:extLst>
              <a:ext uri="{FF2B5EF4-FFF2-40B4-BE49-F238E27FC236}">
                <a16:creationId xmlns:a16="http://schemas.microsoft.com/office/drawing/2014/main" id="{6FFAB650-73A4-62EE-030A-828024C741C0}"/>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p:sp>
        <p:nvSpPr>
          <p:cNvPr id="19" name="Título 1">
            <a:extLst>
              <a:ext uri="{FF2B5EF4-FFF2-40B4-BE49-F238E27FC236}">
                <a16:creationId xmlns:a16="http://schemas.microsoft.com/office/drawing/2014/main" id="{AC6C6D6C-9D1E-507B-CCEC-FCA29D2A3512}"/>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
        <p:nvSpPr>
          <p:cNvPr id="3" name="CuadroTexto 9">
            <a:extLst>
              <a:ext uri="{FF2B5EF4-FFF2-40B4-BE49-F238E27FC236}">
                <a16:creationId xmlns:a16="http://schemas.microsoft.com/office/drawing/2014/main" id="{7B78DE7E-C31E-1BA9-508A-D0F2A03848BE}"/>
              </a:ext>
            </a:extLst>
          </p:cNvPr>
          <p:cNvSpPr txBox="1"/>
          <p:nvPr/>
        </p:nvSpPr>
        <p:spPr>
          <a:xfrm>
            <a:off x="89178" y="2207050"/>
            <a:ext cx="6538223" cy="276999"/>
          </a:xfrm>
          <a:prstGeom prst="rect">
            <a:avLst/>
          </a:prstGeom>
          <a:noFill/>
        </p:spPr>
        <p:txBody>
          <a:bodyPr wrap="square" lIns="91440" tIns="45720" rIns="91440" bIns="45720" anchor="t">
            <a:spAutoFit/>
          </a:bodyPr>
          <a:lstStyle/>
          <a:p>
            <a:r>
              <a:rPr lang="es-MX" sz="1200" dirty="0">
                <a:ea typeface="+mn-lt"/>
                <a:cs typeface="+mn-lt"/>
              </a:rPr>
              <a:t>Ejemplo de varias etapas de amplificación</a:t>
            </a:r>
          </a:p>
        </p:txBody>
      </p:sp>
      <p:sp>
        <p:nvSpPr>
          <p:cNvPr id="11" name="CuadroTexto 10">
            <a:extLst>
              <a:ext uri="{FF2B5EF4-FFF2-40B4-BE49-F238E27FC236}">
                <a16:creationId xmlns:a16="http://schemas.microsoft.com/office/drawing/2014/main" id="{8DA06962-A4AE-C68F-D5FF-FB367B91F805}"/>
              </a:ext>
            </a:extLst>
          </p:cNvPr>
          <p:cNvSpPr txBox="1"/>
          <p:nvPr/>
        </p:nvSpPr>
        <p:spPr>
          <a:xfrm>
            <a:off x="706086" y="674322"/>
            <a:ext cx="2095125" cy="923330"/>
          </a:xfrm>
          <a:prstGeom prst="rect">
            <a:avLst/>
          </a:prstGeom>
          <a:noFill/>
        </p:spPr>
        <p:txBody>
          <a:bodyPr wrap="none" rtlCol="0">
            <a:spAutoFit/>
          </a:bodyPr>
          <a:lstStyle/>
          <a:p>
            <a:r>
              <a:rPr lang="es-ES" dirty="0"/>
              <a:t>Escala normal </a:t>
            </a:r>
          </a:p>
          <a:p>
            <a:endParaRPr lang="es-ES" dirty="0"/>
          </a:p>
          <a:p>
            <a:r>
              <a:rPr lang="es-ES" dirty="0"/>
              <a:t>Escala en decibelios </a:t>
            </a:r>
            <a:endParaRPr lang="es-CO" dirty="0"/>
          </a:p>
        </p:txBody>
      </p:sp>
      <p:sp>
        <p:nvSpPr>
          <p:cNvPr id="13" name="CuadroTexto 12">
            <a:extLst>
              <a:ext uri="{FF2B5EF4-FFF2-40B4-BE49-F238E27FC236}">
                <a16:creationId xmlns:a16="http://schemas.microsoft.com/office/drawing/2014/main" id="{EAC3DAA3-E133-58F1-B872-E6B776B8E261}"/>
              </a:ext>
            </a:extLst>
          </p:cNvPr>
          <p:cNvSpPr txBox="1"/>
          <p:nvPr/>
        </p:nvSpPr>
        <p:spPr>
          <a:xfrm>
            <a:off x="2891502" y="674322"/>
            <a:ext cx="1920719" cy="923330"/>
          </a:xfrm>
          <a:prstGeom prst="rect">
            <a:avLst/>
          </a:prstGeom>
          <a:noFill/>
        </p:spPr>
        <p:txBody>
          <a:bodyPr wrap="none" rtlCol="0">
            <a:spAutoFit/>
          </a:bodyPr>
          <a:lstStyle/>
          <a:p>
            <a:r>
              <a:rPr lang="es-ES" dirty="0"/>
              <a:t>x2    /2    x10    /10</a:t>
            </a:r>
          </a:p>
          <a:p>
            <a:endParaRPr lang="es-ES" dirty="0"/>
          </a:p>
          <a:p>
            <a:r>
              <a:rPr lang="es-ES" dirty="0"/>
              <a:t>+6    -6    +20    -20</a:t>
            </a:r>
            <a:endParaRPr lang="es-CO" dirty="0"/>
          </a:p>
        </p:txBody>
      </p:sp>
      <p:cxnSp>
        <p:nvCxnSpPr>
          <p:cNvPr id="15" name="Google Shape;2163;p44">
            <a:extLst>
              <a:ext uri="{FF2B5EF4-FFF2-40B4-BE49-F238E27FC236}">
                <a16:creationId xmlns:a16="http://schemas.microsoft.com/office/drawing/2014/main" id="{873E2742-74C5-481C-7BFC-1215E101F480}"/>
              </a:ext>
            </a:extLst>
          </p:cNvPr>
          <p:cNvCxnSpPr>
            <a:cxnSpLocks/>
          </p:cNvCxnSpPr>
          <p:nvPr/>
        </p:nvCxnSpPr>
        <p:spPr>
          <a:xfrm>
            <a:off x="1229275" y="3124201"/>
            <a:ext cx="6305118" cy="25501"/>
          </a:xfrm>
          <a:prstGeom prst="straightConnector1">
            <a:avLst/>
          </a:prstGeom>
          <a:noFill/>
          <a:ln w="19050" cap="flat" cmpd="sng">
            <a:solidFill>
              <a:schemeClr val="dk1"/>
            </a:solidFill>
            <a:prstDash val="solid"/>
            <a:round/>
            <a:headEnd type="none" w="med" len="med"/>
            <a:tailEnd type="none" w="med" len="med"/>
          </a:ln>
        </p:spPr>
      </p:cxnSp>
      <p:grpSp>
        <p:nvGrpSpPr>
          <p:cNvPr id="17" name="Google Shape;2165;p44">
            <a:extLst>
              <a:ext uri="{FF2B5EF4-FFF2-40B4-BE49-F238E27FC236}">
                <a16:creationId xmlns:a16="http://schemas.microsoft.com/office/drawing/2014/main" id="{FBF0885E-0508-C798-4B9D-60CEBD9581F7}"/>
              </a:ext>
            </a:extLst>
          </p:cNvPr>
          <p:cNvGrpSpPr/>
          <p:nvPr/>
        </p:nvGrpSpPr>
        <p:grpSpPr>
          <a:xfrm>
            <a:off x="1357781" y="2745478"/>
            <a:ext cx="1832857" cy="1193083"/>
            <a:chOff x="570206" y="1503049"/>
            <a:chExt cx="1832857" cy="1193083"/>
          </a:xfrm>
        </p:grpSpPr>
        <p:grpSp>
          <p:nvGrpSpPr>
            <p:cNvPr id="22" name="Google Shape;2166;p44">
              <a:extLst>
                <a:ext uri="{FF2B5EF4-FFF2-40B4-BE49-F238E27FC236}">
                  <a16:creationId xmlns:a16="http://schemas.microsoft.com/office/drawing/2014/main" id="{7E090DDA-6428-B00E-848F-C5D8C0F2691E}"/>
                </a:ext>
              </a:extLst>
            </p:cNvPr>
            <p:cNvGrpSpPr/>
            <p:nvPr/>
          </p:nvGrpSpPr>
          <p:grpSpPr>
            <a:xfrm>
              <a:off x="570206" y="1503049"/>
              <a:ext cx="1832857" cy="645515"/>
              <a:chOff x="570206" y="1615577"/>
              <a:chExt cx="1832857" cy="645515"/>
            </a:xfrm>
          </p:grpSpPr>
          <p:grpSp>
            <p:nvGrpSpPr>
              <p:cNvPr id="24" name="Google Shape;2167;p44">
                <a:extLst>
                  <a:ext uri="{FF2B5EF4-FFF2-40B4-BE49-F238E27FC236}">
                    <a16:creationId xmlns:a16="http://schemas.microsoft.com/office/drawing/2014/main" id="{5A62AD36-A817-CB80-97AA-A64382CCD028}"/>
                  </a:ext>
                </a:extLst>
              </p:cNvPr>
              <p:cNvGrpSpPr/>
              <p:nvPr/>
            </p:nvGrpSpPr>
            <p:grpSpPr>
              <a:xfrm>
                <a:off x="570206" y="1683664"/>
                <a:ext cx="1832857" cy="577429"/>
                <a:chOff x="279303" y="1043688"/>
                <a:chExt cx="1990073" cy="577429"/>
              </a:xfrm>
            </p:grpSpPr>
            <p:sp>
              <p:nvSpPr>
                <p:cNvPr id="35" name="Google Shape;2168;p44">
                  <a:extLst>
                    <a:ext uri="{FF2B5EF4-FFF2-40B4-BE49-F238E27FC236}">
                      <a16:creationId xmlns:a16="http://schemas.microsoft.com/office/drawing/2014/main" id="{A859F71E-5322-C485-2660-23EDEAE914E7}"/>
                    </a:ext>
                  </a:extLst>
                </p:cNvPr>
                <p:cNvSpPr/>
                <p:nvPr/>
              </p:nvSpPr>
              <p:spPr>
                <a:xfrm>
                  <a:off x="279303" y="1157661"/>
                  <a:ext cx="1990073" cy="463455"/>
                </a:xfrm>
                <a:custGeom>
                  <a:avLst/>
                  <a:gdLst/>
                  <a:ahLst/>
                  <a:cxnLst/>
                  <a:rect l="l" t="t" r="r" b="b"/>
                  <a:pathLst>
                    <a:path w="43914" h="76101" extrusionOk="0">
                      <a:moveTo>
                        <a:pt x="374" y="0"/>
                      </a:moveTo>
                      <a:cubicBezTo>
                        <a:pt x="374" y="0"/>
                        <a:pt x="374" y="27339"/>
                        <a:pt x="187" y="39063"/>
                      </a:cubicBezTo>
                      <a:cubicBezTo>
                        <a:pt x="1" y="50787"/>
                        <a:pt x="2239" y="75914"/>
                        <a:pt x="2239" y="75914"/>
                      </a:cubicBezTo>
                      <a:lnTo>
                        <a:pt x="6502" y="76101"/>
                      </a:lnTo>
                      <a:lnTo>
                        <a:pt x="43913" y="75728"/>
                      </a:lnTo>
                      <a:lnTo>
                        <a:pt x="43540" y="62698"/>
                      </a:lnTo>
                      <a:lnTo>
                        <a:pt x="4242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69;p44">
                  <a:extLst>
                    <a:ext uri="{FF2B5EF4-FFF2-40B4-BE49-F238E27FC236}">
                      <a16:creationId xmlns:a16="http://schemas.microsoft.com/office/drawing/2014/main" id="{4B8E186D-F1EC-82E0-DD61-70599D39EC99}"/>
                    </a:ext>
                  </a:extLst>
                </p:cNvPr>
                <p:cNvSpPr/>
                <p:nvPr/>
              </p:nvSpPr>
              <p:spPr>
                <a:xfrm>
                  <a:off x="396575" y="1043688"/>
                  <a:ext cx="641753" cy="463500"/>
                </a:xfrm>
                <a:custGeom>
                  <a:avLst/>
                  <a:gdLst/>
                  <a:ahLst/>
                  <a:cxnLst/>
                  <a:rect l="l" t="t" r="r" b="b"/>
                  <a:pathLst>
                    <a:path w="19425" h="18540" extrusionOk="0">
                      <a:moveTo>
                        <a:pt x="7381" y="0"/>
                      </a:moveTo>
                      <a:cubicBezTo>
                        <a:pt x="7381" y="0"/>
                        <a:pt x="4663" y="187"/>
                        <a:pt x="2532" y="400"/>
                      </a:cubicBezTo>
                      <a:cubicBezTo>
                        <a:pt x="400" y="587"/>
                        <a:pt x="0" y="4663"/>
                        <a:pt x="0" y="4663"/>
                      </a:cubicBezTo>
                      <a:lnTo>
                        <a:pt x="4477" y="5063"/>
                      </a:lnTo>
                      <a:cubicBezTo>
                        <a:pt x="4477" y="5063"/>
                        <a:pt x="5436" y="10499"/>
                        <a:pt x="4850" y="14576"/>
                      </a:cubicBezTo>
                      <a:cubicBezTo>
                        <a:pt x="4359" y="18010"/>
                        <a:pt x="7154" y="18290"/>
                        <a:pt x="8078" y="18290"/>
                      </a:cubicBezTo>
                      <a:cubicBezTo>
                        <a:pt x="8258" y="18290"/>
                        <a:pt x="8367" y="18279"/>
                        <a:pt x="8367" y="18279"/>
                      </a:cubicBezTo>
                      <a:cubicBezTo>
                        <a:pt x="8367" y="18279"/>
                        <a:pt x="10783" y="18540"/>
                        <a:pt x="13199" y="18540"/>
                      </a:cubicBezTo>
                      <a:cubicBezTo>
                        <a:pt x="14407" y="18540"/>
                        <a:pt x="15615" y="18475"/>
                        <a:pt x="16521" y="18279"/>
                      </a:cubicBezTo>
                      <a:cubicBezTo>
                        <a:pt x="19238" y="17693"/>
                        <a:pt x="18865" y="16148"/>
                        <a:pt x="18865" y="16148"/>
                      </a:cubicBezTo>
                      <a:lnTo>
                        <a:pt x="19052" y="11485"/>
                      </a:lnTo>
                      <a:cubicBezTo>
                        <a:pt x="19052" y="11485"/>
                        <a:pt x="19425" y="5436"/>
                        <a:pt x="18865" y="3118"/>
                      </a:cubicBezTo>
                      <a:cubicBezTo>
                        <a:pt x="18279" y="773"/>
                        <a:pt x="14975" y="187"/>
                        <a:pt x="14975" y="187"/>
                      </a:cubicBezTo>
                      <a:lnTo>
                        <a:pt x="73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170;p44">
                <a:extLst>
                  <a:ext uri="{FF2B5EF4-FFF2-40B4-BE49-F238E27FC236}">
                    <a16:creationId xmlns:a16="http://schemas.microsoft.com/office/drawing/2014/main" id="{F1405C03-D541-7C22-996A-4C04C5AA5828}"/>
                  </a:ext>
                </a:extLst>
              </p:cNvPr>
              <p:cNvSpPr txBox="1"/>
              <p:nvPr/>
            </p:nvSpPr>
            <p:spPr>
              <a:xfrm>
                <a:off x="1296000" y="1858475"/>
                <a:ext cx="1107000" cy="340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a:solidFill>
                      <a:srgbClr val="FFFFFF"/>
                    </a:solidFill>
                    <a:latin typeface="Fira Sans Extra Condensed Medium"/>
                    <a:ea typeface="Fira Sans Extra Condensed Medium"/>
                    <a:cs typeface="Fira Sans Extra Condensed Medium"/>
                    <a:sym typeface="Fira Sans Extra Condensed Medium"/>
                  </a:rPr>
                  <a:t>Av=50</a:t>
                </a:r>
                <a:endParaRPr sz="2000" dirty="0">
                  <a:solidFill>
                    <a:srgbClr val="FFFFFF"/>
                  </a:solidFill>
                  <a:latin typeface="Fira Sans Extra Condensed Medium"/>
                  <a:ea typeface="Fira Sans Extra Condensed Medium"/>
                  <a:cs typeface="Fira Sans Extra Condensed Medium"/>
                  <a:sym typeface="Fira Sans Extra Condensed Medium"/>
                </a:endParaRPr>
              </a:p>
            </p:txBody>
          </p:sp>
          <p:grpSp>
            <p:nvGrpSpPr>
              <p:cNvPr id="29" name="Google Shape;2171;p44">
                <a:extLst>
                  <a:ext uri="{FF2B5EF4-FFF2-40B4-BE49-F238E27FC236}">
                    <a16:creationId xmlns:a16="http://schemas.microsoft.com/office/drawing/2014/main" id="{65B74BE0-7BFA-1143-102A-0BA97EA88778}"/>
                  </a:ext>
                </a:extLst>
              </p:cNvPr>
              <p:cNvGrpSpPr/>
              <p:nvPr/>
            </p:nvGrpSpPr>
            <p:grpSpPr>
              <a:xfrm>
                <a:off x="919431" y="1615577"/>
                <a:ext cx="207665" cy="396291"/>
                <a:chOff x="32275" y="1645425"/>
                <a:chExt cx="265150" cy="505925"/>
              </a:xfrm>
            </p:grpSpPr>
            <p:sp>
              <p:nvSpPr>
                <p:cNvPr id="30" name="Google Shape;2172;p44">
                  <a:extLst>
                    <a:ext uri="{FF2B5EF4-FFF2-40B4-BE49-F238E27FC236}">
                      <a16:creationId xmlns:a16="http://schemas.microsoft.com/office/drawing/2014/main" id="{58F8C283-A4F5-C3D2-9744-63E6A763CCC9}"/>
                    </a:ext>
                  </a:extLst>
                </p:cNvPr>
                <p:cNvSpPr/>
                <p:nvPr/>
              </p:nvSpPr>
              <p:spPr>
                <a:xfrm>
                  <a:off x="122200" y="2009600"/>
                  <a:ext cx="158575" cy="134250"/>
                </a:xfrm>
                <a:custGeom>
                  <a:avLst/>
                  <a:gdLst/>
                  <a:ahLst/>
                  <a:cxnLst/>
                  <a:rect l="l" t="t" r="r" b="b"/>
                  <a:pathLst>
                    <a:path w="6343" h="5370" extrusionOk="0">
                      <a:moveTo>
                        <a:pt x="2882" y="1"/>
                      </a:moveTo>
                      <a:cubicBezTo>
                        <a:pt x="2773" y="1"/>
                        <a:pt x="2665" y="7"/>
                        <a:pt x="2558" y="21"/>
                      </a:cubicBezTo>
                      <a:cubicBezTo>
                        <a:pt x="1679" y="127"/>
                        <a:pt x="880" y="634"/>
                        <a:pt x="427" y="1406"/>
                      </a:cubicBezTo>
                      <a:cubicBezTo>
                        <a:pt x="0" y="2099"/>
                        <a:pt x="27" y="3005"/>
                        <a:pt x="533" y="3698"/>
                      </a:cubicBezTo>
                      <a:cubicBezTo>
                        <a:pt x="640" y="4257"/>
                        <a:pt x="986" y="4737"/>
                        <a:pt x="1493" y="5030"/>
                      </a:cubicBezTo>
                      <a:cubicBezTo>
                        <a:pt x="1866" y="5257"/>
                        <a:pt x="2285" y="5370"/>
                        <a:pt x="2705" y="5370"/>
                      </a:cubicBezTo>
                      <a:cubicBezTo>
                        <a:pt x="3125" y="5370"/>
                        <a:pt x="3544" y="5257"/>
                        <a:pt x="3917" y="5030"/>
                      </a:cubicBezTo>
                      <a:cubicBezTo>
                        <a:pt x="4370" y="4817"/>
                        <a:pt x="4770" y="4471"/>
                        <a:pt x="5037" y="4071"/>
                      </a:cubicBezTo>
                      <a:cubicBezTo>
                        <a:pt x="5649" y="3778"/>
                        <a:pt x="6102" y="3245"/>
                        <a:pt x="6236" y="2579"/>
                      </a:cubicBezTo>
                      <a:cubicBezTo>
                        <a:pt x="6342" y="1992"/>
                        <a:pt x="6156" y="1406"/>
                        <a:pt x="5783" y="953"/>
                      </a:cubicBezTo>
                      <a:cubicBezTo>
                        <a:pt x="5316" y="462"/>
                        <a:pt x="4690" y="174"/>
                        <a:pt x="4032" y="174"/>
                      </a:cubicBezTo>
                      <a:cubicBezTo>
                        <a:pt x="3976" y="174"/>
                        <a:pt x="3920" y="176"/>
                        <a:pt x="3864" y="181"/>
                      </a:cubicBezTo>
                      <a:cubicBezTo>
                        <a:pt x="3544" y="61"/>
                        <a:pt x="3210" y="1"/>
                        <a:pt x="2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73;p44">
                  <a:extLst>
                    <a:ext uri="{FF2B5EF4-FFF2-40B4-BE49-F238E27FC236}">
                      <a16:creationId xmlns:a16="http://schemas.microsoft.com/office/drawing/2014/main" id="{D0B76A20-D7C8-E272-E10A-20E1A7AF0DE9}"/>
                    </a:ext>
                  </a:extLst>
                </p:cNvPr>
                <p:cNvSpPr/>
                <p:nvPr/>
              </p:nvSpPr>
              <p:spPr>
                <a:xfrm>
                  <a:off x="44250" y="1645425"/>
                  <a:ext cx="244500" cy="316675"/>
                </a:xfrm>
                <a:custGeom>
                  <a:avLst/>
                  <a:gdLst/>
                  <a:ahLst/>
                  <a:cxnLst/>
                  <a:rect l="l" t="t" r="r" b="b"/>
                  <a:pathLst>
                    <a:path w="9780" h="12667" extrusionOk="0">
                      <a:moveTo>
                        <a:pt x="6326" y="1"/>
                      </a:moveTo>
                      <a:cubicBezTo>
                        <a:pt x="5326" y="1"/>
                        <a:pt x="4274" y="199"/>
                        <a:pt x="3332" y="199"/>
                      </a:cubicBezTo>
                      <a:cubicBezTo>
                        <a:pt x="2959" y="199"/>
                        <a:pt x="2612" y="279"/>
                        <a:pt x="2292" y="412"/>
                      </a:cubicBezTo>
                      <a:cubicBezTo>
                        <a:pt x="1360" y="545"/>
                        <a:pt x="427" y="1185"/>
                        <a:pt x="321" y="2037"/>
                      </a:cubicBezTo>
                      <a:cubicBezTo>
                        <a:pt x="1" y="4889"/>
                        <a:pt x="934" y="7313"/>
                        <a:pt x="2452" y="9552"/>
                      </a:cubicBezTo>
                      <a:cubicBezTo>
                        <a:pt x="2532" y="10058"/>
                        <a:pt x="2852" y="10458"/>
                        <a:pt x="3278" y="10697"/>
                      </a:cubicBezTo>
                      <a:cubicBezTo>
                        <a:pt x="3678" y="11204"/>
                        <a:pt x="4104" y="11737"/>
                        <a:pt x="4557" y="12243"/>
                      </a:cubicBezTo>
                      <a:cubicBezTo>
                        <a:pt x="4818" y="12539"/>
                        <a:pt x="5167" y="12666"/>
                        <a:pt x="5516" y="12666"/>
                      </a:cubicBezTo>
                      <a:cubicBezTo>
                        <a:pt x="6203" y="12666"/>
                        <a:pt x="6894" y="12177"/>
                        <a:pt x="6929" y="11523"/>
                      </a:cubicBezTo>
                      <a:cubicBezTo>
                        <a:pt x="7275" y="11337"/>
                        <a:pt x="7568" y="11044"/>
                        <a:pt x="7755" y="10671"/>
                      </a:cubicBezTo>
                      <a:cubicBezTo>
                        <a:pt x="8981" y="8299"/>
                        <a:pt x="9780" y="5555"/>
                        <a:pt x="9727" y="2943"/>
                      </a:cubicBezTo>
                      <a:cubicBezTo>
                        <a:pt x="9727" y="1771"/>
                        <a:pt x="9007" y="679"/>
                        <a:pt x="7915" y="252"/>
                      </a:cubicBezTo>
                      <a:cubicBezTo>
                        <a:pt x="7420" y="62"/>
                        <a:pt x="6881" y="1"/>
                        <a:pt x="63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174;p44">
                  <a:extLst>
                    <a:ext uri="{FF2B5EF4-FFF2-40B4-BE49-F238E27FC236}">
                      <a16:creationId xmlns:a16="http://schemas.microsoft.com/office/drawing/2014/main" id="{A75A907E-ABEF-1B20-3FC7-FC07E04278D7}"/>
                    </a:ext>
                  </a:extLst>
                </p:cNvPr>
                <p:cNvSpPr/>
                <p:nvPr/>
              </p:nvSpPr>
              <p:spPr>
                <a:xfrm>
                  <a:off x="115550" y="2002425"/>
                  <a:ext cx="170550" cy="148925"/>
                </a:xfrm>
                <a:custGeom>
                  <a:avLst/>
                  <a:gdLst/>
                  <a:ahLst/>
                  <a:cxnLst/>
                  <a:rect l="l" t="t" r="r" b="b"/>
                  <a:pathLst>
                    <a:path w="6822" h="5957" extrusionOk="0">
                      <a:moveTo>
                        <a:pt x="3570" y="709"/>
                      </a:moveTo>
                      <a:cubicBezTo>
                        <a:pt x="3894" y="709"/>
                        <a:pt x="4214" y="759"/>
                        <a:pt x="4530" y="894"/>
                      </a:cubicBezTo>
                      <a:cubicBezTo>
                        <a:pt x="5169" y="1134"/>
                        <a:pt x="5622" y="1720"/>
                        <a:pt x="5676" y="2413"/>
                      </a:cubicBezTo>
                      <a:cubicBezTo>
                        <a:pt x="5782" y="3079"/>
                        <a:pt x="5756" y="3745"/>
                        <a:pt x="5249" y="4305"/>
                      </a:cubicBezTo>
                      <a:cubicBezTo>
                        <a:pt x="4796" y="4758"/>
                        <a:pt x="4183" y="5051"/>
                        <a:pt x="3517" y="5131"/>
                      </a:cubicBezTo>
                      <a:cubicBezTo>
                        <a:pt x="3429" y="5140"/>
                        <a:pt x="3342" y="5144"/>
                        <a:pt x="3255" y="5144"/>
                      </a:cubicBezTo>
                      <a:cubicBezTo>
                        <a:pt x="2058" y="5144"/>
                        <a:pt x="1032" y="4307"/>
                        <a:pt x="933" y="3239"/>
                      </a:cubicBezTo>
                      <a:cubicBezTo>
                        <a:pt x="807" y="2160"/>
                        <a:pt x="1721" y="798"/>
                        <a:pt x="3051" y="798"/>
                      </a:cubicBezTo>
                      <a:cubicBezTo>
                        <a:pt x="3134" y="798"/>
                        <a:pt x="3218" y="803"/>
                        <a:pt x="3304" y="814"/>
                      </a:cubicBezTo>
                      <a:cubicBezTo>
                        <a:pt x="3313" y="815"/>
                        <a:pt x="3322" y="815"/>
                        <a:pt x="3331" y="815"/>
                      </a:cubicBezTo>
                      <a:cubicBezTo>
                        <a:pt x="3421" y="815"/>
                        <a:pt x="3496" y="770"/>
                        <a:pt x="3544" y="709"/>
                      </a:cubicBezTo>
                      <a:lnTo>
                        <a:pt x="3544" y="709"/>
                      </a:lnTo>
                      <a:cubicBezTo>
                        <a:pt x="3553" y="709"/>
                        <a:pt x="3561" y="709"/>
                        <a:pt x="3570" y="709"/>
                      </a:cubicBezTo>
                      <a:close/>
                      <a:moveTo>
                        <a:pt x="3607" y="1"/>
                      </a:moveTo>
                      <a:cubicBezTo>
                        <a:pt x="3070" y="1"/>
                        <a:pt x="2526" y="86"/>
                        <a:pt x="2025" y="228"/>
                      </a:cubicBezTo>
                      <a:cubicBezTo>
                        <a:pt x="1894" y="269"/>
                        <a:pt x="1820" y="358"/>
                        <a:pt x="1795" y="459"/>
                      </a:cubicBezTo>
                      <a:lnTo>
                        <a:pt x="1795" y="459"/>
                      </a:lnTo>
                      <a:cubicBezTo>
                        <a:pt x="801" y="839"/>
                        <a:pt x="71" y="1781"/>
                        <a:pt x="53" y="2946"/>
                      </a:cubicBezTo>
                      <a:cubicBezTo>
                        <a:pt x="0" y="4624"/>
                        <a:pt x="1545" y="5957"/>
                        <a:pt x="3411" y="5957"/>
                      </a:cubicBezTo>
                      <a:cubicBezTo>
                        <a:pt x="4370" y="5957"/>
                        <a:pt x="5276" y="5557"/>
                        <a:pt x="5942" y="4891"/>
                      </a:cubicBezTo>
                      <a:cubicBezTo>
                        <a:pt x="6582" y="4198"/>
                        <a:pt x="6821" y="3265"/>
                        <a:pt x="6608" y="2386"/>
                      </a:cubicBezTo>
                      <a:cubicBezTo>
                        <a:pt x="6475" y="1533"/>
                        <a:pt x="6129" y="761"/>
                        <a:pt x="5249" y="334"/>
                      </a:cubicBezTo>
                      <a:cubicBezTo>
                        <a:pt x="4752" y="100"/>
                        <a:pt x="4184" y="1"/>
                        <a:pt x="3607" y="1"/>
                      </a:cubicBez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175;p44">
                  <a:extLst>
                    <a:ext uri="{FF2B5EF4-FFF2-40B4-BE49-F238E27FC236}">
                      <a16:creationId xmlns:a16="http://schemas.microsoft.com/office/drawing/2014/main" id="{2177D062-5FDD-8FA3-B31C-4D973C4A7775}"/>
                    </a:ext>
                  </a:extLst>
                </p:cNvPr>
                <p:cNvSpPr/>
                <p:nvPr/>
              </p:nvSpPr>
              <p:spPr>
                <a:xfrm>
                  <a:off x="32275" y="1648800"/>
                  <a:ext cx="265150" cy="328825"/>
                </a:xfrm>
                <a:custGeom>
                  <a:avLst/>
                  <a:gdLst/>
                  <a:ahLst/>
                  <a:cxnLst/>
                  <a:rect l="l" t="t" r="r" b="b"/>
                  <a:pathLst>
                    <a:path w="10606" h="13153" extrusionOk="0">
                      <a:moveTo>
                        <a:pt x="7410" y="830"/>
                      </a:moveTo>
                      <a:cubicBezTo>
                        <a:pt x="7613" y="830"/>
                        <a:pt x="7816" y="832"/>
                        <a:pt x="8021" y="837"/>
                      </a:cubicBezTo>
                      <a:cubicBezTo>
                        <a:pt x="8138" y="837"/>
                        <a:pt x="8259" y="834"/>
                        <a:pt x="8379" y="834"/>
                      </a:cubicBezTo>
                      <a:cubicBezTo>
                        <a:pt x="8937" y="834"/>
                        <a:pt x="9469" y="888"/>
                        <a:pt x="9513" y="1503"/>
                      </a:cubicBezTo>
                      <a:cubicBezTo>
                        <a:pt x="9540" y="2062"/>
                        <a:pt x="9513" y="2649"/>
                        <a:pt x="9406" y="3208"/>
                      </a:cubicBezTo>
                      <a:cubicBezTo>
                        <a:pt x="9060" y="5260"/>
                        <a:pt x="8607" y="7285"/>
                        <a:pt x="8021" y="9283"/>
                      </a:cubicBezTo>
                      <a:cubicBezTo>
                        <a:pt x="7808" y="10163"/>
                        <a:pt x="7541" y="11495"/>
                        <a:pt x="6688" y="12108"/>
                      </a:cubicBezTo>
                      <a:cubicBezTo>
                        <a:pt x="6566" y="12199"/>
                        <a:pt x="6436" y="12239"/>
                        <a:pt x="6302" y="12239"/>
                      </a:cubicBezTo>
                      <a:cubicBezTo>
                        <a:pt x="5539" y="12239"/>
                        <a:pt x="4665" y="10932"/>
                        <a:pt x="4370" y="10456"/>
                      </a:cubicBezTo>
                      <a:cubicBezTo>
                        <a:pt x="3757" y="9443"/>
                        <a:pt x="3198" y="8404"/>
                        <a:pt x="2745" y="7312"/>
                      </a:cubicBezTo>
                      <a:cubicBezTo>
                        <a:pt x="2258" y="6209"/>
                        <a:pt x="1795" y="5081"/>
                        <a:pt x="1405" y="3953"/>
                      </a:cubicBezTo>
                      <a:lnTo>
                        <a:pt x="1405" y="3953"/>
                      </a:lnTo>
                      <a:cubicBezTo>
                        <a:pt x="1369" y="3760"/>
                        <a:pt x="1336" y="3566"/>
                        <a:pt x="1306" y="3368"/>
                      </a:cubicBezTo>
                      <a:cubicBezTo>
                        <a:pt x="1146" y="2888"/>
                        <a:pt x="1066" y="2382"/>
                        <a:pt x="1039" y="1902"/>
                      </a:cubicBezTo>
                      <a:cubicBezTo>
                        <a:pt x="1093" y="1370"/>
                        <a:pt x="2025" y="1343"/>
                        <a:pt x="2505" y="1263"/>
                      </a:cubicBezTo>
                      <a:cubicBezTo>
                        <a:pt x="3118" y="1156"/>
                        <a:pt x="3731" y="1050"/>
                        <a:pt x="4370" y="997"/>
                      </a:cubicBezTo>
                      <a:cubicBezTo>
                        <a:pt x="5392" y="886"/>
                        <a:pt x="6395" y="830"/>
                        <a:pt x="7410" y="830"/>
                      </a:cubicBezTo>
                      <a:close/>
                      <a:moveTo>
                        <a:pt x="7029" y="0"/>
                      </a:moveTo>
                      <a:cubicBezTo>
                        <a:pt x="6241" y="0"/>
                        <a:pt x="5452" y="47"/>
                        <a:pt x="4663" y="144"/>
                      </a:cubicBezTo>
                      <a:cubicBezTo>
                        <a:pt x="3731" y="224"/>
                        <a:pt x="2825" y="357"/>
                        <a:pt x="1892" y="544"/>
                      </a:cubicBezTo>
                      <a:cubicBezTo>
                        <a:pt x="1386" y="650"/>
                        <a:pt x="666" y="703"/>
                        <a:pt x="320" y="1156"/>
                      </a:cubicBezTo>
                      <a:cubicBezTo>
                        <a:pt x="0" y="1583"/>
                        <a:pt x="187" y="2302"/>
                        <a:pt x="293" y="2808"/>
                      </a:cubicBezTo>
                      <a:cubicBezTo>
                        <a:pt x="453" y="3581"/>
                        <a:pt x="613" y="4354"/>
                        <a:pt x="826" y="5127"/>
                      </a:cubicBezTo>
                      <a:cubicBezTo>
                        <a:pt x="867" y="5269"/>
                        <a:pt x="997" y="5330"/>
                        <a:pt x="1139" y="5330"/>
                      </a:cubicBezTo>
                      <a:cubicBezTo>
                        <a:pt x="1152" y="5330"/>
                        <a:pt x="1165" y="5329"/>
                        <a:pt x="1177" y="5329"/>
                      </a:cubicBezTo>
                      <a:lnTo>
                        <a:pt x="1177" y="5329"/>
                      </a:lnTo>
                      <a:cubicBezTo>
                        <a:pt x="1729" y="7466"/>
                        <a:pt x="2526" y="9594"/>
                        <a:pt x="3864" y="11415"/>
                      </a:cubicBezTo>
                      <a:cubicBezTo>
                        <a:pt x="4373" y="12118"/>
                        <a:pt x="5191" y="13152"/>
                        <a:pt x="6258" y="13152"/>
                      </a:cubicBezTo>
                      <a:cubicBezTo>
                        <a:pt x="6363" y="13152"/>
                        <a:pt x="6471" y="13142"/>
                        <a:pt x="6582" y="13120"/>
                      </a:cubicBezTo>
                      <a:cubicBezTo>
                        <a:pt x="7808" y="12854"/>
                        <a:pt x="8261" y="11442"/>
                        <a:pt x="8580" y="10536"/>
                      </a:cubicBezTo>
                      <a:cubicBezTo>
                        <a:pt x="9007" y="9283"/>
                        <a:pt x="9246" y="7978"/>
                        <a:pt x="9593" y="6699"/>
                      </a:cubicBezTo>
                      <a:cubicBezTo>
                        <a:pt x="9966" y="5340"/>
                        <a:pt x="10232" y="3981"/>
                        <a:pt x="10392" y="2595"/>
                      </a:cubicBezTo>
                      <a:cubicBezTo>
                        <a:pt x="10472" y="1609"/>
                        <a:pt x="10605" y="304"/>
                        <a:pt x="9220" y="117"/>
                      </a:cubicBezTo>
                      <a:cubicBezTo>
                        <a:pt x="8490" y="40"/>
                        <a:pt x="7759" y="0"/>
                        <a:pt x="7029" y="0"/>
                      </a:cubicBez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 name="Google Shape;2176;p44">
              <a:extLst>
                <a:ext uri="{FF2B5EF4-FFF2-40B4-BE49-F238E27FC236}">
                  <a16:creationId xmlns:a16="http://schemas.microsoft.com/office/drawing/2014/main" id="{CB9F2C61-6B89-A98A-5988-45B2B27B1239}"/>
                </a:ext>
              </a:extLst>
            </p:cNvPr>
            <p:cNvSpPr/>
            <p:nvPr/>
          </p:nvSpPr>
          <p:spPr>
            <a:xfrm rot="10800000">
              <a:off x="1424919" y="2259359"/>
              <a:ext cx="123432" cy="436774"/>
            </a:xfrm>
            <a:custGeom>
              <a:avLst/>
              <a:gdLst/>
              <a:ahLst/>
              <a:cxnLst/>
              <a:rect l="l" t="t" r="r" b="b"/>
              <a:pathLst>
                <a:path w="5403" h="19119" extrusionOk="0">
                  <a:moveTo>
                    <a:pt x="2235" y="1"/>
                  </a:moveTo>
                  <a:cubicBezTo>
                    <a:pt x="2111" y="1"/>
                    <a:pt x="1991" y="81"/>
                    <a:pt x="1975" y="241"/>
                  </a:cubicBezTo>
                  <a:cubicBezTo>
                    <a:pt x="1751" y="273"/>
                    <a:pt x="1559" y="401"/>
                    <a:pt x="1495" y="593"/>
                  </a:cubicBezTo>
                  <a:cubicBezTo>
                    <a:pt x="1111" y="1681"/>
                    <a:pt x="663" y="2737"/>
                    <a:pt x="119" y="3729"/>
                  </a:cubicBezTo>
                  <a:cubicBezTo>
                    <a:pt x="0" y="3966"/>
                    <a:pt x="197" y="4220"/>
                    <a:pt x="398" y="4220"/>
                  </a:cubicBezTo>
                  <a:cubicBezTo>
                    <a:pt x="469" y="4220"/>
                    <a:pt x="540" y="4188"/>
                    <a:pt x="599" y="4113"/>
                  </a:cubicBezTo>
                  <a:cubicBezTo>
                    <a:pt x="1079" y="3505"/>
                    <a:pt x="1527" y="2833"/>
                    <a:pt x="1879" y="2129"/>
                  </a:cubicBezTo>
                  <a:lnTo>
                    <a:pt x="1879" y="2129"/>
                  </a:lnTo>
                  <a:cubicBezTo>
                    <a:pt x="1783" y="5234"/>
                    <a:pt x="1879" y="8370"/>
                    <a:pt x="1879" y="11475"/>
                  </a:cubicBezTo>
                  <a:cubicBezTo>
                    <a:pt x="1879" y="13747"/>
                    <a:pt x="1239" y="17076"/>
                    <a:pt x="2775" y="18996"/>
                  </a:cubicBezTo>
                  <a:cubicBezTo>
                    <a:pt x="2846" y="19082"/>
                    <a:pt x="2936" y="19119"/>
                    <a:pt x="3027" y="19119"/>
                  </a:cubicBezTo>
                  <a:cubicBezTo>
                    <a:pt x="3309" y="19119"/>
                    <a:pt x="3609" y="18774"/>
                    <a:pt x="3415" y="18484"/>
                  </a:cubicBezTo>
                  <a:cubicBezTo>
                    <a:pt x="2583" y="17172"/>
                    <a:pt x="2743" y="15636"/>
                    <a:pt x="2743" y="14163"/>
                  </a:cubicBezTo>
                  <a:lnTo>
                    <a:pt x="2711" y="9522"/>
                  </a:lnTo>
                  <a:cubicBezTo>
                    <a:pt x="2711" y="7186"/>
                    <a:pt x="2711" y="4850"/>
                    <a:pt x="2615" y="2481"/>
                  </a:cubicBezTo>
                  <a:lnTo>
                    <a:pt x="2615" y="2481"/>
                  </a:lnTo>
                  <a:cubicBezTo>
                    <a:pt x="3159" y="3153"/>
                    <a:pt x="3799" y="3729"/>
                    <a:pt x="4472" y="4241"/>
                  </a:cubicBezTo>
                  <a:cubicBezTo>
                    <a:pt x="4564" y="4317"/>
                    <a:pt x="4657" y="4349"/>
                    <a:pt x="4744" y="4349"/>
                  </a:cubicBezTo>
                  <a:cubicBezTo>
                    <a:pt x="5136" y="4349"/>
                    <a:pt x="5403" y="3692"/>
                    <a:pt x="4984" y="3377"/>
                  </a:cubicBezTo>
                  <a:cubicBezTo>
                    <a:pt x="3991" y="2641"/>
                    <a:pt x="3191" y="1713"/>
                    <a:pt x="2519" y="689"/>
                  </a:cubicBezTo>
                  <a:cubicBezTo>
                    <a:pt x="2519" y="529"/>
                    <a:pt x="2519" y="401"/>
                    <a:pt x="2519" y="241"/>
                  </a:cubicBezTo>
                  <a:cubicBezTo>
                    <a:pt x="2487" y="81"/>
                    <a:pt x="2359" y="1"/>
                    <a:pt x="2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2177;p44">
            <a:extLst>
              <a:ext uri="{FF2B5EF4-FFF2-40B4-BE49-F238E27FC236}">
                <a16:creationId xmlns:a16="http://schemas.microsoft.com/office/drawing/2014/main" id="{6878EADA-5968-8A3C-F8F9-E784DC6BC83C}"/>
              </a:ext>
            </a:extLst>
          </p:cNvPr>
          <p:cNvGrpSpPr/>
          <p:nvPr/>
        </p:nvGrpSpPr>
        <p:grpSpPr>
          <a:xfrm>
            <a:off x="3414939" y="2745478"/>
            <a:ext cx="1832861" cy="1193083"/>
            <a:chOff x="2627364" y="1503049"/>
            <a:chExt cx="1832861" cy="1193083"/>
          </a:xfrm>
        </p:grpSpPr>
        <p:grpSp>
          <p:nvGrpSpPr>
            <p:cNvPr id="38" name="Google Shape;2178;p44">
              <a:extLst>
                <a:ext uri="{FF2B5EF4-FFF2-40B4-BE49-F238E27FC236}">
                  <a16:creationId xmlns:a16="http://schemas.microsoft.com/office/drawing/2014/main" id="{34428A12-D638-2100-9710-9E6417CA301F}"/>
                </a:ext>
              </a:extLst>
            </p:cNvPr>
            <p:cNvGrpSpPr/>
            <p:nvPr/>
          </p:nvGrpSpPr>
          <p:grpSpPr>
            <a:xfrm>
              <a:off x="2627364" y="1503049"/>
              <a:ext cx="1832861" cy="645515"/>
              <a:chOff x="2627364" y="1615577"/>
              <a:chExt cx="1832861" cy="645515"/>
            </a:xfrm>
          </p:grpSpPr>
          <p:sp>
            <p:nvSpPr>
              <p:cNvPr id="40" name="Google Shape;2179;p44">
                <a:extLst>
                  <a:ext uri="{FF2B5EF4-FFF2-40B4-BE49-F238E27FC236}">
                    <a16:creationId xmlns:a16="http://schemas.microsoft.com/office/drawing/2014/main" id="{892CAC70-97DB-07FA-36CE-8CC47EC7FEBE}"/>
                  </a:ext>
                </a:extLst>
              </p:cNvPr>
              <p:cNvSpPr/>
              <p:nvPr/>
            </p:nvSpPr>
            <p:spPr>
              <a:xfrm>
                <a:off x="2627364" y="1797638"/>
                <a:ext cx="1832861" cy="463455"/>
              </a:xfrm>
              <a:custGeom>
                <a:avLst/>
                <a:gdLst/>
                <a:ahLst/>
                <a:cxnLst/>
                <a:rect l="l" t="t" r="r" b="b"/>
                <a:pathLst>
                  <a:path w="43914" h="76101" extrusionOk="0">
                    <a:moveTo>
                      <a:pt x="374" y="0"/>
                    </a:moveTo>
                    <a:cubicBezTo>
                      <a:pt x="374" y="0"/>
                      <a:pt x="374" y="27339"/>
                      <a:pt x="187" y="39063"/>
                    </a:cubicBezTo>
                    <a:cubicBezTo>
                      <a:pt x="1" y="50787"/>
                      <a:pt x="2239" y="75914"/>
                      <a:pt x="2239" y="75914"/>
                    </a:cubicBezTo>
                    <a:lnTo>
                      <a:pt x="6502" y="76101"/>
                    </a:lnTo>
                    <a:lnTo>
                      <a:pt x="43913" y="75728"/>
                    </a:lnTo>
                    <a:lnTo>
                      <a:pt x="43540" y="62698"/>
                    </a:lnTo>
                    <a:lnTo>
                      <a:pt x="424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180;p44">
                <a:extLst>
                  <a:ext uri="{FF2B5EF4-FFF2-40B4-BE49-F238E27FC236}">
                    <a16:creationId xmlns:a16="http://schemas.microsoft.com/office/drawing/2014/main" id="{8F930C1E-435E-5D4C-8DC4-8B0AF18A19D7}"/>
                  </a:ext>
                </a:extLst>
              </p:cNvPr>
              <p:cNvSpPr/>
              <p:nvPr/>
            </p:nvSpPr>
            <p:spPr>
              <a:xfrm>
                <a:off x="2735372" y="1683664"/>
                <a:ext cx="591054" cy="463500"/>
              </a:xfrm>
              <a:custGeom>
                <a:avLst/>
                <a:gdLst/>
                <a:ahLst/>
                <a:cxnLst/>
                <a:rect l="l" t="t" r="r" b="b"/>
                <a:pathLst>
                  <a:path w="19425" h="18540" extrusionOk="0">
                    <a:moveTo>
                      <a:pt x="7381" y="0"/>
                    </a:moveTo>
                    <a:cubicBezTo>
                      <a:pt x="7381" y="0"/>
                      <a:pt x="4663" y="187"/>
                      <a:pt x="2532" y="400"/>
                    </a:cubicBezTo>
                    <a:cubicBezTo>
                      <a:pt x="400" y="587"/>
                      <a:pt x="0" y="4663"/>
                      <a:pt x="0" y="4663"/>
                    </a:cubicBezTo>
                    <a:lnTo>
                      <a:pt x="4477" y="5063"/>
                    </a:lnTo>
                    <a:cubicBezTo>
                      <a:pt x="4477" y="5063"/>
                      <a:pt x="5436" y="10499"/>
                      <a:pt x="4850" y="14576"/>
                    </a:cubicBezTo>
                    <a:cubicBezTo>
                      <a:pt x="4359" y="18010"/>
                      <a:pt x="7154" y="18290"/>
                      <a:pt x="8078" y="18290"/>
                    </a:cubicBezTo>
                    <a:cubicBezTo>
                      <a:pt x="8258" y="18290"/>
                      <a:pt x="8367" y="18279"/>
                      <a:pt x="8367" y="18279"/>
                    </a:cubicBezTo>
                    <a:cubicBezTo>
                      <a:pt x="8367" y="18279"/>
                      <a:pt x="10783" y="18540"/>
                      <a:pt x="13199" y="18540"/>
                    </a:cubicBezTo>
                    <a:cubicBezTo>
                      <a:pt x="14407" y="18540"/>
                      <a:pt x="15615" y="18475"/>
                      <a:pt x="16521" y="18279"/>
                    </a:cubicBezTo>
                    <a:cubicBezTo>
                      <a:pt x="19238" y="17693"/>
                      <a:pt x="18865" y="16148"/>
                      <a:pt x="18865" y="16148"/>
                    </a:cubicBezTo>
                    <a:lnTo>
                      <a:pt x="19052" y="11485"/>
                    </a:lnTo>
                    <a:cubicBezTo>
                      <a:pt x="19052" y="11485"/>
                      <a:pt x="19425" y="5436"/>
                      <a:pt x="18865" y="3118"/>
                    </a:cubicBezTo>
                    <a:cubicBezTo>
                      <a:pt x="18279" y="773"/>
                      <a:pt x="14975" y="187"/>
                      <a:pt x="14975" y="187"/>
                    </a:cubicBezTo>
                    <a:lnTo>
                      <a:pt x="73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181;p44">
                <a:extLst>
                  <a:ext uri="{FF2B5EF4-FFF2-40B4-BE49-F238E27FC236}">
                    <a16:creationId xmlns:a16="http://schemas.microsoft.com/office/drawing/2014/main" id="{D3C66D5C-F310-6810-D517-E4D440A19CE3}"/>
                  </a:ext>
                </a:extLst>
              </p:cNvPr>
              <p:cNvSpPr txBox="1"/>
              <p:nvPr/>
            </p:nvSpPr>
            <p:spPr>
              <a:xfrm>
                <a:off x="3353225" y="1858475"/>
                <a:ext cx="1107000" cy="340500"/>
              </a:xfrm>
              <a:prstGeom prst="rect">
                <a:avLst/>
              </a:prstGeom>
              <a:noFill/>
              <a:ln>
                <a:noFill/>
              </a:ln>
            </p:spPr>
            <p:txBody>
              <a:bodyPr spcFirstLastPara="1" wrap="square" lIns="91425" tIns="91425" rIns="91425" bIns="91425" anchor="ctr" anchorCtr="0">
                <a:noAutofit/>
              </a:bodyPr>
              <a:lstStyle/>
              <a:p>
                <a:pPr lvl="0"/>
                <a:r>
                  <a:rPr lang="es-CO" sz="2000" dirty="0" err="1">
                    <a:solidFill>
                      <a:srgbClr val="FFFFFF"/>
                    </a:solidFill>
                    <a:latin typeface="Fira Sans Extra Condensed Medium"/>
                    <a:ea typeface="Fira Sans Extra Condensed Medium"/>
                    <a:cs typeface="Fira Sans Extra Condensed Medium"/>
                    <a:sym typeface="Fira Sans Extra Condensed Medium"/>
                  </a:rPr>
                  <a:t>Av</a:t>
                </a:r>
                <a:r>
                  <a:rPr lang="es-CO" sz="2000" dirty="0">
                    <a:solidFill>
                      <a:srgbClr val="FFFFFF"/>
                    </a:solidFill>
                    <a:latin typeface="Fira Sans Extra Condensed Medium"/>
                    <a:ea typeface="Fira Sans Extra Condensed Medium"/>
                    <a:cs typeface="Fira Sans Extra Condensed Medium"/>
                    <a:sym typeface="Fira Sans Extra Condensed Medium"/>
                  </a:rPr>
                  <a:t>=40</a:t>
                </a:r>
              </a:p>
            </p:txBody>
          </p:sp>
          <p:grpSp>
            <p:nvGrpSpPr>
              <p:cNvPr id="43" name="Google Shape;2182;p44">
                <a:extLst>
                  <a:ext uri="{FF2B5EF4-FFF2-40B4-BE49-F238E27FC236}">
                    <a16:creationId xmlns:a16="http://schemas.microsoft.com/office/drawing/2014/main" id="{3431AB81-4144-B6E7-6959-B605BB21B3CD}"/>
                  </a:ext>
                </a:extLst>
              </p:cNvPr>
              <p:cNvGrpSpPr/>
              <p:nvPr/>
            </p:nvGrpSpPr>
            <p:grpSpPr>
              <a:xfrm>
                <a:off x="2976589" y="1615577"/>
                <a:ext cx="207665" cy="396291"/>
                <a:chOff x="32275" y="1645425"/>
                <a:chExt cx="265150" cy="505925"/>
              </a:xfrm>
            </p:grpSpPr>
            <p:sp>
              <p:nvSpPr>
                <p:cNvPr id="44" name="Google Shape;2183;p44">
                  <a:extLst>
                    <a:ext uri="{FF2B5EF4-FFF2-40B4-BE49-F238E27FC236}">
                      <a16:creationId xmlns:a16="http://schemas.microsoft.com/office/drawing/2014/main" id="{7FA55E4B-1413-DEC2-2170-98422F05B05D}"/>
                    </a:ext>
                  </a:extLst>
                </p:cNvPr>
                <p:cNvSpPr/>
                <p:nvPr/>
              </p:nvSpPr>
              <p:spPr>
                <a:xfrm>
                  <a:off x="122200" y="2009600"/>
                  <a:ext cx="158575" cy="134250"/>
                </a:xfrm>
                <a:custGeom>
                  <a:avLst/>
                  <a:gdLst/>
                  <a:ahLst/>
                  <a:cxnLst/>
                  <a:rect l="l" t="t" r="r" b="b"/>
                  <a:pathLst>
                    <a:path w="6343" h="5370" extrusionOk="0">
                      <a:moveTo>
                        <a:pt x="2882" y="1"/>
                      </a:moveTo>
                      <a:cubicBezTo>
                        <a:pt x="2773" y="1"/>
                        <a:pt x="2665" y="7"/>
                        <a:pt x="2558" y="21"/>
                      </a:cubicBezTo>
                      <a:cubicBezTo>
                        <a:pt x="1679" y="127"/>
                        <a:pt x="880" y="634"/>
                        <a:pt x="427" y="1406"/>
                      </a:cubicBezTo>
                      <a:cubicBezTo>
                        <a:pt x="0" y="2099"/>
                        <a:pt x="27" y="3005"/>
                        <a:pt x="533" y="3698"/>
                      </a:cubicBezTo>
                      <a:cubicBezTo>
                        <a:pt x="640" y="4257"/>
                        <a:pt x="986" y="4737"/>
                        <a:pt x="1493" y="5030"/>
                      </a:cubicBezTo>
                      <a:cubicBezTo>
                        <a:pt x="1866" y="5257"/>
                        <a:pt x="2285" y="5370"/>
                        <a:pt x="2705" y="5370"/>
                      </a:cubicBezTo>
                      <a:cubicBezTo>
                        <a:pt x="3125" y="5370"/>
                        <a:pt x="3544" y="5257"/>
                        <a:pt x="3917" y="5030"/>
                      </a:cubicBezTo>
                      <a:cubicBezTo>
                        <a:pt x="4370" y="4817"/>
                        <a:pt x="4770" y="4471"/>
                        <a:pt x="5037" y="4071"/>
                      </a:cubicBezTo>
                      <a:cubicBezTo>
                        <a:pt x="5649" y="3778"/>
                        <a:pt x="6102" y="3245"/>
                        <a:pt x="6236" y="2579"/>
                      </a:cubicBezTo>
                      <a:cubicBezTo>
                        <a:pt x="6342" y="1992"/>
                        <a:pt x="6156" y="1406"/>
                        <a:pt x="5783" y="953"/>
                      </a:cubicBezTo>
                      <a:cubicBezTo>
                        <a:pt x="5316" y="462"/>
                        <a:pt x="4690" y="174"/>
                        <a:pt x="4032" y="174"/>
                      </a:cubicBezTo>
                      <a:cubicBezTo>
                        <a:pt x="3976" y="174"/>
                        <a:pt x="3920" y="176"/>
                        <a:pt x="3864" y="181"/>
                      </a:cubicBezTo>
                      <a:cubicBezTo>
                        <a:pt x="3544" y="61"/>
                        <a:pt x="3210" y="1"/>
                        <a:pt x="28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184;p44">
                  <a:extLst>
                    <a:ext uri="{FF2B5EF4-FFF2-40B4-BE49-F238E27FC236}">
                      <a16:creationId xmlns:a16="http://schemas.microsoft.com/office/drawing/2014/main" id="{360B177D-0E4B-C1A3-E10E-5675D199C00A}"/>
                    </a:ext>
                  </a:extLst>
                </p:cNvPr>
                <p:cNvSpPr/>
                <p:nvPr/>
              </p:nvSpPr>
              <p:spPr>
                <a:xfrm>
                  <a:off x="44250" y="1645425"/>
                  <a:ext cx="244500" cy="316675"/>
                </a:xfrm>
                <a:custGeom>
                  <a:avLst/>
                  <a:gdLst/>
                  <a:ahLst/>
                  <a:cxnLst/>
                  <a:rect l="l" t="t" r="r" b="b"/>
                  <a:pathLst>
                    <a:path w="9780" h="12667" extrusionOk="0">
                      <a:moveTo>
                        <a:pt x="6326" y="1"/>
                      </a:moveTo>
                      <a:cubicBezTo>
                        <a:pt x="5326" y="1"/>
                        <a:pt x="4274" y="199"/>
                        <a:pt x="3332" y="199"/>
                      </a:cubicBezTo>
                      <a:cubicBezTo>
                        <a:pt x="2959" y="199"/>
                        <a:pt x="2612" y="279"/>
                        <a:pt x="2292" y="412"/>
                      </a:cubicBezTo>
                      <a:cubicBezTo>
                        <a:pt x="1360" y="545"/>
                        <a:pt x="427" y="1185"/>
                        <a:pt x="321" y="2037"/>
                      </a:cubicBezTo>
                      <a:cubicBezTo>
                        <a:pt x="1" y="4889"/>
                        <a:pt x="934" y="7313"/>
                        <a:pt x="2452" y="9552"/>
                      </a:cubicBezTo>
                      <a:cubicBezTo>
                        <a:pt x="2532" y="10058"/>
                        <a:pt x="2852" y="10458"/>
                        <a:pt x="3278" y="10697"/>
                      </a:cubicBezTo>
                      <a:cubicBezTo>
                        <a:pt x="3678" y="11204"/>
                        <a:pt x="4104" y="11737"/>
                        <a:pt x="4557" y="12243"/>
                      </a:cubicBezTo>
                      <a:cubicBezTo>
                        <a:pt x="4818" y="12539"/>
                        <a:pt x="5167" y="12666"/>
                        <a:pt x="5516" y="12666"/>
                      </a:cubicBezTo>
                      <a:cubicBezTo>
                        <a:pt x="6203" y="12666"/>
                        <a:pt x="6894" y="12177"/>
                        <a:pt x="6929" y="11523"/>
                      </a:cubicBezTo>
                      <a:cubicBezTo>
                        <a:pt x="7275" y="11337"/>
                        <a:pt x="7568" y="11044"/>
                        <a:pt x="7755" y="10671"/>
                      </a:cubicBezTo>
                      <a:cubicBezTo>
                        <a:pt x="8981" y="8299"/>
                        <a:pt x="9780" y="5555"/>
                        <a:pt x="9727" y="2943"/>
                      </a:cubicBezTo>
                      <a:cubicBezTo>
                        <a:pt x="9727" y="1771"/>
                        <a:pt x="9007" y="679"/>
                        <a:pt x="7915" y="252"/>
                      </a:cubicBezTo>
                      <a:cubicBezTo>
                        <a:pt x="7420" y="62"/>
                        <a:pt x="6881" y="1"/>
                        <a:pt x="6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185;p44">
                  <a:extLst>
                    <a:ext uri="{FF2B5EF4-FFF2-40B4-BE49-F238E27FC236}">
                      <a16:creationId xmlns:a16="http://schemas.microsoft.com/office/drawing/2014/main" id="{128F052D-A7AD-E21F-B4F6-923B76E35511}"/>
                    </a:ext>
                  </a:extLst>
                </p:cNvPr>
                <p:cNvSpPr/>
                <p:nvPr/>
              </p:nvSpPr>
              <p:spPr>
                <a:xfrm>
                  <a:off x="115550" y="2002425"/>
                  <a:ext cx="170550" cy="148925"/>
                </a:xfrm>
                <a:custGeom>
                  <a:avLst/>
                  <a:gdLst/>
                  <a:ahLst/>
                  <a:cxnLst/>
                  <a:rect l="l" t="t" r="r" b="b"/>
                  <a:pathLst>
                    <a:path w="6822" h="5957" extrusionOk="0">
                      <a:moveTo>
                        <a:pt x="3570" y="709"/>
                      </a:moveTo>
                      <a:cubicBezTo>
                        <a:pt x="3894" y="709"/>
                        <a:pt x="4214" y="759"/>
                        <a:pt x="4530" y="894"/>
                      </a:cubicBezTo>
                      <a:cubicBezTo>
                        <a:pt x="5169" y="1134"/>
                        <a:pt x="5622" y="1720"/>
                        <a:pt x="5676" y="2413"/>
                      </a:cubicBezTo>
                      <a:cubicBezTo>
                        <a:pt x="5782" y="3079"/>
                        <a:pt x="5756" y="3745"/>
                        <a:pt x="5249" y="4305"/>
                      </a:cubicBezTo>
                      <a:cubicBezTo>
                        <a:pt x="4796" y="4758"/>
                        <a:pt x="4183" y="5051"/>
                        <a:pt x="3517" y="5131"/>
                      </a:cubicBezTo>
                      <a:cubicBezTo>
                        <a:pt x="3429" y="5140"/>
                        <a:pt x="3342" y="5144"/>
                        <a:pt x="3255" y="5144"/>
                      </a:cubicBezTo>
                      <a:cubicBezTo>
                        <a:pt x="2058" y="5144"/>
                        <a:pt x="1032" y="4307"/>
                        <a:pt x="933" y="3239"/>
                      </a:cubicBezTo>
                      <a:cubicBezTo>
                        <a:pt x="807" y="2160"/>
                        <a:pt x="1721" y="798"/>
                        <a:pt x="3051" y="798"/>
                      </a:cubicBezTo>
                      <a:cubicBezTo>
                        <a:pt x="3134" y="798"/>
                        <a:pt x="3218" y="803"/>
                        <a:pt x="3304" y="814"/>
                      </a:cubicBezTo>
                      <a:cubicBezTo>
                        <a:pt x="3313" y="815"/>
                        <a:pt x="3322" y="815"/>
                        <a:pt x="3331" y="815"/>
                      </a:cubicBezTo>
                      <a:cubicBezTo>
                        <a:pt x="3421" y="815"/>
                        <a:pt x="3496" y="770"/>
                        <a:pt x="3544" y="709"/>
                      </a:cubicBezTo>
                      <a:lnTo>
                        <a:pt x="3544" y="709"/>
                      </a:lnTo>
                      <a:cubicBezTo>
                        <a:pt x="3553" y="709"/>
                        <a:pt x="3561" y="709"/>
                        <a:pt x="3570" y="709"/>
                      </a:cubicBezTo>
                      <a:close/>
                      <a:moveTo>
                        <a:pt x="3607" y="1"/>
                      </a:moveTo>
                      <a:cubicBezTo>
                        <a:pt x="3070" y="1"/>
                        <a:pt x="2526" y="86"/>
                        <a:pt x="2025" y="228"/>
                      </a:cubicBezTo>
                      <a:cubicBezTo>
                        <a:pt x="1894" y="269"/>
                        <a:pt x="1820" y="358"/>
                        <a:pt x="1795" y="459"/>
                      </a:cubicBezTo>
                      <a:lnTo>
                        <a:pt x="1795" y="459"/>
                      </a:lnTo>
                      <a:cubicBezTo>
                        <a:pt x="801" y="839"/>
                        <a:pt x="71" y="1781"/>
                        <a:pt x="53" y="2946"/>
                      </a:cubicBezTo>
                      <a:cubicBezTo>
                        <a:pt x="0" y="4624"/>
                        <a:pt x="1545" y="5957"/>
                        <a:pt x="3411" y="5957"/>
                      </a:cubicBezTo>
                      <a:cubicBezTo>
                        <a:pt x="4370" y="5957"/>
                        <a:pt x="5276" y="5557"/>
                        <a:pt x="5942" y="4891"/>
                      </a:cubicBezTo>
                      <a:cubicBezTo>
                        <a:pt x="6582" y="4198"/>
                        <a:pt x="6821" y="3265"/>
                        <a:pt x="6608" y="2386"/>
                      </a:cubicBezTo>
                      <a:cubicBezTo>
                        <a:pt x="6475" y="1533"/>
                        <a:pt x="6129" y="761"/>
                        <a:pt x="5249" y="334"/>
                      </a:cubicBezTo>
                      <a:cubicBezTo>
                        <a:pt x="4752" y="100"/>
                        <a:pt x="4184" y="1"/>
                        <a:pt x="36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186;p44">
                  <a:extLst>
                    <a:ext uri="{FF2B5EF4-FFF2-40B4-BE49-F238E27FC236}">
                      <a16:creationId xmlns:a16="http://schemas.microsoft.com/office/drawing/2014/main" id="{80499C2B-CDF2-5135-A6B8-0A02B3C67651}"/>
                    </a:ext>
                  </a:extLst>
                </p:cNvPr>
                <p:cNvSpPr/>
                <p:nvPr/>
              </p:nvSpPr>
              <p:spPr>
                <a:xfrm>
                  <a:off x="32275" y="1648800"/>
                  <a:ext cx="265150" cy="328825"/>
                </a:xfrm>
                <a:custGeom>
                  <a:avLst/>
                  <a:gdLst/>
                  <a:ahLst/>
                  <a:cxnLst/>
                  <a:rect l="l" t="t" r="r" b="b"/>
                  <a:pathLst>
                    <a:path w="10606" h="13153" extrusionOk="0">
                      <a:moveTo>
                        <a:pt x="7410" y="830"/>
                      </a:moveTo>
                      <a:cubicBezTo>
                        <a:pt x="7613" y="830"/>
                        <a:pt x="7816" y="832"/>
                        <a:pt x="8021" y="837"/>
                      </a:cubicBezTo>
                      <a:cubicBezTo>
                        <a:pt x="8138" y="837"/>
                        <a:pt x="8259" y="834"/>
                        <a:pt x="8379" y="834"/>
                      </a:cubicBezTo>
                      <a:cubicBezTo>
                        <a:pt x="8937" y="834"/>
                        <a:pt x="9469" y="888"/>
                        <a:pt x="9513" y="1503"/>
                      </a:cubicBezTo>
                      <a:cubicBezTo>
                        <a:pt x="9540" y="2062"/>
                        <a:pt x="9513" y="2649"/>
                        <a:pt x="9406" y="3208"/>
                      </a:cubicBezTo>
                      <a:cubicBezTo>
                        <a:pt x="9060" y="5260"/>
                        <a:pt x="8607" y="7285"/>
                        <a:pt x="8021" y="9283"/>
                      </a:cubicBezTo>
                      <a:cubicBezTo>
                        <a:pt x="7808" y="10163"/>
                        <a:pt x="7541" y="11495"/>
                        <a:pt x="6688" y="12108"/>
                      </a:cubicBezTo>
                      <a:cubicBezTo>
                        <a:pt x="6566" y="12199"/>
                        <a:pt x="6436" y="12239"/>
                        <a:pt x="6302" y="12239"/>
                      </a:cubicBezTo>
                      <a:cubicBezTo>
                        <a:pt x="5539" y="12239"/>
                        <a:pt x="4665" y="10932"/>
                        <a:pt x="4370" y="10456"/>
                      </a:cubicBezTo>
                      <a:cubicBezTo>
                        <a:pt x="3757" y="9443"/>
                        <a:pt x="3198" y="8404"/>
                        <a:pt x="2745" y="7312"/>
                      </a:cubicBezTo>
                      <a:cubicBezTo>
                        <a:pt x="2258" y="6209"/>
                        <a:pt x="1795" y="5081"/>
                        <a:pt x="1405" y="3953"/>
                      </a:cubicBezTo>
                      <a:lnTo>
                        <a:pt x="1405" y="3953"/>
                      </a:lnTo>
                      <a:cubicBezTo>
                        <a:pt x="1369" y="3760"/>
                        <a:pt x="1336" y="3566"/>
                        <a:pt x="1306" y="3368"/>
                      </a:cubicBezTo>
                      <a:cubicBezTo>
                        <a:pt x="1146" y="2888"/>
                        <a:pt x="1066" y="2382"/>
                        <a:pt x="1039" y="1902"/>
                      </a:cubicBezTo>
                      <a:cubicBezTo>
                        <a:pt x="1093" y="1370"/>
                        <a:pt x="2025" y="1343"/>
                        <a:pt x="2505" y="1263"/>
                      </a:cubicBezTo>
                      <a:cubicBezTo>
                        <a:pt x="3118" y="1156"/>
                        <a:pt x="3731" y="1050"/>
                        <a:pt x="4370" y="997"/>
                      </a:cubicBezTo>
                      <a:cubicBezTo>
                        <a:pt x="5392" y="886"/>
                        <a:pt x="6395" y="830"/>
                        <a:pt x="7410" y="830"/>
                      </a:cubicBezTo>
                      <a:close/>
                      <a:moveTo>
                        <a:pt x="7029" y="0"/>
                      </a:moveTo>
                      <a:cubicBezTo>
                        <a:pt x="6241" y="0"/>
                        <a:pt x="5452" y="47"/>
                        <a:pt x="4663" y="144"/>
                      </a:cubicBezTo>
                      <a:cubicBezTo>
                        <a:pt x="3731" y="224"/>
                        <a:pt x="2825" y="357"/>
                        <a:pt x="1892" y="544"/>
                      </a:cubicBezTo>
                      <a:cubicBezTo>
                        <a:pt x="1386" y="650"/>
                        <a:pt x="666" y="703"/>
                        <a:pt x="320" y="1156"/>
                      </a:cubicBezTo>
                      <a:cubicBezTo>
                        <a:pt x="0" y="1583"/>
                        <a:pt x="187" y="2302"/>
                        <a:pt x="293" y="2808"/>
                      </a:cubicBezTo>
                      <a:cubicBezTo>
                        <a:pt x="453" y="3581"/>
                        <a:pt x="613" y="4354"/>
                        <a:pt x="826" y="5127"/>
                      </a:cubicBezTo>
                      <a:cubicBezTo>
                        <a:pt x="867" y="5269"/>
                        <a:pt x="997" y="5330"/>
                        <a:pt x="1139" y="5330"/>
                      </a:cubicBezTo>
                      <a:cubicBezTo>
                        <a:pt x="1152" y="5330"/>
                        <a:pt x="1165" y="5329"/>
                        <a:pt x="1177" y="5329"/>
                      </a:cubicBezTo>
                      <a:lnTo>
                        <a:pt x="1177" y="5329"/>
                      </a:lnTo>
                      <a:cubicBezTo>
                        <a:pt x="1729" y="7466"/>
                        <a:pt x="2526" y="9594"/>
                        <a:pt x="3864" y="11415"/>
                      </a:cubicBezTo>
                      <a:cubicBezTo>
                        <a:pt x="4373" y="12118"/>
                        <a:pt x="5191" y="13152"/>
                        <a:pt x="6258" y="13152"/>
                      </a:cubicBezTo>
                      <a:cubicBezTo>
                        <a:pt x="6363" y="13152"/>
                        <a:pt x="6471" y="13142"/>
                        <a:pt x="6582" y="13120"/>
                      </a:cubicBezTo>
                      <a:cubicBezTo>
                        <a:pt x="7808" y="12854"/>
                        <a:pt x="8261" y="11442"/>
                        <a:pt x="8580" y="10536"/>
                      </a:cubicBezTo>
                      <a:cubicBezTo>
                        <a:pt x="9007" y="9283"/>
                        <a:pt x="9246" y="7978"/>
                        <a:pt x="9593" y="6699"/>
                      </a:cubicBezTo>
                      <a:cubicBezTo>
                        <a:pt x="9966" y="5340"/>
                        <a:pt x="10232" y="3981"/>
                        <a:pt x="10392" y="2595"/>
                      </a:cubicBezTo>
                      <a:cubicBezTo>
                        <a:pt x="10472" y="1609"/>
                        <a:pt x="10605" y="304"/>
                        <a:pt x="9220" y="117"/>
                      </a:cubicBezTo>
                      <a:cubicBezTo>
                        <a:pt x="8490" y="40"/>
                        <a:pt x="7759" y="0"/>
                        <a:pt x="7029" y="0"/>
                      </a:cubicBez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 name="Google Shape;2187;p44">
              <a:extLst>
                <a:ext uri="{FF2B5EF4-FFF2-40B4-BE49-F238E27FC236}">
                  <a16:creationId xmlns:a16="http://schemas.microsoft.com/office/drawing/2014/main" id="{B2AA5051-F166-0E92-F1A4-584EC909CCF8}"/>
                </a:ext>
              </a:extLst>
            </p:cNvPr>
            <p:cNvSpPr/>
            <p:nvPr/>
          </p:nvSpPr>
          <p:spPr>
            <a:xfrm rot="10800000">
              <a:off x="3481413" y="2259359"/>
              <a:ext cx="123432" cy="436774"/>
            </a:xfrm>
            <a:custGeom>
              <a:avLst/>
              <a:gdLst/>
              <a:ahLst/>
              <a:cxnLst/>
              <a:rect l="l" t="t" r="r" b="b"/>
              <a:pathLst>
                <a:path w="5403" h="19119" extrusionOk="0">
                  <a:moveTo>
                    <a:pt x="2235" y="1"/>
                  </a:moveTo>
                  <a:cubicBezTo>
                    <a:pt x="2111" y="1"/>
                    <a:pt x="1991" y="81"/>
                    <a:pt x="1975" y="241"/>
                  </a:cubicBezTo>
                  <a:cubicBezTo>
                    <a:pt x="1751" y="273"/>
                    <a:pt x="1559" y="401"/>
                    <a:pt x="1495" y="593"/>
                  </a:cubicBezTo>
                  <a:cubicBezTo>
                    <a:pt x="1111" y="1681"/>
                    <a:pt x="663" y="2737"/>
                    <a:pt x="119" y="3729"/>
                  </a:cubicBezTo>
                  <a:cubicBezTo>
                    <a:pt x="0" y="3966"/>
                    <a:pt x="197" y="4220"/>
                    <a:pt x="398" y="4220"/>
                  </a:cubicBezTo>
                  <a:cubicBezTo>
                    <a:pt x="469" y="4220"/>
                    <a:pt x="540" y="4188"/>
                    <a:pt x="599" y="4113"/>
                  </a:cubicBezTo>
                  <a:cubicBezTo>
                    <a:pt x="1079" y="3505"/>
                    <a:pt x="1527" y="2833"/>
                    <a:pt x="1879" y="2129"/>
                  </a:cubicBezTo>
                  <a:lnTo>
                    <a:pt x="1879" y="2129"/>
                  </a:lnTo>
                  <a:cubicBezTo>
                    <a:pt x="1783" y="5234"/>
                    <a:pt x="1879" y="8370"/>
                    <a:pt x="1879" y="11475"/>
                  </a:cubicBezTo>
                  <a:cubicBezTo>
                    <a:pt x="1879" y="13747"/>
                    <a:pt x="1239" y="17076"/>
                    <a:pt x="2775" y="18996"/>
                  </a:cubicBezTo>
                  <a:cubicBezTo>
                    <a:pt x="2846" y="19082"/>
                    <a:pt x="2936" y="19119"/>
                    <a:pt x="3027" y="19119"/>
                  </a:cubicBezTo>
                  <a:cubicBezTo>
                    <a:pt x="3309" y="19119"/>
                    <a:pt x="3609" y="18774"/>
                    <a:pt x="3415" y="18484"/>
                  </a:cubicBezTo>
                  <a:cubicBezTo>
                    <a:pt x="2583" y="17172"/>
                    <a:pt x="2743" y="15636"/>
                    <a:pt x="2743" y="14163"/>
                  </a:cubicBezTo>
                  <a:lnTo>
                    <a:pt x="2711" y="9522"/>
                  </a:lnTo>
                  <a:cubicBezTo>
                    <a:pt x="2711" y="7186"/>
                    <a:pt x="2711" y="4850"/>
                    <a:pt x="2615" y="2481"/>
                  </a:cubicBezTo>
                  <a:lnTo>
                    <a:pt x="2615" y="2481"/>
                  </a:lnTo>
                  <a:cubicBezTo>
                    <a:pt x="3159" y="3153"/>
                    <a:pt x="3799" y="3729"/>
                    <a:pt x="4472" y="4241"/>
                  </a:cubicBezTo>
                  <a:cubicBezTo>
                    <a:pt x="4564" y="4317"/>
                    <a:pt x="4657" y="4349"/>
                    <a:pt x="4744" y="4349"/>
                  </a:cubicBezTo>
                  <a:cubicBezTo>
                    <a:pt x="5136" y="4349"/>
                    <a:pt x="5403" y="3692"/>
                    <a:pt x="4984" y="3377"/>
                  </a:cubicBezTo>
                  <a:cubicBezTo>
                    <a:pt x="3991" y="2641"/>
                    <a:pt x="3191" y="1713"/>
                    <a:pt x="2519" y="689"/>
                  </a:cubicBezTo>
                  <a:cubicBezTo>
                    <a:pt x="2519" y="529"/>
                    <a:pt x="2519" y="401"/>
                    <a:pt x="2519" y="241"/>
                  </a:cubicBezTo>
                  <a:cubicBezTo>
                    <a:pt x="2487" y="81"/>
                    <a:pt x="2359" y="1"/>
                    <a:pt x="2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2188;p44">
            <a:extLst>
              <a:ext uri="{FF2B5EF4-FFF2-40B4-BE49-F238E27FC236}">
                <a16:creationId xmlns:a16="http://schemas.microsoft.com/office/drawing/2014/main" id="{2668CF21-6895-251A-EC2D-B4114523B81F}"/>
              </a:ext>
            </a:extLst>
          </p:cNvPr>
          <p:cNvGrpSpPr/>
          <p:nvPr/>
        </p:nvGrpSpPr>
        <p:grpSpPr>
          <a:xfrm>
            <a:off x="5472098" y="2745478"/>
            <a:ext cx="1832857" cy="1193083"/>
            <a:chOff x="4684523" y="1503049"/>
            <a:chExt cx="1832857" cy="1193083"/>
          </a:xfrm>
        </p:grpSpPr>
        <p:grpSp>
          <p:nvGrpSpPr>
            <p:cNvPr id="49" name="Google Shape;2189;p44">
              <a:extLst>
                <a:ext uri="{FF2B5EF4-FFF2-40B4-BE49-F238E27FC236}">
                  <a16:creationId xmlns:a16="http://schemas.microsoft.com/office/drawing/2014/main" id="{DF6C005F-323C-D341-8FCD-4D7708397FCF}"/>
                </a:ext>
              </a:extLst>
            </p:cNvPr>
            <p:cNvGrpSpPr/>
            <p:nvPr/>
          </p:nvGrpSpPr>
          <p:grpSpPr>
            <a:xfrm>
              <a:off x="4684523" y="1503049"/>
              <a:ext cx="1832857" cy="645515"/>
              <a:chOff x="4684523" y="1615577"/>
              <a:chExt cx="1832857" cy="645515"/>
            </a:xfrm>
          </p:grpSpPr>
          <p:grpSp>
            <p:nvGrpSpPr>
              <p:cNvPr id="51" name="Google Shape;2190;p44">
                <a:extLst>
                  <a:ext uri="{FF2B5EF4-FFF2-40B4-BE49-F238E27FC236}">
                    <a16:creationId xmlns:a16="http://schemas.microsoft.com/office/drawing/2014/main" id="{7AE1CF9C-481A-A85E-0A27-A8FBD6AC393E}"/>
                  </a:ext>
                </a:extLst>
              </p:cNvPr>
              <p:cNvGrpSpPr/>
              <p:nvPr/>
            </p:nvGrpSpPr>
            <p:grpSpPr>
              <a:xfrm>
                <a:off x="4684523" y="1683664"/>
                <a:ext cx="1832857" cy="577429"/>
                <a:chOff x="279303" y="1043688"/>
                <a:chExt cx="1990073" cy="577429"/>
              </a:xfrm>
            </p:grpSpPr>
            <p:sp>
              <p:nvSpPr>
                <p:cNvPr id="58" name="Google Shape;2191;p44">
                  <a:extLst>
                    <a:ext uri="{FF2B5EF4-FFF2-40B4-BE49-F238E27FC236}">
                      <a16:creationId xmlns:a16="http://schemas.microsoft.com/office/drawing/2014/main" id="{09BD1C1E-53B4-9979-8703-368A82533D39}"/>
                    </a:ext>
                  </a:extLst>
                </p:cNvPr>
                <p:cNvSpPr/>
                <p:nvPr/>
              </p:nvSpPr>
              <p:spPr>
                <a:xfrm>
                  <a:off x="279303" y="1157661"/>
                  <a:ext cx="1990073" cy="463455"/>
                </a:xfrm>
                <a:custGeom>
                  <a:avLst/>
                  <a:gdLst/>
                  <a:ahLst/>
                  <a:cxnLst/>
                  <a:rect l="l" t="t" r="r" b="b"/>
                  <a:pathLst>
                    <a:path w="43914" h="76101" extrusionOk="0">
                      <a:moveTo>
                        <a:pt x="374" y="0"/>
                      </a:moveTo>
                      <a:cubicBezTo>
                        <a:pt x="374" y="0"/>
                        <a:pt x="374" y="27339"/>
                        <a:pt x="187" y="39063"/>
                      </a:cubicBezTo>
                      <a:cubicBezTo>
                        <a:pt x="1" y="50787"/>
                        <a:pt x="2239" y="75914"/>
                        <a:pt x="2239" y="75914"/>
                      </a:cubicBezTo>
                      <a:lnTo>
                        <a:pt x="6502" y="76101"/>
                      </a:lnTo>
                      <a:lnTo>
                        <a:pt x="43913" y="75728"/>
                      </a:lnTo>
                      <a:lnTo>
                        <a:pt x="43540" y="62698"/>
                      </a:lnTo>
                      <a:lnTo>
                        <a:pt x="424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192;p44">
                  <a:extLst>
                    <a:ext uri="{FF2B5EF4-FFF2-40B4-BE49-F238E27FC236}">
                      <a16:creationId xmlns:a16="http://schemas.microsoft.com/office/drawing/2014/main" id="{2460F6E1-A684-B99E-B864-F6C4FBCF961D}"/>
                    </a:ext>
                  </a:extLst>
                </p:cNvPr>
                <p:cNvSpPr/>
                <p:nvPr/>
              </p:nvSpPr>
              <p:spPr>
                <a:xfrm>
                  <a:off x="396575" y="1043688"/>
                  <a:ext cx="641753" cy="463500"/>
                </a:xfrm>
                <a:custGeom>
                  <a:avLst/>
                  <a:gdLst/>
                  <a:ahLst/>
                  <a:cxnLst/>
                  <a:rect l="l" t="t" r="r" b="b"/>
                  <a:pathLst>
                    <a:path w="19425" h="18540" extrusionOk="0">
                      <a:moveTo>
                        <a:pt x="7381" y="0"/>
                      </a:moveTo>
                      <a:cubicBezTo>
                        <a:pt x="7381" y="0"/>
                        <a:pt x="4663" y="187"/>
                        <a:pt x="2532" y="400"/>
                      </a:cubicBezTo>
                      <a:cubicBezTo>
                        <a:pt x="400" y="587"/>
                        <a:pt x="0" y="4663"/>
                        <a:pt x="0" y="4663"/>
                      </a:cubicBezTo>
                      <a:lnTo>
                        <a:pt x="4477" y="5063"/>
                      </a:lnTo>
                      <a:cubicBezTo>
                        <a:pt x="4477" y="5063"/>
                        <a:pt x="5436" y="10499"/>
                        <a:pt x="4850" y="14576"/>
                      </a:cubicBezTo>
                      <a:cubicBezTo>
                        <a:pt x="4359" y="18010"/>
                        <a:pt x="7154" y="18290"/>
                        <a:pt x="8078" y="18290"/>
                      </a:cubicBezTo>
                      <a:cubicBezTo>
                        <a:pt x="8258" y="18290"/>
                        <a:pt x="8367" y="18279"/>
                        <a:pt x="8367" y="18279"/>
                      </a:cubicBezTo>
                      <a:cubicBezTo>
                        <a:pt x="8367" y="18279"/>
                        <a:pt x="10783" y="18540"/>
                        <a:pt x="13199" y="18540"/>
                      </a:cubicBezTo>
                      <a:cubicBezTo>
                        <a:pt x="14407" y="18540"/>
                        <a:pt x="15615" y="18475"/>
                        <a:pt x="16521" y="18279"/>
                      </a:cubicBezTo>
                      <a:cubicBezTo>
                        <a:pt x="19238" y="17693"/>
                        <a:pt x="18865" y="16148"/>
                        <a:pt x="18865" y="16148"/>
                      </a:cubicBezTo>
                      <a:lnTo>
                        <a:pt x="19052" y="11485"/>
                      </a:lnTo>
                      <a:cubicBezTo>
                        <a:pt x="19052" y="11485"/>
                        <a:pt x="19425" y="5436"/>
                        <a:pt x="18865" y="3118"/>
                      </a:cubicBezTo>
                      <a:cubicBezTo>
                        <a:pt x="18279" y="773"/>
                        <a:pt x="14975" y="187"/>
                        <a:pt x="14975" y="187"/>
                      </a:cubicBezTo>
                      <a:lnTo>
                        <a:pt x="73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2193;p44">
                <a:extLst>
                  <a:ext uri="{FF2B5EF4-FFF2-40B4-BE49-F238E27FC236}">
                    <a16:creationId xmlns:a16="http://schemas.microsoft.com/office/drawing/2014/main" id="{4EAB50AA-5E18-7D22-758C-53DB0C04DAEA}"/>
                  </a:ext>
                </a:extLst>
              </p:cNvPr>
              <p:cNvSpPr txBox="1"/>
              <p:nvPr/>
            </p:nvSpPr>
            <p:spPr>
              <a:xfrm>
                <a:off x="5410375" y="1858475"/>
                <a:ext cx="1107000" cy="340500"/>
              </a:xfrm>
              <a:prstGeom prst="rect">
                <a:avLst/>
              </a:prstGeom>
              <a:noFill/>
              <a:ln>
                <a:noFill/>
              </a:ln>
            </p:spPr>
            <p:txBody>
              <a:bodyPr spcFirstLastPara="1" wrap="square" lIns="91425" tIns="91425" rIns="91425" bIns="91425" anchor="ctr" anchorCtr="0">
                <a:noAutofit/>
              </a:bodyPr>
              <a:lstStyle/>
              <a:p>
                <a:pPr lvl="0"/>
                <a:r>
                  <a:rPr lang="es-CO" sz="2000" dirty="0" err="1">
                    <a:solidFill>
                      <a:srgbClr val="FFFFFF"/>
                    </a:solidFill>
                    <a:latin typeface="Fira Sans Extra Condensed Medium"/>
                    <a:ea typeface="Fira Sans Extra Condensed Medium"/>
                    <a:cs typeface="Fira Sans Extra Condensed Medium"/>
                    <a:sym typeface="Fira Sans Extra Condensed Medium"/>
                  </a:rPr>
                  <a:t>Av</a:t>
                </a:r>
                <a:r>
                  <a:rPr lang="es-CO" sz="2000" dirty="0">
                    <a:solidFill>
                      <a:srgbClr val="FFFFFF"/>
                    </a:solidFill>
                    <a:latin typeface="Fira Sans Extra Condensed Medium"/>
                    <a:ea typeface="Fira Sans Extra Condensed Medium"/>
                    <a:cs typeface="Fira Sans Extra Condensed Medium"/>
                    <a:sym typeface="Fira Sans Extra Condensed Medium"/>
                  </a:rPr>
                  <a:t>=25</a:t>
                </a:r>
              </a:p>
            </p:txBody>
          </p:sp>
          <p:grpSp>
            <p:nvGrpSpPr>
              <p:cNvPr id="53" name="Google Shape;2194;p44">
                <a:extLst>
                  <a:ext uri="{FF2B5EF4-FFF2-40B4-BE49-F238E27FC236}">
                    <a16:creationId xmlns:a16="http://schemas.microsoft.com/office/drawing/2014/main" id="{6C5D2EE8-12E3-0CBF-CF25-35F393B2857C}"/>
                  </a:ext>
                </a:extLst>
              </p:cNvPr>
              <p:cNvGrpSpPr/>
              <p:nvPr/>
            </p:nvGrpSpPr>
            <p:grpSpPr>
              <a:xfrm>
                <a:off x="5033744" y="1615577"/>
                <a:ext cx="207665" cy="396291"/>
                <a:chOff x="32275" y="1645425"/>
                <a:chExt cx="265150" cy="505925"/>
              </a:xfrm>
            </p:grpSpPr>
            <p:sp>
              <p:nvSpPr>
                <p:cNvPr id="54" name="Google Shape;2195;p44">
                  <a:extLst>
                    <a:ext uri="{FF2B5EF4-FFF2-40B4-BE49-F238E27FC236}">
                      <a16:creationId xmlns:a16="http://schemas.microsoft.com/office/drawing/2014/main" id="{38E7E56D-A6FA-EF31-BF69-B97BC4AC00EE}"/>
                    </a:ext>
                  </a:extLst>
                </p:cNvPr>
                <p:cNvSpPr/>
                <p:nvPr/>
              </p:nvSpPr>
              <p:spPr>
                <a:xfrm>
                  <a:off x="122200" y="2009600"/>
                  <a:ext cx="158575" cy="134250"/>
                </a:xfrm>
                <a:custGeom>
                  <a:avLst/>
                  <a:gdLst/>
                  <a:ahLst/>
                  <a:cxnLst/>
                  <a:rect l="l" t="t" r="r" b="b"/>
                  <a:pathLst>
                    <a:path w="6343" h="5370" extrusionOk="0">
                      <a:moveTo>
                        <a:pt x="2882" y="1"/>
                      </a:moveTo>
                      <a:cubicBezTo>
                        <a:pt x="2773" y="1"/>
                        <a:pt x="2665" y="7"/>
                        <a:pt x="2558" y="21"/>
                      </a:cubicBezTo>
                      <a:cubicBezTo>
                        <a:pt x="1679" y="127"/>
                        <a:pt x="880" y="634"/>
                        <a:pt x="427" y="1406"/>
                      </a:cubicBezTo>
                      <a:cubicBezTo>
                        <a:pt x="0" y="2099"/>
                        <a:pt x="27" y="3005"/>
                        <a:pt x="533" y="3698"/>
                      </a:cubicBezTo>
                      <a:cubicBezTo>
                        <a:pt x="640" y="4257"/>
                        <a:pt x="986" y="4737"/>
                        <a:pt x="1493" y="5030"/>
                      </a:cubicBezTo>
                      <a:cubicBezTo>
                        <a:pt x="1866" y="5257"/>
                        <a:pt x="2285" y="5370"/>
                        <a:pt x="2705" y="5370"/>
                      </a:cubicBezTo>
                      <a:cubicBezTo>
                        <a:pt x="3125" y="5370"/>
                        <a:pt x="3544" y="5257"/>
                        <a:pt x="3917" y="5030"/>
                      </a:cubicBezTo>
                      <a:cubicBezTo>
                        <a:pt x="4370" y="4817"/>
                        <a:pt x="4770" y="4471"/>
                        <a:pt x="5037" y="4071"/>
                      </a:cubicBezTo>
                      <a:cubicBezTo>
                        <a:pt x="5649" y="3778"/>
                        <a:pt x="6102" y="3245"/>
                        <a:pt x="6236" y="2579"/>
                      </a:cubicBezTo>
                      <a:cubicBezTo>
                        <a:pt x="6342" y="1992"/>
                        <a:pt x="6156" y="1406"/>
                        <a:pt x="5783" y="953"/>
                      </a:cubicBezTo>
                      <a:cubicBezTo>
                        <a:pt x="5316" y="462"/>
                        <a:pt x="4690" y="174"/>
                        <a:pt x="4032" y="174"/>
                      </a:cubicBezTo>
                      <a:cubicBezTo>
                        <a:pt x="3976" y="174"/>
                        <a:pt x="3920" y="176"/>
                        <a:pt x="3864" y="181"/>
                      </a:cubicBezTo>
                      <a:cubicBezTo>
                        <a:pt x="3544" y="61"/>
                        <a:pt x="3210" y="1"/>
                        <a:pt x="28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196;p44">
                  <a:extLst>
                    <a:ext uri="{FF2B5EF4-FFF2-40B4-BE49-F238E27FC236}">
                      <a16:creationId xmlns:a16="http://schemas.microsoft.com/office/drawing/2014/main" id="{FD92CF72-0B49-2E62-531A-6B6322D8B778}"/>
                    </a:ext>
                  </a:extLst>
                </p:cNvPr>
                <p:cNvSpPr/>
                <p:nvPr/>
              </p:nvSpPr>
              <p:spPr>
                <a:xfrm>
                  <a:off x="44250" y="1645425"/>
                  <a:ext cx="244500" cy="316675"/>
                </a:xfrm>
                <a:custGeom>
                  <a:avLst/>
                  <a:gdLst/>
                  <a:ahLst/>
                  <a:cxnLst/>
                  <a:rect l="l" t="t" r="r" b="b"/>
                  <a:pathLst>
                    <a:path w="9780" h="12667" extrusionOk="0">
                      <a:moveTo>
                        <a:pt x="6326" y="1"/>
                      </a:moveTo>
                      <a:cubicBezTo>
                        <a:pt x="5326" y="1"/>
                        <a:pt x="4274" y="199"/>
                        <a:pt x="3332" y="199"/>
                      </a:cubicBezTo>
                      <a:cubicBezTo>
                        <a:pt x="2959" y="199"/>
                        <a:pt x="2612" y="279"/>
                        <a:pt x="2292" y="412"/>
                      </a:cubicBezTo>
                      <a:cubicBezTo>
                        <a:pt x="1360" y="545"/>
                        <a:pt x="427" y="1185"/>
                        <a:pt x="321" y="2037"/>
                      </a:cubicBezTo>
                      <a:cubicBezTo>
                        <a:pt x="1" y="4889"/>
                        <a:pt x="934" y="7313"/>
                        <a:pt x="2452" y="9552"/>
                      </a:cubicBezTo>
                      <a:cubicBezTo>
                        <a:pt x="2532" y="10058"/>
                        <a:pt x="2852" y="10458"/>
                        <a:pt x="3278" y="10697"/>
                      </a:cubicBezTo>
                      <a:cubicBezTo>
                        <a:pt x="3678" y="11204"/>
                        <a:pt x="4104" y="11737"/>
                        <a:pt x="4557" y="12243"/>
                      </a:cubicBezTo>
                      <a:cubicBezTo>
                        <a:pt x="4818" y="12539"/>
                        <a:pt x="5167" y="12666"/>
                        <a:pt x="5516" y="12666"/>
                      </a:cubicBezTo>
                      <a:cubicBezTo>
                        <a:pt x="6203" y="12666"/>
                        <a:pt x="6894" y="12177"/>
                        <a:pt x="6929" y="11523"/>
                      </a:cubicBezTo>
                      <a:cubicBezTo>
                        <a:pt x="7275" y="11337"/>
                        <a:pt x="7568" y="11044"/>
                        <a:pt x="7755" y="10671"/>
                      </a:cubicBezTo>
                      <a:cubicBezTo>
                        <a:pt x="8981" y="8299"/>
                        <a:pt x="9780" y="5555"/>
                        <a:pt x="9727" y="2943"/>
                      </a:cubicBezTo>
                      <a:cubicBezTo>
                        <a:pt x="9727" y="1771"/>
                        <a:pt x="9007" y="679"/>
                        <a:pt x="7915" y="252"/>
                      </a:cubicBezTo>
                      <a:cubicBezTo>
                        <a:pt x="7420" y="62"/>
                        <a:pt x="6881" y="1"/>
                        <a:pt x="63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197;p44">
                  <a:extLst>
                    <a:ext uri="{FF2B5EF4-FFF2-40B4-BE49-F238E27FC236}">
                      <a16:creationId xmlns:a16="http://schemas.microsoft.com/office/drawing/2014/main" id="{F935D7C1-53C4-5D7F-3A50-C2FF402046C2}"/>
                    </a:ext>
                  </a:extLst>
                </p:cNvPr>
                <p:cNvSpPr/>
                <p:nvPr/>
              </p:nvSpPr>
              <p:spPr>
                <a:xfrm>
                  <a:off x="115550" y="2002425"/>
                  <a:ext cx="170550" cy="148925"/>
                </a:xfrm>
                <a:custGeom>
                  <a:avLst/>
                  <a:gdLst/>
                  <a:ahLst/>
                  <a:cxnLst/>
                  <a:rect l="l" t="t" r="r" b="b"/>
                  <a:pathLst>
                    <a:path w="6822" h="5957" extrusionOk="0">
                      <a:moveTo>
                        <a:pt x="3570" y="709"/>
                      </a:moveTo>
                      <a:cubicBezTo>
                        <a:pt x="3894" y="709"/>
                        <a:pt x="4214" y="759"/>
                        <a:pt x="4530" y="894"/>
                      </a:cubicBezTo>
                      <a:cubicBezTo>
                        <a:pt x="5169" y="1134"/>
                        <a:pt x="5622" y="1720"/>
                        <a:pt x="5676" y="2413"/>
                      </a:cubicBezTo>
                      <a:cubicBezTo>
                        <a:pt x="5782" y="3079"/>
                        <a:pt x="5756" y="3745"/>
                        <a:pt x="5249" y="4305"/>
                      </a:cubicBezTo>
                      <a:cubicBezTo>
                        <a:pt x="4796" y="4758"/>
                        <a:pt x="4183" y="5051"/>
                        <a:pt x="3517" y="5131"/>
                      </a:cubicBezTo>
                      <a:cubicBezTo>
                        <a:pt x="3429" y="5140"/>
                        <a:pt x="3342" y="5144"/>
                        <a:pt x="3255" y="5144"/>
                      </a:cubicBezTo>
                      <a:cubicBezTo>
                        <a:pt x="2058" y="5144"/>
                        <a:pt x="1032" y="4307"/>
                        <a:pt x="933" y="3239"/>
                      </a:cubicBezTo>
                      <a:cubicBezTo>
                        <a:pt x="807" y="2160"/>
                        <a:pt x="1721" y="798"/>
                        <a:pt x="3051" y="798"/>
                      </a:cubicBezTo>
                      <a:cubicBezTo>
                        <a:pt x="3134" y="798"/>
                        <a:pt x="3218" y="803"/>
                        <a:pt x="3304" y="814"/>
                      </a:cubicBezTo>
                      <a:cubicBezTo>
                        <a:pt x="3313" y="815"/>
                        <a:pt x="3322" y="815"/>
                        <a:pt x="3331" y="815"/>
                      </a:cubicBezTo>
                      <a:cubicBezTo>
                        <a:pt x="3421" y="815"/>
                        <a:pt x="3496" y="770"/>
                        <a:pt x="3544" y="709"/>
                      </a:cubicBezTo>
                      <a:lnTo>
                        <a:pt x="3544" y="709"/>
                      </a:lnTo>
                      <a:cubicBezTo>
                        <a:pt x="3553" y="709"/>
                        <a:pt x="3561" y="709"/>
                        <a:pt x="3570" y="709"/>
                      </a:cubicBezTo>
                      <a:close/>
                      <a:moveTo>
                        <a:pt x="3607" y="1"/>
                      </a:moveTo>
                      <a:cubicBezTo>
                        <a:pt x="3070" y="1"/>
                        <a:pt x="2526" y="86"/>
                        <a:pt x="2025" y="228"/>
                      </a:cubicBezTo>
                      <a:cubicBezTo>
                        <a:pt x="1894" y="269"/>
                        <a:pt x="1820" y="358"/>
                        <a:pt x="1795" y="459"/>
                      </a:cubicBezTo>
                      <a:lnTo>
                        <a:pt x="1795" y="459"/>
                      </a:lnTo>
                      <a:cubicBezTo>
                        <a:pt x="801" y="839"/>
                        <a:pt x="71" y="1781"/>
                        <a:pt x="53" y="2946"/>
                      </a:cubicBezTo>
                      <a:cubicBezTo>
                        <a:pt x="0" y="4624"/>
                        <a:pt x="1545" y="5957"/>
                        <a:pt x="3411" y="5957"/>
                      </a:cubicBezTo>
                      <a:cubicBezTo>
                        <a:pt x="4370" y="5957"/>
                        <a:pt x="5276" y="5557"/>
                        <a:pt x="5942" y="4891"/>
                      </a:cubicBezTo>
                      <a:cubicBezTo>
                        <a:pt x="6582" y="4198"/>
                        <a:pt x="6821" y="3265"/>
                        <a:pt x="6608" y="2386"/>
                      </a:cubicBezTo>
                      <a:cubicBezTo>
                        <a:pt x="6475" y="1533"/>
                        <a:pt x="6129" y="761"/>
                        <a:pt x="5249" y="334"/>
                      </a:cubicBezTo>
                      <a:cubicBezTo>
                        <a:pt x="4752" y="100"/>
                        <a:pt x="4184" y="1"/>
                        <a:pt x="3607" y="1"/>
                      </a:cubicBez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198;p44">
                  <a:extLst>
                    <a:ext uri="{FF2B5EF4-FFF2-40B4-BE49-F238E27FC236}">
                      <a16:creationId xmlns:a16="http://schemas.microsoft.com/office/drawing/2014/main" id="{22C8123A-13C7-5E43-8710-7D7890354919}"/>
                    </a:ext>
                  </a:extLst>
                </p:cNvPr>
                <p:cNvSpPr/>
                <p:nvPr/>
              </p:nvSpPr>
              <p:spPr>
                <a:xfrm>
                  <a:off x="32275" y="1648800"/>
                  <a:ext cx="265150" cy="328825"/>
                </a:xfrm>
                <a:custGeom>
                  <a:avLst/>
                  <a:gdLst/>
                  <a:ahLst/>
                  <a:cxnLst/>
                  <a:rect l="l" t="t" r="r" b="b"/>
                  <a:pathLst>
                    <a:path w="10606" h="13153" extrusionOk="0">
                      <a:moveTo>
                        <a:pt x="7410" y="830"/>
                      </a:moveTo>
                      <a:cubicBezTo>
                        <a:pt x="7613" y="830"/>
                        <a:pt x="7816" y="832"/>
                        <a:pt x="8021" y="837"/>
                      </a:cubicBezTo>
                      <a:cubicBezTo>
                        <a:pt x="8138" y="837"/>
                        <a:pt x="8259" y="834"/>
                        <a:pt x="8379" y="834"/>
                      </a:cubicBezTo>
                      <a:cubicBezTo>
                        <a:pt x="8937" y="834"/>
                        <a:pt x="9469" y="888"/>
                        <a:pt x="9513" y="1503"/>
                      </a:cubicBezTo>
                      <a:cubicBezTo>
                        <a:pt x="9540" y="2062"/>
                        <a:pt x="9513" y="2649"/>
                        <a:pt x="9406" y="3208"/>
                      </a:cubicBezTo>
                      <a:cubicBezTo>
                        <a:pt x="9060" y="5260"/>
                        <a:pt x="8607" y="7285"/>
                        <a:pt x="8021" y="9283"/>
                      </a:cubicBezTo>
                      <a:cubicBezTo>
                        <a:pt x="7808" y="10163"/>
                        <a:pt x="7541" y="11495"/>
                        <a:pt x="6688" y="12108"/>
                      </a:cubicBezTo>
                      <a:cubicBezTo>
                        <a:pt x="6566" y="12199"/>
                        <a:pt x="6436" y="12239"/>
                        <a:pt x="6302" y="12239"/>
                      </a:cubicBezTo>
                      <a:cubicBezTo>
                        <a:pt x="5539" y="12239"/>
                        <a:pt x="4665" y="10932"/>
                        <a:pt x="4370" y="10456"/>
                      </a:cubicBezTo>
                      <a:cubicBezTo>
                        <a:pt x="3757" y="9443"/>
                        <a:pt x="3198" y="8404"/>
                        <a:pt x="2745" y="7312"/>
                      </a:cubicBezTo>
                      <a:cubicBezTo>
                        <a:pt x="2258" y="6209"/>
                        <a:pt x="1795" y="5081"/>
                        <a:pt x="1405" y="3953"/>
                      </a:cubicBezTo>
                      <a:lnTo>
                        <a:pt x="1405" y="3953"/>
                      </a:lnTo>
                      <a:cubicBezTo>
                        <a:pt x="1369" y="3760"/>
                        <a:pt x="1336" y="3566"/>
                        <a:pt x="1306" y="3368"/>
                      </a:cubicBezTo>
                      <a:cubicBezTo>
                        <a:pt x="1146" y="2888"/>
                        <a:pt x="1066" y="2382"/>
                        <a:pt x="1039" y="1902"/>
                      </a:cubicBezTo>
                      <a:cubicBezTo>
                        <a:pt x="1093" y="1370"/>
                        <a:pt x="2025" y="1343"/>
                        <a:pt x="2505" y="1263"/>
                      </a:cubicBezTo>
                      <a:cubicBezTo>
                        <a:pt x="3118" y="1156"/>
                        <a:pt x="3731" y="1050"/>
                        <a:pt x="4370" y="997"/>
                      </a:cubicBezTo>
                      <a:cubicBezTo>
                        <a:pt x="5392" y="886"/>
                        <a:pt x="6395" y="830"/>
                        <a:pt x="7410" y="830"/>
                      </a:cubicBezTo>
                      <a:close/>
                      <a:moveTo>
                        <a:pt x="7029" y="0"/>
                      </a:moveTo>
                      <a:cubicBezTo>
                        <a:pt x="6241" y="0"/>
                        <a:pt x="5452" y="47"/>
                        <a:pt x="4663" y="144"/>
                      </a:cubicBezTo>
                      <a:cubicBezTo>
                        <a:pt x="3731" y="224"/>
                        <a:pt x="2825" y="357"/>
                        <a:pt x="1892" y="544"/>
                      </a:cubicBezTo>
                      <a:cubicBezTo>
                        <a:pt x="1386" y="650"/>
                        <a:pt x="666" y="703"/>
                        <a:pt x="320" y="1156"/>
                      </a:cubicBezTo>
                      <a:cubicBezTo>
                        <a:pt x="0" y="1583"/>
                        <a:pt x="187" y="2302"/>
                        <a:pt x="293" y="2808"/>
                      </a:cubicBezTo>
                      <a:cubicBezTo>
                        <a:pt x="453" y="3581"/>
                        <a:pt x="613" y="4354"/>
                        <a:pt x="826" y="5127"/>
                      </a:cubicBezTo>
                      <a:cubicBezTo>
                        <a:pt x="867" y="5269"/>
                        <a:pt x="997" y="5330"/>
                        <a:pt x="1139" y="5330"/>
                      </a:cubicBezTo>
                      <a:cubicBezTo>
                        <a:pt x="1152" y="5330"/>
                        <a:pt x="1165" y="5329"/>
                        <a:pt x="1177" y="5329"/>
                      </a:cubicBezTo>
                      <a:lnTo>
                        <a:pt x="1177" y="5329"/>
                      </a:lnTo>
                      <a:cubicBezTo>
                        <a:pt x="1729" y="7466"/>
                        <a:pt x="2526" y="9594"/>
                        <a:pt x="3864" y="11415"/>
                      </a:cubicBezTo>
                      <a:cubicBezTo>
                        <a:pt x="4373" y="12118"/>
                        <a:pt x="5191" y="13152"/>
                        <a:pt x="6258" y="13152"/>
                      </a:cubicBezTo>
                      <a:cubicBezTo>
                        <a:pt x="6363" y="13152"/>
                        <a:pt x="6471" y="13142"/>
                        <a:pt x="6582" y="13120"/>
                      </a:cubicBezTo>
                      <a:cubicBezTo>
                        <a:pt x="7808" y="12854"/>
                        <a:pt x="8261" y="11442"/>
                        <a:pt x="8580" y="10536"/>
                      </a:cubicBezTo>
                      <a:cubicBezTo>
                        <a:pt x="9007" y="9283"/>
                        <a:pt x="9246" y="7978"/>
                        <a:pt x="9593" y="6699"/>
                      </a:cubicBezTo>
                      <a:cubicBezTo>
                        <a:pt x="9966" y="5340"/>
                        <a:pt x="10232" y="3981"/>
                        <a:pt x="10392" y="2595"/>
                      </a:cubicBezTo>
                      <a:cubicBezTo>
                        <a:pt x="10472" y="1609"/>
                        <a:pt x="10605" y="304"/>
                        <a:pt x="9220" y="117"/>
                      </a:cubicBezTo>
                      <a:cubicBezTo>
                        <a:pt x="8490" y="40"/>
                        <a:pt x="7759" y="0"/>
                        <a:pt x="7029" y="0"/>
                      </a:cubicBez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0" name="Google Shape;2199;p44">
              <a:extLst>
                <a:ext uri="{FF2B5EF4-FFF2-40B4-BE49-F238E27FC236}">
                  <a16:creationId xmlns:a16="http://schemas.microsoft.com/office/drawing/2014/main" id="{9EF6971C-DCF5-DC08-C7A8-2DD70D04BBFE}"/>
                </a:ext>
              </a:extLst>
            </p:cNvPr>
            <p:cNvSpPr/>
            <p:nvPr/>
          </p:nvSpPr>
          <p:spPr>
            <a:xfrm rot="10800000">
              <a:off x="5537907" y="2259359"/>
              <a:ext cx="123432" cy="436774"/>
            </a:xfrm>
            <a:custGeom>
              <a:avLst/>
              <a:gdLst/>
              <a:ahLst/>
              <a:cxnLst/>
              <a:rect l="l" t="t" r="r" b="b"/>
              <a:pathLst>
                <a:path w="5403" h="19119" extrusionOk="0">
                  <a:moveTo>
                    <a:pt x="2235" y="1"/>
                  </a:moveTo>
                  <a:cubicBezTo>
                    <a:pt x="2111" y="1"/>
                    <a:pt x="1991" y="81"/>
                    <a:pt x="1975" y="241"/>
                  </a:cubicBezTo>
                  <a:cubicBezTo>
                    <a:pt x="1751" y="273"/>
                    <a:pt x="1559" y="401"/>
                    <a:pt x="1495" y="593"/>
                  </a:cubicBezTo>
                  <a:cubicBezTo>
                    <a:pt x="1111" y="1681"/>
                    <a:pt x="663" y="2737"/>
                    <a:pt x="119" y="3729"/>
                  </a:cubicBezTo>
                  <a:cubicBezTo>
                    <a:pt x="0" y="3966"/>
                    <a:pt x="197" y="4220"/>
                    <a:pt x="398" y="4220"/>
                  </a:cubicBezTo>
                  <a:cubicBezTo>
                    <a:pt x="469" y="4220"/>
                    <a:pt x="540" y="4188"/>
                    <a:pt x="599" y="4113"/>
                  </a:cubicBezTo>
                  <a:cubicBezTo>
                    <a:pt x="1079" y="3505"/>
                    <a:pt x="1527" y="2833"/>
                    <a:pt x="1879" y="2129"/>
                  </a:cubicBezTo>
                  <a:lnTo>
                    <a:pt x="1879" y="2129"/>
                  </a:lnTo>
                  <a:cubicBezTo>
                    <a:pt x="1783" y="5234"/>
                    <a:pt x="1879" y="8370"/>
                    <a:pt x="1879" y="11475"/>
                  </a:cubicBezTo>
                  <a:cubicBezTo>
                    <a:pt x="1879" y="13747"/>
                    <a:pt x="1239" y="17076"/>
                    <a:pt x="2775" y="18996"/>
                  </a:cubicBezTo>
                  <a:cubicBezTo>
                    <a:pt x="2846" y="19082"/>
                    <a:pt x="2936" y="19119"/>
                    <a:pt x="3027" y="19119"/>
                  </a:cubicBezTo>
                  <a:cubicBezTo>
                    <a:pt x="3309" y="19119"/>
                    <a:pt x="3609" y="18774"/>
                    <a:pt x="3415" y="18484"/>
                  </a:cubicBezTo>
                  <a:cubicBezTo>
                    <a:pt x="2583" y="17172"/>
                    <a:pt x="2743" y="15636"/>
                    <a:pt x="2743" y="14163"/>
                  </a:cubicBezTo>
                  <a:lnTo>
                    <a:pt x="2711" y="9522"/>
                  </a:lnTo>
                  <a:cubicBezTo>
                    <a:pt x="2711" y="7186"/>
                    <a:pt x="2711" y="4850"/>
                    <a:pt x="2615" y="2481"/>
                  </a:cubicBezTo>
                  <a:lnTo>
                    <a:pt x="2615" y="2481"/>
                  </a:lnTo>
                  <a:cubicBezTo>
                    <a:pt x="3159" y="3153"/>
                    <a:pt x="3799" y="3729"/>
                    <a:pt x="4472" y="4241"/>
                  </a:cubicBezTo>
                  <a:cubicBezTo>
                    <a:pt x="4564" y="4317"/>
                    <a:pt x="4657" y="4349"/>
                    <a:pt x="4744" y="4349"/>
                  </a:cubicBezTo>
                  <a:cubicBezTo>
                    <a:pt x="5136" y="4349"/>
                    <a:pt x="5403" y="3692"/>
                    <a:pt x="4984" y="3377"/>
                  </a:cubicBezTo>
                  <a:cubicBezTo>
                    <a:pt x="3991" y="2641"/>
                    <a:pt x="3191" y="1713"/>
                    <a:pt x="2519" y="689"/>
                  </a:cubicBezTo>
                  <a:cubicBezTo>
                    <a:pt x="2519" y="529"/>
                    <a:pt x="2519" y="401"/>
                    <a:pt x="2519" y="241"/>
                  </a:cubicBezTo>
                  <a:cubicBezTo>
                    <a:pt x="2487" y="81"/>
                    <a:pt x="2359" y="1"/>
                    <a:pt x="2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CuadroTexto 72">
            <a:extLst>
              <a:ext uri="{FF2B5EF4-FFF2-40B4-BE49-F238E27FC236}">
                <a16:creationId xmlns:a16="http://schemas.microsoft.com/office/drawing/2014/main" id="{4CB37FA6-A5B2-25DF-67F8-1152431FABD0}"/>
              </a:ext>
            </a:extLst>
          </p:cNvPr>
          <p:cNvSpPr txBox="1"/>
          <p:nvPr/>
        </p:nvSpPr>
        <p:spPr>
          <a:xfrm>
            <a:off x="1941425" y="4011945"/>
            <a:ext cx="718466" cy="369332"/>
          </a:xfrm>
          <a:prstGeom prst="rect">
            <a:avLst/>
          </a:prstGeom>
          <a:noFill/>
        </p:spPr>
        <p:txBody>
          <a:bodyPr wrap="none" rtlCol="0">
            <a:spAutoFit/>
          </a:bodyPr>
          <a:lstStyle/>
          <a:p>
            <a:r>
              <a:rPr lang="es-ES" dirty="0"/>
              <a:t>34 dB</a:t>
            </a:r>
            <a:endParaRPr lang="es-CO" dirty="0"/>
          </a:p>
        </p:txBody>
      </p:sp>
      <p:sp>
        <p:nvSpPr>
          <p:cNvPr id="74" name="CuadroTexto 73">
            <a:extLst>
              <a:ext uri="{FF2B5EF4-FFF2-40B4-BE49-F238E27FC236}">
                <a16:creationId xmlns:a16="http://schemas.microsoft.com/office/drawing/2014/main" id="{255DA6D0-E4DA-0E6D-E96D-39CD52A0C347}"/>
              </a:ext>
            </a:extLst>
          </p:cNvPr>
          <p:cNvSpPr txBox="1"/>
          <p:nvPr/>
        </p:nvSpPr>
        <p:spPr>
          <a:xfrm>
            <a:off x="6116130" y="4037630"/>
            <a:ext cx="718466" cy="369332"/>
          </a:xfrm>
          <a:prstGeom prst="rect">
            <a:avLst/>
          </a:prstGeom>
          <a:noFill/>
        </p:spPr>
        <p:txBody>
          <a:bodyPr wrap="none" rtlCol="0">
            <a:spAutoFit/>
          </a:bodyPr>
          <a:lstStyle/>
          <a:p>
            <a:r>
              <a:rPr lang="es-ES" dirty="0"/>
              <a:t>28 dB</a:t>
            </a:r>
            <a:endParaRPr lang="es-CO" dirty="0"/>
          </a:p>
        </p:txBody>
      </p:sp>
      <p:sp>
        <p:nvSpPr>
          <p:cNvPr id="75" name="CuadroTexto 74">
            <a:extLst>
              <a:ext uri="{FF2B5EF4-FFF2-40B4-BE49-F238E27FC236}">
                <a16:creationId xmlns:a16="http://schemas.microsoft.com/office/drawing/2014/main" id="{9AD8A1A3-1EEC-3E05-4CDC-2C277AFB2A75}"/>
              </a:ext>
            </a:extLst>
          </p:cNvPr>
          <p:cNvSpPr txBox="1"/>
          <p:nvPr/>
        </p:nvSpPr>
        <p:spPr>
          <a:xfrm>
            <a:off x="3997919" y="4059751"/>
            <a:ext cx="718466" cy="369332"/>
          </a:xfrm>
          <a:prstGeom prst="rect">
            <a:avLst/>
          </a:prstGeom>
          <a:noFill/>
        </p:spPr>
        <p:txBody>
          <a:bodyPr wrap="none" rtlCol="0">
            <a:spAutoFit/>
          </a:bodyPr>
          <a:lstStyle/>
          <a:p>
            <a:r>
              <a:rPr lang="es-ES" dirty="0"/>
              <a:t>32 dB</a:t>
            </a:r>
            <a:endParaRPr lang="es-CO" dirty="0"/>
          </a:p>
        </p:txBody>
      </p:sp>
      <p:sp>
        <p:nvSpPr>
          <p:cNvPr id="76" name="CuadroTexto 9">
            <a:extLst>
              <a:ext uri="{FF2B5EF4-FFF2-40B4-BE49-F238E27FC236}">
                <a16:creationId xmlns:a16="http://schemas.microsoft.com/office/drawing/2014/main" id="{66CD1C7B-0451-1BEE-1172-35FEA8E8D688}"/>
              </a:ext>
            </a:extLst>
          </p:cNvPr>
          <p:cNvSpPr txBox="1"/>
          <p:nvPr/>
        </p:nvSpPr>
        <p:spPr>
          <a:xfrm>
            <a:off x="138877" y="4718272"/>
            <a:ext cx="6538223" cy="646331"/>
          </a:xfrm>
          <a:prstGeom prst="rect">
            <a:avLst/>
          </a:prstGeom>
          <a:noFill/>
        </p:spPr>
        <p:txBody>
          <a:bodyPr wrap="square" lIns="91440" tIns="45720" rIns="91440" bIns="45720" anchor="t">
            <a:spAutoFit/>
          </a:bodyPr>
          <a:lstStyle/>
          <a:p>
            <a:r>
              <a:rPr lang="es-MX" sz="1200" dirty="0">
                <a:ea typeface="+mn-lt"/>
                <a:cs typeface="+mn-lt"/>
              </a:rPr>
              <a:t>La ganancia de voltaje total es de 50 x 40 x 25 = 50.000</a:t>
            </a:r>
          </a:p>
          <a:p>
            <a:endParaRPr lang="es-MX" sz="1200" dirty="0">
              <a:ea typeface="+mn-lt"/>
              <a:cs typeface="+mn-lt"/>
            </a:endParaRPr>
          </a:p>
          <a:p>
            <a:r>
              <a:rPr lang="es-MX" sz="1200" dirty="0">
                <a:ea typeface="+mn-lt"/>
                <a:cs typeface="+mn-lt"/>
              </a:rPr>
              <a:t>En decibelios se puede contemplar como 34 + 32 + 28 = 94 dB</a:t>
            </a:r>
          </a:p>
        </p:txBody>
      </p:sp>
      <p:pic>
        <p:nvPicPr>
          <p:cNvPr id="1026" name="Picture 2" descr="Unraveling the Mysteries of the Decibel Chart – Ear Hearing Health">
            <a:extLst>
              <a:ext uri="{FF2B5EF4-FFF2-40B4-BE49-F238E27FC236}">
                <a16:creationId xmlns:a16="http://schemas.microsoft.com/office/drawing/2014/main" id="{04C19BDF-3D2F-EDEF-7BAB-A4E17329BE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7763" y="303468"/>
            <a:ext cx="4153304" cy="1729101"/>
          </a:xfrm>
          <a:prstGeom prst="rect">
            <a:avLst/>
          </a:prstGeom>
          <a:noFill/>
          <a:extLst>
            <a:ext uri="{909E8E84-426E-40DD-AFC4-6F175D3DCCD1}">
              <a14:hiddenFill xmlns:a14="http://schemas.microsoft.com/office/drawing/2010/main">
                <a:solidFill>
                  <a:srgbClr val="FFFFFF"/>
                </a:solidFill>
              </a14:hiddenFill>
            </a:ext>
          </a:extLst>
        </p:spPr>
      </p:pic>
      <p:sp>
        <p:nvSpPr>
          <p:cNvPr id="2" name="Flecha: a la derecha 1">
            <a:extLst>
              <a:ext uri="{FF2B5EF4-FFF2-40B4-BE49-F238E27FC236}">
                <a16:creationId xmlns:a16="http://schemas.microsoft.com/office/drawing/2014/main" id="{926CF64B-C9FB-A044-E90F-B670634843F4}"/>
              </a:ext>
            </a:extLst>
          </p:cNvPr>
          <p:cNvSpPr/>
          <p:nvPr/>
        </p:nvSpPr>
        <p:spPr>
          <a:xfrm rot="16200000">
            <a:off x="3334654" y="1678781"/>
            <a:ext cx="434906" cy="33448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4" name="Flecha: a la derecha 3">
            <a:extLst>
              <a:ext uri="{FF2B5EF4-FFF2-40B4-BE49-F238E27FC236}">
                <a16:creationId xmlns:a16="http://schemas.microsoft.com/office/drawing/2014/main" id="{E9A6E188-645D-CDD1-7758-50A48434FAD7}"/>
              </a:ext>
            </a:extLst>
          </p:cNvPr>
          <p:cNvSpPr/>
          <p:nvPr/>
        </p:nvSpPr>
        <p:spPr>
          <a:xfrm rot="16200000">
            <a:off x="4314714" y="1682277"/>
            <a:ext cx="434906" cy="33448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5" name="Flecha: a la derecha 4">
            <a:extLst>
              <a:ext uri="{FF2B5EF4-FFF2-40B4-BE49-F238E27FC236}">
                <a16:creationId xmlns:a16="http://schemas.microsoft.com/office/drawing/2014/main" id="{67FFFEDD-E339-B81A-B75E-869AC12198DE}"/>
              </a:ext>
            </a:extLst>
          </p:cNvPr>
          <p:cNvSpPr/>
          <p:nvPr/>
        </p:nvSpPr>
        <p:spPr>
          <a:xfrm rot="5400000">
            <a:off x="2864401" y="198363"/>
            <a:ext cx="434906" cy="33448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6" name="Flecha: a la derecha 5">
            <a:extLst>
              <a:ext uri="{FF2B5EF4-FFF2-40B4-BE49-F238E27FC236}">
                <a16:creationId xmlns:a16="http://schemas.microsoft.com/office/drawing/2014/main" id="{4ACF8045-9AD2-ED10-2996-1916DD823C3C}"/>
              </a:ext>
            </a:extLst>
          </p:cNvPr>
          <p:cNvSpPr/>
          <p:nvPr/>
        </p:nvSpPr>
        <p:spPr>
          <a:xfrm rot="5400000">
            <a:off x="3801648" y="215628"/>
            <a:ext cx="434906" cy="33448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nvGrpSpPr>
          <p:cNvPr id="20" name="Grupo 19">
            <a:extLst>
              <a:ext uri="{FF2B5EF4-FFF2-40B4-BE49-F238E27FC236}">
                <a16:creationId xmlns:a16="http://schemas.microsoft.com/office/drawing/2014/main" id="{C7D5C165-6CF7-32DF-F6DB-FEBF794B1360}"/>
              </a:ext>
            </a:extLst>
          </p:cNvPr>
          <p:cNvGrpSpPr/>
          <p:nvPr/>
        </p:nvGrpSpPr>
        <p:grpSpPr>
          <a:xfrm>
            <a:off x="6940208" y="4533920"/>
            <a:ext cx="1893386" cy="1015034"/>
            <a:chOff x="6663068" y="1427028"/>
            <a:chExt cx="1893386" cy="1015034"/>
          </a:xfrm>
        </p:grpSpPr>
        <p:pic>
          <p:nvPicPr>
            <p:cNvPr id="10" name="Imagen 9">
              <a:extLst>
                <a:ext uri="{FF2B5EF4-FFF2-40B4-BE49-F238E27FC236}">
                  <a16:creationId xmlns:a16="http://schemas.microsoft.com/office/drawing/2014/main" id="{B58D6F88-A5A5-B994-B179-56EC5A6AAAFB}"/>
                </a:ext>
              </a:extLst>
            </p:cNvPr>
            <p:cNvPicPr>
              <a:picLocks noChangeAspect="1"/>
            </p:cNvPicPr>
            <p:nvPr/>
          </p:nvPicPr>
          <p:blipFill>
            <a:blip r:embed="rId5"/>
            <a:srcRect l="11070" r="24186"/>
            <a:stretch>
              <a:fillRect/>
            </a:stretch>
          </p:blipFill>
          <p:spPr>
            <a:xfrm>
              <a:off x="7053959" y="1427028"/>
              <a:ext cx="1110191" cy="1009791"/>
            </a:xfrm>
            <a:prstGeom prst="rect">
              <a:avLst/>
            </a:prstGeom>
          </p:spPr>
        </p:pic>
        <p:sp>
          <p:nvSpPr>
            <p:cNvPr id="14" name="CuadroTexto 13">
              <a:extLst>
                <a:ext uri="{FF2B5EF4-FFF2-40B4-BE49-F238E27FC236}">
                  <a16:creationId xmlns:a16="http://schemas.microsoft.com/office/drawing/2014/main" id="{4D4CC559-48FF-97AC-39B5-10BF1726088A}"/>
                </a:ext>
              </a:extLst>
            </p:cNvPr>
            <p:cNvSpPr txBox="1"/>
            <p:nvPr/>
          </p:nvSpPr>
          <p:spPr>
            <a:xfrm>
              <a:off x="6663068" y="1518732"/>
              <a:ext cx="304892" cy="923330"/>
            </a:xfrm>
            <a:prstGeom prst="rect">
              <a:avLst/>
            </a:prstGeom>
            <a:noFill/>
          </p:spPr>
          <p:txBody>
            <a:bodyPr wrap="none" rtlCol="0">
              <a:spAutoFit/>
            </a:bodyPr>
            <a:lstStyle/>
            <a:p>
              <a:r>
                <a:rPr lang="es-ES" dirty="0"/>
                <a:t>X</a:t>
              </a:r>
            </a:p>
            <a:p>
              <a:endParaRPr lang="es-ES" dirty="0"/>
            </a:p>
            <a:p>
              <a:r>
                <a:rPr lang="es-ES" dirty="0"/>
                <a:t>/</a:t>
              </a:r>
              <a:endParaRPr lang="es-CO" dirty="0"/>
            </a:p>
          </p:txBody>
        </p:sp>
        <p:sp>
          <p:nvSpPr>
            <p:cNvPr id="16" name="CuadroTexto 15">
              <a:extLst>
                <a:ext uri="{FF2B5EF4-FFF2-40B4-BE49-F238E27FC236}">
                  <a16:creationId xmlns:a16="http://schemas.microsoft.com/office/drawing/2014/main" id="{CED3A0C2-B888-1C57-3F53-42719E68E1E3}"/>
                </a:ext>
              </a:extLst>
            </p:cNvPr>
            <p:cNvSpPr txBox="1"/>
            <p:nvPr/>
          </p:nvSpPr>
          <p:spPr>
            <a:xfrm>
              <a:off x="8256372" y="1468353"/>
              <a:ext cx="300082" cy="923330"/>
            </a:xfrm>
            <a:prstGeom prst="rect">
              <a:avLst/>
            </a:prstGeom>
            <a:noFill/>
          </p:spPr>
          <p:txBody>
            <a:bodyPr wrap="none" rtlCol="0">
              <a:spAutoFit/>
            </a:bodyPr>
            <a:lstStyle/>
            <a:p>
              <a:r>
                <a:rPr lang="es-ES" dirty="0"/>
                <a:t>+</a:t>
              </a:r>
            </a:p>
            <a:p>
              <a:endParaRPr lang="es-ES" dirty="0"/>
            </a:p>
            <a:p>
              <a:r>
                <a:rPr lang="es-ES" dirty="0"/>
                <a:t>_</a:t>
              </a:r>
              <a:endParaRPr lang="es-CO" dirty="0"/>
            </a:p>
          </p:txBody>
        </p:sp>
      </p:grpSp>
    </p:spTree>
    <p:custDataLst>
      <p:tags r:id="rId1"/>
    </p:custDataLst>
    <p:extLst>
      <p:ext uri="{BB962C8B-B14F-4D97-AF65-F5344CB8AC3E}">
        <p14:creationId xmlns:p14="http://schemas.microsoft.com/office/powerpoint/2010/main" val="4144752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3FD26-F867-F17C-3A20-D255E9A6B05F}"/>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0CA0F67-2B9B-6D00-E8FB-89291E1D1513}"/>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2529EE20-886B-B25C-2236-32520D64C33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Lessons In Electric Circuits, Volume II – AC By Tony R. </a:t>
            </a:r>
            <a:r>
              <a:rPr lang="en-US" sz="700" dirty="0" err="1">
                <a:solidFill>
                  <a:schemeClr val="bg1"/>
                </a:solidFill>
                <a:latin typeface="Arial"/>
              </a:rPr>
              <a:t>Kuphaldt</a:t>
            </a:r>
            <a:r>
              <a:rPr lang="en-US" sz="700" dirty="0">
                <a:solidFill>
                  <a:schemeClr val="bg1"/>
                </a:solidFill>
                <a:latin typeface="Arial"/>
              </a:rPr>
              <a:t> Sixth Edition, last update July 25, 2007</a:t>
            </a:r>
            <a:endParaRPr lang="en-US" sz="700" dirty="0">
              <a:solidFill>
                <a:schemeClr val="bg1"/>
              </a:solidFill>
              <a:cs typeface="Calibri"/>
            </a:endParaRPr>
          </a:p>
        </p:txBody>
      </p:sp>
      <p:sp>
        <p:nvSpPr>
          <p:cNvPr id="12" name="Rectángulo 6">
            <a:extLst>
              <a:ext uri="{FF2B5EF4-FFF2-40B4-BE49-F238E27FC236}">
                <a16:creationId xmlns:a16="http://schemas.microsoft.com/office/drawing/2014/main" id="{0A8AB542-9520-36D6-C4DE-6BA6E8C65175}"/>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Decibeles</a:t>
            </a:r>
            <a:endParaRPr lang="en-US" dirty="0"/>
          </a:p>
        </p:txBody>
      </p:sp>
      <p:sp>
        <p:nvSpPr>
          <p:cNvPr id="18" name="Marcador de número de diapositiva 3">
            <a:extLst>
              <a:ext uri="{FF2B5EF4-FFF2-40B4-BE49-F238E27FC236}">
                <a16:creationId xmlns:a16="http://schemas.microsoft.com/office/drawing/2014/main" id="{DB540C89-DE1F-0430-A650-3F69AB9269B6}"/>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p:sp>
        <p:nvSpPr>
          <p:cNvPr id="19" name="Título 1">
            <a:extLst>
              <a:ext uri="{FF2B5EF4-FFF2-40B4-BE49-F238E27FC236}">
                <a16:creationId xmlns:a16="http://schemas.microsoft.com/office/drawing/2014/main" id="{EE83FF55-764B-7881-A7F2-95F8D9F4AB3C}"/>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
        <p:nvSpPr>
          <p:cNvPr id="3" name="CuadroTexto 9">
            <a:extLst>
              <a:ext uri="{FF2B5EF4-FFF2-40B4-BE49-F238E27FC236}">
                <a16:creationId xmlns:a16="http://schemas.microsoft.com/office/drawing/2014/main" id="{D8BAB100-97B3-2693-6893-78E88FB027F3}"/>
              </a:ext>
            </a:extLst>
          </p:cNvPr>
          <p:cNvSpPr txBox="1"/>
          <p:nvPr/>
        </p:nvSpPr>
        <p:spPr>
          <a:xfrm>
            <a:off x="-2262" y="498060"/>
            <a:ext cx="6538223" cy="461665"/>
          </a:xfrm>
          <a:prstGeom prst="rect">
            <a:avLst/>
          </a:prstGeom>
          <a:noFill/>
        </p:spPr>
        <p:txBody>
          <a:bodyPr wrap="square" lIns="91440" tIns="45720" rIns="91440" bIns="45720" anchor="t">
            <a:spAutoFit/>
          </a:bodyPr>
          <a:lstStyle/>
          <a:p>
            <a:pPr marL="285750" indent="-285750">
              <a:buFont typeface="Arial"/>
              <a:buChar char="•"/>
            </a:pPr>
            <a:r>
              <a:rPr lang="es-ES" sz="1200" dirty="0">
                <a:ea typeface="+mn-lt"/>
                <a:cs typeface="+mn-lt"/>
              </a:rPr>
              <a:t>Los decibelios se interpretan como una escala logarítmica </a:t>
            </a:r>
          </a:p>
          <a:p>
            <a:pPr marL="285750" indent="-285750">
              <a:buFont typeface="Arial"/>
              <a:buChar char="•"/>
            </a:pPr>
            <a:endParaRPr lang="es-MX" sz="1200" dirty="0">
              <a:ea typeface="+mn-lt"/>
              <a:cs typeface="+mn-lt"/>
            </a:endParaRPr>
          </a:p>
        </p:txBody>
      </p:sp>
      <p:pic>
        <p:nvPicPr>
          <p:cNvPr id="4" name="Imagen 3">
            <a:extLst>
              <a:ext uri="{FF2B5EF4-FFF2-40B4-BE49-F238E27FC236}">
                <a16:creationId xmlns:a16="http://schemas.microsoft.com/office/drawing/2014/main" id="{2D685584-8850-AEF2-6607-8AE7073FB20B}"/>
              </a:ext>
            </a:extLst>
          </p:cNvPr>
          <p:cNvPicPr>
            <a:picLocks noChangeAspect="1"/>
          </p:cNvPicPr>
          <p:nvPr/>
        </p:nvPicPr>
        <p:blipFill>
          <a:blip r:embed="rId4"/>
          <a:stretch>
            <a:fillRect/>
          </a:stretch>
        </p:blipFill>
        <p:spPr>
          <a:xfrm>
            <a:off x="1316438" y="959725"/>
            <a:ext cx="6148939" cy="2811156"/>
          </a:xfrm>
          <a:prstGeom prst="rect">
            <a:avLst/>
          </a:prstGeom>
        </p:spPr>
      </p:pic>
      <p:sp>
        <p:nvSpPr>
          <p:cNvPr id="5" name="CuadroTexto 4">
            <a:extLst>
              <a:ext uri="{FF2B5EF4-FFF2-40B4-BE49-F238E27FC236}">
                <a16:creationId xmlns:a16="http://schemas.microsoft.com/office/drawing/2014/main" id="{0F2C75E9-8730-A2B7-AC27-96EC6F0E0C4A}"/>
              </a:ext>
            </a:extLst>
          </p:cNvPr>
          <p:cNvSpPr txBox="1"/>
          <p:nvPr/>
        </p:nvSpPr>
        <p:spPr>
          <a:xfrm>
            <a:off x="2386584" y="3991060"/>
            <a:ext cx="2095125" cy="923330"/>
          </a:xfrm>
          <a:prstGeom prst="rect">
            <a:avLst/>
          </a:prstGeom>
          <a:noFill/>
        </p:spPr>
        <p:txBody>
          <a:bodyPr wrap="none" rtlCol="0">
            <a:spAutoFit/>
          </a:bodyPr>
          <a:lstStyle/>
          <a:p>
            <a:r>
              <a:rPr lang="es-ES" dirty="0"/>
              <a:t>Escala normal </a:t>
            </a:r>
          </a:p>
          <a:p>
            <a:endParaRPr lang="es-ES" dirty="0"/>
          </a:p>
          <a:p>
            <a:r>
              <a:rPr lang="es-ES" dirty="0"/>
              <a:t>Escala en decibelios </a:t>
            </a:r>
            <a:endParaRPr lang="es-CO" dirty="0"/>
          </a:p>
        </p:txBody>
      </p:sp>
      <p:sp>
        <p:nvSpPr>
          <p:cNvPr id="6" name="CuadroTexto 5">
            <a:extLst>
              <a:ext uri="{FF2B5EF4-FFF2-40B4-BE49-F238E27FC236}">
                <a16:creationId xmlns:a16="http://schemas.microsoft.com/office/drawing/2014/main" id="{B707642A-C8D3-7C14-6DDF-56A8AB8896AF}"/>
              </a:ext>
            </a:extLst>
          </p:cNvPr>
          <p:cNvSpPr txBox="1"/>
          <p:nvPr/>
        </p:nvSpPr>
        <p:spPr>
          <a:xfrm>
            <a:off x="4572000" y="3991060"/>
            <a:ext cx="1920719" cy="923330"/>
          </a:xfrm>
          <a:prstGeom prst="rect">
            <a:avLst/>
          </a:prstGeom>
          <a:noFill/>
        </p:spPr>
        <p:txBody>
          <a:bodyPr wrap="none" rtlCol="0">
            <a:spAutoFit/>
          </a:bodyPr>
          <a:lstStyle/>
          <a:p>
            <a:r>
              <a:rPr lang="es-ES" dirty="0"/>
              <a:t>x2    /2    x10    /10</a:t>
            </a:r>
          </a:p>
          <a:p>
            <a:endParaRPr lang="es-ES" dirty="0"/>
          </a:p>
          <a:p>
            <a:r>
              <a:rPr lang="es-ES" dirty="0"/>
              <a:t>+6    -6    +20    -20</a:t>
            </a:r>
            <a:endParaRPr lang="es-CO" dirty="0"/>
          </a:p>
        </p:txBody>
      </p:sp>
      <p:sp>
        <p:nvSpPr>
          <p:cNvPr id="7" name="CuadroTexto 6">
            <a:extLst>
              <a:ext uri="{FF2B5EF4-FFF2-40B4-BE49-F238E27FC236}">
                <a16:creationId xmlns:a16="http://schemas.microsoft.com/office/drawing/2014/main" id="{F4E60B0D-AACB-EBC4-B94F-3E682003FFB6}"/>
              </a:ext>
            </a:extLst>
          </p:cNvPr>
          <p:cNvSpPr txBox="1"/>
          <p:nvPr/>
        </p:nvSpPr>
        <p:spPr>
          <a:xfrm>
            <a:off x="356078" y="5003391"/>
            <a:ext cx="4998484" cy="923330"/>
          </a:xfrm>
          <a:prstGeom prst="rect">
            <a:avLst/>
          </a:prstGeom>
          <a:noFill/>
        </p:spPr>
        <p:txBody>
          <a:bodyPr wrap="none" rtlCol="0">
            <a:spAutoFit/>
          </a:bodyPr>
          <a:lstStyle/>
          <a:p>
            <a:r>
              <a:rPr lang="es-ES" dirty="0"/>
              <a:t>1v       10v             20v x 10 = 200v x 100 = 20.000v</a:t>
            </a:r>
          </a:p>
          <a:p>
            <a:endParaRPr lang="es-ES" dirty="0"/>
          </a:p>
          <a:p>
            <a:r>
              <a:rPr lang="es-ES" dirty="0"/>
              <a:t>0dB   20dB + 6 = 26dB + 20 = 46dB + 20 + 20 = 86dB</a:t>
            </a:r>
            <a:endParaRPr lang="es-CO" dirty="0"/>
          </a:p>
        </p:txBody>
      </p:sp>
    </p:spTree>
    <p:custDataLst>
      <p:tags r:id="rId1"/>
    </p:custDataLst>
    <p:extLst>
      <p:ext uri="{BB962C8B-B14F-4D97-AF65-F5344CB8AC3E}">
        <p14:creationId xmlns:p14="http://schemas.microsoft.com/office/powerpoint/2010/main" val="2297672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BFE23-B25D-5ECB-041C-585A9644546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128B52B4-9CF0-0923-7BBB-204E31EEF1A2}"/>
              </a:ext>
            </a:extLst>
          </p:cNvPr>
          <p:cNvSpPr/>
          <p:nvPr/>
        </p:nvSpPr>
        <p:spPr>
          <a:xfrm>
            <a:off x="241180" y="610114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C5627EEE-1916-DE3A-76F7-4D7DDDE7A74B}"/>
              </a:ext>
            </a:extLst>
          </p:cNvPr>
          <p:cNvSpPr txBox="1"/>
          <p:nvPr/>
        </p:nvSpPr>
        <p:spPr>
          <a:xfrm>
            <a:off x="-48300" y="5874618"/>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Lessons In Electric Circuits, Volume II – AC By Tony R. </a:t>
            </a:r>
            <a:r>
              <a:rPr lang="en-US" sz="700" dirty="0" err="1">
                <a:solidFill>
                  <a:schemeClr val="bg1"/>
                </a:solidFill>
                <a:latin typeface="Arial"/>
              </a:rPr>
              <a:t>Kuphaldt</a:t>
            </a:r>
            <a:r>
              <a:rPr lang="en-US" sz="700" dirty="0">
                <a:solidFill>
                  <a:schemeClr val="bg1"/>
                </a:solidFill>
                <a:latin typeface="Arial"/>
              </a:rPr>
              <a:t> Sixth Edition, last update July 25, 2007</a:t>
            </a:r>
            <a:endParaRPr lang="en-US" sz="700" dirty="0">
              <a:solidFill>
                <a:schemeClr val="bg1"/>
              </a:solidFill>
              <a:cs typeface="Calibri"/>
            </a:endParaRPr>
          </a:p>
        </p:txBody>
      </p:sp>
      <p:sp>
        <p:nvSpPr>
          <p:cNvPr id="12" name="Rectángulo 6">
            <a:extLst>
              <a:ext uri="{FF2B5EF4-FFF2-40B4-BE49-F238E27FC236}">
                <a16:creationId xmlns:a16="http://schemas.microsoft.com/office/drawing/2014/main" id="{D76D021A-D130-4B22-25E3-AD5A010190F4}"/>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Decibeles</a:t>
            </a:r>
            <a:endParaRPr lang="en-US" dirty="0"/>
          </a:p>
        </p:txBody>
      </p:sp>
      <p:sp>
        <p:nvSpPr>
          <p:cNvPr id="18" name="Marcador de número de diapositiva 3">
            <a:extLst>
              <a:ext uri="{FF2B5EF4-FFF2-40B4-BE49-F238E27FC236}">
                <a16:creationId xmlns:a16="http://schemas.microsoft.com/office/drawing/2014/main" id="{073412C5-B037-0218-5D4F-5E6F3EEEC7A1}"/>
              </a:ext>
            </a:extLst>
          </p:cNvPr>
          <p:cNvSpPr txBox="1">
            <a:spLocks/>
          </p:cNvSpPr>
          <p:nvPr/>
        </p:nvSpPr>
        <p:spPr>
          <a:xfrm>
            <a:off x="8779567" y="569489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sp>
        <p:nvSpPr>
          <p:cNvPr id="19" name="Título 1">
            <a:extLst>
              <a:ext uri="{FF2B5EF4-FFF2-40B4-BE49-F238E27FC236}">
                <a16:creationId xmlns:a16="http://schemas.microsoft.com/office/drawing/2014/main" id="{2EEBBCA2-B7FA-F41C-B265-14D6A973A641}"/>
              </a:ext>
            </a:extLst>
          </p:cNvPr>
          <p:cNvSpPr txBox="1">
            <a:spLocks/>
          </p:cNvSpPr>
          <p:nvPr/>
        </p:nvSpPr>
        <p:spPr>
          <a:xfrm>
            <a:off x="0" y="6047910"/>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
        <p:nvSpPr>
          <p:cNvPr id="3" name="CuadroTexto 9">
            <a:extLst>
              <a:ext uri="{FF2B5EF4-FFF2-40B4-BE49-F238E27FC236}">
                <a16:creationId xmlns:a16="http://schemas.microsoft.com/office/drawing/2014/main" id="{B5BCCA60-09B4-0E93-B268-0F1BF0E8E3E3}"/>
              </a:ext>
            </a:extLst>
          </p:cNvPr>
          <p:cNvSpPr txBox="1"/>
          <p:nvPr/>
        </p:nvSpPr>
        <p:spPr>
          <a:xfrm>
            <a:off x="20283" y="536703"/>
            <a:ext cx="6538223" cy="461665"/>
          </a:xfrm>
          <a:prstGeom prst="rect">
            <a:avLst/>
          </a:prstGeom>
          <a:noFill/>
        </p:spPr>
        <p:txBody>
          <a:bodyPr wrap="square" lIns="91440" tIns="45720" rIns="91440" bIns="45720" anchor="t">
            <a:spAutoFit/>
          </a:bodyPr>
          <a:lstStyle/>
          <a:p>
            <a:pPr marL="285750" indent="-285750">
              <a:buFont typeface="Arial"/>
              <a:buChar char="•"/>
            </a:pPr>
            <a:r>
              <a:rPr lang="es-ES" sz="1200" dirty="0">
                <a:ea typeface="+mn-lt"/>
                <a:cs typeface="+mn-lt"/>
              </a:rPr>
              <a:t>Trucos para trabajar en decibelios</a:t>
            </a:r>
          </a:p>
          <a:p>
            <a:pPr marL="285750" indent="-285750">
              <a:buFont typeface="Arial"/>
              <a:buChar char="•"/>
            </a:pPr>
            <a:endParaRPr lang="es-MX" sz="1200" dirty="0">
              <a:ea typeface="+mn-lt"/>
              <a:cs typeface="+mn-lt"/>
            </a:endParaRPr>
          </a:p>
        </p:txBody>
      </p:sp>
      <p:pic>
        <p:nvPicPr>
          <p:cNvPr id="4" name="Imagen 3">
            <a:extLst>
              <a:ext uri="{FF2B5EF4-FFF2-40B4-BE49-F238E27FC236}">
                <a16:creationId xmlns:a16="http://schemas.microsoft.com/office/drawing/2014/main" id="{B0C78A46-3286-1319-3E5D-0F601AC186F6}"/>
              </a:ext>
            </a:extLst>
          </p:cNvPr>
          <p:cNvPicPr>
            <a:picLocks noChangeAspect="1"/>
          </p:cNvPicPr>
          <p:nvPr/>
        </p:nvPicPr>
        <p:blipFill>
          <a:blip r:embed="rId4"/>
          <a:stretch>
            <a:fillRect/>
          </a:stretch>
        </p:blipFill>
        <p:spPr>
          <a:xfrm>
            <a:off x="436735" y="1286522"/>
            <a:ext cx="4447521" cy="1504664"/>
          </a:xfrm>
          <a:prstGeom prst="rect">
            <a:avLst/>
          </a:prstGeom>
        </p:spPr>
      </p:pic>
      <p:pic>
        <p:nvPicPr>
          <p:cNvPr id="5" name="Imagen 4">
            <a:extLst>
              <a:ext uri="{FF2B5EF4-FFF2-40B4-BE49-F238E27FC236}">
                <a16:creationId xmlns:a16="http://schemas.microsoft.com/office/drawing/2014/main" id="{8BF3F258-8929-9740-0F80-2FC3ED8FBFD9}"/>
              </a:ext>
            </a:extLst>
          </p:cNvPr>
          <p:cNvPicPr>
            <a:picLocks noChangeAspect="1"/>
          </p:cNvPicPr>
          <p:nvPr/>
        </p:nvPicPr>
        <p:blipFill>
          <a:blip r:embed="rId5"/>
          <a:srcRect r="15259"/>
          <a:stretch>
            <a:fillRect/>
          </a:stretch>
        </p:blipFill>
        <p:spPr>
          <a:xfrm>
            <a:off x="5480054" y="1490671"/>
            <a:ext cx="2907237" cy="1260812"/>
          </a:xfrm>
          <a:prstGeom prst="rect">
            <a:avLst/>
          </a:prstGeom>
        </p:spPr>
      </p:pic>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BAC363C4-557C-74FC-A647-2E1B22DB3D88}"/>
                  </a:ext>
                </a:extLst>
              </p:cNvPr>
              <p:cNvSpPr txBox="1"/>
              <p:nvPr/>
            </p:nvSpPr>
            <p:spPr>
              <a:xfrm>
                <a:off x="241180" y="3012010"/>
                <a:ext cx="3716980" cy="491353"/>
              </a:xfrm>
              <a:prstGeom prst="rect">
                <a:avLst/>
              </a:prstGeom>
              <a:noFill/>
            </p:spPr>
            <p:txBody>
              <a:bodyPr wrap="none" rtlCol="0">
                <a:spAutoFit/>
              </a:bodyPr>
              <a:lstStyle/>
              <a:p>
                <a14:m>
                  <m:oMath xmlns:m="http://schemas.openxmlformats.org/officeDocument/2006/math">
                    <m:r>
                      <a:rPr lang="es-ES" i="1" smtClean="0">
                        <a:latin typeface="Cambria Math" panose="02040503050406030204" pitchFamily="18" charset="0"/>
                      </a:rPr>
                      <m:t>𝑉</m:t>
                    </m:r>
                    <m:r>
                      <a:rPr lang="es-ES" i="1" smtClean="0">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10</m:t>
                        </m:r>
                      </m:e>
                      <m:sup>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𝑑𝐵</m:t>
                                </m:r>
                              </m:num>
                              <m:den>
                                <m:r>
                                  <a:rPr lang="es-ES" i="1">
                                    <a:latin typeface="Cambria Math" panose="02040503050406030204" pitchFamily="18" charset="0"/>
                                  </a:rPr>
                                  <m:t>20</m:t>
                                </m:r>
                              </m:den>
                            </m:f>
                          </m:e>
                        </m:d>
                      </m:sup>
                    </m:sSup>
                    <m:r>
                      <a:rPr lang="es-ES" i="1">
                        <a:latin typeface="Cambria Math" panose="02040503050406030204" pitchFamily="18" charset="0"/>
                      </a:rPr>
                      <m:t> </m:t>
                    </m:r>
                  </m:oMath>
                </a14:m>
                <a:r>
                  <a:rPr lang="es-CO" dirty="0"/>
                  <a:t>/ I</a:t>
                </a:r>
                <a14:m>
                  <m:oMath xmlns:m="http://schemas.openxmlformats.org/officeDocument/2006/math">
                    <m:r>
                      <a:rPr lang="es-ES" b="0" i="0" smtClean="0">
                        <a:latin typeface="Cambria Math" panose="02040503050406030204" pitchFamily="18" charset="0"/>
                      </a:rPr>
                      <m:t> </m:t>
                    </m:r>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10</m:t>
                        </m:r>
                      </m:e>
                      <m:sup>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𝑑𝐵</m:t>
                                </m:r>
                              </m:num>
                              <m:den>
                                <m:r>
                                  <a:rPr lang="es-ES" i="1">
                                    <a:latin typeface="Cambria Math" panose="02040503050406030204" pitchFamily="18" charset="0"/>
                                  </a:rPr>
                                  <m:t>20</m:t>
                                </m:r>
                              </m:den>
                            </m:f>
                          </m:e>
                        </m:d>
                        <m:r>
                          <a:rPr lang="es-ES" b="0" i="1" smtClean="0">
                            <a:latin typeface="Cambria Math" panose="02040503050406030204" pitchFamily="18" charset="0"/>
                          </a:rPr>
                          <m:t>  </m:t>
                        </m:r>
                      </m:sup>
                    </m:sSup>
                  </m:oMath>
                </a14:m>
                <a:r>
                  <a:rPr lang="es-CO" dirty="0"/>
                  <a:t>/ </a:t>
                </a:r>
                <a14:m>
                  <m:oMath xmlns:m="http://schemas.openxmlformats.org/officeDocument/2006/math">
                    <m:r>
                      <m:rPr>
                        <m:sty m:val="p"/>
                      </m:rPr>
                      <a:rPr lang="es-ES" b="0" i="0" smtClean="0">
                        <a:latin typeface="Cambria Math" panose="02040503050406030204" pitchFamily="18" charset="0"/>
                      </a:rPr>
                      <m:t>P</m:t>
                    </m:r>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10</m:t>
                        </m:r>
                      </m:e>
                      <m:sup>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𝑑𝐵</m:t>
                                </m:r>
                              </m:num>
                              <m:den>
                                <m:r>
                                  <a:rPr lang="es-ES" b="0" i="1" smtClean="0">
                                    <a:latin typeface="Cambria Math" panose="02040503050406030204" pitchFamily="18" charset="0"/>
                                  </a:rPr>
                                  <m:t>1</m:t>
                                </m:r>
                                <m:r>
                                  <a:rPr lang="es-ES" i="1">
                                    <a:latin typeface="Cambria Math" panose="02040503050406030204" pitchFamily="18" charset="0"/>
                                  </a:rPr>
                                  <m:t>0</m:t>
                                </m:r>
                              </m:den>
                            </m:f>
                          </m:e>
                        </m:d>
                      </m:sup>
                    </m:sSup>
                  </m:oMath>
                </a14:m>
                <a:endParaRPr lang="es-CO" dirty="0"/>
              </a:p>
            </p:txBody>
          </p:sp>
        </mc:Choice>
        <mc:Fallback xmlns="">
          <p:sp>
            <p:nvSpPr>
              <p:cNvPr id="6" name="CuadroTexto 5">
                <a:extLst>
                  <a:ext uri="{FF2B5EF4-FFF2-40B4-BE49-F238E27FC236}">
                    <a16:creationId xmlns:a16="http://schemas.microsoft.com/office/drawing/2014/main" id="{BAC363C4-557C-74FC-A647-2E1B22DB3D88}"/>
                  </a:ext>
                </a:extLst>
              </p:cNvPr>
              <p:cNvSpPr txBox="1">
                <a:spLocks noRot="1" noChangeAspect="1" noMove="1" noResize="1" noEditPoints="1" noAdjustHandles="1" noChangeArrowheads="1" noChangeShapeType="1" noTextEdit="1"/>
              </p:cNvSpPr>
              <p:nvPr/>
            </p:nvSpPr>
            <p:spPr>
              <a:xfrm>
                <a:off x="241180" y="3012010"/>
                <a:ext cx="3716980" cy="491353"/>
              </a:xfrm>
              <a:prstGeom prst="rect">
                <a:avLst/>
              </a:prstGeom>
              <a:blipFill>
                <a:blip r:embed="rId6"/>
                <a:stretch>
                  <a:fillRect b="-1851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41423C26-B59C-92B5-4660-400451D2BDA6}"/>
                  </a:ext>
                </a:extLst>
              </p:cNvPr>
              <p:cNvSpPr txBox="1"/>
              <p:nvPr/>
            </p:nvSpPr>
            <p:spPr>
              <a:xfrm>
                <a:off x="350281" y="3773998"/>
                <a:ext cx="3498778" cy="1477328"/>
              </a:xfrm>
              <a:prstGeom prst="rect">
                <a:avLst/>
              </a:prstGeom>
              <a:noFill/>
            </p:spPr>
            <p:txBody>
              <a:bodyPr wrap="none" rtlCol="0">
                <a:spAutoFit/>
              </a:bodyPr>
              <a:lstStyle/>
              <a:p>
                <a:r>
                  <a:rPr lang="es-ES" dirty="0"/>
                  <a:t>Por ejemplo, 34 </a:t>
                </a:r>
                <a:r>
                  <a:rPr lang="es-ES" b="1" dirty="0"/>
                  <a:t>dB</a:t>
                </a:r>
                <a:r>
                  <a:rPr lang="es-ES" dirty="0"/>
                  <a:t> en </a:t>
                </a:r>
                <a:r>
                  <a:rPr lang="es-ES" b="1" dirty="0"/>
                  <a:t>voltaje</a:t>
                </a:r>
                <a:r>
                  <a:rPr lang="es-ES" dirty="0"/>
                  <a:t> sería:</a:t>
                </a:r>
              </a:p>
              <a:p>
                <a:endParaRPr lang="es-ES" dirty="0"/>
              </a:p>
              <a:p>
                <a:r>
                  <a:rPr lang="es-ES" dirty="0"/>
                  <a:t>34/20 = 1,7</a:t>
                </a:r>
              </a:p>
              <a:p>
                <a:endParaRPr lang="es-ES" dirty="0"/>
              </a:p>
              <a:p>
                <a:pPr/>
                <a14:m>
                  <m:oMathPara xmlns:m="http://schemas.openxmlformats.org/officeDocument/2006/math">
                    <m:oMathParaPr>
                      <m:jc m:val="left"/>
                    </m:oMathParaPr>
                    <m:oMath xmlns:m="http://schemas.openxmlformats.org/officeDocument/2006/math">
                      <m:sSup>
                        <m:sSupPr>
                          <m:ctrlPr>
                            <a:rPr lang="es-CO" i="1" smtClean="0">
                              <a:latin typeface="Cambria Math" panose="02040503050406030204" pitchFamily="18" charset="0"/>
                            </a:rPr>
                          </m:ctrlPr>
                        </m:sSupPr>
                        <m:e>
                          <m:r>
                            <a:rPr lang="es-ES" b="0" i="1" smtClean="0">
                              <a:latin typeface="Cambria Math" panose="02040503050406030204" pitchFamily="18" charset="0"/>
                            </a:rPr>
                            <m:t>10</m:t>
                          </m:r>
                        </m:e>
                        <m:sup>
                          <m:r>
                            <a:rPr lang="es-ES" b="0" i="1" smtClean="0">
                              <a:latin typeface="Cambria Math" panose="02040503050406030204" pitchFamily="18" charset="0"/>
                            </a:rPr>
                            <m:t>1,7</m:t>
                          </m:r>
                        </m:sup>
                      </m:sSup>
                      <m:r>
                        <a:rPr lang="es-ES" b="0" i="0" smtClean="0">
                          <a:latin typeface="Cambria Math" panose="02040503050406030204" pitchFamily="18" charset="0"/>
                        </a:rPr>
                        <m:t>=50,12 </m:t>
                      </m:r>
                      <m:r>
                        <m:rPr>
                          <m:sty m:val="p"/>
                        </m:rPr>
                        <a:rPr lang="es-ES" b="0" i="0" smtClean="0">
                          <a:latin typeface="Cambria Math" panose="02040503050406030204" pitchFamily="18" charset="0"/>
                        </a:rPr>
                        <m:t>v</m:t>
                      </m:r>
                    </m:oMath>
                  </m:oMathPara>
                </a14:m>
                <a:endParaRPr lang="es-CO" dirty="0"/>
              </a:p>
            </p:txBody>
          </p:sp>
        </mc:Choice>
        <mc:Fallback xmlns="">
          <p:sp>
            <p:nvSpPr>
              <p:cNvPr id="7" name="CuadroTexto 6">
                <a:extLst>
                  <a:ext uri="{FF2B5EF4-FFF2-40B4-BE49-F238E27FC236}">
                    <a16:creationId xmlns:a16="http://schemas.microsoft.com/office/drawing/2014/main" id="{41423C26-B59C-92B5-4660-400451D2BDA6}"/>
                  </a:ext>
                </a:extLst>
              </p:cNvPr>
              <p:cNvSpPr txBox="1">
                <a:spLocks noRot="1" noChangeAspect="1" noMove="1" noResize="1" noEditPoints="1" noAdjustHandles="1" noChangeArrowheads="1" noChangeShapeType="1" noTextEdit="1"/>
              </p:cNvSpPr>
              <p:nvPr/>
            </p:nvSpPr>
            <p:spPr>
              <a:xfrm>
                <a:off x="350281" y="3773998"/>
                <a:ext cx="3498778" cy="1477328"/>
              </a:xfrm>
              <a:prstGeom prst="rect">
                <a:avLst/>
              </a:prstGeom>
              <a:blipFill>
                <a:blip r:embed="rId7"/>
                <a:stretch>
                  <a:fillRect l="-1394" t="-2066" r="-1568"/>
                </a:stretch>
              </a:blipFill>
            </p:spPr>
            <p:txBody>
              <a:bodyPr/>
              <a:lstStyle/>
              <a:p>
                <a:r>
                  <a:rPr lang="es-CO">
                    <a:noFill/>
                  </a:rPr>
                  <a:t> </a:t>
                </a:r>
              </a:p>
            </p:txBody>
          </p:sp>
        </mc:Fallback>
      </mc:AlternateContent>
      <p:sp>
        <p:nvSpPr>
          <p:cNvPr id="8" name="CuadroTexto 7">
            <a:extLst>
              <a:ext uri="{FF2B5EF4-FFF2-40B4-BE49-F238E27FC236}">
                <a16:creationId xmlns:a16="http://schemas.microsoft.com/office/drawing/2014/main" id="{79C82DF2-698E-37AD-4F2F-B1A7A68F54AF}"/>
              </a:ext>
            </a:extLst>
          </p:cNvPr>
          <p:cNvSpPr txBox="1"/>
          <p:nvPr/>
        </p:nvSpPr>
        <p:spPr>
          <a:xfrm>
            <a:off x="4370625" y="3041698"/>
            <a:ext cx="4868640" cy="923330"/>
          </a:xfrm>
          <a:prstGeom prst="rect">
            <a:avLst/>
          </a:prstGeom>
          <a:noFill/>
        </p:spPr>
        <p:txBody>
          <a:bodyPr wrap="none" rtlCol="0">
            <a:spAutoFit/>
          </a:bodyPr>
          <a:lstStyle/>
          <a:p>
            <a:r>
              <a:rPr lang="es-ES" dirty="0"/>
              <a:t>dB = 20 x log(v) / dB = 20 x log(I) / dB = 10 x log(P)</a:t>
            </a:r>
            <a:endParaRPr lang="es-CO" dirty="0"/>
          </a:p>
          <a:p>
            <a:endParaRPr lang="es-CO" dirty="0"/>
          </a:p>
          <a:p>
            <a:endParaRPr lang="es-CO"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A87E57E-98AF-D839-BF3D-D41FFA8F6A22}"/>
                  </a:ext>
                </a:extLst>
              </p:cNvPr>
              <p:cNvSpPr txBox="1"/>
              <p:nvPr/>
            </p:nvSpPr>
            <p:spPr>
              <a:xfrm>
                <a:off x="5111939" y="3714902"/>
                <a:ext cx="3467296" cy="1500988"/>
              </a:xfrm>
              <a:prstGeom prst="rect">
                <a:avLst/>
              </a:prstGeom>
              <a:noFill/>
            </p:spPr>
            <p:txBody>
              <a:bodyPr wrap="none" rtlCol="0">
                <a:spAutoFit/>
              </a:bodyPr>
              <a:lstStyle/>
              <a:p>
                <a:r>
                  <a:rPr lang="es-ES" dirty="0"/>
                  <a:t>Por ejemplo, pasar de </a:t>
                </a:r>
                <a:r>
                  <a:rPr lang="es-ES" b="1" dirty="0"/>
                  <a:t>voltaje</a:t>
                </a:r>
                <a:r>
                  <a:rPr lang="es-ES" dirty="0"/>
                  <a:t> a </a:t>
                </a:r>
                <a:r>
                  <a:rPr lang="es-ES" b="1" dirty="0"/>
                  <a:t>dB</a:t>
                </a:r>
                <a:r>
                  <a:rPr lang="es-ES" dirty="0"/>
                  <a:t>:</a:t>
                </a:r>
              </a:p>
              <a:p>
                <a:endParaRPr lang="es-ES" dirty="0"/>
              </a:p>
              <a:p>
                <a14:m>
                  <m:oMath xmlns:m="http://schemas.openxmlformats.org/officeDocument/2006/math">
                    <m:sSub>
                      <m:sSubPr>
                        <m:ctrlPr>
                          <a:rPr lang="es-ES" i="1" dirty="0" smtClean="0">
                            <a:latin typeface="Cambria Math" panose="02040503050406030204" pitchFamily="18" charset="0"/>
                          </a:rPr>
                        </m:ctrlPr>
                      </m:sSubPr>
                      <m:e>
                        <m:r>
                          <m:rPr>
                            <m:sty m:val="p"/>
                          </m:rPr>
                          <a:rPr lang="es-ES" dirty="0" smtClean="0">
                            <a:latin typeface="Cambria Math" panose="02040503050406030204" pitchFamily="18" charset="0"/>
                          </a:rPr>
                          <m:t>log</m:t>
                        </m:r>
                      </m:e>
                      <m:sub>
                        <m:r>
                          <a:rPr lang="es-ES" i="0" dirty="0" smtClean="0">
                            <a:latin typeface="Cambria Math" panose="02040503050406030204" pitchFamily="18" charset="0"/>
                          </a:rPr>
                          <m:t>1</m:t>
                        </m:r>
                        <m:r>
                          <a:rPr lang="es-ES" b="0" i="1" dirty="0" smtClean="0">
                            <a:latin typeface="Cambria Math" panose="02040503050406030204" pitchFamily="18" charset="0"/>
                          </a:rPr>
                          <m:t>0</m:t>
                        </m:r>
                      </m:sub>
                    </m:sSub>
                  </m:oMath>
                </a14:m>
                <a:r>
                  <a:rPr lang="es-ES" dirty="0"/>
                  <a:t> 10 50,12 = 1,70</a:t>
                </a:r>
              </a:p>
              <a:p>
                <a:endParaRPr lang="es-ES" dirty="0"/>
              </a:p>
              <a:p>
                <a:r>
                  <a:rPr lang="es-ES" b="0" dirty="0"/>
                  <a:t>1,70 x 20 </a:t>
                </a:r>
                <a14:m>
                  <m:oMath xmlns:m="http://schemas.openxmlformats.org/officeDocument/2006/math">
                    <m:r>
                      <a:rPr lang="es-ES" b="0" i="0" smtClean="0">
                        <a:latin typeface="Cambria Math" panose="02040503050406030204" pitchFamily="18" charset="0"/>
                      </a:rPr>
                      <m:t>=34 </m:t>
                    </m:r>
                    <m:r>
                      <m:rPr>
                        <m:sty m:val="p"/>
                      </m:rPr>
                      <a:rPr lang="es-ES" b="0" i="0" smtClean="0">
                        <a:latin typeface="Cambria Math" panose="02040503050406030204" pitchFamily="18" charset="0"/>
                      </a:rPr>
                      <m:t>dB</m:t>
                    </m:r>
                  </m:oMath>
                </a14:m>
                <a:endParaRPr lang="es-CO" dirty="0"/>
              </a:p>
            </p:txBody>
          </p:sp>
        </mc:Choice>
        <mc:Fallback xmlns="">
          <p:sp>
            <p:nvSpPr>
              <p:cNvPr id="9" name="CuadroTexto 8">
                <a:extLst>
                  <a:ext uri="{FF2B5EF4-FFF2-40B4-BE49-F238E27FC236}">
                    <a16:creationId xmlns:a16="http://schemas.microsoft.com/office/drawing/2014/main" id="{7A87E57E-98AF-D839-BF3D-D41FFA8F6A22}"/>
                  </a:ext>
                </a:extLst>
              </p:cNvPr>
              <p:cNvSpPr txBox="1">
                <a:spLocks noRot="1" noChangeAspect="1" noMove="1" noResize="1" noEditPoints="1" noAdjustHandles="1" noChangeArrowheads="1" noChangeShapeType="1" noTextEdit="1"/>
              </p:cNvSpPr>
              <p:nvPr/>
            </p:nvSpPr>
            <p:spPr>
              <a:xfrm>
                <a:off x="5111939" y="3714902"/>
                <a:ext cx="3467296" cy="1500988"/>
              </a:xfrm>
              <a:prstGeom prst="rect">
                <a:avLst/>
              </a:prstGeom>
              <a:blipFill>
                <a:blip r:embed="rId8"/>
                <a:stretch>
                  <a:fillRect l="-1585" t="-2024" r="-528" b="-3644"/>
                </a:stretch>
              </a:blipFill>
            </p:spPr>
            <p:txBody>
              <a:bodyPr/>
              <a:lstStyle/>
              <a:p>
                <a:r>
                  <a:rPr lang="es-CO">
                    <a:noFill/>
                  </a:rPr>
                  <a:t> </a:t>
                </a:r>
              </a:p>
            </p:txBody>
          </p:sp>
        </mc:Fallback>
      </mc:AlternateContent>
      <p:sp>
        <p:nvSpPr>
          <p:cNvPr id="10" name="CuadroTexto 9">
            <a:extLst>
              <a:ext uri="{FF2B5EF4-FFF2-40B4-BE49-F238E27FC236}">
                <a16:creationId xmlns:a16="http://schemas.microsoft.com/office/drawing/2014/main" id="{EE6F2457-1CB6-2ACA-F8D8-0580549EB895}"/>
              </a:ext>
            </a:extLst>
          </p:cNvPr>
          <p:cNvSpPr txBox="1"/>
          <p:nvPr/>
        </p:nvSpPr>
        <p:spPr>
          <a:xfrm>
            <a:off x="560127" y="5576107"/>
            <a:ext cx="8648258" cy="261610"/>
          </a:xfrm>
          <a:prstGeom prst="rect">
            <a:avLst/>
          </a:prstGeom>
          <a:noFill/>
        </p:spPr>
        <p:txBody>
          <a:bodyPr wrap="square" rtlCol="0">
            <a:spAutoFit/>
          </a:bodyPr>
          <a:lstStyle/>
          <a:p>
            <a:r>
              <a:rPr lang="es-ES" sz="1100" dirty="0"/>
              <a:t>Problema…A cierta frecuencia, el voltaje de salida de un filtro es de 5 V y el de entrada de 10 V. Exprese la relación de voltaje en decibeles.</a:t>
            </a:r>
            <a:endParaRPr lang="es-CO" sz="1100" dirty="0"/>
          </a:p>
        </p:txBody>
      </p:sp>
    </p:spTree>
    <p:custDataLst>
      <p:tags r:id="rId1"/>
    </p:custDataLst>
    <p:extLst>
      <p:ext uri="{BB962C8B-B14F-4D97-AF65-F5344CB8AC3E}">
        <p14:creationId xmlns:p14="http://schemas.microsoft.com/office/powerpoint/2010/main" val="655818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1BE83-5477-4B0D-62C6-B1A3AB5D2A44}"/>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52F5B3AE-4BF1-721A-6ED0-0B85E9DA213C}"/>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5AEA3F97-66D1-8F6D-E441-CA1CB2FB6D3F}"/>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a:t>
            </a:r>
            <a:r>
              <a:rPr lang="es-ES" sz="700" dirty="0" err="1">
                <a:solidFill>
                  <a:schemeClr val="bg1"/>
                </a:solidFill>
                <a:latin typeface="Arial"/>
              </a:rPr>
              <a:t>Boylestad</a:t>
            </a:r>
            <a:r>
              <a:rPr lang="es-ES" sz="700" dirty="0">
                <a:solidFill>
                  <a:schemeClr val="bg1"/>
                </a:solidFill>
                <a:latin typeface="Arial"/>
              </a:rPr>
              <a:t> R., Introducción al análisis de circuitos, 12a edición, 2011, Pearson.</a:t>
            </a:r>
            <a:endParaRPr lang="en-US" sz="700" dirty="0">
              <a:solidFill>
                <a:schemeClr val="bg1"/>
              </a:solidFill>
              <a:cs typeface="Calibri"/>
            </a:endParaRPr>
          </a:p>
        </p:txBody>
      </p:sp>
      <p:pic>
        <p:nvPicPr>
          <p:cNvPr id="9" name="Imagen 8">
            <a:extLst>
              <a:ext uri="{FF2B5EF4-FFF2-40B4-BE49-F238E27FC236}">
                <a16:creationId xmlns:a16="http://schemas.microsoft.com/office/drawing/2014/main" id="{280BA7F9-0FDC-4EAF-5803-417A93D5BF1A}"/>
              </a:ext>
            </a:extLst>
          </p:cNvPr>
          <p:cNvPicPr>
            <a:picLocks noChangeAspect="1"/>
          </p:cNvPicPr>
          <p:nvPr/>
        </p:nvPicPr>
        <p:blipFill>
          <a:blip r:embed="rId4"/>
          <a:stretch>
            <a:fillRect/>
          </a:stretch>
        </p:blipFill>
        <p:spPr>
          <a:xfrm>
            <a:off x="135463" y="1575625"/>
            <a:ext cx="4036985" cy="2022844"/>
          </a:xfrm>
          <a:prstGeom prst="rect">
            <a:avLst/>
          </a:prstGeom>
        </p:spPr>
      </p:pic>
      <p:pic>
        <p:nvPicPr>
          <p:cNvPr id="11" name="Imagen 10">
            <a:extLst>
              <a:ext uri="{FF2B5EF4-FFF2-40B4-BE49-F238E27FC236}">
                <a16:creationId xmlns:a16="http://schemas.microsoft.com/office/drawing/2014/main" id="{0C116BA8-6AF3-9A7B-FB7B-24295888EA0C}"/>
              </a:ext>
            </a:extLst>
          </p:cNvPr>
          <p:cNvPicPr>
            <a:picLocks noChangeAspect="1"/>
          </p:cNvPicPr>
          <p:nvPr/>
        </p:nvPicPr>
        <p:blipFill>
          <a:blip r:embed="rId5"/>
          <a:stretch>
            <a:fillRect/>
          </a:stretch>
        </p:blipFill>
        <p:spPr>
          <a:xfrm>
            <a:off x="5736577" y="2001162"/>
            <a:ext cx="2569960" cy="1804307"/>
          </a:xfrm>
          <a:prstGeom prst="rect">
            <a:avLst/>
          </a:prstGeom>
        </p:spPr>
      </p:pic>
      <p:sp>
        <p:nvSpPr>
          <p:cNvPr id="12" name="Rectángulo 6">
            <a:extLst>
              <a:ext uri="{FF2B5EF4-FFF2-40B4-BE49-F238E27FC236}">
                <a16:creationId xmlns:a16="http://schemas.microsoft.com/office/drawing/2014/main" id="{53B1ED33-2D48-7C70-0F36-B2850BFE8D7A}"/>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Impedancias en R, L y C</a:t>
            </a:r>
            <a:endParaRPr lang="en-US" dirty="0"/>
          </a:p>
        </p:txBody>
      </p:sp>
      <p:pic>
        <p:nvPicPr>
          <p:cNvPr id="4" name="Picture 4" descr="Shape, rectangle&#10;&#10;Description automatically generated">
            <a:extLst>
              <a:ext uri="{FF2B5EF4-FFF2-40B4-BE49-F238E27FC236}">
                <a16:creationId xmlns:a16="http://schemas.microsoft.com/office/drawing/2014/main" id="{32445132-479B-E2D2-E11A-6700F4C648A9}"/>
              </a:ext>
            </a:extLst>
          </p:cNvPr>
          <p:cNvPicPr>
            <a:picLocks noChangeAspect="1"/>
          </p:cNvPicPr>
          <p:nvPr/>
        </p:nvPicPr>
        <p:blipFill>
          <a:blip r:embed="rId6"/>
          <a:stretch>
            <a:fillRect/>
          </a:stretch>
        </p:blipFill>
        <p:spPr>
          <a:xfrm>
            <a:off x="4850363" y="750113"/>
            <a:ext cx="901275" cy="983775"/>
          </a:xfrm>
          <a:prstGeom prst="rect">
            <a:avLst/>
          </a:prstGeom>
        </p:spPr>
      </p:pic>
      <p:pic>
        <p:nvPicPr>
          <p:cNvPr id="5" name="Picture 5" descr="A picture containing text, clock&#10;&#10;Description automatically generated">
            <a:extLst>
              <a:ext uri="{FF2B5EF4-FFF2-40B4-BE49-F238E27FC236}">
                <a16:creationId xmlns:a16="http://schemas.microsoft.com/office/drawing/2014/main" id="{67BAA393-C4F1-44FC-85B9-092CF11B931F}"/>
              </a:ext>
            </a:extLst>
          </p:cNvPr>
          <p:cNvPicPr>
            <a:picLocks noChangeAspect="1"/>
          </p:cNvPicPr>
          <p:nvPr/>
        </p:nvPicPr>
        <p:blipFill>
          <a:blip r:embed="rId7"/>
          <a:stretch>
            <a:fillRect/>
          </a:stretch>
        </p:blipFill>
        <p:spPr>
          <a:xfrm>
            <a:off x="7528613" y="1506900"/>
            <a:ext cx="854775" cy="424200"/>
          </a:xfrm>
          <a:prstGeom prst="rect">
            <a:avLst/>
          </a:prstGeom>
        </p:spPr>
      </p:pic>
      <p:pic>
        <p:nvPicPr>
          <p:cNvPr id="6" name="Picture 6" descr="Text&#10;&#10;Description automatically generated">
            <a:extLst>
              <a:ext uri="{FF2B5EF4-FFF2-40B4-BE49-F238E27FC236}">
                <a16:creationId xmlns:a16="http://schemas.microsoft.com/office/drawing/2014/main" id="{74B95D30-D5FD-AD36-B5F2-D219FB749176}"/>
              </a:ext>
            </a:extLst>
          </p:cNvPr>
          <p:cNvPicPr>
            <a:picLocks noChangeAspect="1"/>
          </p:cNvPicPr>
          <p:nvPr/>
        </p:nvPicPr>
        <p:blipFill>
          <a:blip r:embed="rId8"/>
          <a:stretch>
            <a:fillRect/>
          </a:stretch>
        </p:blipFill>
        <p:spPr>
          <a:xfrm>
            <a:off x="6823425" y="810150"/>
            <a:ext cx="924150" cy="377700"/>
          </a:xfrm>
          <a:prstGeom prst="rect">
            <a:avLst/>
          </a:prstGeom>
        </p:spPr>
      </p:pic>
      <p:cxnSp>
        <p:nvCxnSpPr>
          <p:cNvPr id="7" name="Straight Arrow Connector 6">
            <a:extLst>
              <a:ext uri="{FF2B5EF4-FFF2-40B4-BE49-F238E27FC236}">
                <a16:creationId xmlns:a16="http://schemas.microsoft.com/office/drawing/2014/main" id="{D624EB35-9EC5-1285-8623-CA5CE42CF530}"/>
              </a:ext>
            </a:extLst>
          </p:cNvPr>
          <p:cNvCxnSpPr/>
          <p:nvPr/>
        </p:nvCxnSpPr>
        <p:spPr>
          <a:xfrm>
            <a:off x="6877800" y="1225800"/>
            <a:ext cx="5400" cy="905400"/>
          </a:xfrm>
          <a:prstGeom prst="straightConnector1">
            <a:avLst/>
          </a:prstGeom>
          <a:ln>
            <a:prstDash val="dash"/>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B6DAEE5D-0D9A-8258-4BC6-59767CB556C7}"/>
              </a:ext>
            </a:extLst>
          </p:cNvPr>
          <p:cNvCxnSpPr>
            <a:cxnSpLocks/>
          </p:cNvCxnSpPr>
          <p:nvPr/>
        </p:nvCxnSpPr>
        <p:spPr>
          <a:xfrm>
            <a:off x="7570800" y="1972800"/>
            <a:ext cx="5400" cy="239400"/>
          </a:xfrm>
          <a:prstGeom prst="straightConnector1">
            <a:avLst/>
          </a:prstGeom>
          <a:ln>
            <a:prstDash val="dash"/>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55A8DD26-82B2-FAF3-24CA-9D58C986CFD5}"/>
              </a:ext>
            </a:extLst>
          </p:cNvPr>
          <p:cNvSpPr txBox="1"/>
          <p:nvPr/>
        </p:nvSpPr>
        <p:spPr>
          <a:xfrm>
            <a:off x="6746400" y="608400"/>
            <a:ext cx="1411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MX" sz="1100" dirty="0"/>
              <a:t>Reactancia inductiva</a:t>
            </a:r>
            <a:endParaRPr lang="en-US" sz="1100" dirty="0"/>
          </a:p>
        </p:txBody>
      </p:sp>
      <p:sp>
        <p:nvSpPr>
          <p:cNvPr id="10" name="TextBox 9">
            <a:extLst>
              <a:ext uri="{FF2B5EF4-FFF2-40B4-BE49-F238E27FC236}">
                <a16:creationId xmlns:a16="http://schemas.microsoft.com/office/drawing/2014/main" id="{7A23FEF0-5FAD-361F-3C61-64ACE1C460FB}"/>
              </a:ext>
            </a:extLst>
          </p:cNvPr>
          <p:cNvSpPr txBox="1"/>
          <p:nvPr/>
        </p:nvSpPr>
        <p:spPr>
          <a:xfrm>
            <a:off x="7421400" y="1292399"/>
            <a:ext cx="1411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MX" sz="1100" dirty="0"/>
              <a:t>Reactancia capacitiva</a:t>
            </a:r>
            <a:endParaRPr lang="en-US" sz="1100" dirty="0"/>
          </a:p>
        </p:txBody>
      </p:sp>
      <p:pic>
        <p:nvPicPr>
          <p:cNvPr id="13" name="Picture 13" descr="Diagram&#10;&#10;Description automatically generated">
            <a:extLst>
              <a:ext uri="{FF2B5EF4-FFF2-40B4-BE49-F238E27FC236}">
                <a16:creationId xmlns:a16="http://schemas.microsoft.com/office/drawing/2014/main" id="{9351428D-986E-DDD8-E007-8FAAEB5264D9}"/>
              </a:ext>
            </a:extLst>
          </p:cNvPr>
          <p:cNvPicPr>
            <a:picLocks noChangeAspect="1"/>
          </p:cNvPicPr>
          <p:nvPr/>
        </p:nvPicPr>
        <p:blipFill>
          <a:blip r:embed="rId9"/>
          <a:stretch>
            <a:fillRect/>
          </a:stretch>
        </p:blipFill>
        <p:spPr>
          <a:xfrm>
            <a:off x="1069875" y="4399875"/>
            <a:ext cx="2743200" cy="1085850"/>
          </a:xfrm>
          <a:prstGeom prst="rect">
            <a:avLst/>
          </a:prstGeom>
        </p:spPr>
      </p:pic>
      <p:pic>
        <p:nvPicPr>
          <p:cNvPr id="14" name="Picture 14">
            <a:extLst>
              <a:ext uri="{FF2B5EF4-FFF2-40B4-BE49-F238E27FC236}">
                <a16:creationId xmlns:a16="http://schemas.microsoft.com/office/drawing/2014/main" id="{757639A8-EC3E-ECD9-15A8-4A15B80C0A28}"/>
              </a:ext>
            </a:extLst>
          </p:cNvPr>
          <p:cNvPicPr>
            <a:picLocks noChangeAspect="1"/>
          </p:cNvPicPr>
          <p:nvPr/>
        </p:nvPicPr>
        <p:blipFill>
          <a:blip r:embed="rId10"/>
          <a:stretch>
            <a:fillRect/>
          </a:stretch>
        </p:blipFill>
        <p:spPr>
          <a:xfrm>
            <a:off x="5325750" y="4479750"/>
            <a:ext cx="2743200" cy="619125"/>
          </a:xfrm>
          <a:prstGeom prst="rect">
            <a:avLst/>
          </a:prstGeom>
        </p:spPr>
      </p:pic>
      <p:pic>
        <p:nvPicPr>
          <p:cNvPr id="15" name="Picture 15">
            <a:extLst>
              <a:ext uri="{FF2B5EF4-FFF2-40B4-BE49-F238E27FC236}">
                <a16:creationId xmlns:a16="http://schemas.microsoft.com/office/drawing/2014/main" id="{128BB49D-4EBF-F0F6-ED04-C5BFDF2FE66B}"/>
              </a:ext>
            </a:extLst>
          </p:cNvPr>
          <p:cNvPicPr>
            <a:picLocks noChangeAspect="1"/>
          </p:cNvPicPr>
          <p:nvPr/>
        </p:nvPicPr>
        <p:blipFill>
          <a:blip r:embed="rId11"/>
          <a:stretch>
            <a:fillRect/>
          </a:stretch>
        </p:blipFill>
        <p:spPr>
          <a:xfrm>
            <a:off x="5045625" y="5369625"/>
            <a:ext cx="3305175" cy="171450"/>
          </a:xfrm>
          <a:prstGeom prst="rect">
            <a:avLst/>
          </a:prstGeom>
        </p:spPr>
      </p:pic>
      <p:sp>
        <p:nvSpPr>
          <p:cNvPr id="18" name="Marcador de número de diapositiva 3">
            <a:extLst>
              <a:ext uri="{FF2B5EF4-FFF2-40B4-BE49-F238E27FC236}">
                <a16:creationId xmlns:a16="http://schemas.microsoft.com/office/drawing/2014/main" id="{84C8C916-DB37-F4B1-B08A-44C5ADA7AA54}"/>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sp>
        <p:nvSpPr>
          <p:cNvPr id="19" name="Título 1">
            <a:extLst>
              <a:ext uri="{FF2B5EF4-FFF2-40B4-BE49-F238E27FC236}">
                <a16:creationId xmlns:a16="http://schemas.microsoft.com/office/drawing/2014/main" id="{86AB2166-5E86-B511-C440-2C1CF715668D}"/>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Tree>
    <p:custDataLst>
      <p:tags r:id="rId1"/>
    </p:custDataLst>
    <p:extLst>
      <p:ext uri="{BB962C8B-B14F-4D97-AF65-F5344CB8AC3E}">
        <p14:creationId xmlns:p14="http://schemas.microsoft.com/office/powerpoint/2010/main" val="466269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5" descr="Diagram&#10;&#10;Description automatically generated">
            <a:extLst>
              <a:ext uri="{FF2B5EF4-FFF2-40B4-BE49-F238E27FC236}">
                <a16:creationId xmlns:a16="http://schemas.microsoft.com/office/drawing/2014/main" id="{E2B4F1A9-C22A-B2E7-63D0-C558667E2C57}"/>
              </a:ext>
            </a:extLst>
          </p:cNvPr>
          <p:cNvPicPr>
            <a:picLocks noChangeAspect="1"/>
          </p:cNvPicPr>
          <p:nvPr/>
        </p:nvPicPr>
        <p:blipFill>
          <a:blip r:embed="rId4"/>
          <a:stretch>
            <a:fillRect/>
          </a:stretch>
        </p:blipFill>
        <p:spPr>
          <a:xfrm>
            <a:off x="6458400" y="548954"/>
            <a:ext cx="2653200" cy="2331092"/>
          </a:xfrm>
          <a:prstGeom prst="rect">
            <a:avLst/>
          </a:prstGeom>
        </p:spPr>
      </p:pic>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Circuitos RLC </a:t>
            </a:r>
            <a:r>
              <a:rPr lang="es-ES" sz="1400" dirty="0">
                <a:solidFill>
                  <a:srgbClr val="2C5697"/>
                </a:solidFill>
                <a:latin typeface="Arial"/>
                <a:cs typeface="Arial"/>
                <a:sym typeface="Times New Roman"/>
              </a:rPr>
              <a:t>(serie)</a:t>
            </a:r>
            <a:endParaRPr lang="en-US" sz="1600" dirty="0">
              <a:cs typeface="Calibri"/>
            </a:endParaRPr>
          </a:p>
        </p:txBody>
      </p:sp>
      <p:sp>
        <p:nvSpPr>
          <p:cNvPr id="5" name="TextBox 4">
            <a:extLst>
              <a:ext uri="{FF2B5EF4-FFF2-40B4-BE49-F238E27FC236}">
                <a16:creationId xmlns:a16="http://schemas.microsoft.com/office/drawing/2014/main" id="{2174E5AE-680C-166E-64A9-2056EC6FD71E}"/>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Floyd, Thomas. Principios de circuitos eléctricos, 8a edición, 2007, Pearson </a:t>
            </a:r>
            <a:r>
              <a:rPr lang="es-ES" sz="700" dirty="0" err="1">
                <a:solidFill>
                  <a:schemeClr val="bg1"/>
                </a:solidFill>
                <a:latin typeface="Arial"/>
              </a:rPr>
              <a:t>Education</a:t>
            </a:r>
            <a:r>
              <a:rPr lang="es-ES" sz="700" dirty="0">
                <a:solidFill>
                  <a:schemeClr val="bg1"/>
                </a:solidFill>
                <a:latin typeface="Arial"/>
              </a:rPr>
              <a:t>.</a:t>
            </a:r>
            <a:endParaRPr lang="en-US" sz="700" dirty="0">
              <a:solidFill>
                <a:schemeClr val="bg1"/>
              </a:solidFill>
              <a:cs typeface="Calibri"/>
            </a:endParaRPr>
          </a:p>
        </p:txBody>
      </p:sp>
      <p:sp>
        <p:nvSpPr>
          <p:cNvPr id="7" name="CuadroTexto 9">
            <a:extLst>
              <a:ext uri="{FF2B5EF4-FFF2-40B4-BE49-F238E27FC236}">
                <a16:creationId xmlns:a16="http://schemas.microsoft.com/office/drawing/2014/main" id="{819DB25A-153B-59BE-2CD0-6C4C4B5D1038}"/>
              </a:ext>
            </a:extLst>
          </p:cNvPr>
          <p:cNvSpPr txBox="1"/>
          <p:nvPr/>
        </p:nvSpPr>
        <p:spPr>
          <a:xfrm>
            <a:off x="21248" y="609144"/>
            <a:ext cx="6538223" cy="1569660"/>
          </a:xfrm>
          <a:prstGeom prst="rect">
            <a:avLst/>
          </a:prstGeom>
          <a:noFill/>
        </p:spPr>
        <p:txBody>
          <a:bodyPr wrap="square" lIns="91440" tIns="45720" rIns="91440" bIns="45720" anchor="t">
            <a:spAutoFit/>
          </a:bodyPr>
          <a:lstStyle/>
          <a:p>
            <a:pPr marL="285750" indent="-285750">
              <a:buFont typeface="Arial"/>
              <a:buChar char="•"/>
            </a:pPr>
            <a:r>
              <a:rPr lang="es-MX" sz="1200" dirty="0">
                <a:ea typeface="+mn-lt"/>
                <a:cs typeface="+mn-lt"/>
              </a:rPr>
              <a:t>Como </a:t>
            </a:r>
            <a:r>
              <a:rPr lang="es-MX" sz="1200" b="1" i="1" dirty="0">
                <a:solidFill>
                  <a:srgbClr val="2C5697"/>
                </a:solidFill>
                <a:ea typeface="+mn-lt"/>
                <a:cs typeface="+mn-lt"/>
              </a:rPr>
              <a:t>X</a:t>
            </a:r>
            <a:r>
              <a:rPr lang="es-MX" sz="1200" b="1" i="1" baseline="-25000" dirty="0">
                <a:solidFill>
                  <a:srgbClr val="2C5697"/>
                </a:solidFill>
                <a:ea typeface="+mn-lt"/>
                <a:cs typeface="+mn-lt"/>
              </a:rPr>
              <a:t>L</a:t>
            </a:r>
            <a:r>
              <a:rPr lang="es-MX" sz="1200" dirty="0">
                <a:ea typeface="+mn-lt"/>
                <a:cs typeface="+mn-lt"/>
              </a:rPr>
              <a:t> y </a:t>
            </a:r>
            <a:r>
              <a:rPr lang="es-MX" sz="1200" b="1" i="1" dirty="0">
                <a:solidFill>
                  <a:srgbClr val="2C5697"/>
                </a:solidFill>
                <a:ea typeface="+mn-lt"/>
                <a:cs typeface="+mn-lt"/>
              </a:rPr>
              <a:t>X</a:t>
            </a:r>
            <a:r>
              <a:rPr lang="es-MX" sz="1200" b="1" i="1" baseline="-25000" dirty="0">
                <a:solidFill>
                  <a:srgbClr val="2C5697"/>
                </a:solidFill>
                <a:ea typeface="+mn-lt"/>
                <a:cs typeface="+mn-lt"/>
              </a:rPr>
              <a:t>C</a:t>
            </a:r>
            <a:r>
              <a:rPr lang="es-MX" sz="1200" dirty="0">
                <a:ea typeface="+mn-lt"/>
                <a:cs typeface="+mn-lt"/>
              </a:rPr>
              <a:t> tienen efectos opuestos en el ángulo de fase del circuito, la reactancia total es menor que cualquier reactancia individual</a:t>
            </a:r>
          </a:p>
          <a:p>
            <a:pPr marL="285750" indent="-285750">
              <a:buFont typeface="Arial"/>
              <a:buChar char="•"/>
            </a:pPr>
            <a:endParaRPr lang="es-MX" sz="1200" dirty="0">
              <a:ea typeface="+mn-lt"/>
              <a:cs typeface="+mn-lt"/>
            </a:endParaRPr>
          </a:p>
          <a:p>
            <a:pPr marL="285750" indent="-285750">
              <a:buFont typeface="Arial,Sans-Serif"/>
              <a:buChar char="•"/>
            </a:pPr>
            <a:r>
              <a:rPr lang="es-MX" sz="1200" dirty="0">
                <a:ea typeface="+mn-lt"/>
                <a:cs typeface="+mn-lt"/>
              </a:rPr>
              <a:t>La </a:t>
            </a:r>
            <a:r>
              <a:rPr lang="es-MX" sz="1200" b="1" i="1" dirty="0">
                <a:solidFill>
                  <a:srgbClr val="2C5697"/>
                </a:solidFill>
                <a:ea typeface="+mn-lt"/>
                <a:cs typeface="+mn-lt"/>
              </a:rPr>
              <a:t>X</a:t>
            </a:r>
            <a:r>
              <a:rPr lang="es-MX" sz="1200" b="1" i="1" baseline="-25000" dirty="0">
                <a:solidFill>
                  <a:srgbClr val="2C5697"/>
                </a:solidFill>
                <a:ea typeface="+mn-lt"/>
                <a:cs typeface="+mn-lt"/>
              </a:rPr>
              <a:t>C</a:t>
            </a:r>
            <a:r>
              <a:rPr lang="es-MX" sz="1200" dirty="0">
                <a:ea typeface="+mn-lt"/>
                <a:cs typeface="+mn-lt"/>
              </a:rPr>
              <a:t> varía inversamente con la frecuencia, y la </a:t>
            </a:r>
            <a:r>
              <a:rPr lang="es-MX" sz="1200" b="1" i="1" dirty="0">
                <a:solidFill>
                  <a:srgbClr val="2C5697"/>
                </a:solidFill>
                <a:ea typeface="+mn-lt"/>
                <a:cs typeface="+mn-lt"/>
              </a:rPr>
              <a:t>X</a:t>
            </a:r>
            <a:r>
              <a:rPr lang="es-MX" sz="1200" b="1" i="1" baseline="-25000" dirty="0">
                <a:solidFill>
                  <a:srgbClr val="2C5697"/>
                </a:solidFill>
                <a:ea typeface="+mn-lt"/>
                <a:cs typeface="+mn-lt"/>
              </a:rPr>
              <a:t>L</a:t>
            </a:r>
            <a:r>
              <a:rPr lang="es-MX" sz="1200" b="1" i="1" dirty="0">
                <a:solidFill>
                  <a:srgbClr val="2C5697"/>
                </a:solidFill>
                <a:ea typeface="+mn-lt"/>
                <a:cs typeface="+mn-lt"/>
              </a:rPr>
              <a:t> </a:t>
            </a:r>
            <a:r>
              <a:rPr lang="es-MX" sz="1200" dirty="0">
                <a:ea typeface="+mn-lt"/>
                <a:cs typeface="+mn-lt"/>
              </a:rPr>
              <a:t>varía directamente con la frecuencia </a:t>
            </a:r>
            <a:endParaRPr lang="en-US" sz="1200" dirty="0">
              <a:ea typeface="+mn-lt"/>
              <a:cs typeface="+mn-lt"/>
            </a:endParaRPr>
          </a:p>
          <a:p>
            <a:pPr marL="285750" indent="-285750">
              <a:buFont typeface="Arial,Sans-Serif"/>
              <a:buChar char="•"/>
            </a:pPr>
            <a:endParaRPr lang="es-MX" sz="1200" dirty="0">
              <a:ea typeface="+mn-lt"/>
              <a:cs typeface="+mn-lt"/>
            </a:endParaRPr>
          </a:p>
          <a:p>
            <a:pPr marL="285750" indent="-285750">
              <a:buFont typeface="Arial,Sans-Serif"/>
              <a:buChar char="•"/>
            </a:pPr>
            <a:r>
              <a:rPr lang="es-MX" sz="1200" dirty="0">
                <a:ea typeface="+mn-lt"/>
                <a:cs typeface="+mn-lt"/>
              </a:rPr>
              <a:t>Al inicio (</a:t>
            </a:r>
            <a:r>
              <a:rPr lang="es-MX" sz="1200" i="1" dirty="0">
                <a:ea typeface="+mn-lt"/>
                <a:cs typeface="+mn-lt"/>
              </a:rPr>
              <a:t>f </a:t>
            </a:r>
            <a:r>
              <a:rPr lang="es-MX" sz="1200" dirty="0">
                <a:ea typeface="+mn-lt"/>
                <a:cs typeface="+mn-lt"/>
              </a:rPr>
              <a:t>baja, </a:t>
            </a:r>
            <a:r>
              <a:rPr lang="es-MX" sz="1200" b="1" i="1" dirty="0">
                <a:solidFill>
                  <a:srgbClr val="2C5697"/>
                </a:solidFill>
                <a:ea typeface="+mn-lt"/>
                <a:cs typeface="+mn-lt"/>
              </a:rPr>
              <a:t>X</a:t>
            </a:r>
            <a:r>
              <a:rPr lang="es-MX" sz="1200" b="1" i="1" baseline="-25000" dirty="0">
                <a:solidFill>
                  <a:srgbClr val="2C5697"/>
                </a:solidFill>
                <a:ea typeface="+mn-lt"/>
                <a:cs typeface="+mn-lt"/>
              </a:rPr>
              <a:t>C</a:t>
            </a:r>
            <a:r>
              <a:rPr lang="es-MX" sz="1200" dirty="0">
                <a:ea typeface="+mn-lt"/>
                <a:cs typeface="+mn-lt"/>
              </a:rPr>
              <a:t> alta, </a:t>
            </a:r>
            <a:r>
              <a:rPr lang="es-MX" sz="1200" b="1" i="1" dirty="0">
                <a:solidFill>
                  <a:srgbClr val="2C5697"/>
                </a:solidFill>
                <a:ea typeface="+mn-lt"/>
                <a:cs typeface="+mn-lt"/>
              </a:rPr>
              <a:t>X</a:t>
            </a:r>
            <a:r>
              <a:rPr lang="es-MX" sz="1200" b="1" i="1" baseline="-25000" dirty="0">
                <a:solidFill>
                  <a:srgbClr val="2C5697"/>
                </a:solidFill>
                <a:ea typeface="+mn-lt"/>
                <a:cs typeface="+mn-lt"/>
              </a:rPr>
              <a:t>L</a:t>
            </a:r>
            <a:r>
              <a:rPr lang="es-MX" sz="1200" dirty="0">
                <a:ea typeface="+mn-lt"/>
                <a:cs typeface="+mn-lt"/>
              </a:rPr>
              <a:t> baja) el circuito es predominantemente capacitivo, luego (aumenta f) </a:t>
            </a:r>
            <a:r>
              <a:rPr lang="es-MX" sz="1200" b="1" i="1" dirty="0">
                <a:solidFill>
                  <a:srgbClr val="2C5697"/>
                </a:solidFill>
                <a:ea typeface="+mn-lt"/>
                <a:cs typeface="+mn-lt"/>
              </a:rPr>
              <a:t>X</a:t>
            </a:r>
            <a:r>
              <a:rPr lang="es-MX" sz="1200" b="1" i="1" baseline="-25000" dirty="0">
                <a:solidFill>
                  <a:srgbClr val="2C5697"/>
                </a:solidFill>
                <a:ea typeface="+mn-lt"/>
                <a:cs typeface="+mn-lt"/>
              </a:rPr>
              <a:t>C</a:t>
            </a:r>
            <a:r>
              <a:rPr lang="es-MX" sz="1200" dirty="0">
                <a:ea typeface="+mn-lt"/>
                <a:cs typeface="+mn-lt"/>
              </a:rPr>
              <a:t> disminuye y </a:t>
            </a:r>
            <a:r>
              <a:rPr lang="es-MX" sz="1200" b="1" i="1" dirty="0">
                <a:solidFill>
                  <a:srgbClr val="2C5697"/>
                </a:solidFill>
                <a:ea typeface="+mn-lt"/>
                <a:cs typeface="+mn-lt"/>
              </a:rPr>
              <a:t>X</a:t>
            </a:r>
            <a:r>
              <a:rPr lang="es-MX" sz="1200" b="1" i="1" baseline="-25000" dirty="0">
                <a:solidFill>
                  <a:srgbClr val="2C5697"/>
                </a:solidFill>
                <a:ea typeface="+mn-lt"/>
                <a:cs typeface="+mn-lt"/>
              </a:rPr>
              <a:t>L</a:t>
            </a:r>
            <a:r>
              <a:rPr lang="es-MX" sz="1200" dirty="0">
                <a:ea typeface="+mn-lt"/>
                <a:cs typeface="+mn-lt"/>
              </a:rPr>
              <a:t> aumenta hasta que son iguales (</a:t>
            </a:r>
            <a:r>
              <a:rPr lang="es-MX" sz="1200" b="1" i="1" dirty="0">
                <a:solidFill>
                  <a:srgbClr val="2C5697"/>
                </a:solidFill>
                <a:ea typeface="+mn-lt"/>
                <a:cs typeface="+mn-lt"/>
              </a:rPr>
              <a:t>X</a:t>
            </a:r>
            <a:r>
              <a:rPr lang="es-MX" sz="1200" b="1" i="1" baseline="-25000" dirty="0">
                <a:solidFill>
                  <a:srgbClr val="2C5697"/>
                </a:solidFill>
                <a:ea typeface="+mn-lt"/>
                <a:cs typeface="+mn-lt"/>
              </a:rPr>
              <a:t>C</a:t>
            </a:r>
            <a:r>
              <a:rPr lang="es-MX" sz="1200" dirty="0">
                <a:ea typeface="+mn-lt"/>
                <a:cs typeface="+mn-lt"/>
              </a:rPr>
              <a:t> = </a:t>
            </a:r>
            <a:r>
              <a:rPr lang="es-MX" sz="1200" b="1" i="1" dirty="0">
                <a:solidFill>
                  <a:srgbClr val="2C5697"/>
                </a:solidFill>
                <a:ea typeface="+mn-lt"/>
                <a:cs typeface="+mn-lt"/>
              </a:rPr>
              <a:t>X</a:t>
            </a:r>
            <a:r>
              <a:rPr lang="es-MX" sz="1200" b="1" i="1" baseline="-25000" dirty="0">
                <a:solidFill>
                  <a:srgbClr val="2C5697"/>
                </a:solidFill>
                <a:ea typeface="+mn-lt"/>
                <a:cs typeface="+mn-lt"/>
              </a:rPr>
              <a:t>L</a:t>
            </a:r>
            <a:r>
              <a:rPr lang="es-MX" sz="1200" dirty="0">
                <a:ea typeface="+mn-lt"/>
                <a:cs typeface="+mn-lt"/>
              </a:rPr>
              <a:t>) y las dos reactancias se eliminan (circuito puramente resistivo). Esta condición se denomina </a:t>
            </a:r>
            <a:r>
              <a:rPr lang="es-MX" sz="1200" b="1" dirty="0">
                <a:solidFill>
                  <a:srgbClr val="2C5697"/>
                </a:solidFill>
                <a:ea typeface="+mn-lt"/>
                <a:cs typeface="+mn-lt"/>
              </a:rPr>
              <a:t>resonancia en serie</a:t>
            </a:r>
            <a:r>
              <a:rPr lang="es-MX" sz="1200" dirty="0">
                <a:ea typeface="+mn-lt"/>
                <a:cs typeface="+mn-lt"/>
              </a:rPr>
              <a:t>.</a:t>
            </a:r>
          </a:p>
        </p:txBody>
      </p:sp>
      <p:pic>
        <p:nvPicPr>
          <p:cNvPr id="16" name="Picture 16" descr="Diagram&#10;&#10;Description automatically generated">
            <a:extLst>
              <a:ext uri="{FF2B5EF4-FFF2-40B4-BE49-F238E27FC236}">
                <a16:creationId xmlns:a16="http://schemas.microsoft.com/office/drawing/2014/main" id="{9AE61820-88F7-537A-4FA8-00B2FC625DD9}"/>
              </a:ext>
            </a:extLst>
          </p:cNvPr>
          <p:cNvPicPr>
            <a:picLocks noChangeAspect="1"/>
          </p:cNvPicPr>
          <p:nvPr/>
        </p:nvPicPr>
        <p:blipFill>
          <a:blip r:embed="rId5"/>
          <a:stretch>
            <a:fillRect/>
          </a:stretch>
        </p:blipFill>
        <p:spPr>
          <a:xfrm>
            <a:off x="95400" y="2524053"/>
            <a:ext cx="6397200" cy="1458894"/>
          </a:xfrm>
          <a:prstGeom prst="rect">
            <a:avLst/>
          </a:prstGeom>
        </p:spPr>
      </p:pic>
      <p:sp>
        <p:nvSpPr>
          <p:cNvPr id="17" name="TextBox 16">
            <a:extLst>
              <a:ext uri="{FF2B5EF4-FFF2-40B4-BE49-F238E27FC236}">
                <a16:creationId xmlns:a16="http://schemas.microsoft.com/office/drawing/2014/main" id="{28A4A8B4-3FEE-A255-AA7C-DDAA75144066}"/>
              </a:ext>
            </a:extLst>
          </p:cNvPr>
          <p:cNvSpPr txBox="1"/>
          <p:nvPr/>
        </p:nvSpPr>
        <p:spPr>
          <a:xfrm>
            <a:off x="77400" y="4280400"/>
            <a:ext cx="6838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s-MX" sz="1200" dirty="0">
                <a:ea typeface="+mn-lt"/>
                <a:cs typeface="+mn-lt"/>
              </a:rPr>
              <a:t>Para un circuito RLC en serie dado, la resonancia ocurre solo en una frecuencia específica, ejemplo:</a:t>
            </a:r>
            <a:endParaRPr lang="en-US" dirty="0">
              <a:cs typeface="Calibri"/>
            </a:endParaRPr>
          </a:p>
        </p:txBody>
      </p:sp>
      <p:pic>
        <p:nvPicPr>
          <p:cNvPr id="18" name="Picture 18" descr="Diagram&#10;&#10;Description automatically generated">
            <a:extLst>
              <a:ext uri="{FF2B5EF4-FFF2-40B4-BE49-F238E27FC236}">
                <a16:creationId xmlns:a16="http://schemas.microsoft.com/office/drawing/2014/main" id="{ED36816D-1F97-CC1E-DA57-89C44EB639C0}"/>
              </a:ext>
            </a:extLst>
          </p:cNvPr>
          <p:cNvPicPr>
            <a:picLocks noChangeAspect="1"/>
          </p:cNvPicPr>
          <p:nvPr/>
        </p:nvPicPr>
        <p:blipFill>
          <a:blip r:embed="rId6"/>
          <a:stretch>
            <a:fillRect/>
          </a:stretch>
        </p:blipFill>
        <p:spPr>
          <a:xfrm>
            <a:off x="1580400" y="4515059"/>
            <a:ext cx="2167200" cy="1022881"/>
          </a:xfrm>
          <a:prstGeom prst="rect">
            <a:avLst/>
          </a:prstGeom>
        </p:spPr>
      </p:pic>
      <p:pic>
        <p:nvPicPr>
          <p:cNvPr id="19" name="Picture 19" descr="A picture containing shape&#10;&#10;Description automatically generated">
            <a:extLst>
              <a:ext uri="{FF2B5EF4-FFF2-40B4-BE49-F238E27FC236}">
                <a16:creationId xmlns:a16="http://schemas.microsoft.com/office/drawing/2014/main" id="{B797DC73-D809-318A-2268-D890638FB98D}"/>
              </a:ext>
            </a:extLst>
          </p:cNvPr>
          <p:cNvPicPr>
            <a:picLocks noChangeAspect="1"/>
          </p:cNvPicPr>
          <p:nvPr/>
        </p:nvPicPr>
        <p:blipFill>
          <a:blip r:embed="rId7"/>
          <a:stretch>
            <a:fillRect/>
          </a:stretch>
        </p:blipFill>
        <p:spPr>
          <a:xfrm>
            <a:off x="4946400" y="4976570"/>
            <a:ext cx="2743200" cy="360859"/>
          </a:xfrm>
          <a:prstGeom prst="rect">
            <a:avLst/>
          </a:prstGeom>
        </p:spPr>
      </p:pic>
      <p:sp>
        <p:nvSpPr>
          <p:cNvPr id="13" name="Marcador de número de diapositiva 3">
            <a:extLst>
              <a:ext uri="{FF2B5EF4-FFF2-40B4-BE49-F238E27FC236}">
                <a16:creationId xmlns:a16="http://schemas.microsoft.com/office/drawing/2014/main" id="{098B97B0-8C59-444B-8C06-29E04A1D08CD}"/>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sp>
        <p:nvSpPr>
          <p:cNvPr id="14" name="Título 1">
            <a:extLst>
              <a:ext uri="{FF2B5EF4-FFF2-40B4-BE49-F238E27FC236}">
                <a16:creationId xmlns:a16="http://schemas.microsoft.com/office/drawing/2014/main" id="{281F217C-F09B-4C8F-B58C-53021183F4F9}"/>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Tree>
    <p:custDataLst>
      <p:tags r:id="rId1"/>
    </p:custDataLst>
    <p:extLst>
      <p:ext uri="{BB962C8B-B14F-4D97-AF65-F5344CB8AC3E}">
        <p14:creationId xmlns:p14="http://schemas.microsoft.com/office/powerpoint/2010/main" val="174140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6">
            <a:extLst>
              <a:ext uri="{FF2B5EF4-FFF2-40B4-BE49-F238E27FC236}">
                <a16:creationId xmlns:a16="http://schemas.microsoft.com/office/drawing/2014/main" id="{1E4E0685-445F-78A6-A57D-A3D1E18C0EEC}"/>
              </a:ext>
            </a:extLst>
          </p:cNvPr>
          <p:cNvSpPr/>
          <p:nvPr/>
        </p:nvSpPr>
        <p:spPr>
          <a:xfrm>
            <a:off x="-2262" y="74589"/>
            <a:ext cx="8786340" cy="369332"/>
          </a:xfrm>
          <a:prstGeom prst="rect">
            <a:avLst/>
          </a:prstGeom>
        </p:spPr>
        <p:txBody>
          <a:bodyPr wrap="square" lIns="91440" tIns="45720" rIns="91440" bIns="45720" anchor="t">
            <a:spAutoFit/>
          </a:bodyPr>
          <a:lstStyle/>
          <a:p>
            <a:r>
              <a:rPr lang="es-MX" b="1" dirty="0">
                <a:solidFill>
                  <a:srgbClr val="2C5697"/>
                </a:solidFill>
                <a:latin typeface="Arial"/>
                <a:cs typeface="Arial"/>
                <a:sym typeface="Times New Roman"/>
              </a:rPr>
              <a:t>Respuesta en frecuencia de circuitos de CA en serie</a:t>
            </a:r>
            <a:endParaRPr lang="en-US" dirty="0"/>
          </a:p>
        </p:txBody>
      </p:sp>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a:t>
            </a:r>
            <a:r>
              <a:rPr lang="es-ES" sz="700" dirty="0" err="1">
                <a:solidFill>
                  <a:schemeClr val="bg1"/>
                </a:solidFill>
                <a:latin typeface="Arial"/>
              </a:rPr>
              <a:t>Boylestad</a:t>
            </a:r>
            <a:r>
              <a:rPr lang="es-ES" sz="700" dirty="0">
                <a:solidFill>
                  <a:schemeClr val="bg1"/>
                </a:solidFill>
                <a:latin typeface="Arial"/>
              </a:rPr>
              <a:t> R., Introducción al análisis de circuitos, 12a edición, 2011, Pearson.</a:t>
            </a:r>
            <a:endParaRPr lang="en-US" sz="700">
              <a:solidFill>
                <a:schemeClr val="bg1"/>
              </a:solidFill>
              <a:cs typeface="Calibri"/>
            </a:endParaRPr>
          </a:p>
        </p:txBody>
      </p:sp>
      <p:pic>
        <p:nvPicPr>
          <p:cNvPr id="5" name="Imagen 4">
            <a:extLst>
              <a:ext uri="{FF2B5EF4-FFF2-40B4-BE49-F238E27FC236}">
                <a16:creationId xmlns:a16="http://schemas.microsoft.com/office/drawing/2014/main" id="{27282C2E-5C1D-1EEC-4B8E-FAA8D7206025}"/>
              </a:ext>
            </a:extLst>
          </p:cNvPr>
          <p:cNvPicPr>
            <a:picLocks noChangeAspect="1"/>
          </p:cNvPicPr>
          <p:nvPr/>
        </p:nvPicPr>
        <p:blipFill>
          <a:blip r:embed="rId4"/>
          <a:stretch>
            <a:fillRect/>
          </a:stretch>
        </p:blipFill>
        <p:spPr>
          <a:xfrm>
            <a:off x="2360076" y="713895"/>
            <a:ext cx="4594847" cy="3162016"/>
          </a:xfrm>
          <a:prstGeom prst="rect">
            <a:avLst/>
          </a:prstGeom>
        </p:spPr>
      </p:pic>
      <p:pic>
        <p:nvPicPr>
          <p:cNvPr id="6" name="Imagen 5">
            <a:extLst>
              <a:ext uri="{FF2B5EF4-FFF2-40B4-BE49-F238E27FC236}">
                <a16:creationId xmlns:a16="http://schemas.microsoft.com/office/drawing/2014/main" id="{684B7DBA-7195-EEA7-2433-8B24CDC93F0D}"/>
              </a:ext>
            </a:extLst>
          </p:cNvPr>
          <p:cNvPicPr>
            <a:picLocks noChangeAspect="1"/>
          </p:cNvPicPr>
          <p:nvPr/>
        </p:nvPicPr>
        <p:blipFill>
          <a:blip r:embed="rId5"/>
          <a:stretch>
            <a:fillRect/>
          </a:stretch>
        </p:blipFill>
        <p:spPr>
          <a:xfrm>
            <a:off x="161513" y="4282549"/>
            <a:ext cx="4047838" cy="697466"/>
          </a:xfrm>
          <a:prstGeom prst="rect">
            <a:avLst/>
          </a:prstGeom>
        </p:spPr>
      </p:pic>
      <p:pic>
        <p:nvPicPr>
          <p:cNvPr id="9" name="Imagen 8">
            <a:extLst>
              <a:ext uri="{FF2B5EF4-FFF2-40B4-BE49-F238E27FC236}">
                <a16:creationId xmlns:a16="http://schemas.microsoft.com/office/drawing/2014/main" id="{C07F21BD-5D2E-B227-3310-E6EA388EA89B}"/>
              </a:ext>
            </a:extLst>
          </p:cNvPr>
          <p:cNvPicPr>
            <a:picLocks noChangeAspect="1"/>
          </p:cNvPicPr>
          <p:nvPr/>
        </p:nvPicPr>
        <p:blipFill>
          <a:blip r:embed="rId6"/>
          <a:stretch>
            <a:fillRect/>
          </a:stretch>
        </p:blipFill>
        <p:spPr>
          <a:xfrm>
            <a:off x="4934650" y="4251302"/>
            <a:ext cx="4050826" cy="855233"/>
          </a:xfrm>
          <a:prstGeom prst="rect">
            <a:avLst/>
          </a:prstGeom>
        </p:spPr>
      </p:pic>
      <p:sp>
        <p:nvSpPr>
          <p:cNvPr id="2" name="TextBox 1">
            <a:extLst>
              <a:ext uri="{FF2B5EF4-FFF2-40B4-BE49-F238E27FC236}">
                <a16:creationId xmlns:a16="http://schemas.microsoft.com/office/drawing/2014/main" id="{F2D36C25-A20D-A698-48C7-C6418F031745}"/>
              </a:ext>
            </a:extLst>
          </p:cNvPr>
          <p:cNvSpPr txBox="1"/>
          <p:nvPr/>
        </p:nvSpPr>
        <p:spPr>
          <a:xfrm>
            <a:off x="23400" y="5450400"/>
            <a:ext cx="8998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MX" sz="900" dirty="0">
                <a:solidFill>
                  <a:srgbClr val="2C5697"/>
                </a:solidFill>
                <a:latin typeface="Times-Roman"/>
                <a:cs typeface="Calibri"/>
              </a:rPr>
              <a:t>*También existe la respuesta en frecuencia de circuitos de CA en paralelo. Para profundizar, consultar Capítulo 10.7 de </a:t>
            </a:r>
            <a:r>
              <a:rPr lang="es-MX" sz="900" dirty="0" err="1">
                <a:solidFill>
                  <a:srgbClr val="2C5697"/>
                </a:solidFill>
                <a:ea typeface="+mn-lt"/>
                <a:cs typeface="+mn-lt"/>
              </a:rPr>
              <a:t>Boylestad</a:t>
            </a:r>
            <a:r>
              <a:rPr lang="es-MX" sz="900" dirty="0">
                <a:solidFill>
                  <a:srgbClr val="2C5697"/>
                </a:solidFill>
                <a:ea typeface="+mn-lt"/>
                <a:cs typeface="+mn-lt"/>
              </a:rPr>
              <a:t> R., Introducción al análisis de circuitos, 12a edición, 2011, Pearson. </a:t>
            </a:r>
            <a:r>
              <a:rPr lang="es-MX" sz="900" dirty="0">
                <a:solidFill>
                  <a:srgbClr val="2C5697"/>
                </a:solidFill>
                <a:latin typeface="Times-Roman"/>
                <a:cs typeface="Calibri"/>
              </a:rPr>
              <a:t> </a:t>
            </a:r>
            <a:endParaRPr lang="en-US" sz="900" dirty="0">
              <a:solidFill>
                <a:srgbClr val="2C5697"/>
              </a:solidFill>
            </a:endParaRPr>
          </a:p>
        </p:txBody>
      </p:sp>
      <p:sp>
        <p:nvSpPr>
          <p:cNvPr id="10" name="Marcador de número de diapositiva 3">
            <a:extLst>
              <a:ext uri="{FF2B5EF4-FFF2-40B4-BE49-F238E27FC236}">
                <a16:creationId xmlns:a16="http://schemas.microsoft.com/office/drawing/2014/main" id="{DA2555E3-5426-4C74-A065-3CB37144AD1F}"/>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8</a:t>
            </a:fld>
            <a:endParaRPr lang="es-CO" sz="1200" dirty="0">
              <a:solidFill>
                <a:schemeClr val="bg1"/>
              </a:solidFill>
            </a:endParaRPr>
          </a:p>
        </p:txBody>
      </p:sp>
      <p:sp>
        <p:nvSpPr>
          <p:cNvPr id="11" name="Título 1">
            <a:extLst>
              <a:ext uri="{FF2B5EF4-FFF2-40B4-BE49-F238E27FC236}">
                <a16:creationId xmlns:a16="http://schemas.microsoft.com/office/drawing/2014/main" id="{08C707DB-AF5C-432D-970B-243CDFD196B9}"/>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Tree>
    <p:custDataLst>
      <p:tags r:id="rId1"/>
    </p:custDataLst>
    <p:extLst>
      <p:ext uri="{BB962C8B-B14F-4D97-AF65-F5344CB8AC3E}">
        <p14:creationId xmlns:p14="http://schemas.microsoft.com/office/powerpoint/2010/main" val="949510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6">
            <a:extLst>
              <a:ext uri="{FF2B5EF4-FFF2-40B4-BE49-F238E27FC236}">
                <a16:creationId xmlns:a16="http://schemas.microsoft.com/office/drawing/2014/main" id="{1E4E0685-445F-78A6-A57D-A3D1E18C0EEC}"/>
              </a:ext>
            </a:extLst>
          </p:cNvPr>
          <p:cNvSpPr/>
          <p:nvPr/>
        </p:nvSpPr>
        <p:spPr>
          <a:xfrm>
            <a:off x="-2262" y="74589"/>
            <a:ext cx="8786340" cy="369332"/>
          </a:xfrm>
          <a:prstGeom prst="rect">
            <a:avLst/>
          </a:prstGeom>
        </p:spPr>
        <p:txBody>
          <a:bodyPr wrap="square" lIns="91440" tIns="45720" rIns="91440" bIns="45720" anchor="t">
            <a:spAutoFit/>
          </a:bodyPr>
          <a:lstStyle/>
          <a:p>
            <a:r>
              <a:rPr lang="es-MX" b="1" dirty="0">
                <a:solidFill>
                  <a:srgbClr val="2C5697"/>
                </a:solidFill>
                <a:latin typeface="Arial"/>
                <a:cs typeface="Arial"/>
                <a:sym typeface="Times New Roman"/>
              </a:rPr>
              <a:t>Respuesta en frecuencia de circuitos de CA en serie</a:t>
            </a:r>
            <a:endParaRPr lang="en-US" dirty="0"/>
          </a:p>
        </p:txBody>
      </p:sp>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a:t>
            </a:r>
            <a:r>
              <a:rPr lang="es-ES" sz="700" dirty="0" err="1">
                <a:solidFill>
                  <a:schemeClr val="bg1"/>
                </a:solidFill>
                <a:latin typeface="Arial"/>
              </a:rPr>
              <a:t>Boylestad</a:t>
            </a:r>
            <a:r>
              <a:rPr lang="es-ES" sz="700" dirty="0">
                <a:solidFill>
                  <a:schemeClr val="bg1"/>
                </a:solidFill>
                <a:latin typeface="Arial"/>
              </a:rPr>
              <a:t> R., Introducción al análisis de circuitos, 12a edición, 2011, Pearson.</a:t>
            </a:r>
            <a:endParaRPr lang="en-US" sz="700" dirty="0">
              <a:solidFill>
                <a:schemeClr val="bg1"/>
              </a:solidFill>
              <a:cs typeface="Calibri"/>
            </a:endParaRPr>
          </a:p>
        </p:txBody>
      </p:sp>
      <p:sp>
        <p:nvSpPr>
          <p:cNvPr id="2" name="CuadroTexto 1">
            <a:extLst>
              <a:ext uri="{FF2B5EF4-FFF2-40B4-BE49-F238E27FC236}">
                <a16:creationId xmlns:a16="http://schemas.microsoft.com/office/drawing/2014/main" id="{205FCB15-62A9-C863-E99F-5CADAE6DCEC7}"/>
              </a:ext>
            </a:extLst>
          </p:cNvPr>
          <p:cNvSpPr txBox="1"/>
          <p:nvPr/>
        </p:nvSpPr>
        <p:spPr>
          <a:xfrm>
            <a:off x="21249" y="416549"/>
            <a:ext cx="4608576" cy="307777"/>
          </a:xfrm>
          <a:prstGeom prst="rect">
            <a:avLst/>
          </a:prstGeom>
          <a:noFill/>
        </p:spPr>
        <p:txBody>
          <a:bodyPr wrap="square" lIns="91440" tIns="45720" rIns="91440" bIns="45720" anchor="t">
            <a:spAutoFit/>
          </a:bodyPr>
          <a:lstStyle/>
          <a:p>
            <a:r>
              <a:rPr lang="es-MX" sz="1400" dirty="0">
                <a:solidFill>
                  <a:srgbClr val="2C5697"/>
                </a:solidFill>
                <a:latin typeface="Arial"/>
                <a:cs typeface="Arial"/>
                <a:sym typeface="Times New Roman"/>
              </a:rPr>
              <a:t>Circuito RC de CA en serie</a:t>
            </a:r>
            <a:endParaRPr lang="es-MX" sz="1400" dirty="0"/>
          </a:p>
        </p:txBody>
      </p:sp>
      <p:pic>
        <p:nvPicPr>
          <p:cNvPr id="7" name="Imagen 6">
            <a:extLst>
              <a:ext uri="{FF2B5EF4-FFF2-40B4-BE49-F238E27FC236}">
                <a16:creationId xmlns:a16="http://schemas.microsoft.com/office/drawing/2014/main" id="{F57FEB9D-2574-D7BA-0F48-A169597ABF42}"/>
              </a:ext>
            </a:extLst>
          </p:cNvPr>
          <p:cNvPicPr>
            <a:picLocks noChangeAspect="1"/>
          </p:cNvPicPr>
          <p:nvPr/>
        </p:nvPicPr>
        <p:blipFill>
          <a:blip r:embed="rId4"/>
          <a:stretch>
            <a:fillRect/>
          </a:stretch>
        </p:blipFill>
        <p:spPr>
          <a:xfrm>
            <a:off x="261586" y="1266058"/>
            <a:ext cx="3326486" cy="1374996"/>
          </a:xfrm>
          <a:prstGeom prst="rect">
            <a:avLst/>
          </a:prstGeom>
        </p:spPr>
      </p:pic>
      <p:pic>
        <p:nvPicPr>
          <p:cNvPr id="9" name="Imagen 8">
            <a:extLst>
              <a:ext uri="{FF2B5EF4-FFF2-40B4-BE49-F238E27FC236}">
                <a16:creationId xmlns:a16="http://schemas.microsoft.com/office/drawing/2014/main" id="{39B81F80-8C8D-0213-CF86-184BBAB0C8C2}"/>
              </a:ext>
            </a:extLst>
          </p:cNvPr>
          <p:cNvPicPr>
            <a:picLocks noChangeAspect="1"/>
          </p:cNvPicPr>
          <p:nvPr/>
        </p:nvPicPr>
        <p:blipFill>
          <a:blip r:embed="rId5"/>
          <a:stretch>
            <a:fillRect/>
          </a:stretch>
        </p:blipFill>
        <p:spPr>
          <a:xfrm>
            <a:off x="4522253" y="443641"/>
            <a:ext cx="3965426" cy="2630878"/>
          </a:xfrm>
          <a:prstGeom prst="rect">
            <a:avLst/>
          </a:prstGeom>
        </p:spPr>
      </p:pic>
      <p:pic>
        <p:nvPicPr>
          <p:cNvPr id="5" name="Picture 5" descr="Chart, diagram&#10;&#10;Description automatically generated">
            <a:extLst>
              <a:ext uri="{FF2B5EF4-FFF2-40B4-BE49-F238E27FC236}">
                <a16:creationId xmlns:a16="http://schemas.microsoft.com/office/drawing/2014/main" id="{B0B185A4-81D9-506E-BB36-BED213D385F1}"/>
              </a:ext>
            </a:extLst>
          </p:cNvPr>
          <p:cNvPicPr>
            <a:picLocks noChangeAspect="1"/>
          </p:cNvPicPr>
          <p:nvPr/>
        </p:nvPicPr>
        <p:blipFill>
          <a:blip r:embed="rId6"/>
          <a:stretch>
            <a:fillRect/>
          </a:stretch>
        </p:blipFill>
        <p:spPr>
          <a:xfrm>
            <a:off x="104400" y="3111834"/>
            <a:ext cx="4615200" cy="2578332"/>
          </a:xfrm>
          <a:prstGeom prst="rect">
            <a:avLst/>
          </a:prstGeom>
        </p:spPr>
      </p:pic>
      <p:sp>
        <p:nvSpPr>
          <p:cNvPr id="10" name="Rectangle 9">
            <a:extLst>
              <a:ext uri="{FF2B5EF4-FFF2-40B4-BE49-F238E27FC236}">
                <a16:creationId xmlns:a16="http://schemas.microsoft.com/office/drawing/2014/main" id="{F91552F5-3509-C403-1FF7-1AA8E642CDDA}"/>
              </a:ext>
            </a:extLst>
          </p:cNvPr>
          <p:cNvSpPr/>
          <p:nvPr/>
        </p:nvSpPr>
        <p:spPr>
          <a:xfrm>
            <a:off x="4807800" y="5860800"/>
            <a:ext cx="4325400" cy="99540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9" descr="Diagram&#10;&#10;Description automatically generated">
            <a:extLst>
              <a:ext uri="{FF2B5EF4-FFF2-40B4-BE49-F238E27FC236}">
                <a16:creationId xmlns:a16="http://schemas.microsoft.com/office/drawing/2014/main" id="{537AF7CA-FE0D-3000-200F-8A91CC67CAC9}"/>
              </a:ext>
            </a:extLst>
          </p:cNvPr>
          <p:cNvPicPr>
            <a:picLocks noChangeAspect="1"/>
          </p:cNvPicPr>
          <p:nvPr/>
        </p:nvPicPr>
        <p:blipFill>
          <a:blip r:embed="rId7"/>
          <a:stretch>
            <a:fillRect/>
          </a:stretch>
        </p:blipFill>
        <p:spPr>
          <a:xfrm>
            <a:off x="5567400" y="3350437"/>
            <a:ext cx="3283200" cy="3334127"/>
          </a:xfrm>
          <a:prstGeom prst="rect">
            <a:avLst/>
          </a:prstGeom>
        </p:spPr>
      </p:pic>
      <p:sp>
        <p:nvSpPr>
          <p:cNvPr id="12" name="Marcador de número de diapositiva 3">
            <a:extLst>
              <a:ext uri="{FF2B5EF4-FFF2-40B4-BE49-F238E27FC236}">
                <a16:creationId xmlns:a16="http://schemas.microsoft.com/office/drawing/2014/main" id="{5B554351-EA1F-4EA9-ABA2-4B8F0120D67A}"/>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pPr algn="r"/>
              <a:t>9</a:t>
            </a:fld>
            <a:endParaRPr lang="es-CO" sz="1200" dirty="0"/>
          </a:p>
        </p:txBody>
      </p:sp>
      <p:sp>
        <p:nvSpPr>
          <p:cNvPr id="13" name="Título 1">
            <a:extLst>
              <a:ext uri="{FF2B5EF4-FFF2-40B4-BE49-F238E27FC236}">
                <a16:creationId xmlns:a16="http://schemas.microsoft.com/office/drawing/2014/main" id="{8D5DAEA4-A91C-43EA-A8ED-F68FCE3FA033}"/>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Tree>
    <p:custDataLst>
      <p:tags r:id="rId1"/>
    </p:custDataLst>
    <p:extLst>
      <p:ext uri="{BB962C8B-B14F-4D97-AF65-F5344CB8AC3E}">
        <p14:creationId xmlns:p14="http://schemas.microsoft.com/office/powerpoint/2010/main" val="19064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6">
            <a:extLst>
              <a:ext uri="{FF2B5EF4-FFF2-40B4-BE49-F238E27FC236}">
                <a16:creationId xmlns:a16="http://schemas.microsoft.com/office/drawing/2014/main" id="{1E4E0685-445F-78A6-A57D-A3D1E18C0EEC}"/>
              </a:ext>
            </a:extLst>
          </p:cNvPr>
          <p:cNvSpPr/>
          <p:nvPr/>
        </p:nvSpPr>
        <p:spPr>
          <a:xfrm>
            <a:off x="-2262" y="74589"/>
            <a:ext cx="8786340" cy="369332"/>
          </a:xfrm>
          <a:prstGeom prst="rect">
            <a:avLst/>
          </a:prstGeom>
        </p:spPr>
        <p:txBody>
          <a:bodyPr wrap="square" lIns="91440" tIns="45720" rIns="91440" bIns="45720" anchor="t">
            <a:spAutoFit/>
          </a:bodyPr>
          <a:lstStyle/>
          <a:p>
            <a:r>
              <a:rPr lang="es-MX" b="1" dirty="0">
                <a:solidFill>
                  <a:srgbClr val="2C5697"/>
                </a:solidFill>
                <a:latin typeface="Arial"/>
                <a:cs typeface="Arial"/>
                <a:sym typeface="Times New Roman"/>
              </a:rPr>
              <a:t>Filtros</a:t>
            </a:r>
            <a:endParaRPr lang="en-US" dirty="0"/>
          </a:p>
        </p:txBody>
      </p:sp>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a:t>
            </a:r>
            <a:r>
              <a:rPr lang="es-ES" sz="700" dirty="0" err="1">
                <a:solidFill>
                  <a:schemeClr val="bg1"/>
                </a:solidFill>
                <a:latin typeface="Arial"/>
              </a:rPr>
              <a:t>Boylestad</a:t>
            </a:r>
            <a:r>
              <a:rPr lang="es-ES" sz="700" dirty="0">
                <a:solidFill>
                  <a:schemeClr val="bg1"/>
                </a:solidFill>
                <a:latin typeface="Arial"/>
              </a:rPr>
              <a:t> R., Introducción al análisis de circuitos, 12a edición, 2011, Pearson.</a:t>
            </a:r>
            <a:endParaRPr lang="en-US" sz="700">
              <a:solidFill>
                <a:schemeClr val="bg1"/>
              </a:solidFill>
              <a:cs typeface="Calibri"/>
            </a:endParaRPr>
          </a:p>
        </p:txBody>
      </p:sp>
      <p:sp>
        <p:nvSpPr>
          <p:cNvPr id="18" name="Marcador de contenido 2">
            <a:extLst>
              <a:ext uri="{FF2B5EF4-FFF2-40B4-BE49-F238E27FC236}">
                <a16:creationId xmlns:a16="http://schemas.microsoft.com/office/drawing/2014/main" id="{639A77BB-BCC7-CC38-7108-63D6C83EF8EC}"/>
              </a:ext>
            </a:extLst>
          </p:cNvPr>
          <p:cNvSpPr>
            <a:spLocks noGrp="1"/>
          </p:cNvSpPr>
          <p:nvPr/>
        </p:nvSpPr>
        <p:spPr>
          <a:xfrm>
            <a:off x="161710" y="443539"/>
            <a:ext cx="8677066" cy="1227599"/>
          </a:xfrm>
          <a:prstGeom prst="rect">
            <a:avLst/>
          </a:prstGeom>
        </p:spPr>
        <p:txBody>
          <a:bodyPr vert="horz" lIns="68580" tIns="34290" rIns="68580" bIns="34290" rtlCol="0" anchor="ct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s-ES" sz="1400" dirty="0">
                <a:ea typeface="+mn-lt"/>
                <a:cs typeface="+mn-lt"/>
              </a:rPr>
              <a:t>Cualquier combinación de elementos pasivos (R, L y C) y/o activos (transistores o amplificadores operacionales) diseñada para seleccionar o rechazar una banda de frecuencias se llama filtro.</a:t>
            </a:r>
          </a:p>
          <a:p>
            <a:r>
              <a:rPr lang="es-ES" sz="1400" dirty="0">
                <a:ea typeface="+mn-lt"/>
                <a:cs typeface="+mn-lt"/>
              </a:rPr>
              <a:t> </a:t>
            </a:r>
            <a:r>
              <a:rPr lang="es-ES" sz="1400" b="1" dirty="0">
                <a:ea typeface="+mn-lt"/>
                <a:cs typeface="+mn-lt"/>
              </a:rPr>
              <a:t>Filtro pasivo</a:t>
            </a:r>
            <a:r>
              <a:rPr lang="es-ES" sz="1400" dirty="0">
                <a:ea typeface="+mn-lt"/>
                <a:cs typeface="+mn-lt"/>
              </a:rPr>
              <a:t>: combinación serie o paralelo de R, L y C</a:t>
            </a:r>
          </a:p>
          <a:p>
            <a:r>
              <a:rPr lang="es-ES" sz="1400" b="1" dirty="0">
                <a:ea typeface="+mn-lt"/>
                <a:cs typeface="+mn-lt"/>
              </a:rPr>
              <a:t>Filtro activo</a:t>
            </a:r>
            <a:r>
              <a:rPr lang="es-ES" sz="1400" dirty="0">
                <a:ea typeface="+mn-lt"/>
                <a:cs typeface="+mn-lt"/>
              </a:rPr>
              <a:t>: aquellos constituidos por transistores o amplificadores operacionales</a:t>
            </a:r>
            <a:endParaRPr lang="es-ES" sz="1400" dirty="0">
              <a:cs typeface="Calibri"/>
            </a:endParaRPr>
          </a:p>
        </p:txBody>
      </p:sp>
      <p:pic>
        <p:nvPicPr>
          <p:cNvPr id="2" name="Picture 5" descr="Chart, histogram&#10;&#10;Description automatically generated">
            <a:extLst>
              <a:ext uri="{FF2B5EF4-FFF2-40B4-BE49-F238E27FC236}">
                <a16:creationId xmlns:a16="http://schemas.microsoft.com/office/drawing/2014/main" id="{001D6B18-87A5-153D-B81C-D1FDBEB4ADC5}"/>
              </a:ext>
            </a:extLst>
          </p:cNvPr>
          <p:cNvPicPr>
            <a:picLocks noChangeAspect="1"/>
          </p:cNvPicPr>
          <p:nvPr/>
        </p:nvPicPr>
        <p:blipFill>
          <a:blip r:embed="rId4"/>
          <a:stretch>
            <a:fillRect/>
          </a:stretch>
        </p:blipFill>
        <p:spPr>
          <a:xfrm>
            <a:off x="212400" y="1928868"/>
            <a:ext cx="4129200" cy="3243264"/>
          </a:xfrm>
          <a:prstGeom prst="rect">
            <a:avLst/>
          </a:prstGeom>
        </p:spPr>
      </p:pic>
      <p:pic>
        <p:nvPicPr>
          <p:cNvPr id="6" name="Picture 6" descr="Chart&#10;&#10;Description automatically generated">
            <a:extLst>
              <a:ext uri="{FF2B5EF4-FFF2-40B4-BE49-F238E27FC236}">
                <a16:creationId xmlns:a16="http://schemas.microsoft.com/office/drawing/2014/main" id="{8971EAB8-BABF-5B60-A835-BD7DE2E8F628}"/>
              </a:ext>
            </a:extLst>
          </p:cNvPr>
          <p:cNvPicPr>
            <a:picLocks noChangeAspect="1"/>
          </p:cNvPicPr>
          <p:nvPr/>
        </p:nvPicPr>
        <p:blipFill>
          <a:blip r:embed="rId5"/>
          <a:stretch>
            <a:fillRect/>
          </a:stretch>
        </p:blipFill>
        <p:spPr>
          <a:xfrm>
            <a:off x="4604400" y="1964638"/>
            <a:ext cx="4183200" cy="3414724"/>
          </a:xfrm>
          <a:prstGeom prst="rect">
            <a:avLst/>
          </a:prstGeom>
        </p:spPr>
      </p:pic>
      <p:sp>
        <p:nvSpPr>
          <p:cNvPr id="9" name="Marcador de número de diapositiva 3">
            <a:extLst>
              <a:ext uri="{FF2B5EF4-FFF2-40B4-BE49-F238E27FC236}">
                <a16:creationId xmlns:a16="http://schemas.microsoft.com/office/drawing/2014/main" id="{2F2AE615-DEF8-4392-96C3-934EC77F022B}"/>
              </a:ext>
            </a:extLst>
          </p:cNvPr>
          <p:cNvSpPr txBox="1">
            <a:spLocks/>
          </p:cNvSpPr>
          <p:nvPr/>
        </p:nvSpPr>
        <p:spPr>
          <a:xfrm>
            <a:off x="8724600" y="5885920"/>
            <a:ext cx="3690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sp>
        <p:nvSpPr>
          <p:cNvPr id="10" name="Título 1">
            <a:extLst>
              <a:ext uri="{FF2B5EF4-FFF2-40B4-BE49-F238E27FC236}">
                <a16:creationId xmlns:a16="http://schemas.microsoft.com/office/drawing/2014/main" id="{CB870B0F-CDE9-4FA3-89AC-863BA2EA4FEA}"/>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Tree>
    <p:custDataLst>
      <p:tags r:id="rId1"/>
    </p:custDataLst>
    <p:extLst>
      <p:ext uri="{BB962C8B-B14F-4D97-AF65-F5344CB8AC3E}">
        <p14:creationId xmlns:p14="http://schemas.microsoft.com/office/powerpoint/2010/main" val="2969905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1282F08A-4112-0834-4F55-8C543E409A10}"/>
              </a:ext>
            </a:extLst>
          </p:cNvPr>
          <p:cNvPicPr>
            <a:picLocks noChangeAspect="1"/>
          </p:cNvPicPr>
          <p:nvPr/>
        </p:nvPicPr>
        <p:blipFill>
          <a:blip r:embed="rId4"/>
          <a:stretch>
            <a:fillRect/>
          </a:stretch>
        </p:blipFill>
        <p:spPr>
          <a:xfrm>
            <a:off x="261463" y="1718899"/>
            <a:ext cx="3851585" cy="2161857"/>
          </a:xfrm>
          <a:prstGeom prst="rect">
            <a:avLst/>
          </a:prstGeom>
        </p:spPr>
      </p:pic>
      <p:sp>
        <p:nvSpPr>
          <p:cNvPr id="15" name="Rectangle 14">
            <a:extLst>
              <a:ext uri="{FF2B5EF4-FFF2-40B4-BE49-F238E27FC236}">
                <a16:creationId xmlns:a16="http://schemas.microsoft.com/office/drawing/2014/main" id="{1390176D-36FF-0EE6-33BD-9A55C937D444}"/>
              </a:ext>
            </a:extLst>
          </p:cNvPr>
          <p:cNvSpPr/>
          <p:nvPr/>
        </p:nvSpPr>
        <p:spPr>
          <a:xfrm>
            <a:off x="5909400" y="3292043"/>
            <a:ext cx="2705400" cy="545400"/>
          </a:xfrm>
          <a:prstGeom prst="rect">
            <a:avLst/>
          </a:prstGeom>
          <a:solidFill>
            <a:schemeClr val="bg1"/>
          </a:solidFill>
          <a:ln>
            <a:solidFill>
              <a:srgbClr val="2C56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ángulo 6">
            <a:extLst>
              <a:ext uri="{FF2B5EF4-FFF2-40B4-BE49-F238E27FC236}">
                <a16:creationId xmlns:a16="http://schemas.microsoft.com/office/drawing/2014/main" id="{1E4E0685-445F-78A6-A57D-A3D1E18C0EEC}"/>
              </a:ext>
            </a:extLst>
          </p:cNvPr>
          <p:cNvSpPr/>
          <p:nvPr/>
        </p:nvSpPr>
        <p:spPr>
          <a:xfrm>
            <a:off x="-2262" y="74589"/>
            <a:ext cx="8786340" cy="369332"/>
          </a:xfrm>
          <a:prstGeom prst="rect">
            <a:avLst/>
          </a:prstGeom>
        </p:spPr>
        <p:txBody>
          <a:bodyPr wrap="square" lIns="91440" tIns="45720" rIns="91440" bIns="45720" anchor="t">
            <a:spAutoFit/>
          </a:bodyPr>
          <a:lstStyle/>
          <a:p>
            <a:r>
              <a:rPr lang="es-MX" b="1" dirty="0">
                <a:solidFill>
                  <a:srgbClr val="2C5697"/>
                </a:solidFill>
                <a:latin typeface="Arial"/>
                <a:cs typeface="Arial"/>
                <a:sym typeface="Times New Roman"/>
              </a:rPr>
              <a:t>Filtro RC </a:t>
            </a:r>
            <a:r>
              <a:rPr lang="es-MX" b="1" dirty="0" err="1">
                <a:solidFill>
                  <a:srgbClr val="2C5697"/>
                </a:solidFill>
                <a:latin typeface="Arial"/>
                <a:cs typeface="Arial"/>
                <a:sym typeface="Times New Roman"/>
              </a:rPr>
              <a:t>pasabajas</a:t>
            </a:r>
            <a:endParaRPr lang="en-US" dirty="0" err="1"/>
          </a:p>
        </p:txBody>
      </p:sp>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59781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Floyd, Thomas. Principios de circuitos eléctricos, 8a edición, 2007, Pearson </a:t>
            </a:r>
            <a:r>
              <a:rPr lang="es-ES" sz="700" dirty="0" err="1">
                <a:solidFill>
                  <a:schemeClr val="bg1"/>
                </a:solidFill>
                <a:latin typeface="Arial"/>
              </a:rPr>
              <a:t>Education</a:t>
            </a:r>
            <a:r>
              <a:rPr lang="es-ES" sz="700" dirty="0">
                <a:solidFill>
                  <a:schemeClr val="bg1"/>
                </a:solidFill>
                <a:latin typeface="Arial"/>
              </a:rPr>
              <a:t>.</a:t>
            </a:r>
          </a:p>
          <a:p>
            <a:r>
              <a:rPr lang="en-US" sz="700" dirty="0">
                <a:solidFill>
                  <a:schemeClr val="bg1"/>
                </a:solidFill>
                <a:cs typeface="Calibri"/>
              </a:rPr>
              <a:t>https://www.electronics-tutorials.ws/filter/filter_1.html</a:t>
            </a:r>
          </a:p>
        </p:txBody>
      </p:sp>
      <p:sp>
        <p:nvSpPr>
          <p:cNvPr id="18" name="Marcador de contenido 2">
            <a:extLst>
              <a:ext uri="{FF2B5EF4-FFF2-40B4-BE49-F238E27FC236}">
                <a16:creationId xmlns:a16="http://schemas.microsoft.com/office/drawing/2014/main" id="{639A77BB-BCC7-CC38-7108-63D6C83EF8EC}"/>
              </a:ext>
            </a:extLst>
          </p:cNvPr>
          <p:cNvSpPr>
            <a:spLocks noGrp="1"/>
          </p:cNvSpPr>
          <p:nvPr/>
        </p:nvSpPr>
        <p:spPr>
          <a:xfrm>
            <a:off x="161710" y="443539"/>
            <a:ext cx="8839066" cy="1092599"/>
          </a:xfrm>
          <a:prstGeom prst="rect">
            <a:avLst/>
          </a:prstGeom>
        </p:spPr>
        <p:txBody>
          <a:bodyPr vert="horz" lIns="68580" tIns="34290" rIns="68580" bIns="3429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s-ES" sz="1200" dirty="0">
                <a:ea typeface="+mn-lt"/>
                <a:cs typeface="+mn-lt"/>
              </a:rPr>
              <a:t>Deja pasar señales de bajas frecuencias desde la entrada hasta la salida mientras rechaza las frecuencias altas</a:t>
            </a:r>
          </a:p>
          <a:p>
            <a:r>
              <a:rPr lang="es-ES" sz="1200" dirty="0">
                <a:ea typeface="+mn-lt"/>
                <a:cs typeface="+mn-lt"/>
              </a:rPr>
              <a:t>El intervalo de frecuencias pasadas por un filtro dentro de límites especificados se llama </a:t>
            </a:r>
            <a:r>
              <a:rPr lang="es-ES" sz="1200" b="1" dirty="0">
                <a:solidFill>
                  <a:srgbClr val="2C5697"/>
                </a:solidFill>
                <a:ea typeface="+mn-lt"/>
                <a:cs typeface="+mn-lt"/>
              </a:rPr>
              <a:t>banda de paso </a:t>
            </a:r>
            <a:r>
              <a:rPr lang="es-ES" sz="1200" dirty="0">
                <a:ea typeface="+mn-lt"/>
                <a:cs typeface="+mn-lt"/>
              </a:rPr>
              <a:t>del filtro</a:t>
            </a:r>
          </a:p>
          <a:p>
            <a:r>
              <a:rPr lang="es-ES" sz="1200" dirty="0">
                <a:ea typeface="+mn-lt"/>
                <a:cs typeface="+mn-lt"/>
              </a:rPr>
              <a:t>La </a:t>
            </a:r>
            <a:r>
              <a:rPr lang="es-ES" sz="1200" b="1" dirty="0">
                <a:solidFill>
                  <a:srgbClr val="2C5697"/>
                </a:solidFill>
                <a:ea typeface="+mn-lt"/>
                <a:cs typeface="+mn-lt"/>
              </a:rPr>
              <a:t>frecuencia crítica </a:t>
            </a:r>
            <a:r>
              <a:rPr lang="es-ES" sz="1200" dirty="0">
                <a:ea typeface="+mn-lt"/>
                <a:cs typeface="+mn-lt"/>
              </a:rPr>
              <a:t>(</a:t>
            </a:r>
            <a:r>
              <a:rPr lang="es-ES" sz="1200" b="1" i="1" dirty="0" err="1">
                <a:solidFill>
                  <a:srgbClr val="2C5697"/>
                </a:solidFill>
                <a:ea typeface="+mn-lt"/>
                <a:cs typeface="+mn-lt"/>
              </a:rPr>
              <a:t>fc</a:t>
            </a:r>
            <a:r>
              <a:rPr lang="es-ES" sz="1200" dirty="0">
                <a:ea typeface="+mn-lt"/>
                <a:cs typeface="+mn-lt"/>
              </a:rPr>
              <a:t>) es la frecuencia a la cual el voltaje de salida del filtro es un 70.7% del voltaje máximo. La </a:t>
            </a:r>
            <a:r>
              <a:rPr lang="es-ES" sz="1200" b="1" i="1" dirty="0" err="1">
                <a:solidFill>
                  <a:srgbClr val="2C5697"/>
                </a:solidFill>
                <a:ea typeface="+mn-lt"/>
                <a:cs typeface="+mn-lt"/>
              </a:rPr>
              <a:t>fc</a:t>
            </a:r>
            <a:r>
              <a:rPr lang="es-ES" sz="1200" dirty="0">
                <a:ea typeface="+mn-lt"/>
                <a:cs typeface="+mn-lt"/>
              </a:rPr>
              <a:t> del filtro se conoce también como </a:t>
            </a:r>
            <a:r>
              <a:rPr lang="es-ES" sz="1200" i="1" dirty="0">
                <a:ea typeface="+mn-lt"/>
                <a:cs typeface="+mn-lt"/>
              </a:rPr>
              <a:t>frecuencia de corte</a:t>
            </a:r>
            <a:r>
              <a:rPr lang="es-ES" sz="1200" dirty="0">
                <a:ea typeface="+mn-lt"/>
                <a:cs typeface="+mn-lt"/>
              </a:rPr>
              <a:t>, </a:t>
            </a:r>
            <a:r>
              <a:rPr lang="es-ES" sz="1200" i="1" dirty="0">
                <a:ea typeface="+mn-lt"/>
                <a:cs typeface="+mn-lt"/>
              </a:rPr>
              <a:t>frecuencia de ruptura</a:t>
            </a:r>
            <a:r>
              <a:rPr lang="es-ES" sz="1200" dirty="0">
                <a:ea typeface="+mn-lt"/>
                <a:cs typeface="+mn-lt"/>
              </a:rPr>
              <a:t>, o </a:t>
            </a:r>
            <a:r>
              <a:rPr lang="es-ES" sz="1200" i="1" dirty="0">
                <a:ea typeface="+mn-lt"/>
                <a:cs typeface="+mn-lt"/>
              </a:rPr>
              <a:t>frecuencia de -3 dB</a:t>
            </a:r>
            <a:r>
              <a:rPr lang="es-ES" sz="1200" dirty="0">
                <a:ea typeface="+mn-lt"/>
                <a:cs typeface="+mn-lt"/>
              </a:rPr>
              <a:t> porque el voltaje de salida se encuentra a 3 dB por debajo de su valor máximo en esta frecuencia.</a:t>
            </a:r>
            <a:endParaRPr lang="es-ES" sz="1200" dirty="0"/>
          </a:p>
        </p:txBody>
      </p:sp>
      <p:pic>
        <p:nvPicPr>
          <p:cNvPr id="6" name="Picture 6" descr="Diagram&#10;&#10;Description automatically generated">
            <a:extLst>
              <a:ext uri="{FF2B5EF4-FFF2-40B4-BE49-F238E27FC236}">
                <a16:creationId xmlns:a16="http://schemas.microsoft.com/office/drawing/2014/main" id="{9A2ED57F-77F4-07EF-2EA2-FADE15060622}"/>
              </a:ext>
            </a:extLst>
          </p:cNvPr>
          <p:cNvPicPr>
            <a:picLocks noChangeAspect="1"/>
          </p:cNvPicPr>
          <p:nvPr/>
        </p:nvPicPr>
        <p:blipFill>
          <a:blip r:embed="rId5"/>
          <a:stretch>
            <a:fillRect/>
          </a:stretch>
        </p:blipFill>
        <p:spPr>
          <a:xfrm>
            <a:off x="5099400" y="1750319"/>
            <a:ext cx="3868200" cy="1467361"/>
          </a:xfrm>
          <a:prstGeom prst="rect">
            <a:avLst/>
          </a:prstGeom>
        </p:spPr>
      </p:pic>
      <p:pic>
        <p:nvPicPr>
          <p:cNvPr id="8" name="Picture 8" descr="Logo, company name&#10;&#10;Description automatically generated">
            <a:extLst>
              <a:ext uri="{FF2B5EF4-FFF2-40B4-BE49-F238E27FC236}">
                <a16:creationId xmlns:a16="http://schemas.microsoft.com/office/drawing/2014/main" id="{2165FFE7-9F74-B191-2898-68C518B4F8D9}"/>
              </a:ext>
            </a:extLst>
          </p:cNvPr>
          <p:cNvPicPr>
            <a:picLocks noChangeAspect="1"/>
          </p:cNvPicPr>
          <p:nvPr/>
        </p:nvPicPr>
        <p:blipFill>
          <a:blip r:embed="rId6"/>
          <a:stretch>
            <a:fillRect/>
          </a:stretch>
        </p:blipFill>
        <p:spPr>
          <a:xfrm>
            <a:off x="6647400" y="2804470"/>
            <a:ext cx="2167200" cy="376059"/>
          </a:xfrm>
          <a:prstGeom prst="rect">
            <a:avLst/>
          </a:prstGeom>
        </p:spPr>
      </p:pic>
      <p:pic>
        <p:nvPicPr>
          <p:cNvPr id="9" name="Picture 9">
            <a:extLst>
              <a:ext uri="{FF2B5EF4-FFF2-40B4-BE49-F238E27FC236}">
                <a16:creationId xmlns:a16="http://schemas.microsoft.com/office/drawing/2014/main" id="{3CFC9AF6-B4DF-7637-2288-195A6EE8F973}"/>
              </a:ext>
            </a:extLst>
          </p:cNvPr>
          <p:cNvPicPr>
            <a:picLocks noChangeAspect="1"/>
          </p:cNvPicPr>
          <p:nvPr/>
        </p:nvPicPr>
        <p:blipFill>
          <a:blip r:embed="rId7"/>
          <a:stretch>
            <a:fillRect/>
          </a:stretch>
        </p:blipFill>
        <p:spPr>
          <a:xfrm>
            <a:off x="3509513" y="1684865"/>
            <a:ext cx="838500" cy="407625"/>
          </a:xfrm>
          <a:prstGeom prst="rect">
            <a:avLst/>
          </a:prstGeom>
          <a:ln>
            <a:solidFill>
              <a:srgbClr val="2C5697"/>
            </a:solidFill>
          </a:ln>
        </p:spPr>
      </p:pic>
      <p:sp>
        <p:nvSpPr>
          <p:cNvPr id="12" name="TextBox 11">
            <a:extLst>
              <a:ext uri="{FF2B5EF4-FFF2-40B4-BE49-F238E27FC236}">
                <a16:creationId xmlns:a16="http://schemas.microsoft.com/office/drawing/2014/main" id="{4BC0F4A0-5706-33E3-31F2-B22755ADBC57}"/>
              </a:ext>
            </a:extLst>
          </p:cNvPr>
          <p:cNvSpPr txBox="1"/>
          <p:nvPr/>
        </p:nvSpPr>
        <p:spPr>
          <a:xfrm>
            <a:off x="6038999" y="3430642"/>
            <a:ext cx="1366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200" dirty="0"/>
              <a:t>Si el circuito es RL, </a:t>
            </a:r>
            <a:endParaRPr lang="en-US" sz="1200" dirty="0">
              <a:cs typeface="Calibri"/>
            </a:endParaRPr>
          </a:p>
        </p:txBody>
      </p:sp>
      <p:pic>
        <p:nvPicPr>
          <p:cNvPr id="13" name="Picture 13">
            <a:extLst>
              <a:ext uri="{FF2B5EF4-FFF2-40B4-BE49-F238E27FC236}">
                <a16:creationId xmlns:a16="http://schemas.microsoft.com/office/drawing/2014/main" id="{0F1EA31B-64A2-69A6-8B25-5C88E4B104A0}"/>
              </a:ext>
            </a:extLst>
          </p:cNvPr>
          <p:cNvPicPr>
            <a:picLocks noChangeAspect="1"/>
          </p:cNvPicPr>
          <p:nvPr/>
        </p:nvPicPr>
        <p:blipFill>
          <a:blip r:embed="rId8"/>
          <a:stretch>
            <a:fillRect/>
          </a:stretch>
        </p:blipFill>
        <p:spPr>
          <a:xfrm>
            <a:off x="7315388" y="3346643"/>
            <a:ext cx="955425" cy="427200"/>
          </a:xfrm>
          <a:prstGeom prst="rect">
            <a:avLst/>
          </a:prstGeom>
        </p:spPr>
      </p:pic>
      <p:sp>
        <p:nvSpPr>
          <p:cNvPr id="2" name="TextBox 1">
            <a:extLst>
              <a:ext uri="{FF2B5EF4-FFF2-40B4-BE49-F238E27FC236}">
                <a16:creationId xmlns:a16="http://schemas.microsoft.com/office/drawing/2014/main" id="{88E618F3-6F42-EDEC-C865-5B4E463E4415}"/>
              </a:ext>
            </a:extLst>
          </p:cNvPr>
          <p:cNvSpPr txBox="1"/>
          <p:nvPr/>
        </p:nvSpPr>
        <p:spPr>
          <a:xfrm>
            <a:off x="5909400" y="1580400"/>
            <a:ext cx="1195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200" b="1" dirty="0">
                <a:solidFill>
                  <a:srgbClr val="2C5697"/>
                </a:solidFill>
              </a:rPr>
              <a:t>Curva de Bode</a:t>
            </a:r>
            <a:endParaRPr lang="en-US" b="1">
              <a:solidFill>
                <a:srgbClr val="2C5697"/>
              </a:solidFill>
              <a:cs typeface="Calibri"/>
            </a:endParaRPr>
          </a:p>
        </p:txBody>
      </p:sp>
      <p:sp>
        <p:nvSpPr>
          <p:cNvPr id="19" name="Marcador de número de diapositiva 3">
            <a:extLst>
              <a:ext uri="{FF2B5EF4-FFF2-40B4-BE49-F238E27FC236}">
                <a16:creationId xmlns:a16="http://schemas.microsoft.com/office/drawing/2014/main" id="{6C2225A9-87DD-4D63-BB40-F7D422671B46}"/>
              </a:ext>
            </a:extLst>
          </p:cNvPr>
          <p:cNvSpPr txBox="1">
            <a:spLocks/>
          </p:cNvSpPr>
          <p:nvPr/>
        </p:nvSpPr>
        <p:spPr>
          <a:xfrm>
            <a:off x="8724600" y="5885920"/>
            <a:ext cx="3690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sp>
        <p:nvSpPr>
          <p:cNvPr id="20" name="Título 1">
            <a:extLst>
              <a:ext uri="{FF2B5EF4-FFF2-40B4-BE49-F238E27FC236}">
                <a16:creationId xmlns:a16="http://schemas.microsoft.com/office/drawing/2014/main" id="{AFFEF39D-1D23-4BB7-B334-B57282E5D282}"/>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pic>
        <p:nvPicPr>
          <p:cNvPr id="17" name="Imagen 16">
            <a:extLst>
              <a:ext uri="{FF2B5EF4-FFF2-40B4-BE49-F238E27FC236}">
                <a16:creationId xmlns:a16="http://schemas.microsoft.com/office/drawing/2014/main" id="{9E8F50DC-6652-1549-675D-5AC52ED1E492}"/>
              </a:ext>
            </a:extLst>
          </p:cNvPr>
          <p:cNvPicPr>
            <a:picLocks noChangeAspect="1"/>
          </p:cNvPicPr>
          <p:nvPr/>
        </p:nvPicPr>
        <p:blipFill>
          <a:blip r:embed="rId9"/>
          <a:stretch>
            <a:fillRect/>
          </a:stretch>
        </p:blipFill>
        <p:spPr>
          <a:xfrm>
            <a:off x="649363" y="4037129"/>
            <a:ext cx="2664654" cy="1297811"/>
          </a:xfrm>
          <a:prstGeom prst="rect">
            <a:avLst/>
          </a:prstGeom>
        </p:spPr>
      </p:pic>
      <p:pic>
        <p:nvPicPr>
          <p:cNvPr id="22" name="Imagen 21">
            <a:extLst>
              <a:ext uri="{FF2B5EF4-FFF2-40B4-BE49-F238E27FC236}">
                <a16:creationId xmlns:a16="http://schemas.microsoft.com/office/drawing/2014/main" id="{5554268B-CB32-42F6-1CFA-095001C24E1C}"/>
              </a:ext>
            </a:extLst>
          </p:cNvPr>
          <p:cNvPicPr>
            <a:picLocks noChangeAspect="1"/>
          </p:cNvPicPr>
          <p:nvPr/>
        </p:nvPicPr>
        <p:blipFill>
          <a:blip r:embed="rId10"/>
          <a:stretch>
            <a:fillRect/>
          </a:stretch>
        </p:blipFill>
        <p:spPr>
          <a:xfrm>
            <a:off x="492719" y="5361626"/>
            <a:ext cx="3436044" cy="473184"/>
          </a:xfrm>
          <a:prstGeom prst="rect">
            <a:avLst/>
          </a:prstGeom>
        </p:spPr>
      </p:pic>
      <p:pic>
        <p:nvPicPr>
          <p:cNvPr id="24" name="Imagen 23">
            <a:extLst>
              <a:ext uri="{FF2B5EF4-FFF2-40B4-BE49-F238E27FC236}">
                <a16:creationId xmlns:a16="http://schemas.microsoft.com/office/drawing/2014/main" id="{EEC5FD91-7207-CE83-99C0-D0A2E7CFAF8B}"/>
              </a:ext>
            </a:extLst>
          </p:cNvPr>
          <p:cNvPicPr>
            <a:picLocks noChangeAspect="1"/>
          </p:cNvPicPr>
          <p:nvPr/>
        </p:nvPicPr>
        <p:blipFill>
          <a:blip r:embed="rId11"/>
          <a:stretch>
            <a:fillRect/>
          </a:stretch>
        </p:blipFill>
        <p:spPr>
          <a:xfrm>
            <a:off x="4151918" y="4146409"/>
            <a:ext cx="4990963" cy="1710683"/>
          </a:xfrm>
          <a:prstGeom prst="rect">
            <a:avLst/>
          </a:prstGeom>
        </p:spPr>
      </p:pic>
    </p:spTree>
    <p:custDataLst>
      <p:tags r:id="rId1"/>
    </p:custDataLst>
    <p:extLst>
      <p:ext uri="{BB962C8B-B14F-4D97-AF65-F5344CB8AC3E}">
        <p14:creationId xmlns:p14="http://schemas.microsoft.com/office/powerpoint/2010/main" val="1222002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59781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Floyd, Thomas. Principios de circuitos eléctricos, 8a edición, 2007, Pearson </a:t>
            </a:r>
            <a:r>
              <a:rPr lang="es-ES" sz="700" dirty="0" err="1">
                <a:solidFill>
                  <a:schemeClr val="bg1"/>
                </a:solidFill>
                <a:latin typeface="Arial"/>
              </a:rPr>
              <a:t>Education</a:t>
            </a:r>
            <a:r>
              <a:rPr lang="es-ES" sz="700" dirty="0">
                <a:solidFill>
                  <a:schemeClr val="bg1"/>
                </a:solidFill>
                <a:latin typeface="Arial"/>
              </a:rPr>
              <a:t>.</a:t>
            </a:r>
          </a:p>
          <a:p>
            <a:r>
              <a:rPr lang="en-US" sz="700" dirty="0">
                <a:solidFill>
                  <a:schemeClr val="bg1"/>
                </a:solidFill>
                <a:cs typeface="Calibri"/>
              </a:rPr>
              <a:t>https://www.electronics-tutorials.ws/filter/filter_1.html</a:t>
            </a:r>
          </a:p>
        </p:txBody>
      </p:sp>
      <p:sp>
        <p:nvSpPr>
          <p:cNvPr id="18" name="Marcador de contenido 2">
            <a:extLst>
              <a:ext uri="{FF2B5EF4-FFF2-40B4-BE49-F238E27FC236}">
                <a16:creationId xmlns:a16="http://schemas.microsoft.com/office/drawing/2014/main" id="{639A77BB-BCC7-CC38-7108-63D6C83EF8EC}"/>
              </a:ext>
            </a:extLst>
          </p:cNvPr>
          <p:cNvSpPr>
            <a:spLocks noGrp="1"/>
          </p:cNvSpPr>
          <p:nvPr/>
        </p:nvSpPr>
        <p:spPr>
          <a:xfrm>
            <a:off x="161710" y="443539"/>
            <a:ext cx="8839066" cy="885599"/>
          </a:xfrm>
          <a:prstGeom prst="rect">
            <a:avLst/>
          </a:prstGeom>
        </p:spPr>
        <p:txBody>
          <a:bodyPr vert="horz" lIns="68580" tIns="34290" rIns="68580" bIns="3429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s-ES" sz="1200" dirty="0">
                <a:ea typeface="+mn-lt"/>
                <a:cs typeface="+mn-lt"/>
              </a:rPr>
              <a:t>Deja pasar señales de alta frecuencias desde la entrada hasta la salida mientras rechaza las frecuencias bajas</a:t>
            </a:r>
          </a:p>
          <a:p>
            <a:r>
              <a:rPr lang="es-ES" sz="1200" dirty="0">
                <a:ea typeface="+mn-lt"/>
                <a:cs typeface="+mn-lt"/>
              </a:rPr>
              <a:t>La frecuencia considerada como el extremo inferior de la banda de paso se llama </a:t>
            </a:r>
            <a:r>
              <a:rPr lang="es-ES" sz="1200" b="1" dirty="0">
                <a:solidFill>
                  <a:srgbClr val="2C5697"/>
                </a:solidFill>
                <a:ea typeface="+mn-lt"/>
                <a:cs typeface="+mn-lt"/>
              </a:rPr>
              <a:t>frecuencia crítica </a:t>
            </a:r>
            <a:r>
              <a:rPr lang="es-ES" sz="1200" dirty="0">
                <a:ea typeface="+mn-lt"/>
                <a:cs typeface="+mn-lt"/>
              </a:rPr>
              <a:t>(</a:t>
            </a:r>
            <a:r>
              <a:rPr lang="es-ES" sz="1200" b="1" i="1" dirty="0" err="1">
                <a:solidFill>
                  <a:srgbClr val="2C5697"/>
                </a:solidFill>
                <a:ea typeface="+mn-lt"/>
                <a:cs typeface="+mn-lt"/>
              </a:rPr>
              <a:t>fc</a:t>
            </a:r>
            <a:r>
              <a:rPr lang="es-ES" sz="1200" dirty="0">
                <a:ea typeface="+mn-lt"/>
                <a:cs typeface="+mn-lt"/>
              </a:rPr>
              <a:t>).</a:t>
            </a:r>
          </a:p>
          <a:p>
            <a:r>
              <a:rPr lang="es-ES" sz="1200" dirty="0">
                <a:ea typeface="+mn-lt"/>
                <a:cs typeface="+mn-lt"/>
              </a:rPr>
              <a:t>Cuando la frecuencia de entrada alcanza su valor crítico, </a:t>
            </a:r>
            <a:r>
              <a:rPr lang="es-ES" sz="1200" i="1" dirty="0">
                <a:ea typeface="+mn-lt"/>
                <a:cs typeface="+mn-lt"/>
              </a:rPr>
              <a:t>X</a:t>
            </a:r>
            <a:r>
              <a:rPr lang="es-ES" sz="1200" i="1" baseline="-25000" dirty="0">
                <a:ea typeface="+mn-lt"/>
                <a:cs typeface="+mn-lt"/>
              </a:rPr>
              <a:t>C</a:t>
            </a:r>
            <a:r>
              <a:rPr lang="es-ES" sz="1200" i="1" dirty="0">
                <a:ea typeface="+mn-lt"/>
                <a:cs typeface="+mn-lt"/>
              </a:rPr>
              <a:t> = R</a:t>
            </a:r>
            <a:r>
              <a:rPr lang="es-ES" sz="1200" dirty="0">
                <a:ea typeface="+mn-lt"/>
                <a:cs typeface="+mn-lt"/>
              </a:rPr>
              <a:t> y el voltaje de salida es de 0.707V</a:t>
            </a:r>
            <a:r>
              <a:rPr lang="es-ES" sz="1200" baseline="-25000" dirty="0">
                <a:ea typeface="+mn-lt"/>
                <a:cs typeface="+mn-lt"/>
              </a:rPr>
              <a:t>ent</a:t>
            </a:r>
            <a:r>
              <a:rPr lang="es-ES" sz="1200" dirty="0">
                <a:ea typeface="+mn-lt"/>
                <a:cs typeface="+mn-lt"/>
              </a:rPr>
              <a:t>.</a:t>
            </a:r>
            <a:r>
              <a:rPr lang="es-ES" sz="1200" dirty="0">
                <a:solidFill>
                  <a:srgbClr val="000000"/>
                </a:solidFill>
                <a:ea typeface="+mn-lt"/>
                <a:cs typeface="+mn-lt"/>
              </a:rPr>
              <a:t> Cuando la frecuencia de entrada aumenta por encima de </a:t>
            </a:r>
            <a:r>
              <a:rPr lang="es-ES" sz="1200" i="1" dirty="0" err="1">
                <a:solidFill>
                  <a:srgbClr val="000000"/>
                </a:solidFill>
                <a:ea typeface="+mn-lt"/>
                <a:cs typeface="+mn-lt"/>
              </a:rPr>
              <a:t>fc</a:t>
            </a:r>
            <a:r>
              <a:rPr lang="es-ES" sz="1200" dirty="0">
                <a:solidFill>
                  <a:srgbClr val="000000"/>
                </a:solidFill>
                <a:ea typeface="+mn-lt"/>
                <a:cs typeface="+mn-lt"/>
              </a:rPr>
              <a:t>, </a:t>
            </a:r>
            <a:r>
              <a:rPr lang="es-ES" sz="1200" b="1" dirty="0">
                <a:solidFill>
                  <a:srgbClr val="2C5697"/>
                </a:solidFill>
                <a:ea typeface="+mn-lt"/>
                <a:cs typeface="+mn-lt"/>
              </a:rPr>
              <a:t>X</a:t>
            </a:r>
            <a:r>
              <a:rPr lang="es-ES" sz="1200" b="1" baseline="-25000" dirty="0">
                <a:solidFill>
                  <a:srgbClr val="2C5697"/>
                </a:solidFill>
                <a:ea typeface="+mn-lt"/>
                <a:cs typeface="+mn-lt"/>
              </a:rPr>
              <a:t>C</a:t>
            </a:r>
            <a:r>
              <a:rPr lang="es-ES" sz="1200" dirty="0">
                <a:ea typeface="+mn-lt"/>
                <a:cs typeface="+mn-lt"/>
              </a:rPr>
              <a:t> disminuye y, por consiguiente, el voltaje de salida aumenta y tiende a un valor igual a </a:t>
            </a:r>
            <a:r>
              <a:rPr lang="es-ES" sz="1200" i="1" dirty="0" err="1">
                <a:ea typeface="+mn-lt"/>
                <a:cs typeface="+mn-lt"/>
              </a:rPr>
              <a:t>V</a:t>
            </a:r>
            <a:r>
              <a:rPr lang="es-ES" sz="1200" i="1" baseline="-25000" dirty="0" err="1">
                <a:ea typeface="+mn-lt"/>
                <a:cs typeface="+mn-lt"/>
              </a:rPr>
              <a:t>ent</a:t>
            </a:r>
            <a:endParaRPr lang="es-ES" i="1" baseline="-25000">
              <a:cs typeface="Calibri"/>
            </a:endParaRPr>
          </a:p>
        </p:txBody>
      </p:sp>
      <p:pic>
        <p:nvPicPr>
          <p:cNvPr id="9" name="Picture 9">
            <a:extLst>
              <a:ext uri="{FF2B5EF4-FFF2-40B4-BE49-F238E27FC236}">
                <a16:creationId xmlns:a16="http://schemas.microsoft.com/office/drawing/2014/main" id="{3CFC9AF6-B4DF-7637-2288-195A6EE8F973}"/>
              </a:ext>
            </a:extLst>
          </p:cNvPr>
          <p:cNvPicPr>
            <a:picLocks noChangeAspect="1"/>
          </p:cNvPicPr>
          <p:nvPr/>
        </p:nvPicPr>
        <p:blipFill>
          <a:blip r:embed="rId4"/>
          <a:stretch>
            <a:fillRect/>
          </a:stretch>
        </p:blipFill>
        <p:spPr>
          <a:xfrm>
            <a:off x="4683750" y="1825688"/>
            <a:ext cx="838500" cy="407625"/>
          </a:xfrm>
          <a:prstGeom prst="rect">
            <a:avLst/>
          </a:prstGeom>
          <a:ln>
            <a:solidFill>
              <a:srgbClr val="2C5697"/>
            </a:solidFill>
          </a:ln>
        </p:spPr>
      </p:pic>
      <p:sp>
        <p:nvSpPr>
          <p:cNvPr id="2" name="Rectángulo 6">
            <a:extLst>
              <a:ext uri="{FF2B5EF4-FFF2-40B4-BE49-F238E27FC236}">
                <a16:creationId xmlns:a16="http://schemas.microsoft.com/office/drawing/2014/main" id="{499CD84C-12C4-877E-9729-26CCBB9D1D19}"/>
              </a:ext>
            </a:extLst>
          </p:cNvPr>
          <p:cNvSpPr/>
          <p:nvPr/>
        </p:nvSpPr>
        <p:spPr>
          <a:xfrm>
            <a:off x="-2262" y="74589"/>
            <a:ext cx="8786340" cy="369332"/>
          </a:xfrm>
          <a:prstGeom prst="rect">
            <a:avLst/>
          </a:prstGeom>
        </p:spPr>
        <p:txBody>
          <a:bodyPr wrap="square" lIns="91440" tIns="45720" rIns="91440" bIns="45720" anchor="t">
            <a:spAutoFit/>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b="1" dirty="0">
                <a:solidFill>
                  <a:srgbClr val="2C5697"/>
                </a:solidFill>
                <a:latin typeface="Arial"/>
                <a:cs typeface="Arial"/>
                <a:sym typeface="Times New Roman"/>
              </a:rPr>
              <a:t>Filtro RC </a:t>
            </a:r>
            <a:r>
              <a:rPr lang="es-MX" b="1" dirty="0" err="1">
                <a:solidFill>
                  <a:srgbClr val="2C5697"/>
                </a:solidFill>
                <a:latin typeface="Arial"/>
                <a:cs typeface="Arial"/>
                <a:sym typeface="Times New Roman"/>
              </a:rPr>
              <a:t>pasaaltas</a:t>
            </a:r>
            <a:endParaRPr lang="en-US" dirty="0" err="1"/>
          </a:p>
        </p:txBody>
      </p:sp>
      <p:pic>
        <p:nvPicPr>
          <p:cNvPr id="16" name="Picture 16" descr="Diagram&#10;&#10;Description automatically generated">
            <a:extLst>
              <a:ext uri="{FF2B5EF4-FFF2-40B4-BE49-F238E27FC236}">
                <a16:creationId xmlns:a16="http://schemas.microsoft.com/office/drawing/2014/main" id="{95A5EF8E-806B-4314-18E0-67646396DE3F}"/>
              </a:ext>
            </a:extLst>
          </p:cNvPr>
          <p:cNvPicPr>
            <a:picLocks noChangeAspect="1"/>
          </p:cNvPicPr>
          <p:nvPr/>
        </p:nvPicPr>
        <p:blipFill>
          <a:blip r:embed="rId5"/>
          <a:stretch>
            <a:fillRect/>
          </a:stretch>
        </p:blipFill>
        <p:spPr>
          <a:xfrm>
            <a:off x="6170400" y="1768942"/>
            <a:ext cx="2419200" cy="1718116"/>
          </a:xfrm>
          <a:prstGeom prst="rect">
            <a:avLst/>
          </a:prstGeom>
        </p:spPr>
      </p:pic>
      <p:pic>
        <p:nvPicPr>
          <p:cNvPr id="17" name="Picture 18" descr="Diagram, schematic&#10;&#10;Description automatically generated">
            <a:extLst>
              <a:ext uri="{FF2B5EF4-FFF2-40B4-BE49-F238E27FC236}">
                <a16:creationId xmlns:a16="http://schemas.microsoft.com/office/drawing/2014/main" id="{F14C68BC-7C6E-5F0F-185C-F6226593E6AD}"/>
              </a:ext>
            </a:extLst>
          </p:cNvPr>
          <p:cNvPicPr>
            <a:picLocks noChangeAspect="1"/>
          </p:cNvPicPr>
          <p:nvPr/>
        </p:nvPicPr>
        <p:blipFill>
          <a:blip r:embed="rId6"/>
          <a:stretch>
            <a:fillRect/>
          </a:stretch>
        </p:blipFill>
        <p:spPr>
          <a:xfrm>
            <a:off x="1004400" y="4260222"/>
            <a:ext cx="1960200" cy="1226556"/>
          </a:xfrm>
          <a:prstGeom prst="rect">
            <a:avLst/>
          </a:prstGeom>
        </p:spPr>
      </p:pic>
      <p:pic>
        <p:nvPicPr>
          <p:cNvPr id="19" name="Picture 19" descr="A picture containing diagram&#10;&#10;Description automatically generated">
            <a:extLst>
              <a:ext uri="{FF2B5EF4-FFF2-40B4-BE49-F238E27FC236}">
                <a16:creationId xmlns:a16="http://schemas.microsoft.com/office/drawing/2014/main" id="{41A69338-F69A-E1BE-DFAA-763F89639488}"/>
              </a:ext>
            </a:extLst>
          </p:cNvPr>
          <p:cNvPicPr>
            <a:picLocks noChangeAspect="1"/>
          </p:cNvPicPr>
          <p:nvPr/>
        </p:nvPicPr>
        <p:blipFill>
          <a:blip r:embed="rId7"/>
          <a:stretch>
            <a:fillRect/>
          </a:stretch>
        </p:blipFill>
        <p:spPr>
          <a:xfrm>
            <a:off x="3902400" y="4614616"/>
            <a:ext cx="4660200" cy="706769"/>
          </a:xfrm>
          <a:prstGeom prst="rect">
            <a:avLst/>
          </a:prstGeom>
        </p:spPr>
      </p:pic>
      <p:sp>
        <p:nvSpPr>
          <p:cNvPr id="5" name="TextBox 4">
            <a:extLst>
              <a:ext uri="{FF2B5EF4-FFF2-40B4-BE49-F238E27FC236}">
                <a16:creationId xmlns:a16="http://schemas.microsoft.com/office/drawing/2014/main" id="{67BFBD62-B112-4220-63D6-3AC4CC7F8090}"/>
              </a:ext>
            </a:extLst>
          </p:cNvPr>
          <p:cNvSpPr txBox="1"/>
          <p:nvPr/>
        </p:nvSpPr>
        <p:spPr>
          <a:xfrm>
            <a:off x="6584400" y="1499400"/>
            <a:ext cx="1195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200" b="1" dirty="0">
                <a:solidFill>
                  <a:srgbClr val="2C5697"/>
                </a:solidFill>
              </a:rPr>
              <a:t>Curva de Bode</a:t>
            </a:r>
            <a:endParaRPr lang="en-US" b="1">
              <a:solidFill>
                <a:srgbClr val="2C5697"/>
              </a:solidFill>
              <a:cs typeface="Calibri"/>
            </a:endParaRPr>
          </a:p>
        </p:txBody>
      </p:sp>
      <p:sp>
        <p:nvSpPr>
          <p:cNvPr id="13" name="Marcador de número de diapositiva 3">
            <a:extLst>
              <a:ext uri="{FF2B5EF4-FFF2-40B4-BE49-F238E27FC236}">
                <a16:creationId xmlns:a16="http://schemas.microsoft.com/office/drawing/2014/main" id="{8C7E3250-D4F5-42C1-9041-EC146F7DF66E}"/>
              </a:ext>
            </a:extLst>
          </p:cNvPr>
          <p:cNvSpPr txBox="1">
            <a:spLocks/>
          </p:cNvSpPr>
          <p:nvPr/>
        </p:nvSpPr>
        <p:spPr>
          <a:xfrm>
            <a:off x="8724600" y="5885920"/>
            <a:ext cx="3690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sp>
        <p:nvSpPr>
          <p:cNvPr id="15" name="Título 1">
            <a:extLst>
              <a:ext uri="{FF2B5EF4-FFF2-40B4-BE49-F238E27FC236}">
                <a16:creationId xmlns:a16="http://schemas.microsoft.com/office/drawing/2014/main" id="{F4E6E495-38BD-41B0-B90D-6B8637FC3D04}"/>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pic>
        <p:nvPicPr>
          <p:cNvPr id="4" name="Imagen 3">
            <a:extLst>
              <a:ext uri="{FF2B5EF4-FFF2-40B4-BE49-F238E27FC236}">
                <a16:creationId xmlns:a16="http://schemas.microsoft.com/office/drawing/2014/main" id="{4FEA7D6C-EBAE-B6FB-79DE-B75F0D9399FE}"/>
              </a:ext>
            </a:extLst>
          </p:cNvPr>
          <p:cNvPicPr>
            <a:picLocks noChangeAspect="1"/>
          </p:cNvPicPr>
          <p:nvPr/>
        </p:nvPicPr>
        <p:blipFill>
          <a:blip r:embed="rId8"/>
          <a:stretch>
            <a:fillRect/>
          </a:stretch>
        </p:blipFill>
        <p:spPr>
          <a:xfrm>
            <a:off x="459714" y="1641009"/>
            <a:ext cx="3669124" cy="2099041"/>
          </a:xfrm>
          <a:prstGeom prst="rect">
            <a:avLst/>
          </a:prstGeom>
        </p:spPr>
      </p:pic>
      <p:pic>
        <p:nvPicPr>
          <p:cNvPr id="7" name="Imagen 6">
            <a:extLst>
              <a:ext uri="{FF2B5EF4-FFF2-40B4-BE49-F238E27FC236}">
                <a16:creationId xmlns:a16="http://schemas.microsoft.com/office/drawing/2014/main" id="{8D0B2AC0-2D17-BF32-FC9D-2F487D3F16EB}"/>
              </a:ext>
            </a:extLst>
          </p:cNvPr>
          <p:cNvPicPr>
            <a:picLocks noChangeAspect="1"/>
          </p:cNvPicPr>
          <p:nvPr/>
        </p:nvPicPr>
        <p:blipFill>
          <a:blip r:embed="rId9"/>
          <a:stretch>
            <a:fillRect/>
          </a:stretch>
        </p:blipFill>
        <p:spPr>
          <a:xfrm>
            <a:off x="3257973" y="3729399"/>
            <a:ext cx="868777" cy="245040"/>
          </a:xfrm>
          <a:prstGeom prst="rect">
            <a:avLst/>
          </a:prstGeom>
        </p:spPr>
      </p:pic>
    </p:spTree>
    <p:custDataLst>
      <p:tags r:id="rId1"/>
    </p:custDataLst>
    <p:extLst>
      <p:ext uri="{BB962C8B-B14F-4D97-AF65-F5344CB8AC3E}">
        <p14:creationId xmlns:p14="http://schemas.microsoft.com/office/powerpoint/2010/main" val="3923089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74DE1F6-0B7F-A11B-9D9A-01C7723A22EE}"/>
              </a:ext>
            </a:extLst>
          </p:cNvPr>
          <p:cNvPicPr>
            <a:picLocks noChangeAspect="1"/>
          </p:cNvPicPr>
          <p:nvPr/>
        </p:nvPicPr>
        <p:blipFill>
          <a:blip r:embed="rId4"/>
          <a:stretch>
            <a:fillRect/>
          </a:stretch>
        </p:blipFill>
        <p:spPr>
          <a:xfrm>
            <a:off x="419400" y="1356071"/>
            <a:ext cx="3627869" cy="2111354"/>
          </a:xfrm>
          <a:prstGeom prst="rect">
            <a:avLst/>
          </a:prstGeom>
        </p:spPr>
      </p:pic>
      <p:sp>
        <p:nvSpPr>
          <p:cNvPr id="4" name="Rectángulo 6">
            <a:extLst>
              <a:ext uri="{FF2B5EF4-FFF2-40B4-BE49-F238E27FC236}">
                <a16:creationId xmlns:a16="http://schemas.microsoft.com/office/drawing/2014/main" id="{1E4E0685-445F-78A6-A57D-A3D1E18C0EEC}"/>
              </a:ext>
            </a:extLst>
          </p:cNvPr>
          <p:cNvSpPr/>
          <p:nvPr/>
        </p:nvSpPr>
        <p:spPr>
          <a:xfrm>
            <a:off x="-2262" y="74589"/>
            <a:ext cx="8786340" cy="369332"/>
          </a:xfrm>
          <a:prstGeom prst="rect">
            <a:avLst/>
          </a:prstGeom>
        </p:spPr>
        <p:txBody>
          <a:bodyPr wrap="square" lIns="91440" tIns="45720" rIns="91440" bIns="45720" anchor="t">
            <a:spAutoFit/>
          </a:bodyPr>
          <a:lstStyle/>
          <a:p>
            <a:r>
              <a:rPr lang="es-MX" b="1" dirty="0">
                <a:solidFill>
                  <a:srgbClr val="2C5697"/>
                </a:solidFill>
                <a:latin typeface="Arial"/>
                <a:cs typeface="Arial"/>
                <a:sym typeface="Times New Roman"/>
              </a:rPr>
              <a:t>Filtro </a:t>
            </a:r>
            <a:r>
              <a:rPr lang="es-MX" b="1" dirty="0" err="1">
                <a:solidFill>
                  <a:srgbClr val="2C5697"/>
                </a:solidFill>
                <a:latin typeface="Arial"/>
                <a:cs typeface="Arial"/>
                <a:sym typeface="Times New Roman"/>
              </a:rPr>
              <a:t>pasabanda</a:t>
            </a:r>
            <a:endParaRPr lang="en-US" dirty="0" err="1"/>
          </a:p>
        </p:txBody>
      </p:sp>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TextBox 4">
            <a:extLst>
              <a:ext uri="{FF2B5EF4-FFF2-40B4-BE49-F238E27FC236}">
                <a16:creationId xmlns:a16="http://schemas.microsoft.com/office/drawing/2014/main" id="{DED1F4D8-18BE-EE7C-ADA5-2F9661546390}"/>
              </a:ext>
            </a:extLst>
          </p:cNvPr>
          <p:cNvSpPr txBox="1"/>
          <p:nvPr/>
        </p:nvSpPr>
        <p:spPr>
          <a:xfrm>
            <a:off x="21249" y="5909173"/>
            <a:ext cx="5978105" cy="4154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1. Floyd, Thomas. Principios de circuitos eléctricos, 8a edición, 2007, Pearson </a:t>
            </a:r>
            <a:r>
              <a:rPr lang="es-ES" sz="700" dirty="0" err="1">
                <a:solidFill>
                  <a:schemeClr val="bg1"/>
                </a:solidFill>
                <a:latin typeface="Arial"/>
              </a:rPr>
              <a:t>Education</a:t>
            </a:r>
            <a:r>
              <a:rPr lang="es-ES" sz="700" dirty="0">
                <a:solidFill>
                  <a:schemeClr val="bg1"/>
                </a:solidFill>
                <a:latin typeface="Arial"/>
              </a:rPr>
              <a:t>.</a:t>
            </a:r>
          </a:p>
          <a:p>
            <a:r>
              <a:rPr lang="es-ES" sz="700" dirty="0">
                <a:solidFill>
                  <a:schemeClr val="bg1"/>
                </a:solidFill>
                <a:latin typeface="Arial"/>
                <a:cs typeface="Arial"/>
              </a:rPr>
              <a:t>             2. Fuente: </a:t>
            </a:r>
            <a:r>
              <a:rPr lang="es-ES" sz="700" dirty="0" err="1">
                <a:solidFill>
                  <a:schemeClr val="bg1"/>
                </a:solidFill>
                <a:latin typeface="Arial"/>
                <a:cs typeface="Arial"/>
              </a:rPr>
              <a:t>Boylestad</a:t>
            </a:r>
            <a:r>
              <a:rPr lang="es-ES" sz="700" dirty="0">
                <a:solidFill>
                  <a:schemeClr val="bg1"/>
                </a:solidFill>
                <a:latin typeface="Arial"/>
                <a:cs typeface="Arial"/>
              </a:rPr>
              <a:t> R., Introducción al análisis de circuitos, 12a edición, 2011, Pearson.</a:t>
            </a:r>
          </a:p>
          <a:p>
            <a:r>
              <a:rPr lang="es-ES" sz="700" dirty="0">
                <a:solidFill>
                  <a:schemeClr val="bg1"/>
                </a:solidFill>
                <a:ea typeface="+mn-lt"/>
                <a:cs typeface="+mn-lt"/>
              </a:rPr>
              <a:t>https://www.electronics-tutorials.ws/filter/filter_1.html</a:t>
            </a:r>
          </a:p>
        </p:txBody>
      </p:sp>
      <p:sp>
        <p:nvSpPr>
          <p:cNvPr id="7" name="Marcador de contenido 2">
            <a:extLst>
              <a:ext uri="{FF2B5EF4-FFF2-40B4-BE49-F238E27FC236}">
                <a16:creationId xmlns:a16="http://schemas.microsoft.com/office/drawing/2014/main" id="{9F46F7BB-8CC6-5815-473A-788913F8F0B7}"/>
              </a:ext>
            </a:extLst>
          </p:cNvPr>
          <p:cNvSpPr>
            <a:spLocks noGrp="1"/>
          </p:cNvSpPr>
          <p:nvPr/>
        </p:nvSpPr>
        <p:spPr>
          <a:xfrm>
            <a:off x="161710" y="443539"/>
            <a:ext cx="8839066" cy="885599"/>
          </a:xfrm>
          <a:prstGeom prst="rect">
            <a:avLst/>
          </a:prstGeom>
        </p:spPr>
        <p:txBody>
          <a:bodyPr vert="horz" lIns="68580" tIns="34290" rIns="68580" bIns="3429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s-ES" sz="1200" dirty="0">
                <a:ea typeface="+mn-lt"/>
                <a:cs typeface="+mn-lt"/>
              </a:rPr>
              <a:t>Deja pasar cierta banda de frecuencias y atenúa o rechaza todas las frecuencias por debajo y por encima de la banda de paso</a:t>
            </a:r>
          </a:p>
          <a:p>
            <a:r>
              <a:rPr lang="es-ES" sz="1200" dirty="0">
                <a:ea typeface="+mn-lt"/>
                <a:cs typeface="+mn-lt"/>
              </a:rPr>
              <a:t>El ancho de banda (</a:t>
            </a:r>
            <a:r>
              <a:rPr lang="es-ES" sz="1200" i="1" dirty="0">
                <a:ea typeface="+mn-lt"/>
                <a:cs typeface="+mn-lt"/>
              </a:rPr>
              <a:t>AB</a:t>
            </a:r>
            <a:r>
              <a:rPr lang="es-ES" sz="1200" dirty="0">
                <a:ea typeface="+mn-lt"/>
                <a:cs typeface="+mn-lt"/>
              </a:rPr>
              <a:t>) de un filtro pasa banda es el intervalo de frecuencias dentro del cual la corriente, y por tanto el voltaje de salida, es igual o mayor que el 70.7% de su valor en la frecuencia de resonancia.</a:t>
            </a:r>
            <a:endParaRPr lang="es-ES" dirty="0"/>
          </a:p>
        </p:txBody>
      </p:sp>
      <p:pic>
        <p:nvPicPr>
          <p:cNvPr id="9" name="Picture 9" descr="Diagram&#10;&#10;Description automatically generated">
            <a:extLst>
              <a:ext uri="{FF2B5EF4-FFF2-40B4-BE49-F238E27FC236}">
                <a16:creationId xmlns:a16="http://schemas.microsoft.com/office/drawing/2014/main" id="{7B1042AC-47EE-70D1-7ADE-C8FCFEC246CE}"/>
              </a:ext>
            </a:extLst>
          </p:cNvPr>
          <p:cNvPicPr>
            <a:picLocks noChangeAspect="1"/>
          </p:cNvPicPr>
          <p:nvPr/>
        </p:nvPicPr>
        <p:blipFill>
          <a:blip r:embed="rId5"/>
          <a:stretch>
            <a:fillRect/>
          </a:stretch>
        </p:blipFill>
        <p:spPr>
          <a:xfrm>
            <a:off x="5495400" y="1104440"/>
            <a:ext cx="2959200" cy="959121"/>
          </a:xfrm>
          <a:prstGeom prst="rect">
            <a:avLst/>
          </a:prstGeom>
        </p:spPr>
      </p:pic>
      <p:pic>
        <p:nvPicPr>
          <p:cNvPr id="10" name="Picture 10" descr="Chart&#10;&#10;Description automatically generated">
            <a:extLst>
              <a:ext uri="{FF2B5EF4-FFF2-40B4-BE49-F238E27FC236}">
                <a16:creationId xmlns:a16="http://schemas.microsoft.com/office/drawing/2014/main" id="{DFF72932-B811-2FDB-506B-85466DF4C53B}"/>
              </a:ext>
            </a:extLst>
          </p:cNvPr>
          <p:cNvPicPr>
            <a:picLocks noChangeAspect="1"/>
          </p:cNvPicPr>
          <p:nvPr/>
        </p:nvPicPr>
        <p:blipFill>
          <a:blip r:embed="rId6"/>
          <a:stretch>
            <a:fillRect/>
          </a:stretch>
        </p:blipFill>
        <p:spPr>
          <a:xfrm>
            <a:off x="5387400" y="2078063"/>
            <a:ext cx="3337200" cy="1218739"/>
          </a:xfrm>
          <a:prstGeom prst="rect">
            <a:avLst/>
          </a:prstGeom>
        </p:spPr>
      </p:pic>
      <p:pic>
        <p:nvPicPr>
          <p:cNvPr id="11" name="Picture 11" descr="A picture containing text&#10;&#10;Description automatically generated">
            <a:extLst>
              <a:ext uri="{FF2B5EF4-FFF2-40B4-BE49-F238E27FC236}">
                <a16:creationId xmlns:a16="http://schemas.microsoft.com/office/drawing/2014/main" id="{51094028-BEE6-2194-9838-C0D22FE71B74}"/>
              </a:ext>
            </a:extLst>
          </p:cNvPr>
          <p:cNvPicPr>
            <a:picLocks noChangeAspect="1"/>
          </p:cNvPicPr>
          <p:nvPr/>
        </p:nvPicPr>
        <p:blipFill>
          <a:blip r:embed="rId7"/>
          <a:stretch>
            <a:fillRect/>
          </a:stretch>
        </p:blipFill>
        <p:spPr>
          <a:xfrm>
            <a:off x="3425241" y="1294901"/>
            <a:ext cx="786000" cy="231525"/>
          </a:xfrm>
          <a:prstGeom prst="rect">
            <a:avLst/>
          </a:prstGeom>
        </p:spPr>
      </p:pic>
      <p:sp>
        <p:nvSpPr>
          <p:cNvPr id="12" name="TextBox 11">
            <a:extLst>
              <a:ext uri="{FF2B5EF4-FFF2-40B4-BE49-F238E27FC236}">
                <a16:creationId xmlns:a16="http://schemas.microsoft.com/office/drawing/2014/main" id="{ECCEC73A-BA9E-24BA-8C2B-1D45E245C11A}"/>
              </a:ext>
            </a:extLst>
          </p:cNvPr>
          <p:cNvSpPr txBox="1"/>
          <p:nvPr/>
        </p:nvSpPr>
        <p:spPr>
          <a:xfrm>
            <a:off x="8717400" y="3299400"/>
            <a:ext cx="367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000" dirty="0"/>
              <a:t>[1]</a:t>
            </a:r>
            <a:endParaRPr lang="es-ES" sz="1000" dirty="0">
              <a:cs typeface="Calibri"/>
            </a:endParaRPr>
          </a:p>
        </p:txBody>
      </p:sp>
      <p:sp>
        <p:nvSpPr>
          <p:cNvPr id="13" name="TextBox 12">
            <a:extLst>
              <a:ext uri="{FF2B5EF4-FFF2-40B4-BE49-F238E27FC236}">
                <a16:creationId xmlns:a16="http://schemas.microsoft.com/office/drawing/2014/main" id="{42D3B877-5FD2-8D34-3BAB-4B9947E11E3B}"/>
              </a:ext>
            </a:extLst>
          </p:cNvPr>
          <p:cNvSpPr txBox="1"/>
          <p:nvPr/>
        </p:nvSpPr>
        <p:spPr>
          <a:xfrm>
            <a:off x="8681400" y="5576400"/>
            <a:ext cx="367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000" dirty="0"/>
              <a:t>[2]</a:t>
            </a:r>
            <a:endParaRPr lang="es-ES" sz="1000" dirty="0">
              <a:cs typeface="Calibri"/>
            </a:endParaRPr>
          </a:p>
        </p:txBody>
      </p:sp>
      <p:sp>
        <p:nvSpPr>
          <p:cNvPr id="14" name="TextBox 13">
            <a:extLst>
              <a:ext uri="{FF2B5EF4-FFF2-40B4-BE49-F238E27FC236}">
                <a16:creationId xmlns:a16="http://schemas.microsoft.com/office/drawing/2014/main" id="{C93FEB17-E527-F1AE-D9E2-4F6227356C27}"/>
              </a:ext>
            </a:extLst>
          </p:cNvPr>
          <p:cNvSpPr txBox="1"/>
          <p:nvPr/>
        </p:nvSpPr>
        <p:spPr>
          <a:xfrm>
            <a:off x="158400" y="3650400"/>
            <a:ext cx="8062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200" dirty="0"/>
              <a:t>Para el circuito mostrado en la figura, determine las frecuencias críticas </a:t>
            </a:r>
            <a:r>
              <a:rPr lang="es-ES" sz="1200" dirty="0" err="1"/>
              <a:t>pasabajas</a:t>
            </a:r>
            <a:r>
              <a:rPr lang="es-ES" sz="1200" dirty="0"/>
              <a:t> y </a:t>
            </a:r>
            <a:r>
              <a:rPr lang="es-ES" sz="1200" dirty="0" err="1"/>
              <a:t>pasaaltas</a:t>
            </a:r>
            <a:r>
              <a:rPr lang="es-ES" sz="1200" dirty="0"/>
              <a:t>.</a:t>
            </a:r>
            <a:endParaRPr lang="es-ES" sz="1200" dirty="0" err="1">
              <a:cs typeface="Calibri"/>
            </a:endParaRPr>
          </a:p>
        </p:txBody>
      </p:sp>
      <p:pic>
        <p:nvPicPr>
          <p:cNvPr id="15" name="Picture 15" descr="Diagram&#10;&#10;Description automatically generated">
            <a:extLst>
              <a:ext uri="{FF2B5EF4-FFF2-40B4-BE49-F238E27FC236}">
                <a16:creationId xmlns:a16="http://schemas.microsoft.com/office/drawing/2014/main" id="{45CD4C9C-66F5-1010-6763-6662768E19F3}"/>
              </a:ext>
            </a:extLst>
          </p:cNvPr>
          <p:cNvPicPr>
            <a:picLocks noChangeAspect="1"/>
          </p:cNvPicPr>
          <p:nvPr/>
        </p:nvPicPr>
        <p:blipFill>
          <a:blip r:embed="rId8"/>
          <a:stretch>
            <a:fillRect/>
          </a:stretch>
        </p:blipFill>
        <p:spPr>
          <a:xfrm>
            <a:off x="788400" y="4054063"/>
            <a:ext cx="2410200" cy="1512875"/>
          </a:xfrm>
          <a:prstGeom prst="rect">
            <a:avLst/>
          </a:prstGeom>
        </p:spPr>
      </p:pic>
      <p:pic>
        <p:nvPicPr>
          <p:cNvPr id="16" name="Picture 16" descr="A picture containing text&#10;&#10;Description automatically generated">
            <a:extLst>
              <a:ext uri="{FF2B5EF4-FFF2-40B4-BE49-F238E27FC236}">
                <a16:creationId xmlns:a16="http://schemas.microsoft.com/office/drawing/2014/main" id="{EC76BEFD-093E-6E5C-90B8-48D7832DA177}"/>
              </a:ext>
            </a:extLst>
          </p:cNvPr>
          <p:cNvPicPr>
            <a:picLocks noChangeAspect="1"/>
          </p:cNvPicPr>
          <p:nvPr/>
        </p:nvPicPr>
        <p:blipFill>
          <a:blip r:embed="rId9"/>
          <a:stretch>
            <a:fillRect/>
          </a:stretch>
        </p:blipFill>
        <p:spPr>
          <a:xfrm>
            <a:off x="3866400" y="4169204"/>
            <a:ext cx="3274200" cy="1291592"/>
          </a:xfrm>
          <a:prstGeom prst="rect">
            <a:avLst/>
          </a:prstGeom>
        </p:spPr>
      </p:pic>
      <p:cxnSp>
        <p:nvCxnSpPr>
          <p:cNvPr id="19" name="Straight Arrow Connector 18">
            <a:extLst>
              <a:ext uri="{FF2B5EF4-FFF2-40B4-BE49-F238E27FC236}">
                <a16:creationId xmlns:a16="http://schemas.microsoft.com/office/drawing/2014/main" id="{7698ECA4-85D3-F883-C4A4-DF60E02B70BF}"/>
              </a:ext>
            </a:extLst>
          </p:cNvPr>
          <p:cNvCxnSpPr/>
          <p:nvPr/>
        </p:nvCxnSpPr>
        <p:spPr>
          <a:xfrm flipH="1" flipV="1">
            <a:off x="160200" y="3508200"/>
            <a:ext cx="8814600" cy="1260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8" name="Marcador de número de diapositiva 3">
            <a:extLst>
              <a:ext uri="{FF2B5EF4-FFF2-40B4-BE49-F238E27FC236}">
                <a16:creationId xmlns:a16="http://schemas.microsoft.com/office/drawing/2014/main" id="{7D89D878-7129-4EB3-93D5-7DC62EB9EF55}"/>
              </a:ext>
            </a:extLst>
          </p:cNvPr>
          <p:cNvSpPr txBox="1">
            <a:spLocks/>
          </p:cNvSpPr>
          <p:nvPr/>
        </p:nvSpPr>
        <p:spPr>
          <a:xfrm>
            <a:off x="8724600" y="5885920"/>
            <a:ext cx="3690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sp>
        <p:nvSpPr>
          <p:cNvPr id="21" name="Título 1">
            <a:extLst>
              <a:ext uri="{FF2B5EF4-FFF2-40B4-BE49-F238E27FC236}">
                <a16:creationId xmlns:a16="http://schemas.microsoft.com/office/drawing/2014/main" id="{A701D87C-DA37-423E-80DB-664E26B4BAF4}"/>
              </a:ext>
            </a:extLst>
          </p:cNvPr>
          <p:cNvSpPr txBox="1">
            <a:spLocks/>
          </p:cNvSpPr>
          <p:nvPr/>
        </p:nvSpPr>
        <p:spPr>
          <a:xfrm>
            <a:off x="51378" y="632467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Tree>
    <p:custDataLst>
      <p:tags r:id="rId1"/>
    </p:custDataLst>
    <p:extLst>
      <p:ext uri="{BB962C8B-B14F-4D97-AF65-F5344CB8AC3E}">
        <p14:creationId xmlns:p14="http://schemas.microsoft.com/office/powerpoint/2010/main" val="2374585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6">
            <a:extLst>
              <a:ext uri="{FF2B5EF4-FFF2-40B4-BE49-F238E27FC236}">
                <a16:creationId xmlns:a16="http://schemas.microsoft.com/office/drawing/2014/main" id="{1E4E0685-445F-78A6-A57D-A3D1E18C0EEC}"/>
              </a:ext>
            </a:extLst>
          </p:cNvPr>
          <p:cNvSpPr/>
          <p:nvPr/>
        </p:nvSpPr>
        <p:spPr>
          <a:xfrm>
            <a:off x="-2262" y="74589"/>
            <a:ext cx="8786340" cy="369332"/>
          </a:xfrm>
          <a:prstGeom prst="rect">
            <a:avLst/>
          </a:prstGeom>
        </p:spPr>
        <p:txBody>
          <a:bodyPr wrap="square" lIns="91440" tIns="45720" rIns="91440" bIns="45720" anchor="t">
            <a:spAutoFit/>
          </a:bodyPr>
          <a:lstStyle/>
          <a:p>
            <a:r>
              <a:rPr lang="es-MX" b="1" dirty="0">
                <a:solidFill>
                  <a:srgbClr val="2C5697"/>
                </a:solidFill>
                <a:latin typeface="Arial"/>
                <a:cs typeface="Arial"/>
                <a:sym typeface="Times New Roman"/>
              </a:rPr>
              <a:t>Filtro </a:t>
            </a:r>
            <a:r>
              <a:rPr lang="es-MX" b="1" dirty="0" err="1">
                <a:solidFill>
                  <a:srgbClr val="2C5697"/>
                </a:solidFill>
                <a:latin typeface="Arial"/>
                <a:cs typeface="Arial"/>
                <a:sym typeface="Times New Roman"/>
              </a:rPr>
              <a:t>rechazabanda</a:t>
            </a:r>
            <a:r>
              <a:rPr lang="es-MX" b="1" dirty="0">
                <a:solidFill>
                  <a:srgbClr val="2C5697"/>
                </a:solidFill>
                <a:latin typeface="Arial"/>
                <a:cs typeface="Arial"/>
                <a:sym typeface="Times New Roman"/>
              </a:rPr>
              <a:t> o de banda suprimida</a:t>
            </a:r>
            <a:endParaRPr lang="en-US" dirty="0"/>
          </a:p>
        </p:txBody>
      </p:sp>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TextBox 4">
            <a:extLst>
              <a:ext uri="{FF2B5EF4-FFF2-40B4-BE49-F238E27FC236}">
                <a16:creationId xmlns:a16="http://schemas.microsoft.com/office/drawing/2014/main" id="{7CA110E2-5DF7-3A0D-65FF-110516AC1F8F}"/>
              </a:ext>
            </a:extLst>
          </p:cNvPr>
          <p:cNvSpPr txBox="1"/>
          <p:nvPr/>
        </p:nvSpPr>
        <p:spPr>
          <a:xfrm>
            <a:off x="21249" y="5909173"/>
            <a:ext cx="59781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Floyd, Thomas. Principios de circuitos eléctricos, 8a edición, 2007, Pearson </a:t>
            </a:r>
            <a:r>
              <a:rPr lang="es-ES" sz="700" dirty="0" err="1">
                <a:solidFill>
                  <a:schemeClr val="bg1"/>
                </a:solidFill>
                <a:latin typeface="Arial"/>
              </a:rPr>
              <a:t>Education</a:t>
            </a:r>
            <a:r>
              <a:rPr lang="es-ES" sz="700" dirty="0">
                <a:solidFill>
                  <a:schemeClr val="bg1"/>
                </a:solidFill>
                <a:latin typeface="Arial"/>
              </a:rPr>
              <a:t>.</a:t>
            </a:r>
          </a:p>
          <a:p>
            <a:r>
              <a:rPr lang="en-US" sz="700" dirty="0">
                <a:solidFill>
                  <a:schemeClr val="bg1"/>
                </a:solidFill>
                <a:cs typeface="Calibri"/>
              </a:rPr>
              <a:t>https://www.electronics-tutorials.ws/filter/filter_1.html</a:t>
            </a:r>
          </a:p>
        </p:txBody>
      </p:sp>
      <p:sp>
        <p:nvSpPr>
          <p:cNvPr id="7" name="Marcador de contenido 2">
            <a:extLst>
              <a:ext uri="{FF2B5EF4-FFF2-40B4-BE49-F238E27FC236}">
                <a16:creationId xmlns:a16="http://schemas.microsoft.com/office/drawing/2014/main" id="{247AC92A-823C-915E-C543-9FA5F58BFA1E}"/>
              </a:ext>
            </a:extLst>
          </p:cNvPr>
          <p:cNvSpPr>
            <a:spLocks noGrp="1"/>
          </p:cNvSpPr>
          <p:nvPr/>
        </p:nvSpPr>
        <p:spPr>
          <a:xfrm>
            <a:off x="161710" y="443539"/>
            <a:ext cx="8839066" cy="894599"/>
          </a:xfrm>
          <a:prstGeom prst="rect">
            <a:avLst/>
          </a:prstGeom>
        </p:spPr>
        <p:txBody>
          <a:bodyPr vert="horz" lIns="68580" tIns="34290" rIns="68580" bIns="3429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s-ES" sz="1200" dirty="0">
                <a:ea typeface="+mn-lt"/>
                <a:cs typeface="+mn-lt"/>
              </a:rPr>
              <a:t>Deja pasar todas las frecuencias excepto aquellas que quedan dentro de cierta banda de rechazo</a:t>
            </a:r>
            <a:endParaRPr lang="es-ES" dirty="0">
              <a:ea typeface="+mn-lt"/>
              <a:cs typeface="+mn-lt"/>
            </a:endParaRPr>
          </a:p>
          <a:p>
            <a:r>
              <a:rPr lang="es-ES" sz="1200" dirty="0">
                <a:ea typeface="+mn-lt"/>
                <a:cs typeface="+mn-lt"/>
              </a:rPr>
              <a:t>Se utiliza un filtro </a:t>
            </a:r>
            <a:r>
              <a:rPr lang="es-ES" sz="1200" dirty="0" err="1">
                <a:ea typeface="+mn-lt"/>
                <a:cs typeface="+mn-lt"/>
              </a:rPr>
              <a:t>pasabajas</a:t>
            </a:r>
            <a:r>
              <a:rPr lang="es-ES" sz="1200" dirty="0">
                <a:ea typeface="+mn-lt"/>
                <a:cs typeface="+mn-lt"/>
              </a:rPr>
              <a:t> y un filtro </a:t>
            </a:r>
            <a:r>
              <a:rPr lang="es-ES" sz="1200" dirty="0" err="1">
                <a:ea typeface="+mn-lt"/>
                <a:cs typeface="+mn-lt"/>
              </a:rPr>
              <a:t>pasaaltas</a:t>
            </a:r>
            <a:r>
              <a:rPr lang="es-ES" sz="1200" dirty="0">
                <a:ea typeface="+mn-lt"/>
                <a:cs typeface="+mn-lt"/>
              </a:rPr>
              <a:t> para formar un filtro </a:t>
            </a:r>
            <a:r>
              <a:rPr lang="es-ES" sz="1200" dirty="0" err="1">
                <a:ea typeface="+mn-lt"/>
                <a:cs typeface="+mn-lt"/>
              </a:rPr>
              <a:t>rechazabanda</a:t>
            </a:r>
            <a:endParaRPr lang="es-ES" sz="1200" dirty="0">
              <a:ea typeface="+mn-lt"/>
              <a:cs typeface="+mn-lt"/>
            </a:endParaRPr>
          </a:p>
          <a:p>
            <a:r>
              <a:rPr lang="es-ES" sz="1200" dirty="0">
                <a:cs typeface="Calibri"/>
              </a:rPr>
              <a:t>Pueden existir filtros </a:t>
            </a:r>
            <a:r>
              <a:rPr lang="es-ES" sz="1200" dirty="0" err="1">
                <a:cs typeface="Calibri"/>
              </a:rPr>
              <a:t>rechazabanda</a:t>
            </a:r>
            <a:r>
              <a:rPr lang="es-ES" sz="1200" dirty="0">
                <a:cs typeface="Calibri"/>
              </a:rPr>
              <a:t> en </a:t>
            </a:r>
            <a:r>
              <a:rPr lang="es-ES" sz="1200" b="1" dirty="0">
                <a:solidFill>
                  <a:srgbClr val="2C5697"/>
                </a:solidFill>
                <a:cs typeface="Calibri"/>
              </a:rPr>
              <a:t>serie </a:t>
            </a:r>
            <a:r>
              <a:rPr lang="es-ES" sz="1200" dirty="0">
                <a:cs typeface="Calibri"/>
              </a:rPr>
              <a:t>o </a:t>
            </a:r>
            <a:r>
              <a:rPr lang="es-ES" sz="1200" b="1" dirty="0">
                <a:solidFill>
                  <a:srgbClr val="2C5697"/>
                </a:solidFill>
                <a:cs typeface="Calibri"/>
              </a:rPr>
              <a:t>paralelo </a:t>
            </a:r>
          </a:p>
        </p:txBody>
      </p:sp>
      <p:pic>
        <p:nvPicPr>
          <p:cNvPr id="9" name="Picture 9" descr="Diagram, schematic&#10;&#10;Description automatically generated">
            <a:extLst>
              <a:ext uri="{FF2B5EF4-FFF2-40B4-BE49-F238E27FC236}">
                <a16:creationId xmlns:a16="http://schemas.microsoft.com/office/drawing/2014/main" id="{F75FCE29-0815-54FE-0136-74BC1B06DBE1}"/>
              </a:ext>
            </a:extLst>
          </p:cNvPr>
          <p:cNvPicPr>
            <a:picLocks noChangeAspect="1"/>
          </p:cNvPicPr>
          <p:nvPr/>
        </p:nvPicPr>
        <p:blipFill>
          <a:blip r:embed="rId4"/>
          <a:stretch>
            <a:fillRect/>
          </a:stretch>
        </p:blipFill>
        <p:spPr>
          <a:xfrm>
            <a:off x="5306400" y="1344600"/>
            <a:ext cx="2320200" cy="1540800"/>
          </a:xfrm>
          <a:prstGeom prst="rect">
            <a:avLst/>
          </a:prstGeom>
        </p:spPr>
      </p:pic>
      <p:sp>
        <p:nvSpPr>
          <p:cNvPr id="10" name="TextBox 9">
            <a:extLst>
              <a:ext uri="{FF2B5EF4-FFF2-40B4-BE49-F238E27FC236}">
                <a16:creationId xmlns:a16="http://schemas.microsoft.com/office/drawing/2014/main" id="{9294E20A-8F26-B7EF-B9B4-93C0CC7E6CDB}"/>
              </a:ext>
            </a:extLst>
          </p:cNvPr>
          <p:cNvSpPr txBox="1"/>
          <p:nvPr/>
        </p:nvSpPr>
        <p:spPr>
          <a:xfrm>
            <a:off x="4568400" y="3254400"/>
            <a:ext cx="4129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200" dirty="0"/>
              <a:t>¿Cuál es la magnitud del voltaje de salida y el ancho de banda?</a:t>
            </a:r>
            <a:endParaRPr lang="en-US" dirty="0"/>
          </a:p>
        </p:txBody>
      </p:sp>
      <p:pic>
        <p:nvPicPr>
          <p:cNvPr id="11" name="Picture 11" descr="Diagram&#10;&#10;Description automatically generated">
            <a:extLst>
              <a:ext uri="{FF2B5EF4-FFF2-40B4-BE49-F238E27FC236}">
                <a16:creationId xmlns:a16="http://schemas.microsoft.com/office/drawing/2014/main" id="{FD39B479-CAA4-15B2-14E3-C4B7A250218F}"/>
              </a:ext>
            </a:extLst>
          </p:cNvPr>
          <p:cNvPicPr>
            <a:picLocks noChangeAspect="1"/>
          </p:cNvPicPr>
          <p:nvPr/>
        </p:nvPicPr>
        <p:blipFill>
          <a:blip r:embed="rId5"/>
          <a:stretch>
            <a:fillRect/>
          </a:stretch>
        </p:blipFill>
        <p:spPr>
          <a:xfrm>
            <a:off x="4577400" y="3611167"/>
            <a:ext cx="3823200" cy="625666"/>
          </a:xfrm>
          <a:prstGeom prst="rect">
            <a:avLst/>
          </a:prstGeom>
        </p:spPr>
      </p:pic>
      <p:pic>
        <p:nvPicPr>
          <p:cNvPr id="12" name="Picture 12" descr="Table&#10;&#10;Description automatically generated">
            <a:extLst>
              <a:ext uri="{FF2B5EF4-FFF2-40B4-BE49-F238E27FC236}">
                <a16:creationId xmlns:a16="http://schemas.microsoft.com/office/drawing/2014/main" id="{662C76A2-A047-CDCE-2AB8-7D709B23476B}"/>
              </a:ext>
            </a:extLst>
          </p:cNvPr>
          <p:cNvPicPr>
            <a:picLocks noChangeAspect="1"/>
          </p:cNvPicPr>
          <p:nvPr/>
        </p:nvPicPr>
        <p:blipFill>
          <a:blip r:embed="rId6"/>
          <a:stretch>
            <a:fillRect/>
          </a:stretch>
        </p:blipFill>
        <p:spPr>
          <a:xfrm>
            <a:off x="4577400" y="4427686"/>
            <a:ext cx="4381200" cy="1242628"/>
          </a:xfrm>
          <a:prstGeom prst="rect">
            <a:avLst/>
          </a:prstGeom>
        </p:spPr>
      </p:pic>
      <p:cxnSp>
        <p:nvCxnSpPr>
          <p:cNvPr id="14" name="Straight Arrow Connector 13">
            <a:extLst>
              <a:ext uri="{FF2B5EF4-FFF2-40B4-BE49-F238E27FC236}">
                <a16:creationId xmlns:a16="http://schemas.microsoft.com/office/drawing/2014/main" id="{95D99B93-B161-CF43-37BB-9B505C623FFA}"/>
              </a:ext>
            </a:extLst>
          </p:cNvPr>
          <p:cNvCxnSpPr/>
          <p:nvPr/>
        </p:nvCxnSpPr>
        <p:spPr>
          <a:xfrm>
            <a:off x="4402800" y="1432800"/>
            <a:ext cx="5400" cy="417240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DA443D7-9988-2FCD-A3DD-AA2F3983B8CA}"/>
              </a:ext>
            </a:extLst>
          </p:cNvPr>
          <p:cNvSpPr txBox="1"/>
          <p:nvPr/>
        </p:nvSpPr>
        <p:spPr>
          <a:xfrm>
            <a:off x="207000" y="5360714"/>
            <a:ext cx="4111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200" dirty="0"/>
              <a:t>En el caso serie, en la frecuencia resonante, la impedancia es mínima y, por consiguiente, el voltaje de salida es mínimo. </a:t>
            </a:r>
            <a:r>
              <a:rPr lang="en-US" sz="1200" dirty="0">
                <a:cs typeface="Calibri"/>
              </a:rPr>
              <a:t>​</a:t>
            </a:r>
            <a:endParaRPr lang="en-US" dirty="0"/>
          </a:p>
        </p:txBody>
      </p:sp>
      <p:sp>
        <p:nvSpPr>
          <p:cNvPr id="16" name="Marcador de número de diapositiva 3">
            <a:extLst>
              <a:ext uri="{FF2B5EF4-FFF2-40B4-BE49-F238E27FC236}">
                <a16:creationId xmlns:a16="http://schemas.microsoft.com/office/drawing/2014/main" id="{1992DB0B-EB61-4274-B2B3-C62D120D28AB}"/>
              </a:ext>
            </a:extLst>
          </p:cNvPr>
          <p:cNvSpPr txBox="1">
            <a:spLocks/>
          </p:cNvSpPr>
          <p:nvPr/>
        </p:nvSpPr>
        <p:spPr>
          <a:xfrm>
            <a:off x="8724600" y="5885920"/>
            <a:ext cx="3690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sp>
        <p:nvSpPr>
          <p:cNvPr id="17" name="Título 1">
            <a:extLst>
              <a:ext uri="{FF2B5EF4-FFF2-40B4-BE49-F238E27FC236}">
                <a16:creationId xmlns:a16="http://schemas.microsoft.com/office/drawing/2014/main" id="{C993E1C0-5546-431B-9DB2-4292440F9CC6}"/>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pic>
        <p:nvPicPr>
          <p:cNvPr id="3" name="Imagen 2">
            <a:extLst>
              <a:ext uri="{FF2B5EF4-FFF2-40B4-BE49-F238E27FC236}">
                <a16:creationId xmlns:a16="http://schemas.microsoft.com/office/drawing/2014/main" id="{0DA85863-00C5-7DB5-3338-A1D375E911D6}"/>
              </a:ext>
            </a:extLst>
          </p:cNvPr>
          <p:cNvPicPr>
            <a:picLocks noChangeAspect="1"/>
          </p:cNvPicPr>
          <p:nvPr/>
        </p:nvPicPr>
        <p:blipFill>
          <a:blip r:embed="rId7"/>
          <a:stretch>
            <a:fillRect/>
          </a:stretch>
        </p:blipFill>
        <p:spPr>
          <a:xfrm>
            <a:off x="230400" y="1512040"/>
            <a:ext cx="4108861" cy="2356188"/>
          </a:xfrm>
          <a:prstGeom prst="rect">
            <a:avLst/>
          </a:prstGeom>
        </p:spPr>
      </p:pic>
      <p:pic>
        <p:nvPicPr>
          <p:cNvPr id="13" name="Imagen 12">
            <a:extLst>
              <a:ext uri="{FF2B5EF4-FFF2-40B4-BE49-F238E27FC236}">
                <a16:creationId xmlns:a16="http://schemas.microsoft.com/office/drawing/2014/main" id="{A2F3B609-A673-BF77-7A00-AFF3062DAB29}"/>
              </a:ext>
            </a:extLst>
          </p:cNvPr>
          <p:cNvPicPr>
            <a:picLocks noChangeAspect="1"/>
          </p:cNvPicPr>
          <p:nvPr/>
        </p:nvPicPr>
        <p:blipFill>
          <a:blip r:embed="rId8"/>
          <a:stretch>
            <a:fillRect/>
          </a:stretch>
        </p:blipFill>
        <p:spPr>
          <a:xfrm>
            <a:off x="546594" y="4042130"/>
            <a:ext cx="3432011" cy="1350033"/>
          </a:xfrm>
          <a:prstGeom prst="rect">
            <a:avLst/>
          </a:prstGeom>
        </p:spPr>
      </p:pic>
    </p:spTree>
    <p:custDataLst>
      <p:tags r:id="rId1"/>
    </p:custDataLst>
    <p:extLst>
      <p:ext uri="{BB962C8B-B14F-4D97-AF65-F5344CB8AC3E}">
        <p14:creationId xmlns:p14="http://schemas.microsoft.com/office/powerpoint/2010/main" val="2021771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6">
            <a:extLst>
              <a:ext uri="{FF2B5EF4-FFF2-40B4-BE49-F238E27FC236}">
                <a16:creationId xmlns:a16="http://schemas.microsoft.com/office/drawing/2014/main" id="{1E4E0685-445F-78A6-A57D-A3D1E18C0EEC}"/>
              </a:ext>
            </a:extLst>
          </p:cNvPr>
          <p:cNvSpPr/>
          <p:nvPr/>
        </p:nvSpPr>
        <p:spPr>
          <a:xfrm>
            <a:off x="-2262" y="74589"/>
            <a:ext cx="8786340" cy="861774"/>
          </a:xfrm>
          <a:prstGeom prst="rect">
            <a:avLst/>
          </a:prstGeom>
        </p:spPr>
        <p:txBody>
          <a:bodyPr wrap="square" lIns="91440" tIns="45720" rIns="91440" bIns="45720" anchor="t">
            <a:spAutoFit/>
          </a:bodyPr>
          <a:lstStyle/>
          <a:p>
            <a:r>
              <a:rPr lang="es-MX" b="1" dirty="0">
                <a:solidFill>
                  <a:srgbClr val="2C5697"/>
                </a:solidFill>
                <a:latin typeface="Arial"/>
                <a:cs typeface="Arial"/>
                <a:sym typeface="Times New Roman"/>
              </a:rPr>
              <a:t>Aplicación</a:t>
            </a:r>
          </a:p>
          <a:p>
            <a:endParaRPr lang="es-MX" dirty="0">
              <a:solidFill>
                <a:srgbClr val="2C5697"/>
              </a:solidFill>
              <a:latin typeface="Arial"/>
              <a:cs typeface="Arial"/>
              <a:sym typeface="Times New Roman"/>
            </a:endParaRPr>
          </a:p>
          <a:p>
            <a:r>
              <a:rPr lang="es-MX" sz="1400" dirty="0">
                <a:solidFill>
                  <a:srgbClr val="2C5697"/>
                </a:solidFill>
                <a:latin typeface="Arial"/>
                <a:cs typeface="Arial"/>
                <a:sym typeface="Times New Roman"/>
              </a:rPr>
              <a:t>Redes de cruce o filtro separador de frecuencias</a:t>
            </a:r>
            <a:endParaRPr lang="en-US" sz="1400" dirty="0">
              <a:cs typeface="Calibri"/>
            </a:endParaRPr>
          </a:p>
        </p:txBody>
      </p:sp>
      <p:sp>
        <p:nvSpPr>
          <p:cNvPr id="28" name="Rectángulo 3">
            <a:extLst>
              <a:ext uri="{FF2B5EF4-FFF2-40B4-BE49-F238E27FC236}">
                <a16:creationId xmlns:a16="http://schemas.microsoft.com/office/drawing/2014/main" id="{BA78C997-9AFA-617C-2246-1E5D696CD07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a:t>
            </a:r>
            <a:r>
              <a:rPr lang="es-ES" sz="700" dirty="0" err="1">
                <a:solidFill>
                  <a:schemeClr val="bg1"/>
                </a:solidFill>
                <a:latin typeface="Arial"/>
              </a:rPr>
              <a:t>Boylestad</a:t>
            </a:r>
            <a:r>
              <a:rPr lang="es-ES" sz="700" dirty="0">
                <a:solidFill>
                  <a:schemeClr val="bg1"/>
                </a:solidFill>
                <a:latin typeface="Arial"/>
              </a:rPr>
              <a:t> R., Introducción al análisis de circuitos, 12a edición, 2011, Pearson.</a:t>
            </a:r>
            <a:endParaRPr lang="en-US" sz="700">
              <a:solidFill>
                <a:schemeClr val="bg1"/>
              </a:solidFill>
              <a:cs typeface="Calibri"/>
            </a:endParaRPr>
          </a:p>
        </p:txBody>
      </p:sp>
      <p:pic>
        <p:nvPicPr>
          <p:cNvPr id="5" name="Imagen 4">
            <a:extLst>
              <a:ext uri="{FF2B5EF4-FFF2-40B4-BE49-F238E27FC236}">
                <a16:creationId xmlns:a16="http://schemas.microsoft.com/office/drawing/2014/main" id="{809C8AAF-8AF4-5EDE-E6D4-E6376F536393}"/>
              </a:ext>
            </a:extLst>
          </p:cNvPr>
          <p:cNvPicPr>
            <a:picLocks noChangeAspect="1"/>
          </p:cNvPicPr>
          <p:nvPr/>
        </p:nvPicPr>
        <p:blipFill>
          <a:blip r:embed="rId4"/>
          <a:stretch>
            <a:fillRect/>
          </a:stretch>
        </p:blipFill>
        <p:spPr>
          <a:xfrm>
            <a:off x="567211" y="936920"/>
            <a:ext cx="3664708" cy="4906222"/>
          </a:xfrm>
          <a:prstGeom prst="rect">
            <a:avLst/>
          </a:prstGeom>
        </p:spPr>
      </p:pic>
      <p:pic>
        <p:nvPicPr>
          <p:cNvPr id="7" name="Picture 7" descr="A picture containing electronics, loudspeaker, monitor, indoor&#10;&#10;Description automatically generated">
            <a:extLst>
              <a:ext uri="{FF2B5EF4-FFF2-40B4-BE49-F238E27FC236}">
                <a16:creationId xmlns:a16="http://schemas.microsoft.com/office/drawing/2014/main" id="{EFD12DD5-92CD-5157-FCBD-0DE7CF394E80}"/>
              </a:ext>
            </a:extLst>
          </p:cNvPr>
          <p:cNvPicPr>
            <a:picLocks noChangeAspect="1"/>
          </p:cNvPicPr>
          <p:nvPr/>
        </p:nvPicPr>
        <p:blipFill>
          <a:blip r:embed="rId5"/>
          <a:stretch>
            <a:fillRect/>
          </a:stretch>
        </p:blipFill>
        <p:spPr>
          <a:xfrm>
            <a:off x="5513400" y="1788250"/>
            <a:ext cx="3373200" cy="2399501"/>
          </a:xfrm>
          <a:prstGeom prst="rect">
            <a:avLst/>
          </a:prstGeom>
        </p:spPr>
      </p:pic>
      <p:sp>
        <p:nvSpPr>
          <p:cNvPr id="9" name="TextBox 8">
            <a:extLst>
              <a:ext uri="{FF2B5EF4-FFF2-40B4-BE49-F238E27FC236}">
                <a16:creationId xmlns:a16="http://schemas.microsoft.com/office/drawing/2014/main" id="{20776A67-AE72-D978-CE84-28FA42C5F333}"/>
              </a:ext>
            </a:extLst>
          </p:cNvPr>
          <p:cNvSpPr txBox="1"/>
          <p:nvPr/>
        </p:nvSpPr>
        <p:spPr>
          <a:xfrm>
            <a:off x="5828400" y="4064400"/>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50" dirty="0">
                <a:solidFill>
                  <a:srgbClr val="444444"/>
                </a:solidFill>
                <a:latin typeface="Arial"/>
                <a:cs typeface="Arial"/>
              </a:rPr>
              <a:t>YAMAHA NS-6490</a:t>
            </a:r>
            <a:endParaRPr lang="en-US" sz="1050">
              <a:cs typeface="Calibri"/>
            </a:endParaRPr>
          </a:p>
        </p:txBody>
      </p:sp>
      <p:sp>
        <p:nvSpPr>
          <p:cNvPr id="10" name="Arrow: Right 9">
            <a:extLst>
              <a:ext uri="{FF2B5EF4-FFF2-40B4-BE49-F238E27FC236}">
                <a16:creationId xmlns:a16="http://schemas.microsoft.com/office/drawing/2014/main" id="{003AE54B-D2F4-2AB0-9B55-5B0C572E9C5A}"/>
              </a:ext>
            </a:extLst>
          </p:cNvPr>
          <p:cNvSpPr/>
          <p:nvPr/>
        </p:nvSpPr>
        <p:spPr>
          <a:xfrm>
            <a:off x="4388796" y="2817684"/>
            <a:ext cx="798408" cy="331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Marcador de número de diapositiva 3">
            <a:extLst>
              <a:ext uri="{FF2B5EF4-FFF2-40B4-BE49-F238E27FC236}">
                <a16:creationId xmlns:a16="http://schemas.microsoft.com/office/drawing/2014/main" id="{355382AB-7A29-4217-9F31-CFC8C8B6ED59}"/>
              </a:ext>
            </a:extLst>
          </p:cNvPr>
          <p:cNvSpPr txBox="1">
            <a:spLocks/>
          </p:cNvSpPr>
          <p:nvPr/>
        </p:nvSpPr>
        <p:spPr>
          <a:xfrm>
            <a:off x="8724600" y="5885920"/>
            <a:ext cx="3690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
        <p:nvSpPr>
          <p:cNvPr id="12" name="Título 1">
            <a:extLst>
              <a:ext uri="{FF2B5EF4-FFF2-40B4-BE49-F238E27FC236}">
                <a16:creationId xmlns:a16="http://schemas.microsoft.com/office/drawing/2014/main" id="{5467110B-0034-410D-8C4D-1DBC8AF63E80}"/>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Tree>
    <p:custDataLst>
      <p:tags r:id="rId1"/>
    </p:custDataLst>
    <p:extLst>
      <p:ext uri="{BB962C8B-B14F-4D97-AF65-F5344CB8AC3E}">
        <p14:creationId xmlns:p14="http://schemas.microsoft.com/office/powerpoint/2010/main" val="190730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ags/tag12.xml><?xml version="1.0" encoding="utf-8"?>
<p:tagLst xmlns:a="http://schemas.openxmlformats.org/drawingml/2006/main" xmlns:r="http://schemas.openxmlformats.org/officeDocument/2006/relationships" xmlns:p="http://schemas.openxmlformats.org/presentationml/2006/main">
  <p:tag name="TIMING" val="|2.7"/>
</p:tagLst>
</file>

<file path=ppt/tags/tag13.xml><?xml version="1.0" encoding="utf-8"?>
<p:tagLst xmlns:a="http://schemas.openxmlformats.org/drawingml/2006/main" xmlns:r="http://schemas.openxmlformats.org/officeDocument/2006/relationships" xmlns:p="http://schemas.openxmlformats.org/presentationml/2006/main">
  <p:tag name="TIMING" val="|2.7"/>
</p:tagLst>
</file>

<file path=ppt/tags/tag14.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7352B7-29C2-4831-B08B-DA9095F0296C}">
  <ds:schemaRefs>
    <ds:schemaRef ds:uri="http://schemas.microsoft.com/sharepoint/v3/contenttype/forms"/>
  </ds:schemaRefs>
</ds:datastoreItem>
</file>

<file path=customXml/itemProps2.xml><?xml version="1.0" encoding="utf-8"?>
<ds:datastoreItem xmlns:ds="http://schemas.openxmlformats.org/officeDocument/2006/customXml" ds:itemID="{BEF68008-267B-42B0-9C9F-2DD9B1D5EE7A}">
  <ds:schemaRefs>
    <ds:schemaRef ds:uri="http://www.w3.org/XML/1998/namespace"/>
    <ds:schemaRef ds:uri="http://purl.org/dc/elements/1.1/"/>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c0c46fdd-2a6c-49f1-bb4d-a6e06b52ee64"/>
    <ds:schemaRef ds:uri="http://purl.org/dc/dcmitype/"/>
    <ds:schemaRef ds:uri="http://purl.org/dc/terms/"/>
  </ds:schemaRefs>
</ds:datastoreItem>
</file>

<file path=customXml/itemProps3.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3128</TotalTime>
  <Words>1468</Words>
  <Application>Microsoft Office PowerPoint</Application>
  <PresentationFormat>Presentación en pantalla (4:3)</PresentationFormat>
  <Paragraphs>179</Paragraphs>
  <Slides>15</Slides>
  <Notes>14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vt:i4>
      </vt:variant>
    </vt:vector>
  </HeadingPairs>
  <TitlesOfParts>
    <vt:vector size="23" baseType="lpstr">
      <vt:lpstr>Arial</vt:lpstr>
      <vt:lpstr>Arial,Sans-Serif</vt:lpstr>
      <vt:lpstr>Calibri</vt:lpstr>
      <vt:lpstr>Cambria Math</vt:lpstr>
      <vt:lpstr>Fira Sans Extra Condensed Medium</vt:lpstr>
      <vt:lpstr>Times-Roman</vt:lpstr>
      <vt:lpstr>Wingdings</vt:lpstr>
      <vt:lpstr>Tema de Office</vt:lpstr>
      <vt:lpstr>Filtros pasivos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FIltros pasivos</dc:title>
  <dc:creator>Jenny Rojas</dc:creator>
  <cp:lastModifiedBy>Pedro Antonio Aya Parra</cp:lastModifiedBy>
  <cp:revision>1811</cp:revision>
  <dcterms:created xsi:type="dcterms:W3CDTF">2018-06-28T02:15:01Z</dcterms:created>
  <dcterms:modified xsi:type="dcterms:W3CDTF">2026-02-10T01:55:25Z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