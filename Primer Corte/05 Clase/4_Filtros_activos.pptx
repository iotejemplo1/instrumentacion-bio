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6" r:id="rId5"/>
    <p:sldId id="306" r:id="rId6"/>
    <p:sldId id="311" r:id="rId7"/>
    <p:sldId id="328" r:id="rId8"/>
    <p:sldId id="312" r:id="rId9"/>
    <p:sldId id="329" r:id="rId10"/>
    <p:sldId id="313" r:id="rId11"/>
    <p:sldId id="314" r:id="rId12"/>
    <p:sldId id="315" r:id="rId13"/>
    <p:sldId id="316" r:id="rId14"/>
    <p:sldId id="317" r:id="rId15"/>
    <p:sldId id="318" r:id="rId16"/>
    <p:sldId id="319" r:id="rId17"/>
    <p:sldId id="320" r:id="rId18"/>
    <p:sldId id="321" r:id="rId19"/>
    <p:sldId id="322" r:id="rId20"/>
    <p:sldId id="323" r:id="rId21"/>
    <p:sldId id="327" r:id="rId22"/>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64" d="100"/>
          <a:sy n="64" d="100"/>
        </p:scale>
        <p:origin x="168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17/02/2026</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17/02/2026</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r>
              <a:rPr lang="es-CO" dirty="0"/>
              <a:t>https://www.educaplus.org/game/resistencias-en-paralelo</a:t>
            </a:r>
          </a:p>
        </p:txBody>
      </p:sp>
      <p:sp>
        <p:nvSpPr>
          <p:cNvPr id="4" name="Marcador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4EF4-9A08-A206-7094-6B119D6C45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285C1DE-6BF8-E2ED-3405-30A263FE150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4B08A56-5D83-76FD-12E3-D8287CE094FF}"/>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A75C27B2-ACE8-5C36-E1A1-3DF3636818A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67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414D-AC0F-7DCF-FFD1-FAE5C04447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0AFBE5-7E8F-2C21-D9A4-DFF77D4B72D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898D53D-FE71-4B95-1745-7ECAE35A6EF6}"/>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4459CCB3-92CD-3A91-70E3-7C816A1CC42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921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6A29-D1EF-CFD0-4EE3-249B76AE3A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A5AF10-D9F9-0087-6202-7D5C51199DBD}"/>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016FDBA0-CF62-F037-C17E-98044AC08AA9}"/>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34DC1A73-579E-5ECB-36EA-25A58F91EDA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6541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97AE-AD63-AF64-087F-0A718AEDEA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88B700-E364-469A-5E8C-3575BA4B825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76AA048-B394-FE4D-224B-AA9ABA54B584}"/>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43539EB-9887-5978-F45B-07EE3E47F6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6472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0FE16-DF42-2899-A9FC-A3114B2AA5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E45D6E-8CB9-B9B2-238C-4104C62F1D12}"/>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82394445-9496-95D4-19FD-8930E6F8FACD}"/>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8A88C489-DEBA-1B4C-42F9-4EC9C902832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014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70EBA-1B8B-E0F5-6BB6-2D4F7FEB27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892ECD-6461-B727-AFF6-3845FA814BF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D1799A7-9075-98D3-E736-73917119280E}"/>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AA413F8-7068-B291-4E55-798A58938F7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0128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D7F5-DF4C-BAD1-1732-9CDD044AA1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DF6162-22A4-E437-69A1-7F28CFC6736A}"/>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E70F504-EA7D-8EEF-039C-097FF0D9CB1C}"/>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28A8659E-B626-0EE7-62E1-BBE6160F886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0576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8A6F1-0916-1EE3-38E9-D3100EE247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B15A46-1E8C-4DDE-FC1A-F069CFE7BFA2}"/>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B740F7E1-F1A2-338A-B17F-6A8AD586DE95}"/>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82C5B393-3333-071B-5DB6-02B810CEB3E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495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7529-DF62-6E63-7132-4427D05425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B57959-2F78-AB94-A7C9-F217B691A578}"/>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FFC78FA-ECB9-E5B3-C2EB-6422005809E4}"/>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A4CEF3DE-5134-341D-C20E-64E031A3486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4476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DD5F5-3E80-21EB-0944-F81C3779DA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113777-8EF3-46D7-CBE3-1697AF8B80D6}"/>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B54F3A96-2CFA-925B-78E9-ED9B5FC78C22}"/>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DFA81B65-EBA0-829F-DA81-C995DEE511B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7661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2490-466D-CF5C-38A6-AB3E85D9F6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5E7384-2ED2-3E45-CDD1-477E5BCBF9F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DD8D20F4-2896-E2BB-0C16-1A31AF1B6C31}"/>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CAEDEC77-F9E8-80CA-F395-A6C327F1D1F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1760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54D4B-2E57-5A0E-B5BC-0578E598D6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8AEFDC-6D27-70A1-C2B1-AAD49763395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CE554B7D-77D7-387D-40F7-8BE7B4509B30}"/>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37C7C6C-6DD4-1BF8-4594-7A8920EC17C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839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4855E-21F3-6420-AB7E-05AD0860C6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805241-75DD-80FE-C45A-56C0644B58DF}"/>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A2AF6B17-4DC7-2826-E603-F396AAF54180}"/>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33C5BCB7-D239-FF25-02D2-C0E350A0D56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9690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91C93-654E-4811-A6F7-743A276D79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5BAA71-A5B4-8FA9-E14A-44C1B32B439D}"/>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C3975C2E-4879-676F-2794-C847148724AD}"/>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C9317628-D71E-0774-E301-C8C5FB53605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0113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263B-8BF0-8738-BEBC-1953795A07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BD14F7-5F89-FEBA-1F9D-E1BEEDE8058C}"/>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3F844C78-903B-3D75-B388-006BD4BCD286}"/>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96FA2DA1-5F3B-606A-D722-4FDEDACF42A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22965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0FD7-A7CB-BD20-E844-09B28FF335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CC9169-DFF4-79D0-82C8-C3CF3AE1A6DC}"/>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85237B9-20B2-673F-6C37-06539808FE0B}"/>
              </a:ext>
            </a:extLst>
          </p:cNvPr>
          <p:cNvSpPr>
            <a:spLocks noGrp="1"/>
          </p:cNvSpPr>
          <p:nvPr>
            <p:ph type="body" idx="1"/>
          </p:nvPr>
        </p:nvSpPr>
        <p:spPr/>
        <p:txBody>
          <a:bodyPr/>
          <a:lstStyle/>
          <a:p>
            <a:r>
              <a:rPr lang="es-CO" dirty="0"/>
              <a:t>https://www.educaplus.org/game/resistencias-en-paralelo</a:t>
            </a:r>
          </a:p>
        </p:txBody>
      </p:sp>
      <p:sp>
        <p:nvSpPr>
          <p:cNvPr id="4" name="Marcador de número de diapositiva 3">
            <a:extLst>
              <a:ext uri="{FF2B5EF4-FFF2-40B4-BE49-F238E27FC236}">
                <a16:creationId xmlns:a16="http://schemas.microsoft.com/office/drawing/2014/main" id="{ED1CAD9C-33B7-80A2-2871-9AB80B2C780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130D0D-53BF-4F4A-B450-4541B948D038}"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289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5">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image" Target="../media/image12.jpeg"/><Relationship Id="rId3" Type="http://schemas.openxmlformats.org/officeDocument/2006/relationships/notesSlide" Target="../notesSlides/notesSlide1.xml"/><Relationship Id="rId7" Type="http://schemas.openxmlformats.org/officeDocument/2006/relationships/oleObject" Target="../embeddings/oleObject2.bin"/><Relationship Id="rId12" Type="http://schemas.openxmlformats.org/officeDocument/2006/relationships/image" Target="../media/image11.jpeg"/><Relationship Id="rId2" Type="http://schemas.openxmlformats.org/officeDocument/2006/relationships/slideLayout" Target="../slideLayouts/slideLayout4.xml"/><Relationship Id="rId16" Type="http://schemas.openxmlformats.org/officeDocument/2006/relationships/image" Target="../media/image15.png"/><Relationship Id="rId1" Type="http://schemas.openxmlformats.org/officeDocument/2006/relationships/tags" Target="../tags/tag1.xml"/><Relationship Id="rId6" Type="http://schemas.openxmlformats.org/officeDocument/2006/relationships/image" Target="../media/image6.png"/><Relationship Id="rId11" Type="http://schemas.openxmlformats.org/officeDocument/2006/relationships/image" Target="../media/image10.jpeg"/><Relationship Id="rId5" Type="http://schemas.openxmlformats.org/officeDocument/2006/relationships/oleObject" Target="../embeddings/oleObject1.bin"/><Relationship Id="rId15" Type="http://schemas.openxmlformats.org/officeDocument/2006/relationships/image" Target="../media/image14.png"/><Relationship Id="rId10" Type="http://schemas.openxmlformats.org/officeDocument/2006/relationships/image" Target="../media/image9.jpeg"/><Relationship Id="rId4" Type="http://schemas.openxmlformats.org/officeDocument/2006/relationships/image" Target="../media/image5.jpeg"/><Relationship Id="rId9" Type="http://schemas.openxmlformats.org/officeDocument/2006/relationships/image" Target="../media/image8.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9.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22.jpg"/><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8.xml"/><Relationship Id="rId7" Type="http://schemas.openxmlformats.org/officeDocument/2006/relationships/image" Target="../media/image210.png"/><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180.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9.xml"/><Relationship Id="rId7" Type="http://schemas.openxmlformats.org/officeDocument/2006/relationships/image" Target="../media/image26.png"/><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25.png"/><Relationship Id="rId5" Type="http://schemas.openxmlformats.org/officeDocument/2006/relationships/image" Target="../media/image240.png"/><Relationship Id="rId10" Type="http://schemas.openxmlformats.org/officeDocument/2006/relationships/image" Target="../media/image29.png"/><Relationship Id="rId4" Type="http://schemas.openxmlformats.org/officeDocument/2006/relationships/image" Target="../media/image230.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14.xml"/><Relationship Id="rId7" Type="http://schemas.openxmlformats.org/officeDocument/2006/relationships/image" Target="../media/image43.pn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786057"/>
          </a:xfrm>
        </p:spPr>
        <p:txBody>
          <a:bodyPr>
            <a:normAutofit/>
          </a:bodyPr>
          <a:lstStyle/>
          <a:p>
            <a:pPr algn="ctr"/>
            <a:r>
              <a:rPr lang="es-ES_tradnl" sz="2800" dirty="0"/>
              <a:t>Filtros activos</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97484"/>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Amplificadores operacionales</a:t>
            </a:r>
            <a:endParaRPr lang="en-US" dirty="0"/>
          </a:p>
        </p:txBody>
      </p:sp>
      <p:sp>
        <p:nvSpPr>
          <p:cNvPr id="18" name="Marcador de número de diapositiva 3">
            <a:extLst>
              <a:ext uri="{FF2B5EF4-FFF2-40B4-BE49-F238E27FC236}">
                <a16:creationId xmlns:a16="http://schemas.microsoft.com/office/drawing/2014/main" id="{3E291EB3-14FB-4CB4-94CD-C05310F2F6FC}"/>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19" name="Título 1">
            <a:extLst>
              <a:ext uri="{FF2B5EF4-FFF2-40B4-BE49-F238E27FC236}">
                <a16:creationId xmlns:a16="http://schemas.microsoft.com/office/drawing/2014/main" id="{57E5F6E8-827C-4FA4-83E0-3BA309A21C7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52506DA4-5F0F-E424-DB49-A55767E24E55}"/>
              </a:ext>
            </a:extLst>
          </p:cNvPr>
          <p:cNvSpPr txBox="1"/>
          <p:nvPr/>
        </p:nvSpPr>
        <p:spPr>
          <a:xfrm>
            <a:off x="46418" y="545619"/>
            <a:ext cx="6538223" cy="646331"/>
          </a:xfrm>
          <a:prstGeom prst="rect">
            <a:avLst/>
          </a:prstGeom>
          <a:noFill/>
        </p:spPr>
        <p:txBody>
          <a:bodyPr wrap="square" lIns="91440" tIns="45720" rIns="91440" bIns="45720" anchor="t">
            <a:spAutoFit/>
          </a:bodyPr>
          <a:lstStyle/>
          <a:p>
            <a:pPr marL="285750" indent="-285750">
              <a:buFont typeface="Arial"/>
              <a:buChar char="•"/>
            </a:pPr>
            <a:r>
              <a:rPr lang="es-CO" sz="1200" dirty="0">
                <a:ea typeface="+mn-lt"/>
                <a:cs typeface="+mn-lt"/>
              </a:rPr>
              <a:t>Dispositivo electrónico de alta ganancia que se utiliza para amplificar la diferencia de voltaje entre dos señales de entrada.</a:t>
            </a:r>
            <a:endParaRPr lang="es-MX" sz="1200" dirty="0">
              <a:ea typeface="+mn-lt"/>
              <a:cs typeface="+mn-lt"/>
            </a:endParaRPr>
          </a:p>
          <a:p>
            <a:pPr marL="285750" indent="-285750">
              <a:buFont typeface="Arial"/>
              <a:buChar char="•"/>
            </a:pPr>
            <a:endParaRPr lang="es-MX" sz="1200" dirty="0">
              <a:ea typeface="+mn-lt"/>
              <a:cs typeface="+mn-lt"/>
            </a:endParaRPr>
          </a:p>
        </p:txBody>
      </p:sp>
      <p:pic>
        <p:nvPicPr>
          <p:cNvPr id="2" name="Imagen 1" descr="Puede ser una imagen de texto">
            <a:extLst>
              <a:ext uri="{FF2B5EF4-FFF2-40B4-BE49-F238E27FC236}">
                <a16:creationId xmlns:a16="http://schemas.microsoft.com/office/drawing/2014/main" id="{79ADEC2B-133C-94D0-195A-F7061D15B12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151" y="1319030"/>
            <a:ext cx="5612130" cy="3155315"/>
          </a:xfrm>
          <a:prstGeom prst="rect">
            <a:avLst/>
          </a:prstGeom>
          <a:noFill/>
          <a:ln>
            <a:noFill/>
          </a:ln>
        </p:spPr>
      </p:pic>
      <p:sp>
        <p:nvSpPr>
          <p:cNvPr id="4" name="Rectangle 6">
            <a:extLst>
              <a:ext uri="{FF2B5EF4-FFF2-40B4-BE49-F238E27FC236}">
                <a16:creationId xmlns:a16="http://schemas.microsoft.com/office/drawing/2014/main" id="{BB4345BA-6EE4-6D74-D483-769C731A1139}"/>
              </a:ext>
            </a:extLst>
          </p:cNvPr>
          <p:cNvSpPr>
            <a:spLocks noChangeArrowheads="1"/>
          </p:cNvSpPr>
          <p:nvPr/>
        </p:nvSpPr>
        <p:spPr bwMode="auto">
          <a:xfrm>
            <a:off x="3785572" y="5775845"/>
            <a:ext cx="1243013" cy="5405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1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16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9pPr>
          </a:lstStyle>
          <a:p>
            <a:pPr algn="ctr" eaLnBrk="1" hangingPunct="1">
              <a:spcBef>
                <a:spcPct val="0"/>
              </a:spcBef>
              <a:buFontTx/>
              <a:buNone/>
            </a:pPr>
            <a:r>
              <a:rPr lang="es-CO" altLang="es-ES" sz="1350">
                <a:latin typeface="Arial" panose="020B0604020202020204" pitchFamily="34" charset="0"/>
              </a:rPr>
              <a:t>Amplificador</a:t>
            </a:r>
          </a:p>
          <a:p>
            <a:pPr algn="ctr" eaLnBrk="1" hangingPunct="1">
              <a:spcBef>
                <a:spcPct val="0"/>
              </a:spcBef>
              <a:buFontTx/>
              <a:buNone/>
            </a:pPr>
            <a:r>
              <a:rPr lang="es-CO" altLang="es-ES" sz="1050">
                <a:latin typeface="Arial" panose="020B0604020202020204" pitchFamily="34" charset="0"/>
              </a:rPr>
              <a:t>(factor de Amplif)</a:t>
            </a:r>
            <a:endParaRPr lang="es-ES" altLang="es-ES" sz="1050">
              <a:latin typeface="Arial" panose="020B0604020202020204" pitchFamily="34" charset="0"/>
            </a:endParaRPr>
          </a:p>
        </p:txBody>
      </p:sp>
      <p:sp>
        <p:nvSpPr>
          <p:cNvPr id="5" name="AutoShape 7">
            <a:extLst>
              <a:ext uri="{FF2B5EF4-FFF2-40B4-BE49-F238E27FC236}">
                <a16:creationId xmlns:a16="http://schemas.microsoft.com/office/drawing/2014/main" id="{92ED4C06-A6E3-3C46-82FA-76FF658F6FF8}"/>
              </a:ext>
            </a:extLst>
          </p:cNvPr>
          <p:cNvSpPr>
            <a:spLocks noChangeArrowheads="1"/>
          </p:cNvSpPr>
          <p:nvPr/>
        </p:nvSpPr>
        <p:spPr bwMode="auto">
          <a:xfrm>
            <a:off x="2165133" y="5830614"/>
            <a:ext cx="1621631" cy="432197"/>
          </a:xfrm>
          <a:prstGeom prst="rightArrow">
            <a:avLst>
              <a:gd name="adj1" fmla="val 50000"/>
              <a:gd name="adj2" fmla="val 9380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1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16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9pPr>
          </a:lstStyle>
          <a:p>
            <a:pPr algn="ctr" eaLnBrk="1" hangingPunct="1">
              <a:spcBef>
                <a:spcPct val="0"/>
              </a:spcBef>
              <a:buFontTx/>
              <a:buNone/>
            </a:pPr>
            <a:r>
              <a:rPr lang="es-CO" altLang="es-ES" sz="1350">
                <a:latin typeface="Times New Roman" panose="02020603050405020304" pitchFamily="18" charset="0"/>
              </a:rPr>
              <a:t>Señal de entrada</a:t>
            </a:r>
            <a:endParaRPr lang="es-ES" altLang="es-ES" sz="1350">
              <a:latin typeface="Times New Roman" panose="02020603050405020304" pitchFamily="18" charset="0"/>
            </a:endParaRPr>
          </a:p>
        </p:txBody>
      </p:sp>
      <p:graphicFrame>
        <p:nvGraphicFramePr>
          <p:cNvPr id="6" name="Object 9">
            <a:extLst>
              <a:ext uri="{FF2B5EF4-FFF2-40B4-BE49-F238E27FC236}">
                <a16:creationId xmlns:a16="http://schemas.microsoft.com/office/drawing/2014/main" id="{71F64271-2A0F-D2D9-A243-7EAEB51DAFBB}"/>
              </a:ext>
            </a:extLst>
          </p:cNvPr>
          <p:cNvGraphicFramePr>
            <a:graphicFrameLocks noChangeAspect="1"/>
          </p:cNvGraphicFramePr>
          <p:nvPr>
            <p:extLst>
              <p:ext uri="{D42A27DB-BD31-4B8C-83A1-F6EECF244321}">
                <p14:modId xmlns:p14="http://schemas.microsoft.com/office/powerpoint/2010/main" val="3364135301"/>
              </p:ext>
            </p:extLst>
          </p:nvPr>
        </p:nvGraphicFramePr>
        <p:xfrm>
          <a:off x="3246220" y="5398417"/>
          <a:ext cx="486965" cy="323850"/>
        </p:xfrm>
        <a:graphic>
          <a:graphicData uri="http://schemas.openxmlformats.org/presentationml/2006/ole">
            <mc:AlternateContent xmlns:mc="http://schemas.openxmlformats.org/markup-compatibility/2006">
              <mc:Choice xmlns:v="urn:schemas-microsoft-com:vml" Requires="v">
                <p:oleObj name="Imagen de mapa de bits" r:id="rId5" imgW="1952898" imgH="1504762" progId="Paint.Picture">
                  <p:embed/>
                </p:oleObj>
              </mc:Choice>
              <mc:Fallback>
                <p:oleObj name="Imagen de mapa de bits" r:id="rId5" imgW="1952898" imgH="1504762" progId="Paint.Picture">
                  <p:embed/>
                  <p:pic>
                    <p:nvPicPr>
                      <p:cNvPr id="7" name="Object 9">
                        <a:extLst>
                          <a:ext uri="{FF2B5EF4-FFF2-40B4-BE49-F238E27FC236}">
                            <a16:creationId xmlns:a16="http://schemas.microsoft.com/office/drawing/2014/main" id="{8A6B4104-89E8-5B39-B96C-30E106AD49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6220" y="5398417"/>
                        <a:ext cx="48696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a:extLst>
              <a:ext uri="{FF2B5EF4-FFF2-40B4-BE49-F238E27FC236}">
                <a16:creationId xmlns:a16="http://schemas.microsoft.com/office/drawing/2014/main" id="{C09FE07B-549D-EEF8-FE9B-B17D9E3671D8}"/>
              </a:ext>
            </a:extLst>
          </p:cNvPr>
          <p:cNvGraphicFramePr>
            <a:graphicFrameLocks noChangeAspect="1"/>
          </p:cNvGraphicFramePr>
          <p:nvPr>
            <p:extLst>
              <p:ext uri="{D42A27DB-BD31-4B8C-83A1-F6EECF244321}">
                <p14:modId xmlns:p14="http://schemas.microsoft.com/office/powerpoint/2010/main" val="1147204457"/>
              </p:ext>
            </p:extLst>
          </p:nvPr>
        </p:nvGraphicFramePr>
        <p:xfrm>
          <a:off x="2490172" y="5019799"/>
          <a:ext cx="725091" cy="778669"/>
        </p:xfrm>
        <a:graphic>
          <a:graphicData uri="http://schemas.openxmlformats.org/presentationml/2006/ole">
            <mc:AlternateContent xmlns:mc="http://schemas.openxmlformats.org/markup-compatibility/2006">
              <mc:Choice xmlns:v="urn:schemas-microsoft-com:vml" Requires="v">
                <p:oleObj name="Imagen" r:id="rId7" imgW="3025775" imgH="3252788" progId="MS_ClipArt_Gallery.2">
                  <p:embed/>
                </p:oleObj>
              </mc:Choice>
              <mc:Fallback>
                <p:oleObj name="Imagen" r:id="rId7" imgW="3025775" imgH="3252788" progId="MS_ClipArt_Gallery.2">
                  <p:embed/>
                  <p:pic>
                    <p:nvPicPr>
                      <p:cNvPr id="8" name="Object 10">
                        <a:extLst>
                          <a:ext uri="{FF2B5EF4-FFF2-40B4-BE49-F238E27FC236}">
                            <a16:creationId xmlns:a16="http://schemas.microsoft.com/office/drawing/2014/main" id="{46B8AB61-7B1E-A327-EA71-026F06EF25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0172" y="5019799"/>
                        <a:ext cx="725091" cy="7786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AutoShape 12">
            <a:extLst>
              <a:ext uri="{FF2B5EF4-FFF2-40B4-BE49-F238E27FC236}">
                <a16:creationId xmlns:a16="http://schemas.microsoft.com/office/drawing/2014/main" id="{A4D5797F-D33F-25F2-7EDB-BB5273A54828}"/>
              </a:ext>
            </a:extLst>
          </p:cNvPr>
          <p:cNvSpPr>
            <a:spLocks noChangeArrowheads="1"/>
          </p:cNvSpPr>
          <p:nvPr/>
        </p:nvSpPr>
        <p:spPr bwMode="auto">
          <a:xfrm>
            <a:off x="5028585" y="5830614"/>
            <a:ext cx="1621631" cy="432197"/>
          </a:xfrm>
          <a:prstGeom prst="rightArrow">
            <a:avLst>
              <a:gd name="adj1" fmla="val 50000"/>
              <a:gd name="adj2" fmla="val 9380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24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16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1600">
                <a:solidFill>
                  <a:schemeClr val="tx1"/>
                </a:solidFill>
                <a:latin typeface="Calibri" panose="020F0502020204030204"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1600">
                <a:solidFill>
                  <a:schemeClr val="tx1"/>
                </a:solidFill>
                <a:latin typeface="Calibri" panose="020F0502020204030204" pitchFamily="34" charset="0"/>
              </a:defRPr>
            </a:lvl9pPr>
          </a:lstStyle>
          <a:p>
            <a:pPr algn="ctr" eaLnBrk="1" hangingPunct="1">
              <a:spcBef>
                <a:spcPct val="0"/>
              </a:spcBef>
              <a:buFontTx/>
              <a:buNone/>
            </a:pPr>
            <a:r>
              <a:rPr lang="es-CO" altLang="es-ES" sz="1350">
                <a:latin typeface="Times New Roman" panose="02020603050405020304" pitchFamily="18" charset="0"/>
              </a:rPr>
              <a:t>Señal de entrada</a:t>
            </a:r>
            <a:endParaRPr lang="es-ES" altLang="es-ES" sz="1350">
              <a:latin typeface="Times New Roman" panose="02020603050405020304" pitchFamily="18" charset="0"/>
            </a:endParaRPr>
          </a:p>
        </p:txBody>
      </p:sp>
      <p:graphicFrame>
        <p:nvGraphicFramePr>
          <p:cNvPr id="9" name="Object 14">
            <a:extLst>
              <a:ext uri="{FF2B5EF4-FFF2-40B4-BE49-F238E27FC236}">
                <a16:creationId xmlns:a16="http://schemas.microsoft.com/office/drawing/2014/main" id="{5AF03E5E-A049-841E-C5BC-36A99647C126}"/>
              </a:ext>
            </a:extLst>
          </p:cNvPr>
          <p:cNvGraphicFramePr>
            <a:graphicFrameLocks noChangeAspect="1"/>
          </p:cNvGraphicFramePr>
          <p:nvPr>
            <p:extLst>
              <p:ext uri="{D42A27DB-BD31-4B8C-83A1-F6EECF244321}">
                <p14:modId xmlns:p14="http://schemas.microsoft.com/office/powerpoint/2010/main" val="246629793"/>
              </p:ext>
            </p:extLst>
          </p:nvPr>
        </p:nvGraphicFramePr>
        <p:xfrm>
          <a:off x="5190510" y="4534024"/>
          <a:ext cx="1674019" cy="1296590"/>
        </p:xfrm>
        <a:graphic>
          <a:graphicData uri="http://schemas.openxmlformats.org/presentationml/2006/ole">
            <mc:AlternateContent xmlns:mc="http://schemas.openxmlformats.org/markup-compatibility/2006">
              <mc:Choice xmlns:v="urn:schemas-microsoft-com:vml" Requires="v">
                <p:oleObj name="Imagen de mapa de bits" r:id="rId5" imgW="1952898" imgH="1504762" progId="Paint.Picture">
                  <p:embed/>
                </p:oleObj>
              </mc:Choice>
              <mc:Fallback>
                <p:oleObj name="Imagen de mapa de bits" r:id="rId5" imgW="1952898" imgH="1504762" progId="Paint.Picture">
                  <p:embed/>
                  <p:pic>
                    <p:nvPicPr>
                      <p:cNvPr id="10" name="Object 14">
                        <a:extLst>
                          <a:ext uri="{FF2B5EF4-FFF2-40B4-BE49-F238E27FC236}">
                            <a16:creationId xmlns:a16="http://schemas.microsoft.com/office/drawing/2014/main" id="{484E9902-C23B-D62F-D51C-68E66F2036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0510" y="4534024"/>
                        <a:ext cx="1674019" cy="1296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1" name="Picture 6" descr="LM358 Amplificador Operacional | Tesla Electronic EIRL">
            <a:extLst>
              <a:ext uri="{FF2B5EF4-FFF2-40B4-BE49-F238E27FC236}">
                <a16:creationId xmlns:a16="http://schemas.microsoft.com/office/drawing/2014/main" id="{A453C293-02C1-F558-AD8A-62CC419AE80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3299" t="14605" r="13342" b="12026"/>
          <a:stretch>
            <a:fillRect/>
          </a:stretch>
        </p:blipFill>
        <p:spPr bwMode="auto">
          <a:xfrm>
            <a:off x="7715253" y="2411068"/>
            <a:ext cx="1017787" cy="10179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Amplificador operacional - Wikipedia, la enciclopedia libre">
            <a:extLst>
              <a:ext uri="{FF2B5EF4-FFF2-40B4-BE49-F238E27FC236}">
                <a16:creationId xmlns:a16="http://schemas.microsoft.com/office/drawing/2014/main" id="{56A73CEA-0165-8788-5160-F9EA6F38880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27519" y="1482298"/>
            <a:ext cx="1143729" cy="104765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Amplificador Operacional LM324N (DIP)">
            <a:extLst>
              <a:ext uri="{FF2B5EF4-FFF2-40B4-BE49-F238E27FC236}">
                <a16:creationId xmlns:a16="http://schemas.microsoft.com/office/drawing/2014/main" id="{191002F5-D85F-63DF-3F92-03BFF9CDC19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9786" y="2909915"/>
            <a:ext cx="1296590" cy="12965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2" descr="Amplificador Operacional LM324 – Novatronic">
            <a:extLst>
              <a:ext uri="{FF2B5EF4-FFF2-40B4-BE49-F238E27FC236}">
                <a16:creationId xmlns:a16="http://schemas.microsoft.com/office/drawing/2014/main" id="{C490B43E-9BFC-0E1D-FFCD-A87F512C347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47006" y="4072488"/>
            <a:ext cx="1445586" cy="148785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4" descr="Operational amplifier - Wikipedia">
            <a:extLst>
              <a:ext uri="{FF2B5EF4-FFF2-40B4-BE49-F238E27FC236}">
                <a16:creationId xmlns:a16="http://schemas.microsoft.com/office/drawing/2014/main" id="{381CAA0A-67C5-01AF-EDFC-DFA60C5AD23B}"/>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7615" t="8181" r="22885" b="6096"/>
          <a:stretch>
            <a:fillRect/>
          </a:stretch>
        </p:blipFill>
        <p:spPr bwMode="auto">
          <a:xfrm>
            <a:off x="7260708" y="458185"/>
            <a:ext cx="909090" cy="1047656"/>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4F311826-440B-A7B5-C70F-011953D97FF8}"/>
              </a:ext>
            </a:extLst>
          </p:cNvPr>
          <p:cNvPicPr>
            <a:picLocks noChangeAspect="1"/>
          </p:cNvPicPr>
          <p:nvPr/>
        </p:nvPicPr>
        <p:blipFill>
          <a:blip r:embed="rId14"/>
          <a:stretch>
            <a:fillRect/>
          </a:stretch>
        </p:blipFill>
        <p:spPr>
          <a:xfrm>
            <a:off x="321424" y="1500736"/>
            <a:ext cx="1219370" cy="1790950"/>
          </a:xfrm>
          <a:prstGeom prst="rect">
            <a:avLst/>
          </a:prstGeom>
        </p:spPr>
      </p:pic>
      <p:pic>
        <p:nvPicPr>
          <p:cNvPr id="21" name="Imagen 20">
            <a:extLst>
              <a:ext uri="{FF2B5EF4-FFF2-40B4-BE49-F238E27FC236}">
                <a16:creationId xmlns:a16="http://schemas.microsoft.com/office/drawing/2014/main" id="{3B0AF17F-21D3-7C4F-885B-2741035CF85D}"/>
              </a:ext>
            </a:extLst>
          </p:cNvPr>
          <p:cNvPicPr>
            <a:picLocks noChangeAspect="1"/>
          </p:cNvPicPr>
          <p:nvPr/>
        </p:nvPicPr>
        <p:blipFill>
          <a:blip r:embed="rId15"/>
          <a:stretch>
            <a:fillRect/>
          </a:stretch>
        </p:blipFill>
        <p:spPr>
          <a:xfrm>
            <a:off x="1746412" y="1544026"/>
            <a:ext cx="2391109" cy="1228896"/>
          </a:xfrm>
          <a:prstGeom prst="rect">
            <a:avLst/>
          </a:prstGeom>
        </p:spPr>
      </p:pic>
      <p:pic>
        <p:nvPicPr>
          <p:cNvPr id="23" name="Imagen 22">
            <a:extLst>
              <a:ext uri="{FF2B5EF4-FFF2-40B4-BE49-F238E27FC236}">
                <a16:creationId xmlns:a16="http://schemas.microsoft.com/office/drawing/2014/main" id="{5DDBBA8D-4E9B-19B4-6DBC-AB979EFBCAF0}"/>
              </a:ext>
            </a:extLst>
          </p:cNvPr>
          <p:cNvPicPr>
            <a:picLocks noChangeAspect="1"/>
          </p:cNvPicPr>
          <p:nvPr/>
        </p:nvPicPr>
        <p:blipFill>
          <a:blip r:embed="rId16"/>
          <a:srcRect l="12734"/>
          <a:stretch>
            <a:fillRect/>
          </a:stretch>
        </p:blipFill>
        <p:spPr>
          <a:xfrm>
            <a:off x="4273281" y="1719842"/>
            <a:ext cx="1072413" cy="1047896"/>
          </a:xfrm>
          <a:prstGeom prst="rect">
            <a:avLst/>
          </a:prstGeom>
        </p:spPr>
      </p:pic>
    </p:spTree>
    <p:custDataLst>
      <p:tags r:id="rId1"/>
    </p:custDataLst>
    <p:extLst>
      <p:ext uri="{BB962C8B-B14F-4D97-AF65-F5344CB8AC3E}">
        <p14:creationId xmlns:p14="http://schemas.microsoft.com/office/powerpoint/2010/main" val="52957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DAFAC-8557-6BAD-C52F-24017072721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9A322EAE-C390-5DDE-9B1B-87B51035EB6D}"/>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EB6FE441-691D-7A81-8808-6ED619848ADB}"/>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Categorías de AO</a:t>
            </a:r>
            <a:endParaRPr lang="en-US" dirty="0"/>
          </a:p>
        </p:txBody>
      </p:sp>
      <p:sp>
        <p:nvSpPr>
          <p:cNvPr id="18" name="Marcador de número de diapositiva 3">
            <a:extLst>
              <a:ext uri="{FF2B5EF4-FFF2-40B4-BE49-F238E27FC236}">
                <a16:creationId xmlns:a16="http://schemas.microsoft.com/office/drawing/2014/main" id="{25B9B91C-47E5-D40F-6E2E-D1CF68F2A1E3}"/>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19" name="Título 1">
            <a:extLst>
              <a:ext uri="{FF2B5EF4-FFF2-40B4-BE49-F238E27FC236}">
                <a16:creationId xmlns:a16="http://schemas.microsoft.com/office/drawing/2014/main" id="{F29F8B5C-D458-94BA-1A75-A82372E2799E}"/>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6" name="CuadroTexto 5">
            <a:extLst>
              <a:ext uri="{FF2B5EF4-FFF2-40B4-BE49-F238E27FC236}">
                <a16:creationId xmlns:a16="http://schemas.microsoft.com/office/drawing/2014/main" id="{2AD20811-C220-6C93-3494-2C1F1DF262A3}"/>
              </a:ext>
            </a:extLst>
          </p:cNvPr>
          <p:cNvSpPr txBox="1"/>
          <p:nvPr/>
        </p:nvSpPr>
        <p:spPr>
          <a:xfrm>
            <a:off x="261463" y="700177"/>
            <a:ext cx="3853337" cy="830997"/>
          </a:xfrm>
          <a:prstGeom prst="rect">
            <a:avLst/>
          </a:prstGeom>
          <a:noFill/>
        </p:spPr>
        <p:txBody>
          <a:bodyPr wrap="square">
            <a:spAutoFit/>
          </a:bodyPr>
          <a:lstStyle/>
          <a:p>
            <a:pPr>
              <a:buNone/>
            </a:pPr>
            <a:r>
              <a:rPr lang="es-ES" sz="1200" b="1" dirty="0"/>
              <a:t>Amplificadores Operacionales de Propósito General</a:t>
            </a:r>
            <a:endParaRPr lang="es-ES" sz="1200" dirty="0"/>
          </a:p>
          <a:p>
            <a:pPr>
              <a:buFont typeface="Arial" panose="020B0604020202020204" pitchFamily="34" charset="0"/>
              <a:buChar char="•"/>
            </a:pPr>
            <a:r>
              <a:rPr lang="es-ES" sz="1200" dirty="0"/>
              <a:t>Clásicos, ampliamente usados en muchos circuitos básicos</a:t>
            </a:r>
          </a:p>
          <a:p>
            <a:pPr>
              <a:buFont typeface="Arial" panose="020B0604020202020204" pitchFamily="34" charset="0"/>
              <a:buChar char="•"/>
            </a:pPr>
            <a:r>
              <a:rPr lang="es-ES" sz="1200" b="1" dirty="0"/>
              <a:t>Uso</a:t>
            </a:r>
            <a:r>
              <a:rPr lang="es-ES" sz="1200" dirty="0"/>
              <a:t>: Amplificación de señal, filtrado básico</a:t>
            </a:r>
          </a:p>
          <a:p>
            <a:pPr>
              <a:buFont typeface="Arial" panose="020B0604020202020204" pitchFamily="34" charset="0"/>
              <a:buChar char="•"/>
            </a:pPr>
            <a:r>
              <a:rPr lang="es-ES" sz="1200" b="1" dirty="0"/>
              <a:t>Ejemplos</a:t>
            </a:r>
            <a:r>
              <a:rPr lang="es-ES" sz="1200" dirty="0"/>
              <a:t>: LM741, LM358</a:t>
            </a:r>
          </a:p>
        </p:txBody>
      </p:sp>
      <p:sp>
        <p:nvSpPr>
          <p:cNvPr id="8" name="CuadroTexto 7">
            <a:extLst>
              <a:ext uri="{FF2B5EF4-FFF2-40B4-BE49-F238E27FC236}">
                <a16:creationId xmlns:a16="http://schemas.microsoft.com/office/drawing/2014/main" id="{1F0D2BCA-ACB2-3384-82B2-DA3729A87B6F}"/>
              </a:ext>
            </a:extLst>
          </p:cNvPr>
          <p:cNvSpPr txBox="1"/>
          <p:nvPr/>
        </p:nvSpPr>
        <p:spPr>
          <a:xfrm>
            <a:off x="4895898" y="700177"/>
            <a:ext cx="3752753" cy="830997"/>
          </a:xfrm>
          <a:prstGeom prst="rect">
            <a:avLst/>
          </a:prstGeom>
          <a:noFill/>
        </p:spPr>
        <p:txBody>
          <a:bodyPr wrap="square">
            <a:spAutoFit/>
          </a:bodyPr>
          <a:lstStyle>
            <a:defPPr>
              <a:defRPr lang="es-ES"/>
            </a:defPPr>
            <a:lvl1pPr>
              <a:buNone/>
              <a:defRPr sz="1200" b="1"/>
            </a:lvl1pPr>
          </a:lstStyle>
          <a:p>
            <a:r>
              <a:rPr lang="es-ES" dirty="0"/>
              <a:t>Amplificadores Operacionales de Precisión</a:t>
            </a:r>
          </a:p>
          <a:p>
            <a:r>
              <a:rPr lang="es-ES" b="0" dirty="0"/>
              <a:t>Precisión, bajo voltaje de offset y bajo ruido</a:t>
            </a:r>
          </a:p>
          <a:p>
            <a:r>
              <a:rPr lang="es-ES" dirty="0"/>
              <a:t>Uso</a:t>
            </a:r>
            <a:r>
              <a:rPr lang="es-ES" b="0" dirty="0"/>
              <a:t>: Audio, instrumentación, circuitos de alta precisión</a:t>
            </a:r>
          </a:p>
          <a:p>
            <a:r>
              <a:rPr lang="es-ES" dirty="0"/>
              <a:t>Ejemplos</a:t>
            </a:r>
            <a:r>
              <a:rPr lang="es-ES" b="0" dirty="0"/>
              <a:t>: LT6018, OPA2134</a:t>
            </a:r>
          </a:p>
        </p:txBody>
      </p:sp>
      <p:pic>
        <p:nvPicPr>
          <p:cNvPr id="10" name="Imagen 9">
            <a:extLst>
              <a:ext uri="{FF2B5EF4-FFF2-40B4-BE49-F238E27FC236}">
                <a16:creationId xmlns:a16="http://schemas.microsoft.com/office/drawing/2014/main" id="{D970ED24-E41E-2FF6-535A-ED7889D14123}"/>
              </a:ext>
            </a:extLst>
          </p:cNvPr>
          <p:cNvPicPr>
            <a:picLocks noChangeAspect="1"/>
          </p:cNvPicPr>
          <p:nvPr/>
        </p:nvPicPr>
        <p:blipFill>
          <a:blip r:embed="rId4"/>
          <a:stretch>
            <a:fillRect/>
          </a:stretch>
        </p:blipFill>
        <p:spPr>
          <a:xfrm>
            <a:off x="6013646" y="1738731"/>
            <a:ext cx="1517255" cy="1552955"/>
          </a:xfrm>
          <a:prstGeom prst="rect">
            <a:avLst/>
          </a:prstGeom>
        </p:spPr>
      </p:pic>
      <p:sp>
        <p:nvSpPr>
          <p:cNvPr id="13" name="CuadroTexto 12">
            <a:extLst>
              <a:ext uri="{FF2B5EF4-FFF2-40B4-BE49-F238E27FC236}">
                <a16:creationId xmlns:a16="http://schemas.microsoft.com/office/drawing/2014/main" id="{2FDF791A-EC16-E4DB-A75F-9343ACDAAF28}"/>
              </a:ext>
            </a:extLst>
          </p:cNvPr>
          <p:cNvSpPr txBox="1"/>
          <p:nvPr/>
        </p:nvSpPr>
        <p:spPr>
          <a:xfrm>
            <a:off x="348832" y="3529198"/>
            <a:ext cx="4608576" cy="1015663"/>
          </a:xfrm>
          <a:prstGeom prst="rect">
            <a:avLst/>
          </a:prstGeom>
          <a:noFill/>
        </p:spPr>
        <p:txBody>
          <a:bodyPr wrap="square">
            <a:spAutoFit/>
          </a:bodyPr>
          <a:lstStyle>
            <a:defPPr>
              <a:defRPr lang="es-ES"/>
            </a:defPPr>
            <a:lvl1pPr>
              <a:buNone/>
              <a:defRPr sz="1200" b="1"/>
            </a:lvl1pPr>
          </a:lstStyle>
          <a:p>
            <a:r>
              <a:rPr lang="es-ES" dirty="0"/>
              <a:t>Amplificadores Operacionales de Bajo Consumo</a:t>
            </a:r>
          </a:p>
          <a:p>
            <a:r>
              <a:rPr lang="es-ES" b="0" dirty="0"/>
              <a:t>Consumo de energía ultra bajo, alta impedancia de entrada</a:t>
            </a:r>
          </a:p>
          <a:p>
            <a:r>
              <a:rPr lang="es-ES" dirty="0"/>
              <a:t>Uso</a:t>
            </a:r>
            <a:r>
              <a:rPr lang="es-ES" b="0" dirty="0"/>
              <a:t>: Dispositivos alimentados por batería, aplicaciones de bajo consumo energético</a:t>
            </a:r>
          </a:p>
          <a:p>
            <a:r>
              <a:rPr lang="es-ES" dirty="0"/>
              <a:t>Ejemplos</a:t>
            </a:r>
            <a:r>
              <a:rPr lang="es-ES" b="0" dirty="0"/>
              <a:t>: MAX40108, MCP602</a:t>
            </a:r>
          </a:p>
        </p:txBody>
      </p:sp>
      <p:pic>
        <p:nvPicPr>
          <p:cNvPr id="15" name="Imagen 14">
            <a:extLst>
              <a:ext uri="{FF2B5EF4-FFF2-40B4-BE49-F238E27FC236}">
                <a16:creationId xmlns:a16="http://schemas.microsoft.com/office/drawing/2014/main" id="{74D1D9E5-1EB3-C314-5CAB-6ADC4BF0203E}"/>
              </a:ext>
            </a:extLst>
          </p:cNvPr>
          <p:cNvPicPr>
            <a:picLocks noChangeAspect="1"/>
          </p:cNvPicPr>
          <p:nvPr/>
        </p:nvPicPr>
        <p:blipFill>
          <a:blip r:embed="rId5"/>
          <a:stretch>
            <a:fillRect/>
          </a:stretch>
        </p:blipFill>
        <p:spPr>
          <a:xfrm>
            <a:off x="1268577" y="4662988"/>
            <a:ext cx="1839107" cy="1190430"/>
          </a:xfrm>
          <a:prstGeom prst="rect">
            <a:avLst/>
          </a:prstGeom>
        </p:spPr>
      </p:pic>
      <p:sp>
        <p:nvSpPr>
          <p:cNvPr id="17" name="CuadroTexto 16">
            <a:extLst>
              <a:ext uri="{FF2B5EF4-FFF2-40B4-BE49-F238E27FC236}">
                <a16:creationId xmlns:a16="http://schemas.microsoft.com/office/drawing/2014/main" id="{EFEF08BE-EDD2-3264-63D3-84052B353441}"/>
              </a:ext>
            </a:extLst>
          </p:cNvPr>
          <p:cNvSpPr txBox="1"/>
          <p:nvPr/>
        </p:nvSpPr>
        <p:spPr>
          <a:xfrm>
            <a:off x="4572000" y="3596376"/>
            <a:ext cx="4608576" cy="1015663"/>
          </a:xfrm>
          <a:prstGeom prst="rect">
            <a:avLst/>
          </a:prstGeom>
          <a:noFill/>
        </p:spPr>
        <p:txBody>
          <a:bodyPr wrap="square">
            <a:spAutoFit/>
          </a:bodyPr>
          <a:lstStyle>
            <a:defPPr>
              <a:defRPr lang="es-ES"/>
            </a:defPPr>
            <a:lvl1pPr>
              <a:buNone/>
              <a:defRPr sz="1200" b="1"/>
            </a:lvl1pPr>
          </a:lstStyle>
          <a:p>
            <a:r>
              <a:rPr lang="es-ES" dirty="0"/>
              <a:t>Amplificadores Operacionales de Alta Velocidad</a:t>
            </a:r>
          </a:p>
          <a:p>
            <a:r>
              <a:rPr lang="es-ES" b="0" dirty="0"/>
              <a:t>Alta velocidad, ancho de banda amplio, baja distorsión</a:t>
            </a:r>
          </a:p>
          <a:p>
            <a:r>
              <a:rPr lang="es-ES" dirty="0"/>
              <a:t>Uso</a:t>
            </a:r>
            <a:r>
              <a:rPr lang="es-ES" b="0" dirty="0"/>
              <a:t>: Procesamiento de señales, circuitos analógicos de alta velocidad, amplificadores de video</a:t>
            </a:r>
          </a:p>
          <a:p>
            <a:r>
              <a:rPr lang="es-ES" dirty="0"/>
              <a:t>Ejemplos</a:t>
            </a:r>
            <a:r>
              <a:rPr lang="es-ES" b="0" dirty="0"/>
              <a:t>: OPA847, AD8000</a:t>
            </a:r>
          </a:p>
        </p:txBody>
      </p:sp>
      <p:pic>
        <p:nvPicPr>
          <p:cNvPr id="21" name="Imagen 20">
            <a:extLst>
              <a:ext uri="{FF2B5EF4-FFF2-40B4-BE49-F238E27FC236}">
                <a16:creationId xmlns:a16="http://schemas.microsoft.com/office/drawing/2014/main" id="{D8E25179-BBAE-82B8-F4B4-68CB3BFAB00B}"/>
              </a:ext>
            </a:extLst>
          </p:cNvPr>
          <p:cNvPicPr>
            <a:picLocks noChangeAspect="1"/>
          </p:cNvPicPr>
          <p:nvPr/>
        </p:nvPicPr>
        <p:blipFill>
          <a:blip r:embed="rId6"/>
          <a:stretch>
            <a:fillRect/>
          </a:stretch>
        </p:blipFill>
        <p:spPr>
          <a:xfrm>
            <a:off x="6564801" y="4384073"/>
            <a:ext cx="2391109" cy="1381318"/>
          </a:xfrm>
          <a:prstGeom prst="rect">
            <a:avLst/>
          </a:prstGeom>
        </p:spPr>
      </p:pic>
      <p:grpSp>
        <p:nvGrpSpPr>
          <p:cNvPr id="23" name="Grupo 22">
            <a:extLst>
              <a:ext uri="{FF2B5EF4-FFF2-40B4-BE49-F238E27FC236}">
                <a16:creationId xmlns:a16="http://schemas.microsoft.com/office/drawing/2014/main" id="{9B09ED01-BBB4-5617-FF36-8202244ECE11}"/>
              </a:ext>
            </a:extLst>
          </p:cNvPr>
          <p:cNvGrpSpPr/>
          <p:nvPr/>
        </p:nvGrpSpPr>
        <p:grpSpPr>
          <a:xfrm>
            <a:off x="1173124" y="1773936"/>
            <a:ext cx="1679643" cy="1611308"/>
            <a:chOff x="1173124" y="1773936"/>
            <a:chExt cx="1679643" cy="1611308"/>
          </a:xfrm>
        </p:grpSpPr>
        <p:pic>
          <p:nvPicPr>
            <p:cNvPr id="4" name="Imagen 3">
              <a:extLst>
                <a:ext uri="{FF2B5EF4-FFF2-40B4-BE49-F238E27FC236}">
                  <a16:creationId xmlns:a16="http://schemas.microsoft.com/office/drawing/2014/main" id="{62A5977E-79F9-CD7A-2830-7E8F1A0A3BE3}"/>
                </a:ext>
              </a:extLst>
            </p:cNvPr>
            <p:cNvPicPr>
              <a:picLocks noChangeAspect="1"/>
            </p:cNvPicPr>
            <p:nvPr/>
          </p:nvPicPr>
          <p:blipFill>
            <a:blip r:embed="rId7"/>
            <a:stretch>
              <a:fillRect/>
            </a:stretch>
          </p:blipFill>
          <p:spPr>
            <a:xfrm>
              <a:off x="1173124" y="1773936"/>
              <a:ext cx="1679643" cy="1517750"/>
            </a:xfrm>
            <a:prstGeom prst="rect">
              <a:avLst/>
            </a:prstGeom>
          </p:spPr>
        </p:pic>
        <p:sp>
          <p:nvSpPr>
            <p:cNvPr id="22" name="Rectángulo 21">
              <a:extLst>
                <a:ext uri="{FF2B5EF4-FFF2-40B4-BE49-F238E27FC236}">
                  <a16:creationId xmlns:a16="http://schemas.microsoft.com/office/drawing/2014/main" id="{22E7AEEF-3448-5ECF-DF1E-A04BB88464C6}"/>
                </a:ext>
              </a:extLst>
            </p:cNvPr>
            <p:cNvSpPr/>
            <p:nvPr/>
          </p:nvSpPr>
          <p:spPr>
            <a:xfrm>
              <a:off x="1447465" y="3094949"/>
              <a:ext cx="1405301" cy="29029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grpSp>
    </p:spTree>
    <p:custDataLst>
      <p:tags r:id="rId1"/>
    </p:custDataLst>
    <p:extLst>
      <p:ext uri="{BB962C8B-B14F-4D97-AF65-F5344CB8AC3E}">
        <p14:creationId xmlns:p14="http://schemas.microsoft.com/office/powerpoint/2010/main" val="4136669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A62D5-E398-47E3-EA2C-ECE7BCF1011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2D4CA482-1DA5-AF03-D36F-4F067AB3D29C}"/>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F92138E7-411F-21BB-4AC9-4002D52ACCF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Configuraciones básicas </a:t>
            </a:r>
            <a:endParaRPr lang="en-US" dirty="0"/>
          </a:p>
        </p:txBody>
      </p:sp>
      <p:sp>
        <p:nvSpPr>
          <p:cNvPr id="18" name="Marcador de número de diapositiva 3">
            <a:extLst>
              <a:ext uri="{FF2B5EF4-FFF2-40B4-BE49-F238E27FC236}">
                <a16:creationId xmlns:a16="http://schemas.microsoft.com/office/drawing/2014/main" id="{6F7F7C42-ABF3-E89F-C9C9-ECEEFCF78066}"/>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19" name="Título 1">
            <a:extLst>
              <a:ext uri="{FF2B5EF4-FFF2-40B4-BE49-F238E27FC236}">
                <a16:creationId xmlns:a16="http://schemas.microsoft.com/office/drawing/2014/main" id="{DC6DF3E8-DE42-E876-143B-4ABDE08C4E54}"/>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38D35DE8-3B2D-EED2-9F52-E8A5A7191EC0}"/>
              </a:ext>
            </a:extLst>
          </p:cNvPr>
          <p:cNvSpPr txBox="1"/>
          <p:nvPr/>
        </p:nvSpPr>
        <p:spPr>
          <a:xfrm>
            <a:off x="46418" y="545619"/>
            <a:ext cx="6538223" cy="276999"/>
          </a:xfrm>
          <a:prstGeom prst="rect">
            <a:avLst/>
          </a:prstGeom>
          <a:noFill/>
        </p:spPr>
        <p:txBody>
          <a:bodyPr wrap="square" lIns="91440" tIns="45720" rIns="91440" bIns="45720" anchor="t">
            <a:spAutoFit/>
          </a:bodyPr>
          <a:lstStyle/>
          <a:p>
            <a:pPr marL="285750" indent="-285750">
              <a:buFont typeface="Arial"/>
              <a:buChar char="•"/>
            </a:pPr>
            <a:r>
              <a:rPr lang="es-CO" sz="1200" dirty="0">
                <a:ea typeface="+mn-lt"/>
                <a:cs typeface="+mn-lt"/>
              </a:rPr>
              <a:t>La configuraciones están basadas en los tipos de operaciones que se pueden realizar.</a:t>
            </a:r>
            <a:endParaRPr lang="es-MX" sz="1200" dirty="0">
              <a:ea typeface="+mn-lt"/>
              <a:cs typeface="+mn-lt"/>
            </a:endParaRPr>
          </a:p>
        </p:txBody>
      </p:sp>
      <p:pic>
        <p:nvPicPr>
          <p:cNvPr id="1026" name="Picture 2" descr="Configuraciones Básicas de Amplificadores Operacionales">
            <a:extLst>
              <a:ext uri="{FF2B5EF4-FFF2-40B4-BE49-F238E27FC236}">
                <a16:creationId xmlns:a16="http://schemas.microsoft.com/office/drawing/2014/main" id="{34260921-FDC2-0CA1-710B-8E3FA7864B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242"/>
          <a:stretch>
            <a:fillRect/>
          </a:stretch>
        </p:blipFill>
        <p:spPr bwMode="auto">
          <a:xfrm>
            <a:off x="1856363" y="1447300"/>
            <a:ext cx="5236083" cy="441373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2194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A5EF4-12CA-FF09-8AC0-93BC17AD6EAE}"/>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21B40551-7B61-44ED-C93C-53F4A176FA6D}"/>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E191D6AC-9E26-B6D8-87BA-C6DC013062D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Especificaciones técnicas</a:t>
            </a:r>
            <a:endParaRPr lang="en-US" dirty="0"/>
          </a:p>
        </p:txBody>
      </p:sp>
      <p:sp>
        <p:nvSpPr>
          <p:cNvPr id="18" name="Marcador de número de diapositiva 3">
            <a:extLst>
              <a:ext uri="{FF2B5EF4-FFF2-40B4-BE49-F238E27FC236}">
                <a16:creationId xmlns:a16="http://schemas.microsoft.com/office/drawing/2014/main" id="{437DAF75-A3E5-8B16-66A8-FF93D7CEEEA0}"/>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19" name="Título 1">
            <a:extLst>
              <a:ext uri="{FF2B5EF4-FFF2-40B4-BE49-F238E27FC236}">
                <a16:creationId xmlns:a16="http://schemas.microsoft.com/office/drawing/2014/main" id="{524C110F-82F5-655B-4A43-1FF75FFA0B2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graphicFrame>
        <p:nvGraphicFramePr>
          <p:cNvPr id="2" name="Tabla 1">
            <a:extLst>
              <a:ext uri="{FF2B5EF4-FFF2-40B4-BE49-F238E27FC236}">
                <a16:creationId xmlns:a16="http://schemas.microsoft.com/office/drawing/2014/main" id="{AA999019-8CAD-7E13-367C-81DCC79B7821}"/>
              </a:ext>
            </a:extLst>
          </p:cNvPr>
          <p:cNvGraphicFramePr>
            <a:graphicFrameLocks noGrp="1"/>
          </p:cNvGraphicFramePr>
          <p:nvPr>
            <p:extLst>
              <p:ext uri="{D42A27DB-BD31-4B8C-83A1-F6EECF244321}">
                <p14:modId xmlns:p14="http://schemas.microsoft.com/office/powerpoint/2010/main" val="2115361153"/>
              </p:ext>
            </p:extLst>
          </p:nvPr>
        </p:nvGraphicFramePr>
        <p:xfrm>
          <a:off x="1629577" y="1480533"/>
          <a:ext cx="5884846" cy="3823098"/>
        </p:xfrm>
        <a:graphic>
          <a:graphicData uri="http://schemas.openxmlformats.org/drawingml/2006/table">
            <a:tbl>
              <a:tblPr>
                <a:tableStyleId>{616DA210-FB5B-4158-B5E0-FEB733F419BA}</a:tableStyleId>
              </a:tblPr>
              <a:tblGrid>
                <a:gridCol w="2055455">
                  <a:extLst>
                    <a:ext uri="{9D8B030D-6E8A-4147-A177-3AD203B41FA5}">
                      <a16:colId xmlns:a16="http://schemas.microsoft.com/office/drawing/2014/main" val="3351954792"/>
                    </a:ext>
                  </a:extLst>
                </a:gridCol>
                <a:gridCol w="3829391">
                  <a:extLst>
                    <a:ext uri="{9D8B030D-6E8A-4147-A177-3AD203B41FA5}">
                      <a16:colId xmlns:a16="http://schemas.microsoft.com/office/drawing/2014/main" val="1960377740"/>
                    </a:ext>
                  </a:extLst>
                </a:gridCol>
              </a:tblGrid>
              <a:tr h="235988">
                <a:tc>
                  <a:txBody>
                    <a:bodyPr/>
                    <a:lstStyle/>
                    <a:p>
                      <a:pPr algn="ctr">
                        <a:buNone/>
                      </a:pPr>
                      <a:r>
                        <a:rPr lang="es-CO" sz="1200" b="1" dirty="0"/>
                        <a:t>Características</a:t>
                      </a:r>
                      <a:endParaRPr lang="es-CO" sz="1200" dirty="0"/>
                    </a:p>
                  </a:txBody>
                  <a:tcPr marL="61987" marR="61987" marT="30993" marB="30993" anchor="ctr"/>
                </a:tc>
                <a:tc>
                  <a:txBody>
                    <a:bodyPr/>
                    <a:lstStyle/>
                    <a:p>
                      <a:pPr algn="ctr">
                        <a:buNone/>
                      </a:pPr>
                      <a:r>
                        <a:rPr lang="es-CO" sz="1200" b="1" dirty="0"/>
                        <a:t>Definición</a:t>
                      </a:r>
                      <a:endParaRPr lang="es-CO" sz="1200" dirty="0"/>
                    </a:p>
                  </a:txBody>
                  <a:tcPr marL="61987" marR="61987" marT="30993" marB="30993" anchor="ctr"/>
                </a:tc>
                <a:extLst>
                  <a:ext uri="{0D108BD9-81ED-4DB2-BD59-A6C34878D82A}">
                    <a16:rowId xmlns:a16="http://schemas.microsoft.com/office/drawing/2014/main" val="1539350194"/>
                  </a:ext>
                </a:extLst>
              </a:tr>
              <a:tr h="412979">
                <a:tc>
                  <a:txBody>
                    <a:bodyPr/>
                    <a:lstStyle/>
                    <a:p>
                      <a:pPr>
                        <a:buNone/>
                      </a:pPr>
                      <a:r>
                        <a:rPr lang="es-CO" sz="1200" b="0" dirty="0" err="1"/>
                        <a:t>Slew</a:t>
                      </a:r>
                      <a:r>
                        <a:rPr lang="es-CO" sz="1200" b="0" dirty="0"/>
                        <a:t> </a:t>
                      </a:r>
                      <a:r>
                        <a:rPr lang="es-CO" sz="1200" b="0" dirty="0" err="1"/>
                        <a:t>Rate</a:t>
                      </a:r>
                      <a:endParaRPr lang="es-CO" sz="1200" b="0" dirty="0"/>
                    </a:p>
                  </a:txBody>
                  <a:tcPr marL="61987" marR="61987" marT="30993" marB="30993" anchor="ctr"/>
                </a:tc>
                <a:tc>
                  <a:txBody>
                    <a:bodyPr/>
                    <a:lstStyle/>
                    <a:p>
                      <a:pPr>
                        <a:buNone/>
                      </a:pPr>
                      <a:r>
                        <a:rPr lang="es-CO" sz="1200"/>
                        <a:t>Velocidad máxima de cambio de voltaje de salida (V/</a:t>
                      </a:r>
                      <a:r>
                        <a:rPr lang="el-GR" sz="1200"/>
                        <a:t>μ</a:t>
                      </a:r>
                      <a:r>
                        <a:rPr lang="es-CO" sz="1200"/>
                        <a:t>s)</a:t>
                      </a:r>
                    </a:p>
                  </a:txBody>
                  <a:tcPr marL="61987" marR="61987" marT="30993" marB="30993" anchor="ctr"/>
                </a:tc>
                <a:extLst>
                  <a:ext uri="{0D108BD9-81ED-4DB2-BD59-A6C34878D82A}">
                    <a16:rowId xmlns:a16="http://schemas.microsoft.com/office/drawing/2014/main" val="2458042713"/>
                  </a:ext>
                </a:extLst>
              </a:tr>
              <a:tr h="412979">
                <a:tc>
                  <a:txBody>
                    <a:bodyPr/>
                    <a:lstStyle/>
                    <a:p>
                      <a:pPr>
                        <a:buNone/>
                      </a:pPr>
                      <a:r>
                        <a:rPr lang="es-CO" sz="1200" b="0" dirty="0" err="1"/>
                        <a:t>Gain</a:t>
                      </a:r>
                      <a:r>
                        <a:rPr lang="es-CO" sz="1200" b="0" dirty="0"/>
                        <a:t> </a:t>
                      </a:r>
                      <a:r>
                        <a:rPr lang="es-CO" sz="1200" b="0" dirty="0" err="1"/>
                        <a:t>Bandwidth</a:t>
                      </a:r>
                      <a:r>
                        <a:rPr lang="es-CO" sz="1200" b="0" dirty="0"/>
                        <a:t> (GBW)</a:t>
                      </a:r>
                    </a:p>
                  </a:txBody>
                  <a:tcPr marL="61987" marR="61987" marT="30993" marB="30993" anchor="ctr"/>
                </a:tc>
                <a:tc>
                  <a:txBody>
                    <a:bodyPr/>
                    <a:lstStyle/>
                    <a:p>
                      <a:pPr>
                        <a:buNone/>
                      </a:pPr>
                      <a:r>
                        <a:rPr lang="es-ES" sz="1200"/>
                        <a:t>Límite de frecuencia para la amplificación (a ganancia unitaria)</a:t>
                      </a:r>
                    </a:p>
                  </a:txBody>
                  <a:tcPr marL="61987" marR="61987" marT="30993" marB="30993" anchor="ctr"/>
                </a:tc>
                <a:extLst>
                  <a:ext uri="{0D108BD9-81ED-4DB2-BD59-A6C34878D82A}">
                    <a16:rowId xmlns:a16="http://schemas.microsoft.com/office/drawing/2014/main" val="3472934714"/>
                  </a:ext>
                </a:extLst>
              </a:tr>
              <a:tr h="412979">
                <a:tc>
                  <a:txBody>
                    <a:bodyPr/>
                    <a:lstStyle/>
                    <a:p>
                      <a:pPr>
                        <a:buNone/>
                      </a:pPr>
                      <a:r>
                        <a:rPr lang="es-CO" sz="1200" b="0" dirty="0"/>
                        <a:t>CMRR</a:t>
                      </a:r>
                    </a:p>
                  </a:txBody>
                  <a:tcPr marL="61987" marR="61987" marT="30993" marB="30993" anchor="ctr"/>
                </a:tc>
                <a:tc>
                  <a:txBody>
                    <a:bodyPr/>
                    <a:lstStyle/>
                    <a:p>
                      <a:pPr>
                        <a:buNone/>
                      </a:pPr>
                      <a:r>
                        <a:rPr lang="es-ES" sz="1200"/>
                        <a:t>Precisión para rechazar señales comunes</a:t>
                      </a:r>
                    </a:p>
                  </a:txBody>
                  <a:tcPr marL="61987" marR="61987" marT="30993" marB="30993" anchor="ctr"/>
                </a:tc>
                <a:extLst>
                  <a:ext uri="{0D108BD9-81ED-4DB2-BD59-A6C34878D82A}">
                    <a16:rowId xmlns:a16="http://schemas.microsoft.com/office/drawing/2014/main" val="3206787428"/>
                  </a:ext>
                </a:extLst>
              </a:tr>
              <a:tr h="412979">
                <a:tc>
                  <a:txBody>
                    <a:bodyPr/>
                    <a:lstStyle/>
                    <a:p>
                      <a:pPr>
                        <a:buNone/>
                      </a:pPr>
                      <a:r>
                        <a:rPr lang="es-CO" sz="1200" b="0" dirty="0"/>
                        <a:t>PSRR</a:t>
                      </a:r>
                    </a:p>
                  </a:txBody>
                  <a:tcPr marL="61987" marR="61987" marT="30993" marB="30993" anchor="ctr"/>
                </a:tc>
                <a:tc>
                  <a:txBody>
                    <a:bodyPr/>
                    <a:lstStyle/>
                    <a:p>
                      <a:pPr>
                        <a:buNone/>
                      </a:pPr>
                      <a:r>
                        <a:rPr lang="es-ES" sz="1200" dirty="0"/>
                        <a:t>Estabilidad frente a variaciones en la fuente de alimentación</a:t>
                      </a:r>
                    </a:p>
                  </a:txBody>
                  <a:tcPr marL="61987" marR="61987" marT="30993" marB="30993" anchor="ctr"/>
                </a:tc>
                <a:extLst>
                  <a:ext uri="{0D108BD9-81ED-4DB2-BD59-A6C34878D82A}">
                    <a16:rowId xmlns:a16="http://schemas.microsoft.com/office/drawing/2014/main" val="3725912966"/>
                  </a:ext>
                </a:extLst>
              </a:tr>
              <a:tr h="412979">
                <a:tc>
                  <a:txBody>
                    <a:bodyPr/>
                    <a:lstStyle/>
                    <a:p>
                      <a:pPr>
                        <a:buNone/>
                      </a:pPr>
                      <a:r>
                        <a:rPr lang="es-CO" sz="1200" b="0" dirty="0"/>
                        <a:t>Input </a:t>
                      </a:r>
                      <a:r>
                        <a:rPr lang="es-CO" sz="1200" b="0" dirty="0" err="1"/>
                        <a:t>Impedance</a:t>
                      </a:r>
                      <a:endParaRPr lang="es-CO" sz="1200" b="0" dirty="0"/>
                    </a:p>
                  </a:txBody>
                  <a:tcPr marL="61987" marR="61987" marT="30993" marB="30993" anchor="ctr"/>
                </a:tc>
                <a:tc>
                  <a:txBody>
                    <a:bodyPr/>
                    <a:lstStyle/>
                    <a:p>
                      <a:pPr>
                        <a:buNone/>
                      </a:pPr>
                      <a:r>
                        <a:rPr lang="es-ES" sz="1200" dirty="0"/>
                        <a:t>Cuánta resistencia ofrece a la corriente en la entrada</a:t>
                      </a:r>
                    </a:p>
                  </a:txBody>
                  <a:tcPr marL="61987" marR="61987" marT="30993" marB="30993" anchor="ctr"/>
                </a:tc>
                <a:extLst>
                  <a:ext uri="{0D108BD9-81ED-4DB2-BD59-A6C34878D82A}">
                    <a16:rowId xmlns:a16="http://schemas.microsoft.com/office/drawing/2014/main" val="2097752349"/>
                  </a:ext>
                </a:extLst>
              </a:tr>
              <a:tr h="235988">
                <a:tc>
                  <a:txBody>
                    <a:bodyPr/>
                    <a:lstStyle/>
                    <a:p>
                      <a:pPr>
                        <a:buNone/>
                      </a:pPr>
                      <a:r>
                        <a:rPr lang="es-CO" sz="1200" b="0" dirty="0"/>
                        <a:t>Output </a:t>
                      </a:r>
                      <a:r>
                        <a:rPr lang="es-CO" sz="1200" b="0" dirty="0" err="1"/>
                        <a:t>Impedance</a:t>
                      </a:r>
                      <a:endParaRPr lang="es-CO" sz="1200" b="0" dirty="0"/>
                    </a:p>
                  </a:txBody>
                  <a:tcPr marL="61987" marR="61987" marT="30993" marB="30993" anchor="ctr"/>
                </a:tc>
                <a:tc>
                  <a:txBody>
                    <a:bodyPr/>
                    <a:lstStyle/>
                    <a:p>
                      <a:pPr>
                        <a:buNone/>
                      </a:pPr>
                      <a:r>
                        <a:rPr lang="es-ES" sz="1200"/>
                        <a:t>Resistencia observada en la salida</a:t>
                      </a:r>
                    </a:p>
                  </a:txBody>
                  <a:tcPr marL="61987" marR="61987" marT="30993" marB="30993" anchor="ctr"/>
                </a:tc>
                <a:extLst>
                  <a:ext uri="{0D108BD9-81ED-4DB2-BD59-A6C34878D82A}">
                    <a16:rowId xmlns:a16="http://schemas.microsoft.com/office/drawing/2014/main" val="2454033861"/>
                  </a:ext>
                </a:extLst>
              </a:tr>
              <a:tr h="412979">
                <a:tc>
                  <a:txBody>
                    <a:bodyPr/>
                    <a:lstStyle/>
                    <a:p>
                      <a:pPr>
                        <a:buNone/>
                      </a:pPr>
                      <a:r>
                        <a:rPr lang="es-CO" sz="1200" b="0" dirty="0" err="1"/>
                        <a:t>Supply</a:t>
                      </a:r>
                      <a:r>
                        <a:rPr lang="es-CO" sz="1200" b="0" dirty="0"/>
                        <a:t> </a:t>
                      </a:r>
                      <a:r>
                        <a:rPr lang="es-CO" sz="1200" b="0" dirty="0" err="1"/>
                        <a:t>Voltage</a:t>
                      </a:r>
                      <a:r>
                        <a:rPr lang="es-CO" sz="1200" b="0" dirty="0"/>
                        <a:t> </a:t>
                      </a:r>
                      <a:r>
                        <a:rPr lang="es-CO" sz="1200" b="0" dirty="0" err="1"/>
                        <a:t>Range</a:t>
                      </a:r>
                      <a:endParaRPr lang="es-CO" sz="1200" b="0" dirty="0"/>
                    </a:p>
                  </a:txBody>
                  <a:tcPr marL="61987" marR="61987" marT="30993" marB="30993" anchor="ctr"/>
                </a:tc>
                <a:tc>
                  <a:txBody>
                    <a:bodyPr/>
                    <a:lstStyle/>
                    <a:p>
                      <a:pPr>
                        <a:buNone/>
                      </a:pPr>
                      <a:r>
                        <a:rPr lang="es-ES" sz="1200"/>
                        <a:t>Rango de voltaje permitido para la fuente de alimentación</a:t>
                      </a:r>
                    </a:p>
                  </a:txBody>
                  <a:tcPr marL="61987" marR="61987" marT="30993" marB="30993" anchor="ctr"/>
                </a:tc>
                <a:extLst>
                  <a:ext uri="{0D108BD9-81ED-4DB2-BD59-A6C34878D82A}">
                    <a16:rowId xmlns:a16="http://schemas.microsoft.com/office/drawing/2014/main" val="1668207915"/>
                  </a:ext>
                </a:extLst>
              </a:tr>
              <a:tr h="412979">
                <a:tc>
                  <a:txBody>
                    <a:bodyPr/>
                    <a:lstStyle/>
                    <a:p>
                      <a:pPr>
                        <a:buNone/>
                      </a:pPr>
                      <a:r>
                        <a:rPr lang="es-CO" sz="1200" b="0" dirty="0"/>
                        <a:t>Open-</a:t>
                      </a:r>
                      <a:r>
                        <a:rPr lang="es-CO" sz="1200" b="0" dirty="0" err="1"/>
                        <a:t>Loop</a:t>
                      </a:r>
                      <a:r>
                        <a:rPr lang="es-CO" sz="1200" b="0" dirty="0"/>
                        <a:t> </a:t>
                      </a:r>
                      <a:r>
                        <a:rPr lang="es-CO" sz="1200" b="0" dirty="0" err="1"/>
                        <a:t>Gain</a:t>
                      </a:r>
                      <a:endParaRPr lang="es-CO" sz="1200" b="0" dirty="0"/>
                    </a:p>
                  </a:txBody>
                  <a:tcPr marL="61987" marR="61987" marT="30993" marB="30993" anchor="ctr"/>
                </a:tc>
                <a:tc>
                  <a:txBody>
                    <a:bodyPr/>
                    <a:lstStyle/>
                    <a:p>
                      <a:pPr>
                        <a:buNone/>
                      </a:pPr>
                      <a:r>
                        <a:rPr lang="es-ES" sz="1200"/>
                        <a:t>Ganancia sin retroalimentación, usualmente muy alta</a:t>
                      </a:r>
                    </a:p>
                  </a:txBody>
                  <a:tcPr marL="61987" marR="61987" marT="30993" marB="30993" anchor="ctr"/>
                </a:tc>
                <a:extLst>
                  <a:ext uri="{0D108BD9-81ED-4DB2-BD59-A6C34878D82A}">
                    <a16:rowId xmlns:a16="http://schemas.microsoft.com/office/drawing/2014/main" val="543815349"/>
                  </a:ext>
                </a:extLst>
              </a:tr>
              <a:tr h="412979">
                <a:tc>
                  <a:txBody>
                    <a:bodyPr/>
                    <a:lstStyle/>
                    <a:p>
                      <a:pPr>
                        <a:buNone/>
                      </a:pPr>
                      <a:r>
                        <a:rPr lang="es-CO" sz="1200" b="0" dirty="0"/>
                        <a:t>Input Offset </a:t>
                      </a:r>
                      <a:r>
                        <a:rPr lang="es-CO" sz="1200" b="0" dirty="0" err="1"/>
                        <a:t>Voltage</a:t>
                      </a:r>
                      <a:endParaRPr lang="es-CO" sz="1200" b="0" dirty="0"/>
                    </a:p>
                  </a:txBody>
                  <a:tcPr marL="61987" marR="61987" marT="30993" marB="30993" anchor="ctr"/>
                </a:tc>
                <a:tc>
                  <a:txBody>
                    <a:bodyPr/>
                    <a:lstStyle/>
                    <a:p>
                      <a:pPr>
                        <a:buNone/>
                      </a:pPr>
                      <a:r>
                        <a:rPr lang="es-ES" sz="1200" dirty="0"/>
                        <a:t>Pequeño voltaje necesario para que la salida sea cero</a:t>
                      </a:r>
                    </a:p>
                  </a:txBody>
                  <a:tcPr marL="61987" marR="61987" marT="30993" marB="30993" anchor="ctr"/>
                </a:tc>
                <a:extLst>
                  <a:ext uri="{0D108BD9-81ED-4DB2-BD59-A6C34878D82A}">
                    <a16:rowId xmlns:a16="http://schemas.microsoft.com/office/drawing/2014/main" val="798202249"/>
                  </a:ext>
                </a:extLst>
              </a:tr>
            </a:tbl>
          </a:graphicData>
        </a:graphic>
      </p:graphicFrame>
    </p:spTree>
    <p:custDataLst>
      <p:tags r:id="rId1"/>
    </p:custDataLst>
    <p:extLst>
      <p:ext uri="{BB962C8B-B14F-4D97-AF65-F5344CB8AC3E}">
        <p14:creationId xmlns:p14="http://schemas.microsoft.com/office/powerpoint/2010/main" val="1307521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CD9AB-D886-3C2A-74B5-53D0C50FD3F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7129C078-9609-CA5B-8116-6AFAF4D51B80}"/>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17C8D795-1648-9B2A-AB34-36A3D8FB4441}"/>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Respuesta de los filtros</a:t>
            </a:r>
            <a:endParaRPr lang="en-US" dirty="0"/>
          </a:p>
        </p:txBody>
      </p:sp>
      <p:sp>
        <p:nvSpPr>
          <p:cNvPr id="18" name="Marcador de número de diapositiva 3">
            <a:extLst>
              <a:ext uri="{FF2B5EF4-FFF2-40B4-BE49-F238E27FC236}">
                <a16:creationId xmlns:a16="http://schemas.microsoft.com/office/drawing/2014/main" id="{8B4BF775-06B1-B410-15E6-B22C679F8839}"/>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19" name="Título 1">
            <a:extLst>
              <a:ext uri="{FF2B5EF4-FFF2-40B4-BE49-F238E27FC236}">
                <a16:creationId xmlns:a16="http://schemas.microsoft.com/office/drawing/2014/main" id="{184D96D6-97F5-F127-4659-1A53C7099D8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pic>
        <p:nvPicPr>
          <p:cNvPr id="3" name="Imagen 2" descr="Puede ser un gráfico de plano, plano de planta y texto que dice &quot;gain Output Responses f (a) Low-pass gain Swept Frequency Input Signal f (b) High-pass gain f (c) Band-pass Band- gain -M (d) Band-stop ha&quot;">
            <a:extLst>
              <a:ext uri="{FF2B5EF4-FFF2-40B4-BE49-F238E27FC236}">
                <a16:creationId xmlns:a16="http://schemas.microsoft.com/office/drawing/2014/main" id="{460E709F-0E15-1098-FC3B-5AD3DF2C469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90647" y="656038"/>
            <a:ext cx="5612130" cy="4779010"/>
          </a:xfrm>
          <a:prstGeom prst="rect">
            <a:avLst/>
          </a:prstGeom>
          <a:noFill/>
          <a:ln>
            <a:noFill/>
          </a:ln>
        </p:spPr>
      </p:pic>
      <p:pic>
        <p:nvPicPr>
          <p:cNvPr id="5" name="Imagen 4" descr="Foto montaje de la cara de un perro&#10;&#10;El contenido generado por IA puede ser incorrecto.">
            <a:extLst>
              <a:ext uri="{FF2B5EF4-FFF2-40B4-BE49-F238E27FC236}">
                <a16:creationId xmlns:a16="http://schemas.microsoft.com/office/drawing/2014/main" id="{EBB3E5DE-DE6E-C9DF-6FD1-08550781064E}"/>
              </a:ext>
            </a:extLst>
          </p:cNvPr>
          <p:cNvPicPr>
            <a:picLocks noChangeAspect="1"/>
          </p:cNvPicPr>
          <p:nvPr/>
        </p:nvPicPr>
        <p:blipFill>
          <a:blip r:embed="rId5"/>
          <a:stretch>
            <a:fillRect/>
          </a:stretch>
        </p:blipFill>
        <p:spPr>
          <a:xfrm>
            <a:off x="327148" y="2254674"/>
            <a:ext cx="2161697" cy="2074024"/>
          </a:xfrm>
          <a:prstGeom prst="rect">
            <a:avLst/>
          </a:prstGeom>
        </p:spPr>
      </p:pic>
    </p:spTree>
    <p:custDataLst>
      <p:tags r:id="rId1"/>
    </p:custDataLst>
    <p:extLst>
      <p:ext uri="{BB962C8B-B14F-4D97-AF65-F5344CB8AC3E}">
        <p14:creationId xmlns:p14="http://schemas.microsoft.com/office/powerpoint/2010/main" val="1637524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6C2E0-A07D-892A-A9D5-5B5A8E21E4A7}"/>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36BF0BDF-FE80-612E-50F6-0B3FB240C4CD}"/>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011CAADB-75A4-48D8-A4F0-24D739B0F7BD}"/>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Filtros pasa bajas</a:t>
            </a:r>
            <a:endParaRPr lang="en-US" dirty="0"/>
          </a:p>
        </p:txBody>
      </p:sp>
      <p:sp>
        <p:nvSpPr>
          <p:cNvPr id="18" name="Marcador de número de diapositiva 3">
            <a:extLst>
              <a:ext uri="{FF2B5EF4-FFF2-40B4-BE49-F238E27FC236}">
                <a16:creationId xmlns:a16="http://schemas.microsoft.com/office/drawing/2014/main" id="{928AC5A9-B65C-8775-6063-BE221A4654A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19" name="Título 1">
            <a:extLst>
              <a:ext uri="{FF2B5EF4-FFF2-40B4-BE49-F238E27FC236}">
                <a16:creationId xmlns:a16="http://schemas.microsoft.com/office/drawing/2014/main" id="{087B0B15-6207-D89C-8A80-65593506D82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5F5DD282-E6AB-4DB8-0F39-D0A62F51D7FF}"/>
              </a:ext>
            </a:extLst>
          </p:cNvPr>
          <p:cNvSpPr txBox="1"/>
          <p:nvPr/>
        </p:nvSpPr>
        <p:spPr>
          <a:xfrm>
            <a:off x="46418" y="545619"/>
            <a:ext cx="7058920" cy="646331"/>
          </a:xfrm>
          <a:prstGeom prst="rect">
            <a:avLst/>
          </a:prstGeom>
          <a:noFill/>
        </p:spPr>
        <p:txBody>
          <a:bodyPr wrap="square" lIns="91440" tIns="45720" rIns="91440" bIns="45720" anchor="t">
            <a:spAutoFit/>
          </a:bodyPr>
          <a:lstStyle/>
          <a:p>
            <a:pPr marL="285750" indent="-285750">
              <a:buFont typeface="Arial"/>
              <a:buChar char="•"/>
            </a:pPr>
            <a:r>
              <a:rPr lang="es-CO" sz="1200" dirty="0"/>
              <a:t>Permite seleccionar, atenuar o amplificar ciertas bandas de frecuencias utilizando componentes activos (como amplificadores operacionales, transistores o amplificadores integrados) junto con componentes pasivos (resistencias, condensadores e inductores).</a:t>
            </a:r>
            <a:endParaRPr lang="es-MX" sz="1200" dirty="0">
              <a:ea typeface="+mn-lt"/>
              <a:cs typeface="+mn-lt"/>
            </a:endParaRPr>
          </a:p>
        </p:txBody>
      </p:sp>
      <p:pic>
        <p:nvPicPr>
          <p:cNvPr id="4" name="Imagen 3">
            <a:extLst>
              <a:ext uri="{FF2B5EF4-FFF2-40B4-BE49-F238E27FC236}">
                <a16:creationId xmlns:a16="http://schemas.microsoft.com/office/drawing/2014/main" id="{51F986AC-D5CA-86B8-58B7-7E2FC05E776E}"/>
              </a:ext>
            </a:extLst>
          </p:cNvPr>
          <p:cNvPicPr>
            <a:picLocks noChangeAspect="1"/>
          </p:cNvPicPr>
          <p:nvPr/>
        </p:nvPicPr>
        <p:blipFill>
          <a:blip r:embed="rId4"/>
          <a:stretch>
            <a:fillRect/>
          </a:stretch>
        </p:blipFill>
        <p:spPr>
          <a:xfrm>
            <a:off x="1866522" y="2114366"/>
            <a:ext cx="5410955" cy="2629267"/>
          </a:xfrm>
          <a:prstGeom prst="rect">
            <a:avLst/>
          </a:prstGeom>
        </p:spPr>
      </p:pic>
      <p:sp>
        <p:nvSpPr>
          <p:cNvPr id="5" name="Rectángulo 4">
            <a:extLst>
              <a:ext uri="{FF2B5EF4-FFF2-40B4-BE49-F238E27FC236}">
                <a16:creationId xmlns:a16="http://schemas.microsoft.com/office/drawing/2014/main" id="{6C24D030-709A-5A84-CEEE-B58E688DA703}"/>
              </a:ext>
            </a:extLst>
          </p:cNvPr>
          <p:cNvSpPr/>
          <p:nvPr/>
        </p:nvSpPr>
        <p:spPr>
          <a:xfrm>
            <a:off x="1866522" y="1939289"/>
            <a:ext cx="2000244"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solidFill>
                  <a:schemeClr val="tx1"/>
                </a:solidFill>
              </a:rPr>
              <a:t>Filtro</a:t>
            </a:r>
            <a:r>
              <a:rPr lang="en-US" dirty="0">
                <a:solidFill>
                  <a:schemeClr val="tx1"/>
                </a:solidFill>
              </a:rPr>
              <a:t> </a:t>
            </a:r>
            <a:r>
              <a:rPr lang="en-US" dirty="0" err="1">
                <a:solidFill>
                  <a:schemeClr val="tx1"/>
                </a:solidFill>
              </a:rPr>
              <a:t>pasa</a:t>
            </a:r>
            <a:r>
              <a:rPr lang="en-US" dirty="0">
                <a:solidFill>
                  <a:schemeClr val="tx1"/>
                </a:solidFill>
              </a:rPr>
              <a:t> </a:t>
            </a:r>
            <a:r>
              <a:rPr lang="en-US" dirty="0" err="1">
                <a:solidFill>
                  <a:schemeClr val="tx1"/>
                </a:solidFill>
              </a:rPr>
              <a:t>bajos</a:t>
            </a:r>
            <a:endParaRPr lang="es-CO" dirty="0">
              <a:solidFill>
                <a:schemeClr val="tx1"/>
              </a:solidFill>
            </a:endParaRPr>
          </a:p>
        </p:txBody>
      </p:sp>
      <p:sp>
        <p:nvSpPr>
          <p:cNvPr id="6" name="Rectángulo 5">
            <a:extLst>
              <a:ext uri="{FF2B5EF4-FFF2-40B4-BE49-F238E27FC236}">
                <a16:creationId xmlns:a16="http://schemas.microsoft.com/office/drawing/2014/main" id="{63EA7873-6FD8-9413-6D20-3843ED668A94}"/>
              </a:ext>
            </a:extLst>
          </p:cNvPr>
          <p:cNvSpPr/>
          <p:nvPr/>
        </p:nvSpPr>
        <p:spPr>
          <a:xfrm>
            <a:off x="4772021" y="1939289"/>
            <a:ext cx="1600200"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solidFill>
                  <a:schemeClr val="tx1"/>
                </a:solidFill>
              </a:rPr>
              <a:t>Amplificador</a:t>
            </a:r>
            <a:r>
              <a:rPr lang="en-US" dirty="0">
                <a:solidFill>
                  <a:schemeClr val="tx1"/>
                </a:solidFill>
              </a:rPr>
              <a:t> no </a:t>
            </a:r>
            <a:r>
              <a:rPr lang="en-US" dirty="0" err="1">
                <a:solidFill>
                  <a:schemeClr val="tx1"/>
                </a:solidFill>
              </a:rPr>
              <a:t>inversor</a:t>
            </a:r>
            <a:endParaRPr lang="es-CO" dirty="0">
              <a:solidFill>
                <a:schemeClr val="tx1"/>
              </a:solidFill>
            </a:endParaRPr>
          </a:p>
        </p:txBody>
      </p:sp>
    </p:spTree>
    <p:custDataLst>
      <p:tags r:id="rId1"/>
    </p:custDataLst>
    <p:extLst>
      <p:ext uri="{BB962C8B-B14F-4D97-AF65-F5344CB8AC3E}">
        <p14:creationId xmlns:p14="http://schemas.microsoft.com/office/powerpoint/2010/main" val="2680858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66BDB-55B8-B3AD-DDEE-C83AC7933B7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106E172-0B82-CD49-F879-47131D301356}"/>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2" name="Rectángulo 6">
            <a:extLst>
              <a:ext uri="{FF2B5EF4-FFF2-40B4-BE49-F238E27FC236}">
                <a16:creationId xmlns:a16="http://schemas.microsoft.com/office/drawing/2014/main" id="{D2D72C8E-5DDA-3E26-FB35-06D11C40BDE5}"/>
              </a:ext>
            </a:extLst>
          </p:cNvPr>
          <p:cNvSpPr/>
          <p:nvPr/>
        </p:nvSpPr>
        <p:spPr>
          <a:xfrm>
            <a:off x="-2262" y="74589"/>
            <a:ext cx="8786340" cy="369332"/>
          </a:xfrm>
          <a:prstGeom prst="rect">
            <a:avLst/>
          </a:prstGeom>
        </p:spPr>
        <p:txBody>
          <a:bodyPr wrap="square" lIns="91440" tIns="45720" rIns="91440" bIns="45720" anchor="t">
            <a:spAutoFit/>
          </a:bodyPr>
          <a:lstStyle/>
          <a:p>
            <a:r>
              <a:rPr lang="es-CO" b="1" noProof="0" dirty="0">
                <a:solidFill>
                  <a:srgbClr val="2C5697"/>
                </a:solidFill>
                <a:latin typeface="Arial"/>
                <a:cs typeface="Arial"/>
                <a:sym typeface="Times New Roman"/>
              </a:rPr>
              <a:t>Pasa bajas con amplificación </a:t>
            </a:r>
            <a:endParaRPr lang="es-CO" noProof="0" dirty="0"/>
          </a:p>
        </p:txBody>
      </p:sp>
      <p:sp>
        <p:nvSpPr>
          <p:cNvPr id="18" name="Marcador de número de diapositiva 3">
            <a:extLst>
              <a:ext uri="{FF2B5EF4-FFF2-40B4-BE49-F238E27FC236}">
                <a16:creationId xmlns:a16="http://schemas.microsoft.com/office/drawing/2014/main" id="{CE3ABDF6-6D86-6BF6-A0DF-37D385941E2D}"/>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noProof="0" smtClean="0">
                <a:solidFill>
                  <a:schemeClr val="bg1"/>
                </a:solidFill>
              </a:rPr>
              <a:pPr algn="r"/>
              <a:t>8</a:t>
            </a:fld>
            <a:endParaRPr lang="es-CO" sz="1200" noProof="0" dirty="0">
              <a:solidFill>
                <a:schemeClr val="bg1"/>
              </a:solidFill>
            </a:endParaRPr>
          </a:p>
        </p:txBody>
      </p:sp>
      <p:sp>
        <p:nvSpPr>
          <p:cNvPr id="19" name="Título 1">
            <a:extLst>
              <a:ext uri="{FF2B5EF4-FFF2-40B4-BE49-F238E27FC236}">
                <a16:creationId xmlns:a16="http://schemas.microsoft.com/office/drawing/2014/main" id="{71E50168-50C9-E567-A7AF-BE2C23C5697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CO" sz="1600" b="0" noProof="0" dirty="0">
                <a:solidFill>
                  <a:schemeClr val="bg1"/>
                </a:solidFill>
              </a:rPr>
              <a:t>Filtros activos</a:t>
            </a:r>
            <a:endParaRPr lang="es-CO" noProof="0" dirty="0">
              <a:solidFill>
                <a:schemeClr val="bg1"/>
              </a:solidFill>
            </a:endParaRPr>
          </a:p>
        </p:txBody>
      </p:sp>
      <p:sp>
        <p:nvSpPr>
          <p:cNvPr id="3" name="CuadroTexto 9">
            <a:extLst>
              <a:ext uri="{FF2B5EF4-FFF2-40B4-BE49-F238E27FC236}">
                <a16:creationId xmlns:a16="http://schemas.microsoft.com/office/drawing/2014/main" id="{843DBF6B-3135-200C-3E86-FE86411929DB}"/>
              </a:ext>
            </a:extLst>
          </p:cNvPr>
          <p:cNvSpPr txBox="1"/>
          <p:nvPr/>
        </p:nvSpPr>
        <p:spPr>
          <a:xfrm>
            <a:off x="46418" y="545619"/>
            <a:ext cx="7673516" cy="646331"/>
          </a:xfrm>
          <a:prstGeom prst="rect">
            <a:avLst/>
          </a:prstGeom>
          <a:noFill/>
        </p:spPr>
        <p:txBody>
          <a:bodyPr wrap="square" lIns="91440" tIns="45720" rIns="91440" bIns="45720" anchor="t">
            <a:spAutoFit/>
          </a:bodyPr>
          <a:lstStyle/>
          <a:p>
            <a:pPr marL="285750" indent="-285750">
              <a:buFont typeface="Arial"/>
              <a:buChar char="•"/>
            </a:pPr>
            <a:r>
              <a:rPr lang="es-ES" sz="1200" dirty="0">
                <a:ea typeface="+mn-lt"/>
                <a:cs typeface="+mn-lt"/>
              </a:rPr>
              <a:t>La ventaja de esta configuración es que la alta impedancia de entrada del amplificador operacional evita una carga excesiva en la salida del filtro, mientras que su baja impedancia de salida evita que el punto de corte del filtro se vea afectado por cambios en la impedancia de la carga.</a:t>
            </a:r>
            <a:endParaRPr lang="es-CO" sz="1200" noProof="0" dirty="0">
              <a:ea typeface="+mn-lt"/>
              <a:cs typeface="+mn-lt"/>
            </a:endParaRPr>
          </a:p>
        </p:txBody>
      </p:sp>
      <p:grpSp>
        <p:nvGrpSpPr>
          <p:cNvPr id="2" name="Grupo 1">
            <a:extLst>
              <a:ext uri="{FF2B5EF4-FFF2-40B4-BE49-F238E27FC236}">
                <a16:creationId xmlns:a16="http://schemas.microsoft.com/office/drawing/2014/main" id="{444D617F-D137-041C-4465-1647C6481674}"/>
              </a:ext>
            </a:extLst>
          </p:cNvPr>
          <p:cNvGrpSpPr/>
          <p:nvPr/>
        </p:nvGrpSpPr>
        <p:grpSpPr>
          <a:xfrm>
            <a:off x="261463" y="1755142"/>
            <a:ext cx="5449060" cy="3347716"/>
            <a:chOff x="1847470" y="2040708"/>
            <a:chExt cx="5449060" cy="3347716"/>
          </a:xfrm>
        </p:grpSpPr>
        <p:pic>
          <p:nvPicPr>
            <p:cNvPr id="4" name="Imagen 3">
              <a:extLst>
                <a:ext uri="{FF2B5EF4-FFF2-40B4-BE49-F238E27FC236}">
                  <a16:creationId xmlns:a16="http://schemas.microsoft.com/office/drawing/2014/main" id="{DACFBA34-A686-3C5D-C2E6-22DE47ACFD66}"/>
                </a:ext>
              </a:extLst>
            </p:cNvPr>
            <p:cNvPicPr>
              <a:picLocks noChangeAspect="1"/>
            </p:cNvPicPr>
            <p:nvPr/>
          </p:nvPicPr>
          <p:blipFill>
            <a:blip r:embed="rId4"/>
            <a:stretch>
              <a:fillRect/>
            </a:stretch>
          </p:blipFill>
          <p:spPr>
            <a:xfrm>
              <a:off x="1847470" y="2282841"/>
              <a:ext cx="5449060" cy="3105583"/>
            </a:xfrm>
            <a:prstGeom prst="rect">
              <a:avLst/>
            </a:prstGeom>
          </p:spPr>
        </p:pic>
        <p:sp>
          <p:nvSpPr>
            <p:cNvPr id="5" name="Rectángulo 4">
              <a:extLst>
                <a:ext uri="{FF2B5EF4-FFF2-40B4-BE49-F238E27FC236}">
                  <a16:creationId xmlns:a16="http://schemas.microsoft.com/office/drawing/2014/main" id="{DD3C96EE-61E5-0870-945B-B5D556B78F43}"/>
                </a:ext>
              </a:extLst>
            </p:cNvPr>
            <p:cNvSpPr/>
            <p:nvPr/>
          </p:nvSpPr>
          <p:spPr>
            <a:xfrm>
              <a:off x="4763340" y="2040708"/>
              <a:ext cx="1500300"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Amplificación</a:t>
              </a:r>
            </a:p>
          </p:txBody>
        </p:sp>
        <p:sp>
          <p:nvSpPr>
            <p:cNvPr id="6" name="Rectángulo 5">
              <a:extLst>
                <a:ext uri="{FF2B5EF4-FFF2-40B4-BE49-F238E27FC236}">
                  <a16:creationId xmlns:a16="http://schemas.microsoft.com/office/drawing/2014/main" id="{4C40DB22-99FF-B578-2EE3-3A0E90E4B45D}"/>
                </a:ext>
              </a:extLst>
            </p:cNvPr>
            <p:cNvSpPr/>
            <p:nvPr/>
          </p:nvSpPr>
          <p:spPr>
            <a:xfrm>
              <a:off x="2393834" y="2153484"/>
              <a:ext cx="1232763"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Filtro pasa </a:t>
              </a:r>
            </a:p>
            <a:p>
              <a:pPr algn="ctr"/>
              <a:r>
                <a:rPr lang="es-CO" noProof="0" dirty="0">
                  <a:solidFill>
                    <a:schemeClr val="tx1"/>
                  </a:solidFill>
                </a:rPr>
                <a:t>bajos</a:t>
              </a:r>
            </a:p>
          </p:txBody>
        </p:sp>
        <p:sp>
          <p:nvSpPr>
            <p:cNvPr id="7" name="Rectángulo 6">
              <a:extLst>
                <a:ext uri="{FF2B5EF4-FFF2-40B4-BE49-F238E27FC236}">
                  <a16:creationId xmlns:a16="http://schemas.microsoft.com/office/drawing/2014/main" id="{D6416585-A6AA-A04A-AC0E-A680B5A5F7DD}"/>
                </a:ext>
              </a:extLst>
            </p:cNvPr>
            <p:cNvSpPr/>
            <p:nvPr/>
          </p:nvSpPr>
          <p:spPr>
            <a:xfrm>
              <a:off x="3730450" y="2463942"/>
              <a:ext cx="1232763"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Bajas frecuencia</a:t>
              </a:r>
            </a:p>
          </p:txBody>
        </p:sp>
        <p:sp>
          <p:nvSpPr>
            <p:cNvPr id="8" name="Rectángulo 7">
              <a:extLst>
                <a:ext uri="{FF2B5EF4-FFF2-40B4-BE49-F238E27FC236}">
                  <a16:creationId xmlns:a16="http://schemas.microsoft.com/office/drawing/2014/main" id="{9029503C-05AD-1777-BC53-24516E4C4CF1}"/>
                </a:ext>
              </a:extLst>
            </p:cNvPr>
            <p:cNvSpPr/>
            <p:nvPr/>
          </p:nvSpPr>
          <p:spPr>
            <a:xfrm>
              <a:off x="2201638" y="3487490"/>
              <a:ext cx="1232763"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Alta frecuencia</a:t>
              </a:r>
            </a:p>
          </p:txBody>
        </p:sp>
      </p:gr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8B6E2A2-D01C-24BA-1CB9-F81B6728DC9E}"/>
                  </a:ext>
                </a:extLst>
              </p:cNvPr>
              <p:cNvSpPr txBox="1"/>
              <p:nvPr/>
            </p:nvSpPr>
            <p:spPr>
              <a:xfrm>
                <a:off x="6772275" y="1349314"/>
                <a:ext cx="1241237"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𝐺</m:t>
                      </m:r>
                      <m:r>
                        <a:rPr lang="es-ES" b="0" i="1" smtClean="0">
                          <a:latin typeface="Cambria Math" panose="02040503050406030204" pitchFamily="18" charset="0"/>
                        </a:rPr>
                        <m:t>=1+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oMath>
                  </m:oMathPara>
                </a14:m>
                <a:endParaRPr lang="es-CO" dirty="0"/>
              </a:p>
            </p:txBody>
          </p:sp>
        </mc:Choice>
        <mc:Fallback xmlns="">
          <p:sp>
            <p:nvSpPr>
              <p:cNvPr id="9" name="CuadroTexto 8">
                <a:extLst>
                  <a:ext uri="{FF2B5EF4-FFF2-40B4-BE49-F238E27FC236}">
                    <a16:creationId xmlns:a16="http://schemas.microsoft.com/office/drawing/2014/main" id="{58B6E2A2-D01C-24BA-1CB9-F81B6728DC9E}"/>
                  </a:ext>
                </a:extLst>
              </p:cNvPr>
              <p:cNvSpPr txBox="1">
                <a:spLocks noRot="1" noChangeAspect="1" noMove="1" noResize="1" noEditPoints="1" noAdjustHandles="1" noChangeArrowheads="1" noChangeShapeType="1" noTextEdit="1"/>
              </p:cNvSpPr>
              <p:nvPr/>
            </p:nvSpPr>
            <p:spPr>
              <a:xfrm>
                <a:off x="6772275" y="1349314"/>
                <a:ext cx="1241237" cy="518604"/>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E3AA5A7-2DB4-9544-2650-99B20B7D195E}"/>
                  </a:ext>
                </a:extLst>
              </p:cNvPr>
              <p:cNvSpPr txBox="1"/>
              <p:nvPr/>
            </p:nvSpPr>
            <p:spPr>
              <a:xfrm>
                <a:off x="5851403" y="3114498"/>
                <a:ext cx="3140090" cy="871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𝐺𝑉</m:t>
                      </m:r>
                      <m:r>
                        <a:rPr lang="es-ES" b="0" i="1" smtClean="0">
                          <a:latin typeface="Cambria Math" panose="02040503050406030204" pitchFamily="18" charset="0"/>
                        </a:rPr>
                        <m:t>(</m:t>
                      </m:r>
                      <m:r>
                        <a:rPr lang="es-ES" b="0" i="1" smtClean="0">
                          <a:latin typeface="Cambria Math" panose="02040503050406030204" pitchFamily="18" charset="0"/>
                        </a:rPr>
                        <m:t>𝐴𝑣</m:t>
                      </m:r>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𝐴𝑓</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1+(</m:t>
                              </m:r>
                              <m:sSup>
                                <m:sSupPr>
                                  <m:ctrlPr>
                                    <a:rPr lang="es-ES" b="0" i="1" smtClean="0">
                                      <a:latin typeface="Cambria Math" panose="02040503050406030204" pitchFamily="18" charset="0"/>
                                    </a:rPr>
                                  </m:ctrlPr>
                                </m:sSupPr>
                                <m:e>
                                  <m:f>
                                    <m:fPr>
                                      <m:ctrlPr>
                                        <a:rPr lang="es-ES" b="0" i="1" smtClean="0">
                                          <a:latin typeface="Cambria Math" panose="02040503050406030204" pitchFamily="18" charset="0"/>
                                        </a:rPr>
                                      </m:ctrlPr>
                                    </m:fPr>
                                    <m:num>
                                      <m:r>
                                        <a:rPr lang="es-ES" b="0" i="1" smtClean="0">
                                          <a:latin typeface="Cambria Math" panose="02040503050406030204" pitchFamily="18" charset="0"/>
                                        </a:rPr>
                                        <m:t>𝑓</m:t>
                                      </m:r>
                                    </m:num>
                                    <m:den>
                                      <m:r>
                                        <a:rPr lang="es-ES" b="0" i="1" smtClean="0">
                                          <a:latin typeface="Cambria Math" panose="02040503050406030204" pitchFamily="18" charset="0"/>
                                        </a:rPr>
                                        <m:t>𝑓𝑐</m:t>
                                      </m:r>
                                    </m:den>
                                  </m:f>
                                  <m:r>
                                    <a:rPr lang="es-ES" b="0" i="1" smtClean="0">
                                      <a:latin typeface="Cambria Math" panose="02040503050406030204" pitchFamily="18" charset="0"/>
                                    </a:rPr>
                                    <m:t>)</m:t>
                                  </m:r>
                                </m:e>
                                <m:sup>
                                  <m:r>
                                    <a:rPr lang="es-ES" b="0" i="1" smtClean="0">
                                      <a:latin typeface="Cambria Math" panose="02040503050406030204" pitchFamily="18" charset="0"/>
                                    </a:rPr>
                                    <m:t>2</m:t>
                                  </m:r>
                                </m:sup>
                              </m:sSup>
                            </m:e>
                          </m:rad>
                        </m:den>
                      </m:f>
                    </m:oMath>
                  </m:oMathPara>
                </a14:m>
                <a:endParaRPr lang="es-CO" dirty="0"/>
              </a:p>
            </p:txBody>
          </p:sp>
        </mc:Choice>
        <mc:Fallback xmlns="">
          <p:sp>
            <p:nvSpPr>
              <p:cNvPr id="10" name="CuadroTexto 9">
                <a:extLst>
                  <a:ext uri="{FF2B5EF4-FFF2-40B4-BE49-F238E27FC236}">
                    <a16:creationId xmlns:a16="http://schemas.microsoft.com/office/drawing/2014/main" id="{5E3AA5A7-2DB4-9544-2650-99B20B7D195E}"/>
                  </a:ext>
                </a:extLst>
              </p:cNvPr>
              <p:cNvSpPr txBox="1">
                <a:spLocks noRot="1" noChangeAspect="1" noMove="1" noResize="1" noEditPoints="1" noAdjustHandles="1" noChangeArrowheads="1" noChangeShapeType="1" noTextEdit="1"/>
              </p:cNvSpPr>
              <p:nvPr/>
            </p:nvSpPr>
            <p:spPr>
              <a:xfrm>
                <a:off x="5851403" y="3114498"/>
                <a:ext cx="3140090" cy="871136"/>
              </a:xfrm>
              <a:prstGeom prst="rect">
                <a:avLst/>
              </a:prstGeom>
              <a:blipFill>
                <a:blip r:embed="rId6"/>
                <a:stretch>
                  <a:fillRect/>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5233E349-9C39-4859-FC2D-4ED9D4558A6D}"/>
              </a:ext>
            </a:extLst>
          </p:cNvPr>
          <p:cNvSpPr txBox="1"/>
          <p:nvPr/>
        </p:nvSpPr>
        <p:spPr>
          <a:xfrm>
            <a:off x="4390908" y="4830964"/>
            <a:ext cx="5261389" cy="1077218"/>
          </a:xfrm>
          <a:prstGeom prst="rect">
            <a:avLst/>
          </a:prstGeom>
          <a:noFill/>
        </p:spPr>
        <p:txBody>
          <a:bodyPr wrap="square">
            <a:spAutoFit/>
          </a:bodyPr>
          <a:lstStyle/>
          <a:p>
            <a:r>
              <a:rPr lang="es-ES" sz="1600" b="1" dirty="0"/>
              <a:t>Donde</a:t>
            </a:r>
            <a:r>
              <a:rPr lang="es-ES" sz="1600" dirty="0"/>
              <a:t>: </a:t>
            </a:r>
          </a:p>
          <a:p>
            <a:r>
              <a:rPr lang="es-ES" sz="1600" b="1" dirty="0"/>
              <a:t>AF</a:t>
            </a:r>
            <a:r>
              <a:rPr lang="es-ES" sz="1600" dirty="0"/>
              <a:t> = ganancia de banda de paso del filtro, (1 + R2/R1) </a:t>
            </a:r>
          </a:p>
          <a:p>
            <a:r>
              <a:rPr lang="es-ES" sz="1600" b="1" dirty="0"/>
              <a:t>ƒ </a:t>
            </a:r>
            <a:r>
              <a:rPr lang="es-ES" sz="1600" dirty="0"/>
              <a:t>= frecuencia de la señal de entrada en hercios (Hz)</a:t>
            </a:r>
          </a:p>
          <a:p>
            <a:r>
              <a:rPr lang="es-ES" sz="1600" b="1" dirty="0" err="1"/>
              <a:t>ƒc</a:t>
            </a:r>
            <a:r>
              <a:rPr lang="es-ES" sz="1600" dirty="0"/>
              <a:t> = frecuencia de corte en hercios (Hz)</a:t>
            </a:r>
            <a:endParaRPr lang="es-CO" sz="1600" dirty="0"/>
          </a:p>
        </p:txBody>
      </p:sp>
    </p:spTree>
    <p:custDataLst>
      <p:tags r:id="rId1"/>
    </p:custDataLst>
    <p:extLst>
      <p:ext uri="{BB962C8B-B14F-4D97-AF65-F5344CB8AC3E}">
        <p14:creationId xmlns:p14="http://schemas.microsoft.com/office/powerpoint/2010/main" val="951368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31F9-FE9B-F574-E42C-BB85157B8D9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5569B779-B08A-E464-B54F-8DD12CBA7CD5}"/>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E8631F8F-2BD9-0A7D-33C7-D7DC905C8E73}"/>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Ganancia</a:t>
            </a:r>
            <a:endParaRPr lang="en-US" dirty="0"/>
          </a:p>
        </p:txBody>
      </p:sp>
      <p:sp>
        <p:nvSpPr>
          <p:cNvPr id="18" name="Marcador de número de diapositiva 3">
            <a:extLst>
              <a:ext uri="{FF2B5EF4-FFF2-40B4-BE49-F238E27FC236}">
                <a16:creationId xmlns:a16="http://schemas.microsoft.com/office/drawing/2014/main" id="{90FBA94F-AC58-7A8B-E483-5F35043EA8A0}"/>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19" name="Título 1">
            <a:extLst>
              <a:ext uri="{FF2B5EF4-FFF2-40B4-BE49-F238E27FC236}">
                <a16:creationId xmlns:a16="http://schemas.microsoft.com/office/drawing/2014/main" id="{CE666B12-A0E4-0E53-3E56-C8CBB0058E9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4" name="CuadroTexto 3">
            <a:extLst>
              <a:ext uri="{FF2B5EF4-FFF2-40B4-BE49-F238E27FC236}">
                <a16:creationId xmlns:a16="http://schemas.microsoft.com/office/drawing/2014/main" id="{19040661-A377-4164-BB2D-E1CC321D62D8}"/>
              </a:ext>
            </a:extLst>
          </p:cNvPr>
          <p:cNvSpPr txBox="1"/>
          <p:nvPr/>
        </p:nvSpPr>
        <p:spPr>
          <a:xfrm>
            <a:off x="261463" y="1177040"/>
            <a:ext cx="6963796" cy="2800767"/>
          </a:xfrm>
          <a:prstGeom prst="rect">
            <a:avLst/>
          </a:prstGeom>
          <a:noFill/>
        </p:spPr>
        <p:txBody>
          <a:bodyPr wrap="square" lIns="91440" tIns="45720" rIns="91440" bIns="45720" anchor="t">
            <a:spAutoFit/>
          </a:bodyPr>
          <a:lstStyle>
            <a:defPPr>
              <a:defRPr lang="es-ES"/>
            </a:defPPr>
            <a:lvl1pPr marL="285750" indent="-285750">
              <a:buFont typeface="Arial"/>
              <a:buChar char="•"/>
              <a:defRPr sz="1200">
                <a:ea typeface="+mn-lt"/>
                <a:cs typeface="+mn-lt"/>
              </a:defRPr>
            </a:lvl1pPr>
          </a:lstStyle>
          <a:p>
            <a:pPr marL="0" indent="0">
              <a:buNone/>
            </a:pPr>
            <a:r>
              <a:rPr lang="es-ES" sz="1600" dirty="0"/>
              <a:t>Por lo tanto, el funcionamiento de un filtro activo paso bajo se puede verificar a partir de la ecuación de ganancia de frecuencia anterior: </a:t>
            </a:r>
          </a:p>
          <a:p>
            <a:pPr marL="0" indent="0">
              <a:buNone/>
            </a:pPr>
            <a:endParaRPr lang="es-ES" sz="1600" dirty="0"/>
          </a:p>
          <a:p>
            <a:endParaRPr lang="es-ES" sz="1600" dirty="0"/>
          </a:p>
          <a:p>
            <a:r>
              <a:rPr lang="es-ES" sz="1600" dirty="0"/>
              <a:t>1. A frecuencias muy bajas, ƒ &lt; </a:t>
            </a:r>
            <a:r>
              <a:rPr lang="es-ES" sz="1600" dirty="0" err="1"/>
              <a:t>ƒc</a:t>
            </a:r>
            <a:r>
              <a:rPr lang="es-ES" sz="1600" dirty="0"/>
              <a:t>  </a:t>
            </a:r>
          </a:p>
          <a:p>
            <a:endParaRPr lang="es-ES" sz="1600" dirty="0"/>
          </a:p>
          <a:p>
            <a:endParaRPr lang="es-ES" sz="1600" dirty="0"/>
          </a:p>
          <a:p>
            <a:r>
              <a:rPr lang="es-ES" sz="1600" dirty="0"/>
              <a:t>2. A la frecuencia de corte, ƒ = </a:t>
            </a:r>
            <a:r>
              <a:rPr lang="es-ES" sz="1600" dirty="0" err="1"/>
              <a:t>ƒc</a:t>
            </a:r>
            <a:endParaRPr lang="es-ES" sz="1600" dirty="0"/>
          </a:p>
          <a:p>
            <a:endParaRPr lang="es-ES" sz="1600" dirty="0"/>
          </a:p>
          <a:p>
            <a:endParaRPr lang="es-ES" sz="1600" dirty="0"/>
          </a:p>
          <a:p>
            <a:r>
              <a:rPr lang="es-ES" sz="1600" dirty="0"/>
              <a:t>3. A frecuencias muy altas, ƒ &gt; </a:t>
            </a:r>
            <a:r>
              <a:rPr lang="es-ES" sz="1600" dirty="0" err="1"/>
              <a:t>ƒc</a:t>
            </a:r>
            <a:endParaRPr lang="es-CO" sz="1600" dirty="0"/>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0FCDBB5-006B-2F66-D55F-4EC68298E834}"/>
                  </a:ext>
                </a:extLst>
              </p:cNvPr>
              <p:cNvSpPr txBox="1"/>
              <p:nvPr/>
            </p:nvSpPr>
            <p:spPr>
              <a:xfrm>
                <a:off x="3746442" y="2139765"/>
                <a:ext cx="1131272"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m:t>
                      </m:r>
                      <m:r>
                        <a:rPr lang="es-ES" b="0" i="1" smtClean="0">
                          <a:latin typeface="Cambria Math" panose="02040503050406030204" pitchFamily="18" charset="0"/>
                        </a:rPr>
                        <m:t>𝐴𝑓</m:t>
                      </m:r>
                    </m:oMath>
                  </m:oMathPara>
                </a14:m>
                <a:endParaRPr lang="es-CO" dirty="0"/>
              </a:p>
            </p:txBody>
          </p:sp>
        </mc:Choice>
        <mc:Fallback xmlns="">
          <p:sp>
            <p:nvSpPr>
              <p:cNvPr id="5" name="CuadroTexto 4">
                <a:extLst>
                  <a:ext uri="{FF2B5EF4-FFF2-40B4-BE49-F238E27FC236}">
                    <a16:creationId xmlns:a16="http://schemas.microsoft.com/office/drawing/2014/main" id="{40FCDBB5-006B-2F66-D55F-4EC68298E834}"/>
                  </a:ext>
                </a:extLst>
              </p:cNvPr>
              <p:cNvSpPr txBox="1">
                <a:spLocks noRot="1" noChangeAspect="1" noMove="1" noResize="1" noEditPoints="1" noAdjustHandles="1" noChangeArrowheads="1" noChangeShapeType="1" noTextEdit="1"/>
              </p:cNvSpPr>
              <p:nvPr/>
            </p:nvSpPr>
            <p:spPr>
              <a:xfrm>
                <a:off x="3746442" y="2139765"/>
                <a:ext cx="1131272" cy="518604"/>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6C5C2D2-2EAF-4687-3768-9F117613F077}"/>
                  </a:ext>
                </a:extLst>
              </p:cNvPr>
              <p:cNvSpPr txBox="1"/>
              <p:nvPr/>
            </p:nvSpPr>
            <p:spPr>
              <a:xfrm>
                <a:off x="3689664" y="2871203"/>
                <a:ext cx="2376100" cy="578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𝐴𝑓</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2</m:t>
                              </m:r>
                            </m:e>
                          </m:rad>
                        </m:den>
                      </m:f>
                      <m:r>
                        <a:rPr lang="es-ES" b="0" i="1" smtClean="0">
                          <a:latin typeface="Cambria Math" panose="02040503050406030204" pitchFamily="18" charset="0"/>
                        </a:rPr>
                        <m:t>=0.707 </m:t>
                      </m:r>
                      <m:r>
                        <a:rPr lang="es-ES" b="0" i="1" smtClean="0">
                          <a:latin typeface="Cambria Math" panose="02040503050406030204" pitchFamily="18" charset="0"/>
                        </a:rPr>
                        <m:t>𝐴𝑓</m:t>
                      </m:r>
                    </m:oMath>
                  </m:oMathPara>
                </a14:m>
                <a:endParaRPr lang="es-CO" dirty="0"/>
              </a:p>
            </p:txBody>
          </p:sp>
        </mc:Choice>
        <mc:Fallback xmlns="">
          <p:sp>
            <p:nvSpPr>
              <p:cNvPr id="6" name="CuadroTexto 5">
                <a:extLst>
                  <a:ext uri="{FF2B5EF4-FFF2-40B4-BE49-F238E27FC236}">
                    <a16:creationId xmlns:a16="http://schemas.microsoft.com/office/drawing/2014/main" id="{56C5C2D2-2EAF-4687-3768-9F117613F077}"/>
                  </a:ext>
                </a:extLst>
              </p:cNvPr>
              <p:cNvSpPr txBox="1">
                <a:spLocks noRot="1" noChangeAspect="1" noMove="1" noResize="1" noEditPoints="1" noAdjustHandles="1" noChangeArrowheads="1" noChangeShapeType="1" noTextEdit="1"/>
              </p:cNvSpPr>
              <p:nvPr/>
            </p:nvSpPr>
            <p:spPr>
              <a:xfrm>
                <a:off x="3689664" y="2871203"/>
                <a:ext cx="2376100" cy="57842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8C237D82-7365-2AB2-FFCC-13A4B831D2E2}"/>
                  </a:ext>
                </a:extLst>
              </p:cNvPr>
              <p:cNvSpPr txBox="1"/>
              <p:nvPr/>
            </p:nvSpPr>
            <p:spPr>
              <a:xfrm>
                <a:off x="3713062" y="3650713"/>
                <a:ext cx="1355691"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&lt;</m:t>
                      </m:r>
                      <m:r>
                        <a:rPr lang="es-ES" b="0" i="1" smtClean="0">
                          <a:latin typeface="Cambria Math" panose="02040503050406030204" pitchFamily="18" charset="0"/>
                        </a:rPr>
                        <m:t>𝐴𝑓</m:t>
                      </m:r>
                    </m:oMath>
                  </m:oMathPara>
                </a14:m>
                <a:endParaRPr lang="es-CO" dirty="0"/>
              </a:p>
            </p:txBody>
          </p:sp>
        </mc:Choice>
        <mc:Fallback xmlns="">
          <p:sp>
            <p:nvSpPr>
              <p:cNvPr id="7" name="CuadroTexto 6">
                <a:extLst>
                  <a:ext uri="{FF2B5EF4-FFF2-40B4-BE49-F238E27FC236}">
                    <a16:creationId xmlns:a16="http://schemas.microsoft.com/office/drawing/2014/main" id="{8C237D82-7365-2AB2-FFCC-13A4B831D2E2}"/>
                  </a:ext>
                </a:extLst>
              </p:cNvPr>
              <p:cNvSpPr txBox="1">
                <a:spLocks noRot="1" noChangeAspect="1" noMove="1" noResize="1" noEditPoints="1" noAdjustHandles="1" noChangeArrowheads="1" noChangeShapeType="1" noTextEdit="1"/>
              </p:cNvSpPr>
              <p:nvPr/>
            </p:nvSpPr>
            <p:spPr>
              <a:xfrm>
                <a:off x="3713062" y="3650713"/>
                <a:ext cx="1355691" cy="518604"/>
              </a:xfrm>
              <a:prstGeom prst="rect">
                <a:avLst/>
              </a:prstGeom>
              <a:blipFill>
                <a:blip r:embed="rId6"/>
                <a:stretch>
                  <a:fillRect/>
                </a:stretch>
              </a:blipFill>
            </p:spPr>
            <p:txBody>
              <a:bodyPr/>
              <a:lstStyle/>
              <a:p>
                <a:r>
                  <a:rPr lang="es-CO">
                    <a:noFill/>
                  </a:rPr>
                  <a:t> </a:t>
                </a:r>
              </a:p>
            </p:txBody>
          </p:sp>
        </mc:Fallback>
      </mc:AlternateContent>
      <p:sp>
        <p:nvSpPr>
          <p:cNvPr id="9" name="CuadroTexto 8">
            <a:extLst>
              <a:ext uri="{FF2B5EF4-FFF2-40B4-BE49-F238E27FC236}">
                <a16:creationId xmlns:a16="http://schemas.microsoft.com/office/drawing/2014/main" id="{A90C0397-2E2C-E812-9374-27E51C7DA571}"/>
              </a:ext>
            </a:extLst>
          </p:cNvPr>
          <p:cNvSpPr txBox="1"/>
          <p:nvPr/>
        </p:nvSpPr>
        <p:spPr>
          <a:xfrm>
            <a:off x="347934" y="4898051"/>
            <a:ext cx="5498230" cy="461665"/>
          </a:xfrm>
          <a:prstGeom prst="rect">
            <a:avLst/>
          </a:prstGeom>
          <a:noFill/>
        </p:spPr>
        <p:txBody>
          <a:bodyPr wrap="square" lIns="91440" tIns="45720" rIns="91440" bIns="45720" anchor="t">
            <a:spAutoFit/>
          </a:bodyPr>
          <a:lstStyle>
            <a:defPPr>
              <a:defRPr lang="es-ES"/>
            </a:defPPr>
            <a:lvl1pPr marL="285750" indent="-285750">
              <a:buFont typeface="Arial"/>
              <a:buChar char="•"/>
              <a:defRPr sz="1200">
                <a:ea typeface="+mn-lt"/>
                <a:cs typeface="+mn-lt"/>
              </a:defRPr>
            </a:lvl1pPr>
          </a:lstStyle>
          <a:p>
            <a:pPr marL="0" indent="0">
              <a:buNone/>
            </a:pPr>
            <a:r>
              <a:rPr lang="es-ES" dirty="0"/>
              <a:t>En otras palabras, la ganancia disminuye 20 dB (igual a 20log(10)) cada vez que la frecuencia se incrementa en 10.</a:t>
            </a:r>
            <a:endParaRPr lang="es-CO" dirty="0"/>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8B4A374-0873-C46B-83D4-8747780AA89C}"/>
                  </a:ext>
                </a:extLst>
              </p:cNvPr>
              <p:cNvSpPr txBox="1"/>
              <p:nvPr/>
            </p:nvSpPr>
            <p:spPr>
              <a:xfrm>
                <a:off x="5906805" y="4349553"/>
                <a:ext cx="2340769" cy="393441"/>
              </a:xfrm>
              <a:prstGeom prst="rect">
                <a:avLst/>
              </a:prstGeom>
              <a:noFill/>
            </p:spPr>
            <p:txBody>
              <a:bodyPr wrap="none" lIns="0" tIns="0" rIns="0" bIns="0" rtlCol="0">
                <a:spAutoFit/>
              </a:bodyPr>
              <a:lstStyle/>
              <a:p>
                <a:r>
                  <a:rPr lang="es-ES" b="0" dirty="0"/>
                  <a:t>Av</a:t>
                </a:r>
                <a14:m>
                  <m:oMath xmlns:m="http://schemas.openxmlformats.org/officeDocument/2006/math">
                    <m:d>
                      <m:dPr>
                        <m:ctrlPr>
                          <a:rPr lang="es-ES" b="0" i="1" smtClean="0">
                            <a:latin typeface="Cambria Math" panose="02040503050406030204" pitchFamily="18" charset="0"/>
                          </a:rPr>
                        </m:ctrlPr>
                      </m:dPr>
                      <m:e>
                        <m:r>
                          <a:rPr lang="es-ES" b="0" i="1" smtClean="0">
                            <a:latin typeface="Cambria Math" panose="02040503050406030204" pitchFamily="18" charset="0"/>
                          </a:rPr>
                          <m:t>𝑑𝐵</m:t>
                        </m:r>
                      </m:e>
                    </m:d>
                    <m:r>
                      <a:rPr lang="es-ES" b="0" i="1" smtClean="0">
                        <a:latin typeface="Cambria Math" panose="02040503050406030204" pitchFamily="18" charset="0"/>
                      </a:rPr>
                      <m:t>=20</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𝑙𝑜𝑔</m:t>
                        </m:r>
                      </m:e>
                      <m:sub>
                        <m:r>
                          <a:rPr lang="es-ES" b="0" i="1" smtClean="0">
                            <a:latin typeface="Cambria Math" panose="02040503050406030204" pitchFamily="18" charset="0"/>
                          </a:rPr>
                          <m:t>10</m:t>
                        </m:r>
                      </m:sub>
                    </m:sSub>
                    <m:r>
                      <a:rPr lang="es-ES" b="0" i="1" smtClean="0">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𝑉𝑜𝑢𝑡</m:t>
                        </m:r>
                      </m:num>
                      <m:den>
                        <m:r>
                          <a:rPr lang="es-ES" i="1">
                            <a:latin typeface="Cambria Math" panose="02040503050406030204" pitchFamily="18" charset="0"/>
                          </a:rPr>
                          <m:t>𝑉𝑖𝑛</m:t>
                        </m:r>
                      </m:den>
                    </m:f>
                    <m:r>
                      <a:rPr lang="es-ES" i="1">
                        <a:latin typeface="Cambria Math" panose="02040503050406030204" pitchFamily="18" charset="0"/>
                      </a:rPr>
                      <m:t> </m:t>
                    </m:r>
                  </m:oMath>
                </a14:m>
                <a:endParaRPr lang="es-CO" dirty="0"/>
              </a:p>
            </p:txBody>
          </p:sp>
        </mc:Choice>
        <mc:Fallback xmlns="">
          <p:sp>
            <p:nvSpPr>
              <p:cNvPr id="10" name="CuadroTexto 9">
                <a:extLst>
                  <a:ext uri="{FF2B5EF4-FFF2-40B4-BE49-F238E27FC236}">
                    <a16:creationId xmlns:a16="http://schemas.microsoft.com/office/drawing/2014/main" id="{58B4A374-0873-C46B-83D4-8747780AA89C}"/>
                  </a:ext>
                </a:extLst>
              </p:cNvPr>
              <p:cNvSpPr txBox="1">
                <a:spLocks noRot="1" noChangeAspect="1" noMove="1" noResize="1" noEditPoints="1" noAdjustHandles="1" noChangeArrowheads="1" noChangeShapeType="1" noTextEdit="1"/>
              </p:cNvSpPr>
              <p:nvPr/>
            </p:nvSpPr>
            <p:spPr>
              <a:xfrm>
                <a:off x="5906805" y="4349553"/>
                <a:ext cx="2340769" cy="393441"/>
              </a:xfrm>
              <a:prstGeom prst="rect">
                <a:avLst/>
              </a:prstGeom>
              <a:blipFill>
                <a:blip r:embed="rId7"/>
                <a:stretch>
                  <a:fillRect l="-6250" t="-4688" b="-2187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1AEA62D-D3F6-78E2-5F1A-3A9D6F07739E}"/>
                  </a:ext>
                </a:extLst>
              </p:cNvPr>
              <p:cNvSpPr txBox="1"/>
              <p:nvPr/>
            </p:nvSpPr>
            <p:spPr>
              <a:xfrm>
                <a:off x="5906805" y="5330463"/>
                <a:ext cx="3078920" cy="414537"/>
              </a:xfrm>
              <a:prstGeom prst="rect">
                <a:avLst/>
              </a:prstGeom>
              <a:noFill/>
            </p:spPr>
            <p:txBody>
              <a:bodyPr wrap="none" lIns="0" tIns="0" rIns="0" bIns="0" rtlCol="0">
                <a:spAutoFit/>
              </a:bodyPr>
              <a:lstStyle/>
              <a:p>
                <a:r>
                  <a:rPr lang="es-ES" dirty="0"/>
                  <a:t>-3 dB</a:t>
                </a:r>
                <a14:m>
                  <m:oMath xmlns:m="http://schemas.openxmlformats.org/officeDocument/2006/math">
                    <m:r>
                      <a:rPr lang="es-ES" b="0" i="0" smtClean="0">
                        <a:latin typeface="Cambria Math" panose="02040503050406030204" pitchFamily="18" charset="0"/>
                      </a:rPr>
                      <m:t> </m:t>
                    </m:r>
                    <m:r>
                      <a:rPr lang="es-ES" b="0" i="1" smtClean="0">
                        <a:latin typeface="Cambria Math" panose="02040503050406030204" pitchFamily="18" charset="0"/>
                      </a:rPr>
                      <m:t>=20</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𝑙𝑜𝑔</m:t>
                        </m:r>
                      </m:e>
                      <m:sub>
                        <m:r>
                          <a:rPr lang="es-ES" b="0" i="1" smtClean="0">
                            <a:latin typeface="Cambria Math" panose="02040503050406030204" pitchFamily="18" charset="0"/>
                          </a:rPr>
                          <m:t>10</m:t>
                        </m:r>
                      </m:sub>
                    </m:sSub>
                    <m:r>
                      <a:rPr lang="es-ES" b="0" i="1" smtClean="0">
                        <a:latin typeface="Cambria Math" panose="02040503050406030204" pitchFamily="18" charset="0"/>
                      </a:rPr>
                      <m:t>(0.707 </m:t>
                    </m:r>
                    <m:d>
                      <m:dPr>
                        <m:ctrlPr>
                          <a:rPr lang="es-ES" b="0" i="1" smtClean="0">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𝑉𝑜𝑢𝑡</m:t>
                            </m:r>
                          </m:num>
                          <m:den>
                            <m:r>
                              <a:rPr lang="es-ES" i="1">
                                <a:latin typeface="Cambria Math" panose="02040503050406030204" pitchFamily="18" charset="0"/>
                              </a:rPr>
                              <m:t>𝑉𝑖𝑛</m:t>
                            </m:r>
                          </m:den>
                        </m:f>
                      </m:e>
                    </m:d>
                    <m:r>
                      <a:rPr lang="es-ES" b="0" i="1" smtClean="0">
                        <a:latin typeface="Cambria Math" panose="02040503050406030204" pitchFamily="18" charset="0"/>
                      </a:rPr>
                      <m:t>)</m:t>
                    </m:r>
                    <m:r>
                      <a:rPr lang="es-ES" i="1">
                        <a:latin typeface="Cambria Math" panose="02040503050406030204" pitchFamily="18" charset="0"/>
                      </a:rPr>
                      <m:t> </m:t>
                    </m:r>
                  </m:oMath>
                </a14:m>
                <a:endParaRPr lang="es-CO" dirty="0"/>
              </a:p>
            </p:txBody>
          </p:sp>
        </mc:Choice>
        <mc:Fallback xmlns="">
          <p:sp>
            <p:nvSpPr>
              <p:cNvPr id="11" name="CuadroTexto 10">
                <a:extLst>
                  <a:ext uri="{FF2B5EF4-FFF2-40B4-BE49-F238E27FC236}">
                    <a16:creationId xmlns:a16="http://schemas.microsoft.com/office/drawing/2014/main" id="{A1AEA62D-D3F6-78E2-5F1A-3A9D6F07739E}"/>
                  </a:ext>
                </a:extLst>
              </p:cNvPr>
              <p:cNvSpPr txBox="1">
                <a:spLocks noRot="1" noChangeAspect="1" noMove="1" noResize="1" noEditPoints="1" noAdjustHandles="1" noChangeArrowheads="1" noChangeShapeType="1" noTextEdit="1"/>
              </p:cNvSpPr>
              <p:nvPr/>
            </p:nvSpPr>
            <p:spPr>
              <a:xfrm>
                <a:off x="5906805" y="5330463"/>
                <a:ext cx="3078920" cy="414537"/>
              </a:xfrm>
              <a:prstGeom prst="rect">
                <a:avLst/>
              </a:prstGeom>
              <a:blipFill>
                <a:blip r:embed="rId8"/>
                <a:stretch>
                  <a:fillRect l="-4752" t="-1471" r="-1386" b="-19118"/>
                </a:stretch>
              </a:blipFill>
            </p:spPr>
            <p:txBody>
              <a:bodyPr/>
              <a:lstStyle/>
              <a:p>
                <a:r>
                  <a:rPr lang="es-CO">
                    <a:noFill/>
                  </a:rPr>
                  <a:t> </a:t>
                </a:r>
              </a:p>
            </p:txBody>
          </p:sp>
        </mc:Fallback>
      </mc:AlternateContent>
      <p:cxnSp>
        <p:nvCxnSpPr>
          <p:cNvPr id="14" name="Conector recto de flecha 13">
            <a:extLst>
              <a:ext uri="{FF2B5EF4-FFF2-40B4-BE49-F238E27FC236}">
                <a16:creationId xmlns:a16="http://schemas.microsoft.com/office/drawing/2014/main" id="{75EED617-41B3-48DB-4D17-3EE93E966BD2}"/>
              </a:ext>
            </a:extLst>
          </p:cNvPr>
          <p:cNvCxnSpPr/>
          <p:nvPr/>
        </p:nvCxnSpPr>
        <p:spPr>
          <a:xfrm flipV="1">
            <a:off x="5276538" y="4587937"/>
            <a:ext cx="569626" cy="3101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3AB18637-F667-009C-09D9-ADC48EFCBD20}"/>
              </a:ext>
            </a:extLst>
          </p:cNvPr>
          <p:cNvCxnSpPr>
            <a:cxnSpLocks/>
          </p:cNvCxnSpPr>
          <p:nvPr/>
        </p:nvCxnSpPr>
        <p:spPr>
          <a:xfrm>
            <a:off x="5276538" y="5198935"/>
            <a:ext cx="569626" cy="2134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292111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9AD0-3C23-50E3-CA10-C1C91A7FBD8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DE0FB25-83F0-50A1-8E5F-835A2F1C4B63}"/>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E47A6285-C8F4-ACEC-F4AC-30EA7394961B}"/>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Ejemplo</a:t>
            </a:r>
            <a:endParaRPr lang="en-US" dirty="0"/>
          </a:p>
        </p:txBody>
      </p:sp>
      <p:sp>
        <p:nvSpPr>
          <p:cNvPr id="18" name="Marcador de número de diapositiva 3">
            <a:extLst>
              <a:ext uri="{FF2B5EF4-FFF2-40B4-BE49-F238E27FC236}">
                <a16:creationId xmlns:a16="http://schemas.microsoft.com/office/drawing/2014/main" id="{E0200DA0-BB9B-90FB-BBDE-394708DB5F7D}"/>
              </a:ext>
            </a:extLst>
          </p:cNvPr>
          <p:cNvSpPr txBox="1">
            <a:spLocks/>
          </p:cNvSpPr>
          <p:nvPr/>
        </p:nvSpPr>
        <p:spPr>
          <a:xfrm>
            <a:off x="8484433" y="5885920"/>
            <a:ext cx="60924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19" name="Título 1">
            <a:extLst>
              <a:ext uri="{FF2B5EF4-FFF2-40B4-BE49-F238E27FC236}">
                <a16:creationId xmlns:a16="http://schemas.microsoft.com/office/drawing/2014/main" id="{3D29A93A-6129-117C-4957-3BAE762C877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6B7F839D-8D5D-5F85-A1D2-E15E01B162DE}"/>
              </a:ext>
            </a:extLst>
          </p:cNvPr>
          <p:cNvSpPr txBox="1"/>
          <p:nvPr/>
        </p:nvSpPr>
        <p:spPr>
          <a:xfrm>
            <a:off x="1053194" y="111100"/>
            <a:ext cx="7808428" cy="830997"/>
          </a:xfrm>
          <a:prstGeom prst="rect">
            <a:avLst/>
          </a:prstGeom>
          <a:noFill/>
        </p:spPr>
        <p:txBody>
          <a:bodyPr wrap="square" lIns="91440" tIns="45720" rIns="91440" bIns="45720" anchor="t">
            <a:spAutoFit/>
          </a:bodyPr>
          <a:lstStyle/>
          <a:p>
            <a:pPr marL="285750" indent="-285750">
              <a:buFont typeface="Arial"/>
              <a:buChar char="•"/>
            </a:pPr>
            <a:r>
              <a:rPr lang="es-ES" sz="1600" dirty="0"/>
              <a:t>Diseñe un circuito de filtro paso bajo activo no inversor con una ganancia de diez a bajas frecuencias, una frecuencia de corte o de esquina de 159 Hz en altas frecuencias y una impedancia de entrada de 10 </a:t>
            </a:r>
            <a:r>
              <a:rPr lang="es-ES" sz="1600" dirty="0" err="1"/>
              <a:t>kΩ</a:t>
            </a:r>
            <a:endParaRPr lang="es-MX" sz="1600" dirty="0">
              <a:ea typeface="+mn-lt"/>
              <a:cs typeface="+mn-lt"/>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FF8E7B4B-6EA6-2272-B8BE-8E3175A77F20}"/>
                  </a:ext>
                </a:extLst>
              </p:cNvPr>
              <p:cNvSpPr txBox="1"/>
              <p:nvPr/>
            </p:nvSpPr>
            <p:spPr>
              <a:xfrm>
                <a:off x="1207656" y="1553173"/>
                <a:ext cx="1364476"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𝐴𝑓</m:t>
                      </m:r>
                      <m:r>
                        <a:rPr lang="es-ES" b="0" i="1" smtClean="0">
                          <a:latin typeface="Cambria Math" panose="02040503050406030204" pitchFamily="18" charset="0"/>
                        </a:rPr>
                        <m:t>=1+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oMath>
                  </m:oMathPara>
                </a14:m>
                <a:endParaRPr lang="es-CO" dirty="0"/>
              </a:p>
            </p:txBody>
          </p:sp>
        </mc:Choice>
        <mc:Fallback xmlns="">
          <p:sp>
            <p:nvSpPr>
              <p:cNvPr id="2" name="CuadroTexto 1">
                <a:extLst>
                  <a:ext uri="{FF2B5EF4-FFF2-40B4-BE49-F238E27FC236}">
                    <a16:creationId xmlns:a16="http://schemas.microsoft.com/office/drawing/2014/main" id="{FF8E7B4B-6EA6-2272-B8BE-8E3175A77F20}"/>
                  </a:ext>
                </a:extLst>
              </p:cNvPr>
              <p:cNvSpPr txBox="1">
                <a:spLocks noRot="1" noChangeAspect="1" noMove="1" noResize="1" noEditPoints="1" noAdjustHandles="1" noChangeArrowheads="1" noChangeShapeType="1" noTextEdit="1"/>
              </p:cNvSpPr>
              <p:nvPr/>
            </p:nvSpPr>
            <p:spPr>
              <a:xfrm>
                <a:off x="1207656" y="1553173"/>
                <a:ext cx="1364476" cy="518604"/>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88116344-9E8A-A563-179E-144689813AAB}"/>
                  </a:ext>
                </a:extLst>
              </p:cNvPr>
              <p:cNvSpPr txBox="1"/>
              <p:nvPr/>
            </p:nvSpPr>
            <p:spPr>
              <a:xfrm>
                <a:off x="4767929" y="1715156"/>
                <a:ext cx="1841658" cy="276999"/>
              </a:xfrm>
              <a:prstGeom prst="rect">
                <a:avLst/>
              </a:prstGeom>
              <a:noFill/>
            </p:spPr>
            <p:txBody>
              <a:bodyPr wrap="none" lIns="0" tIns="0" rIns="0" bIns="0" rtlCol="0">
                <a:spAutoFit/>
              </a:bodyPr>
              <a:lstStyle/>
              <a:p>
                <a:r>
                  <a:rPr lang="es-ES" b="0" dirty="0"/>
                  <a:t>R2 </a:t>
                </a:r>
                <a14:m>
                  <m:oMath xmlns:m="http://schemas.openxmlformats.org/officeDocument/2006/math">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10−1</m:t>
                        </m:r>
                      </m:e>
                    </m:d>
                    <m:r>
                      <a:rPr lang="es-ES" b="0" i="1" smtClean="0">
                        <a:latin typeface="Cambria Math" panose="02040503050406030204" pitchFamily="18" charset="0"/>
                      </a:rPr>
                      <m:t>𝑥</m:t>
                    </m:r>
                    <m:r>
                      <a:rPr lang="es-ES" b="0" i="1" smtClean="0">
                        <a:latin typeface="Cambria Math" panose="02040503050406030204" pitchFamily="18" charset="0"/>
                      </a:rPr>
                      <m:t> </m:t>
                    </m:r>
                    <m:r>
                      <a:rPr lang="es-ES" b="0" i="1" smtClean="0">
                        <a:latin typeface="Cambria Math" panose="02040503050406030204" pitchFamily="18" charset="0"/>
                      </a:rPr>
                      <m:t>𝑅</m:t>
                    </m:r>
                    <m:r>
                      <a:rPr lang="es-ES" b="0" i="1" smtClean="0">
                        <a:latin typeface="Cambria Math" panose="02040503050406030204" pitchFamily="18" charset="0"/>
                      </a:rPr>
                      <m:t>1</m:t>
                    </m:r>
                  </m:oMath>
                </a14:m>
                <a:endParaRPr lang="es-CO" dirty="0"/>
              </a:p>
            </p:txBody>
          </p:sp>
        </mc:Choice>
        <mc:Fallback xmlns="">
          <p:sp>
            <p:nvSpPr>
              <p:cNvPr id="4" name="CuadroTexto 3">
                <a:extLst>
                  <a:ext uri="{FF2B5EF4-FFF2-40B4-BE49-F238E27FC236}">
                    <a16:creationId xmlns:a16="http://schemas.microsoft.com/office/drawing/2014/main" id="{88116344-9E8A-A563-179E-144689813AAB}"/>
                  </a:ext>
                </a:extLst>
              </p:cNvPr>
              <p:cNvSpPr txBox="1">
                <a:spLocks noRot="1" noChangeAspect="1" noMove="1" noResize="1" noEditPoints="1" noAdjustHandles="1" noChangeArrowheads="1" noChangeShapeType="1" noTextEdit="1"/>
              </p:cNvSpPr>
              <p:nvPr/>
            </p:nvSpPr>
            <p:spPr>
              <a:xfrm>
                <a:off x="4767929" y="1715156"/>
                <a:ext cx="1841658" cy="276999"/>
              </a:xfrm>
              <a:prstGeom prst="rect">
                <a:avLst/>
              </a:prstGeom>
              <a:blipFill>
                <a:blip r:embed="rId5"/>
                <a:stretch>
                  <a:fillRect l="-7616" t="-28261" r="-3642" b="-50000"/>
                </a:stretch>
              </a:blipFill>
            </p:spPr>
            <p:txBody>
              <a:bodyPr/>
              <a:lstStyle/>
              <a:p>
                <a:r>
                  <a:rPr lang="es-CO">
                    <a:noFill/>
                  </a:rPr>
                  <a:t> </a:t>
                </a:r>
              </a:p>
            </p:txBody>
          </p:sp>
        </mc:Fallback>
      </mc:AlternateContent>
      <p:sp>
        <p:nvSpPr>
          <p:cNvPr id="6" name="CuadroTexto 5">
            <a:extLst>
              <a:ext uri="{FF2B5EF4-FFF2-40B4-BE49-F238E27FC236}">
                <a16:creationId xmlns:a16="http://schemas.microsoft.com/office/drawing/2014/main" id="{52580C77-02F6-BDA5-22EA-B45AB8C7689D}"/>
              </a:ext>
            </a:extLst>
          </p:cNvPr>
          <p:cNvSpPr txBox="1"/>
          <p:nvPr/>
        </p:nvSpPr>
        <p:spPr>
          <a:xfrm>
            <a:off x="3229600" y="1192961"/>
            <a:ext cx="5554478" cy="369332"/>
          </a:xfrm>
          <a:prstGeom prst="rect">
            <a:avLst/>
          </a:prstGeom>
          <a:noFill/>
        </p:spPr>
        <p:txBody>
          <a:bodyPr wrap="square">
            <a:spAutoFit/>
          </a:bodyPr>
          <a:lstStyle/>
          <a:p>
            <a:r>
              <a:rPr lang="es-ES" dirty="0"/>
              <a:t>Supongamos que la resistencia </a:t>
            </a:r>
            <a:r>
              <a:rPr lang="es-ES" b="1" dirty="0"/>
              <a:t>R1</a:t>
            </a:r>
            <a:r>
              <a:rPr lang="es-ES" dirty="0"/>
              <a:t> tiene un valor de </a:t>
            </a:r>
            <a:r>
              <a:rPr lang="es-ES" b="1" dirty="0"/>
              <a:t>1 </a:t>
            </a:r>
            <a:r>
              <a:rPr lang="es-ES" b="1" dirty="0" err="1"/>
              <a:t>kΩ</a:t>
            </a:r>
            <a:endParaRPr lang="es-CO" b="1"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ED850CB-744A-2903-E5E0-2360DC30F30F}"/>
                  </a:ext>
                </a:extLst>
              </p:cNvPr>
              <p:cNvSpPr txBox="1"/>
              <p:nvPr/>
            </p:nvSpPr>
            <p:spPr>
              <a:xfrm>
                <a:off x="4794720" y="2223105"/>
                <a:ext cx="966611" cy="276999"/>
              </a:xfrm>
              <a:prstGeom prst="rect">
                <a:avLst/>
              </a:prstGeom>
              <a:noFill/>
            </p:spPr>
            <p:txBody>
              <a:bodyPr wrap="none" lIns="0" tIns="0" rIns="0" bIns="0" rtlCol="0">
                <a:spAutoFit/>
              </a:bodyPr>
              <a:lstStyle/>
              <a:p>
                <a:r>
                  <a:rPr lang="es-ES" b="0" dirty="0"/>
                  <a:t>R2 x R1 </a:t>
                </a:r>
                <a14:m>
                  <m:oMath xmlns:m="http://schemas.openxmlformats.org/officeDocument/2006/math">
                    <m:r>
                      <a:rPr lang="es-ES" b="0" i="1" smtClean="0">
                        <a:latin typeface="Cambria Math" panose="02040503050406030204" pitchFamily="18" charset="0"/>
                      </a:rPr>
                      <m:t>= </m:t>
                    </m:r>
                  </m:oMath>
                </a14:m>
                <a:endParaRPr lang="es-CO" dirty="0"/>
              </a:p>
            </p:txBody>
          </p:sp>
        </mc:Choice>
        <mc:Fallback xmlns="">
          <p:sp>
            <p:nvSpPr>
              <p:cNvPr id="7" name="CuadroTexto 6">
                <a:extLst>
                  <a:ext uri="{FF2B5EF4-FFF2-40B4-BE49-F238E27FC236}">
                    <a16:creationId xmlns:a16="http://schemas.microsoft.com/office/drawing/2014/main" id="{DED850CB-744A-2903-E5E0-2360DC30F30F}"/>
                  </a:ext>
                </a:extLst>
              </p:cNvPr>
              <p:cNvSpPr txBox="1">
                <a:spLocks noRot="1" noChangeAspect="1" noMove="1" noResize="1" noEditPoints="1" noAdjustHandles="1" noChangeArrowheads="1" noChangeShapeType="1" noTextEdit="1"/>
              </p:cNvSpPr>
              <p:nvPr/>
            </p:nvSpPr>
            <p:spPr>
              <a:xfrm>
                <a:off x="4794720" y="2223105"/>
                <a:ext cx="966611" cy="276999"/>
              </a:xfrm>
              <a:prstGeom prst="rect">
                <a:avLst/>
              </a:prstGeom>
              <a:blipFill>
                <a:blip r:embed="rId6"/>
                <a:stretch>
                  <a:fillRect l="-15190" t="-28889" b="-51111"/>
                </a:stretch>
              </a:blipFill>
            </p:spPr>
            <p:txBody>
              <a:bodyPr/>
              <a:lstStyle/>
              <a:p>
                <a:r>
                  <a:rPr lang="es-CO">
                    <a:noFill/>
                  </a:rPr>
                  <a:t> </a:t>
                </a:r>
              </a:p>
            </p:txBody>
          </p:sp>
        </mc:Fallback>
      </mc:AlternateContent>
      <p:sp>
        <p:nvSpPr>
          <p:cNvPr id="9" name="CuadroTexto 8">
            <a:extLst>
              <a:ext uri="{FF2B5EF4-FFF2-40B4-BE49-F238E27FC236}">
                <a16:creationId xmlns:a16="http://schemas.microsoft.com/office/drawing/2014/main" id="{BE764293-2135-582C-5960-24797AB4AD1E}"/>
              </a:ext>
            </a:extLst>
          </p:cNvPr>
          <p:cNvSpPr txBox="1"/>
          <p:nvPr/>
        </p:nvSpPr>
        <p:spPr>
          <a:xfrm>
            <a:off x="510428" y="2590402"/>
            <a:ext cx="8274432" cy="923330"/>
          </a:xfrm>
          <a:prstGeom prst="rect">
            <a:avLst/>
          </a:prstGeom>
          <a:noFill/>
        </p:spPr>
        <p:txBody>
          <a:bodyPr wrap="square">
            <a:spAutoFit/>
          </a:bodyPr>
          <a:lstStyle/>
          <a:p>
            <a:r>
              <a:rPr lang="es-ES" dirty="0"/>
              <a:t>Por lo tanto, para una ganancia de voltaje de 10, R1 = 1 </a:t>
            </a:r>
            <a:r>
              <a:rPr lang="es-ES" dirty="0" err="1"/>
              <a:t>kΩ</a:t>
            </a:r>
            <a:r>
              <a:rPr lang="es-ES" dirty="0"/>
              <a:t> y R2 = x </a:t>
            </a:r>
            <a:r>
              <a:rPr lang="es-ES" dirty="0" err="1"/>
              <a:t>kΩ</a:t>
            </a:r>
            <a:r>
              <a:rPr lang="es-ES" dirty="0"/>
              <a:t>.</a:t>
            </a:r>
          </a:p>
          <a:p>
            <a:r>
              <a:rPr lang="es-ES" dirty="0"/>
              <a:t>Al convertir esta ganancia de voltaje a un valor equivalente en decibelios (dB), obtenemos:</a:t>
            </a:r>
            <a:endParaRPr lang="es-CO" dirty="0"/>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2524712-467F-9E29-88FB-FB8F96B075E1}"/>
                  </a:ext>
                </a:extLst>
              </p:cNvPr>
              <p:cNvSpPr txBox="1"/>
              <p:nvPr/>
            </p:nvSpPr>
            <p:spPr>
              <a:xfrm>
                <a:off x="2685322" y="3513223"/>
                <a:ext cx="4086953" cy="299249"/>
              </a:xfrm>
              <a:prstGeom prst="rect">
                <a:avLst/>
              </a:prstGeom>
              <a:noFill/>
            </p:spPr>
            <p:txBody>
              <a:bodyPr wrap="none" lIns="0" tIns="0" rIns="0" bIns="0" rtlCol="0">
                <a:spAutoFit/>
              </a:bodyPr>
              <a:lstStyle/>
              <a:p>
                <a:r>
                  <a:rPr lang="es-ES" dirty="0"/>
                  <a:t>Ganancia en dB</a:t>
                </a:r>
                <a14:m>
                  <m:oMath xmlns:m="http://schemas.openxmlformats.org/officeDocument/2006/math">
                    <m:r>
                      <a:rPr lang="es-ES" b="0" i="1" smtClean="0">
                        <a:latin typeface="Cambria Math" panose="02040503050406030204" pitchFamily="18" charset="0"/>
                      </a:rPr>
                      <m:t>=20</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𝑙𝑜𝑔</m:t>
                        </m:r>
                      </m:e>
                      <m:sub>
                        <m:r>
                          <a:rPr lang="es-ES" b="0" i="1" smtClean="0">
                            <a:latin typeface="Cambria Math" panose="02040503050406030204" pitchFamily="18" charset="0"/>
                          </a:rPr>
                          <m:t>𝐴𝑓</m:t>
                        </m:r>
                      </m:sub>
                    </m:sSub>
                    <m:r>
                      <a:rPr lang="es-ES" b="0" i="1" smtClean="0">
                        <a:latin typeface="Cambria Math" panose="02040503050406030204" pitchFamily="18" charset="0"/>
                      </a:rPr>
                      <m:t>=</m:t>
                    </m:r>
                    <m:r>
                      <a:rPr lang="es-ES" i="1">
                        <a:latin typeface="Cambria Math" panose="02040503050406030204" pitchFamily="18" charset="0"/>
                      </a:rPr>
                      <m:t>20</m:t>
                    </m:r>
                    <m:sSub>
                      <m:sSubPr>
                        <m:ctrlPr>
                          <a:rPr lang="es-ES" i="1">
                            <a:latin typeface="Cambria Math" panose="02040503050406030204" pitchFamily="18" charset="0"/>
                          </a:rPr>
                        </m:ctrlPr>
                      </m:sSubPr>
                      <m:e>
                        <m:r>
                          <a:rPr lang="es-ES" i="1">
                            <a:latin typeface="Cambria Math" panose="02040503050406030204" pitchFamily="18" charset="0"/>
                          </a:rPr>
                          <m:t>𝑙𝑜𝑔</m:t>
                        </m:r>
                      </m:e>
                      <m:sub>
                        <m:r>
                          <a:rPr lang="es-ES" b="0" i="1" smtClean="0">
                            <a:latin typeface="Cambria Math" panose="02040503050406030204" pitchFamily="18" charset="0"/>
                          </a:rPr>
                          <m:t>10</m:t>
                        </m:r>
                      </m:sub>
                    </m:sSub>
                    <m:r>
                      <a:rPr lang="es-ES" b="0" i="1" smtClean="0">
                        <a:latin typeface="Cambria Math" panose="02040503050406030204" pitchFamily="18" charset="0"/>
                      </a:rPr>
                      <m:t>=</m:t>
                    </m:r>
                  </m:oMath>
                </a14:m>
                <a:r>
                  <a:rPr lang="es-CO" dirty="0"/>
                  <a:t> xx</a:t>
                </a:r>
              </a:p>
            </p:txBody>
          </p:sp>
        </mc:Choice>
        <mc:Fallback xmlns="">
          <p:sp>
            <p:nvSpPr>
              <p:cNvPr id="13" name="CuadroTexto 12">
                <a:extLst>
                  <a:ext uri="{FF2B5EF4-FFF2-40B4-BE49-F238E27FC236}">
                    <a16:creationId xmlns:a16="http://schemas.microsoft.com/office/drawing/2014/main" id="{D2524712-467F-9E29-88FB-FB8F96B075E1}"/>
                  </a:ext>
                </a:extLst>
              </p:cNvPr>
              <p:cNvSpPr txBox="1">
                <a:spLocks noRot="1" noChangeAspect="1" noMove="1" noResize="1" noEditPoints="1" noAdjustHandles="1" noChangeArrowheads="1" noChangeShapeType="1" noTextEdit="1"/>
              </p:cNvSpPr>
              <p:nvPr/>
            </p:nvSpPr>
            <p:spPr>
              <a:xfrm>
                <a:off x="2685322" y="3513223"/>
                <a:ext cx="4086953" cy="299249"/>
              </a:xfrm>
              <a:prstGeom prst="rect">
                <a:avLst/>
              </a:prstGeom>
              <a:blipFill>
                <a:blip r:embed="rId7"/>
                <a:stretch>
                  <a:fillRect l="-3582" t="-24490" r="-2537" b="-42857"/>
                </a:stretch>
              </a:blipFill>
            </p:spPr>
            <p:txBody>
              <a:bodyPr/>
              <a:lstStyle/>
              <a:p>
                <a:r>
                  <a:rPr lang="es-CO">
                    <a:noFill/>
                  </a:rPr>
                  <a:t> </a:t>
                </a:r>
              </a:p>
            </p:txBody>
          </p:sp>
        </mc:Fallback>
      </mc:AlternateContent>
      <p:sp>
        <p:nvSpPr>
          <p:cNvPr id="15" name="CuadroTexto 14">
            <a:extLst>
              <a:ext uri="{FF2B5EF4-FFF2-40B4-BE49-F238E27FC236}">
                <a16:creationId xmlns:a16="http://schemas.microsoft.com/office/drawing/2014/main" id="{844FE747-0443-182B-E2F6-49EE2CD75B09}"/>
              </a:ext>
            </a:extLst>
          </p:cNvPr>
          <p:cNvSpPr txBox="1"/>
          <p:nvPr/>
        </p:nvSpPr>
        <p:spPr>
          <a:xfrm>
            <a:off x="436828" y="4009599"/>
            <a:ext cx="8210384" cy="646331"/>
          </a:xfrm>
          <a:prstGeom prst="rect">
            <a:avLst/>
          </a:prstGeom>
          <a:noFill/>
        </p:spPr>
        <p:txBody>
          <a:bodyPr wrap="square">
            <a:spAutoFit/>
          </a:bodyPr>
          <a:lstStyle/>
          <a:p>
            <a:r>
              <a:rPr lang="es-ES" dirty="0"/>
              <a:t>La frecuencia de corte (</a:t>
            </a:r>
            <a:r>
              <a:rPr lang="es-ES" dirty="0" err="1"/>
              <a:t>ƒc</a:t>
            </a:r>
            <a:r>
              <a:rPr lang="es-ES" dirty="0"/>
              <a:t>) es de 159 Hz con una impedancia de entrada de 10 </a:t>
            </a:r>
            <a:r>
              <a:rPr lang="es-ES" dirty="0" err="1"/>
              <a:t>kΩ</a:t>
            </a:r>
            <a:r>
              <a:rPr lang="es-ES" dirty="0"/>
              <a:t>. Esta frecuencia de corte se puede obtener mediante la fórmula:</a:t>
            </a:r>
            <a:endParaRPr lang="es-CO" dirty="0"/>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41C8065D-0CE0-9469-E0B0-4E53F9E23B9E}"/>
                  </a:ext>
                </a:extLst>
              </p:cNvPr>
              <p:cNvSpPr txBox="1"/>
              <p:nvPr/>
            </p:nvSpPr>
            <p:spPr>
              <a:xfrm>
                <a:off x="753291" y="5019505"/>
                <a:ext cx="1622218" cy="392928"/>
              </a:xfrm>
              <a:prstGeom prst="rect">
                <a:avLst/>
              </a:prstGeom>
              <a:noFill/>
            </p:spPr>
            <p:txBody>
              <a:bodyPr wrap="square" lIns="0" tIns="0" rIns="0" bIns="0" rtlCol="0">
                <a:spAutoFit/>
              </a:bodyPr>
              <a:lstStyle/>
              <a:p>
                <a:r>
                  <a:rPr lang="es-ES" b="0" dirty="0"/>
                  <a:t>Fc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𝑅𝐶</m:t>
                        </m:r>
                      </m:den>
                    </m:f>
                  </m:oMath>
                </a14:m>
                <a:endParaRPr lang="es-CO" dirty="0"/>
              </a:p>
            </p:txBody>
          </p:sp>
        </mc:Choice>
        <mc:Fallback xmlns="">
          <p:sp>
            <p:nvSpPr>
              <p:cNvPr id="16" name="CuadroTexto 15">
                <a:extLst>
                  <a:ext uri="{FF2B5EF4-FFF2-40B4-BE49-F238E27FC236}">
                    <a16:creationId xmlns:a16="http://schemas.microsoft.com/office/drawing/2014/main" id="{41C8065D-0CE0-9469-E0B0-4E53F9E23B9E}"/>
                  </a:ext>
                </a:extLst>
              </p:cNvPr>
              <p:cNvSpPr txBox="1">
                <a:spLocks noRot="1" noChangeAspect="1" noMove="1" noResize="1" noEditPoints="1" noAdjustHandles="1" noChangeArrowheads="1" noChangeShapeType="1" noTextEdit="1"/>
              </p:cNvSpPr>
              <p:nvPr/>
            </p:nvSpPr>
            <p:spPr>
              <a:xfrm>
                <a:off x="753291" y="5019505"/>
                <a:ext cx="1622218" cy="392928"/>
              </a:xfrm>
              <a:prstGeom prst="rect">
                <a:avLst/>
              </a:prstGeom>
              <a:blipFill>
                <a:blip r:embed="rId8"/>
                <a:stretch>
                  <a:fillRect l="-9023" t="-4615" b="-21538"/>
                </a:stretch>
              </a:blipFill>
            </p:spPr>
            <p:txBody>
              <a:bodyPr/>
              <a:lstStyle/>
              <a:p>
                <a:r>
                  <a:rPr lang="es-CO">
                    <a:noFill/>
                  </a:rPr>
                  <a:t> </a:t>
                </a:r>
              </a:p>
            </p:txBody>
          </p:sp>
        </mc:Fallback>
      </mc:AlternateContent>
      <p:sp>
        <p:nvSpPr>
          <p:cNvPr id="21" name="Flecha: a la derecha 20">
            <a:extLst>
              <a:ext uri="{FF2B5EF4-FFF2-40B4-BE49-F238E27FC236}">
                <a16:creationId xmlns:a16="http://schemas.microsoft.com/office/drawing/2014/main" id="{CC806EA7-94C7-16E1-DA2C-8BF36865FD19}"/>
              </a:ext>
            </a:extLst>
          </p:cNvPr>
          <p:cNvSpPr/>
          <p:nvPr/>
        </p:nvSpPr>
        <p:spPr>
          <a:xfrm>
            <a:off x="1967712" y="4978663"/>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5FA00F1-F1A8-4F6A-ED19-05CC82293199}"/>
                  </a:ext>
                </a:extLst>
              </p:cNvPr>
              <p:cNvSpPr txBox="1"/>
              <p:nvPr/>
            </p:nvSpPr>
            <p:spPr>
              <a:xfrm>
                <a:off x="2778821" y="4998430"/>
                <a:ext cx="1622218" cy="392928"/>
              </a:xfrm>
              <a:prstGeom prst="rect">
                <a:avLst/>
              </a:prstGeom>
              <a:noFill/>
            </p:spPr>
            <p:txBody>
              <a:bodyPr wrap="square" lIns="0" tIns="0" rIns="0" bIns="0" rtlCol="0">
                <a:spAutoFit/>
              </a:bodyPr>
              <a:lstStyle/>
              <a:p>
                <a:r>
                  <a:rPr lang="es-ES" dirty="0"/>
                  <a:t>C</a:t>
                </a:r>
                <a:r>
                  <a:rPr lang="es-ES" b="0" dirty="0"/>
                  <a:t>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𝐹𝑐𝑅</m:t>
                        </m:r>
                      </m:den>
                    </m:f>
                  </m:oMath>
                </a14:m>
                <a:endParaRPr lang="es-CO" dirty="0"/>
              </a:p>
            </p:txBody>
          </p:sp>
        </mc:Choice>
        <mc:Fallback xmlns="">
          <p:sp>
            <p:nvSpPr>
              <p:cNvPr id="22" name="CuadroTexto 21">
                <a:extLst>
                  <a:ext uri="{FF2B5EF4-FFF2-40B4-BE49-F238E27FC236}">
                    <a16:creationId xmlns:a16="http://schemas.microsoft.com/office/drawing/2014/main" id="{15FA00F1-F1A8-4F6A-ED19-05CC82293199}"/>
                  </a:ext>
                </a:extLst>
              </p:cNvPr>
              <p:cNvSpPr txBox="1">
                <a:spLocks noRot="1" noChangeAspect="1" noMove="1" noResize="1" noEditPoints="1" noAdjustHandles="1" noChangeArrowheads="1" noChangeShapeType="1" noTextEdit="1"/>
              </p:cNvSpPr>
              <p:nvPr/>
            </p:nvSpPr>
            <p:spPr>
              <a:xfrm>
                <a:off x="2778821" y="4998430"/>
                <a:ext cx="1622218" cy="392928"/>
              </a:xfrm>
              <a:prstGeom prst="rect">
                <a:avLst/>
              </a:prstGeom>
              <a:blipFill>
                <a:blip r:embed="rId9"/>
                <a:stretch>
                  <a:fillRect l="-9023" t="-4688" b="-21875"/>
                </a:stretch>
              </a:blipFill>
            </p:spPr>
            <p:txBody>
              <a:bodyPr/>
              <a:lstStyle/>
              <a:p>
                <a:r>
                  <a:rPr lang="es-CO">
                    <a:noFill/>
                  </a:rPr>
                  <a:t> </a:t>
                </a:r>
              </a:p>
            </p:txBody>
          </p:sp>
        </mc:Fallback>
      </mc:AlternateContent>
      <p:sp>
        <p:nvSpPr>
          <p:cNvPr id="23" name="Flecha: a la derecha 22">
            <a:extLst>
              <a:ext uri="{FF2B5EF4-FFF2-40B4-BE49-F238E27FC236}">
                <a16:creationId xmlns:a16="http://schemas.microsoft.com/office/drawing/2014/main" id="{C5724235-5DF6-508C-A3CB-774C4ECBC87F}"/>
              </a:ext>
            </a:extLst>
          </p:cNvPr>
          <p:cNvSpPr/>
          <p:nvPr/>
        </p:nvSpPr>
        <p:spPr>
          <a:xfrm>
            <a:off x="4078230" y="4983586"/>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C59B56B7-538D-2299-0355-ACBDCD46E932}"/>
                  </a:ext>
                </a:extLst>
              </p:cNvPr>
              <p:cNvSpPr txBox="1"/>
              <p:nvPr/>
            </p:nvSpPr>
            <p:spPr>
              <a:xfrm>
                <a:off x="4987368" y="4998429"/>
                <a:ext cx="2188919" cy="392864"/>
              </a:xfrm>
              <a:prstGeom prst="rect">
                <a:avLst/>
              </a:prstGeom>
              <a:noFill/>
            </p:spPr>
            <p:txBody>
              <a:bodyPr wrap="square" lIns="0" tIns="0" rIns="0" bIns="0" rtlCol="0">
                <a:spAutoFit/>
              </a:bodyPr>
              <a:lstStyle/>
              <a:p>
                <a:r>
                  <a:rPr lang="es-ES" dirty="0"/>
                  <a:t>C</a:t>
                </a:r>
                <a:r>
                  <a:rPr lang="es-ES" b="0" dirty="0"/>
                  <a:t>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159 </m:t>
                        </m:r>
                        <m:r>
                          <a:rPr lang="es-ES" b="0" i="1" smtClean="0">
                            <a:latin typeface="Cambria Math" panose="02040503050406030204" pitchFamily="18" charset="0"/>
                            <a:ea typeface="Cambria Math" panose="02040503050406030204" pitchFamily="18" charset="0"/>
                          </a:rPr>
                          <m:t>h𝑧</m:t>
                        </m:r>
                        <m:r>
                          <a:rPr lang="es-ES" b="0" i="1" smtClean="0">
                            <a:latin typeface="Cambria Math" panose="02040503050406030204" pitchFamily="18" charset="0"/>
                            <a:ea typeface="Cambria Math" panose="02040503050406030204" pitchFamily="18" charset="0"/>
                          </a:rPr>
                          <m:t>10</m:t>
                        </m:r>
                        <m:r>
                          <a:rPr lang="es-ES" b="0" i="1" smtClean="0">
                            <a:latin typeface="Cambria Math" panose="02040503050406030204" pitchFamily="18" charset="0"/>
                            <a:ea typeface="Cambria Math" panose="02040503050406030204" pitchFamily="18" charset="0"/>
                          </a:rPr>
                          <m:t>𝑘</m:t>
                        </m:r>
                        <m:r>
                          <m:rPr>
                            <m:sty m:val="p"/>
                          </m:rPr>
                          <a:rPr lang="el-GR" b="0" i="1" smtClean="0">
                            <a:latin typeface="Cambria Math" panose="02040503050406030204" pitchFamily="18" charset="0"/>
                            <a:ea typeface="Cambria Math" panose="02040503050406030204" pitchFamily="18" charset="0"/>
                          </a:rPr>
                          <m:t>Ω</m:t>
                        </m:r>
                      </m:den>
                    </m:f>
                    <m:r>
                      <a:rPr lang="es-ES" b="0" i="1" smtClean="0">
                        <a:latin typeface="Cambria Math" panose="02040503050406030204" pitchFamily="18" charset="0"/>
                      </a:rPr>
                      <m:t>=</m:t>
                    </m:r>
                  </m:oMath>
                </a14:m>
                <a:endParaRPr lang="es-CO" dirty="0"/>
              </a:p>
            </p:txBody>
          </p:sp>
        </mc:Choice>
        <mc:Fallback xmlns="">
          <p:sp>
            <p:nvSpPr>
              <p:cNvPr id="24" name="CuadroTexto 23">
                <a:extLst>
                  <a:ext uri="{FF2B5EF4-FFF2-40B4-BE49-F238E27FC236}">
                    <a16:creationId xmlns:a16="http://schemas.microsoft.com/office/drawing/2014/main" id="{C59B56B7-538D-2299-0355-ACBDCD46E932}"/>
                  </a:ext>
                </a:extLst>
              </p:cNvPr>
              <p:cNvSpPr txBox="1">
                <a:spLocks noRot="1" noChangeAspect="1" noMove="1" noResize="1" noEditPoints="1" noAdjustHandles="1" noChangeArrowheads="1" noChangeShapeType="1" noTextEdit="1"/>
              </p:cNvSpPr>
              <p:nvPr/>
            </p:nvSpPr>
            <p:spPr>
              <a:xfrm>
                <a:off x="4987368" y="4998429"/>
                <a:ext cx="2188919" cy="392864"/>
              </a:xfrm>
              <a:prstGeom prst="rect">
                <a:avLst/>
              </a:prstGeom>
              <a:blipFill>
                <a:blip r:embed="rId10"/>
                <a:stretch>
                  <a:fillRect l="-6407" t="-4688" b="-21875"/>
                </a:stretch>
              </a:blipFill>
            </p:spPr>
            <p:txBody>
              <a:bodyPr/>
              <a:lstStyle/>
              <a:p>
                <a:r>
                  <a:rPr lang="es-CO">
                    <a:noFill/>
                  </a:rPr>
                  <a:t> </a:t>
                </a:r>
              </a:p>
            </p:txBody>
          </p:sp>
        </mc:Fallback>
      </mc:AlternateContent>
      <p:sp>
        <p:nvSpPr>
          <p:cNvPr id="25" name="CuadroTexto 24">
            <a:extLst>
              <a:ext uri="{FF2B5EF4-FFF2-40B4-BE49-F238E27FC236}">
                <a16:creationId xmlns:a16="http://schemas.microsoft.com/office/drawing/2014/main" id="{E81D59F4-D499-1440-08BA-0F82DA22C30E}"/>
              </a:ext>
            </a:extLst>
          </p:cNvPr>
          <p:cNvSpPr txBox="1"/>
          <p:nvPr/>
        </p:nvSpPr>
        <p:spPr>
          <a:xfrm>
            <a:off x="7084862" y="4871695"/>
            <a:ext cx="2008820" cy="646331"/>
          </a:xfrm>
          <a:prstGeom prst="rect">
            <a:avLst/>
          </a:prstGeom>
          <a:noFill/>
        </p:spPr>
        <p:txBody>
          <a:bodyPr wrap="none" rtlCol="0">
            <a:spAutoFit/>
          </a:bodyPr>
          <a:lstStyle/>
          <a:p>
            <a:r>
              <a:rPr lang="es-ES" dirty="0"/>
              <a:t>Circuito electrónico</a:t>
            </a:r>
          </a:p>
          <a:p>
            <a:r>
              <a:rPr lang="es-ES" dirty="0"/>
              <a:t>Diagrama bode</a:t>
            </a:r>
            <a:endParaRPr lang="es-CO" dirty="0"/>
          </a:p>
        </p:txBody>
      </p:sp>
    </p:spTree>
    <p:custDataLst>
      <p:tags r:id="rId1"/>
    </p:custDataLst>
    <p:extLst>
      <p:ext uri="{BB962C8B-B14F-4D97-AF65-F5344CB8AC3E}">
        <p14:creationId xmlns:p14="http://schemas.microsoft.com/office/powerpoint/2010/main" val="1775550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DF50B-187D-A0E1-57E9-4032B43B93E2}"/>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592B3F9-908A-B68D-5A3E-4C536B9F30E1}"/>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7FC9CB4B-6450-59BB-D828-5C0A44B9B571}"/>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Filtro pasa alto</a:t>
            </a:r>
            <a:endParaRPr lang="en-US" dirty="0"/>
          </a:p>
        </p:txBody>
      </p:sp>
      <p:sp>
        <p:nvSpPr>
          <p:cNvPr id="18" name="Marcador de número de diapositiva 3">
            <a:extLst>
              <a:ext uri="{FF2B5EF4-FFF2-40B4-BE49-F238E27FC236}">
                <a16:creationId xmlns:a16="http://schemas.microsoft.com/office/drawing/2014/main" id="{68D70BCF-5004-7F91-6755-FB455D3FD00E}"/>
              </a:ext>
            </a:extLst>
          </p:cNvPr>
          <p:cNvSpPr txBox="1">
            <a:spLocks/>
          </p:cNvSpPr>
          <p:nvPr/>
        </p:nvSpPr>
        <p:spPr>
          <a:xfrm>
            <a:off x="8499423" y="5885920"/>
            <a:ext cx="59425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19" name="Título 1">
            <a:extLst>
              <a:ext uri="{FF2B5EF4-FFF2-40B4-BE49-F238E27FC236}">
                <a16:creationId xmlns:a16="http://schemas.microsoft.com/office/drawing/2014/main" id="{090BA7D0-773F-DD2F-6B6D-78BF3460CC9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A8648BFF-3F63-ABAB-D24A-AC0CD1555EDB}"/>
              </a:ext>
            </a:extLst>
          </p:cNvPr>
          <p:cNvSpPr txBox="1"/>
          <p:nvPr/>
        </p:nvSpPr>
        <p:spPr>
          <a:xfrm>
            <a:off x="46418" y="545619"/>
            <a:ext cx="8572926" cy="738664"/>
          </a:xfrm>
          <a:prstGeom prst="rect">
            <a:avLst/>
          </a:prstGeom>
          <a:noFill/>
        </p:spPr>
        <p:txBody>
          <a:bodyPr wrap="square" lIns="91440" tIns="45720" rIns="91440" bIns="45720" anchor="t">
            <a:spAutoFit/>
          </a:bodyPr>
          <a:lstStyle/>
          <a:p>
            <a:pPr marL="285750" indent="-285750">
              <a:buFont typeface="Arial"/>
              <a:buChar char="•"/>
            </a:pPr>
            <a:r>
              <a:rPr lang="es-ES" sz="1400" dirty="0"/>
              <a:t>El funcionamiento básico de un filtro paso alto activo (HPF) es el mismo que el de su circuito equivalente de filtro paso alto pasivo RC, excepto que, en este caso, el circuito incluye un amplificador operacional que proporciona amplificación y control de ganancia</a:t>
            </a:r>
            <a:endParaRPr lang="es-MX" sz="1400" dirty="0">
              <a:ea typeface="+mn-lt"/>
              <a:cs typeface="+mn-lt"/>
            </a:endParaRPr>
          </a:p>
        </p:txBody>
      </p:sp>
      <p:grpSp>
        <p:nvGrpSpPr>
          <p:cNvPr id="7" name="Grupo 6">
            <a:extLst>
              <a:ext uri="{FF2B5EF4-FFF2-40B4-BE49-F238E27FC236}">
                <a16:creationId xmlns:a16="http://schemas.microsoft.com/office/drawing/2014/main" id="{E06D1C34-8BC2-980C-018B-A9EE3E64DCFC}"/>
              </a:ext>
            </a:extLst>
          </p:cNvPr>
          <p:cNvGrpSpPr/>
          <p:nvPr/>
        </p:nvGrpSpPr>
        <p:grpSpPr>
          <a:xfrm>
            <a:off x="1543987" y="1939289"/>
            <a:ext cx="5695078" cy="3359800"/>
            <a:chOff x="1543987" y="1939289"/>
            <a:chExt cx="5695078" cy="3359800"/>
          </a:xfrm>
        </p:grpSpPr>
        <p:pic>
          <p:nvPicPr>
            <p:cNvPr id="4" name="Imagen 3">
              <a:extLst>
                <a:ext uri="{FF2B5EF4-FFF2-40B4-BE49-F238E27FC236}">
                  <a16:creationId xmlns:a16="http://schemas.microsoft.com/office/drawing/2014/main" id="{A700F1BF-679D-B756-8E64-13E2AF2240F9}"/>
                </a:ext>
              </a:extLst>
            </p:cNvPr>
            <p:cNvPicPr>
              <a:picLocks noChangeAspect="1"/>
            </p:cNvPicPr>
            <p:nvPr/>
          </p:nvPicPr>
          <p:blipFill>
            <a:blip r:embed="rId4"/>
            <a:stretch>
              <a:fillRect/>
            </a:stretch>
          </p:blipFill>
          <p:spPr>
            <a:xfrm>
              <a:off x="1543987" y="2438838"/>
              <a:ext cx="5695078" cy="2860251"/>
            </a:xfrm>
            <a:prstGeom prst="rect">
              <a:avLst/>
            </a:prstGeom>
          </p:spPr>
        </p:pic>
        <p:sp>
          <p:nvSpPr>
            <p:cNvPr id="5" name="Rectángulo 4">
              <a:extLst>
                <a:ext uri="{FF2B5EF4-FFF2-40B4-BE49-F238E27FC236}">
                  <a16:creationId xmlns:a16="http://schemas.microsoft.com/office/drawing/2014/main" id="{19E86838-7371-7FF2-EDEC-8CB645EE726A}"/>
                </a:ext>
              </a:extLst>
            </p:cNvPr>
            <p:cNvSpPr/>
            <p:nvPr/>
          </p:nvSpPr>
          <p:spPr>
            <a:xfrm>
              <a:off x="1866522" y="1939289"/>
              <a:ext cx="2000244"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solidFill>
                    <a:schemeClr val="tx1"/>
                  </a:solidFill>
                </a:rPr>
                <a:t>Filtro</a:t>
              </a:r>
              <a:r>
                <a:rPr lang="en-US" dirty="0">
                  <a:solidFill>
                    <a:schemeClr val="tx1"/>
                  </a:solidFill>
                </a:rPr>
                <a:t> </a:t>
              </a:r>
              <a:r>
                <a:rPr lang="en-US" dirty="0" err="1">
                  <a:solidFill>
                    <a:schemeClr val="tx1"/>
                  </a:solidFill>
                </a:rPr>
                <a:t>pasa</a:t>
              </a:r>
              <a:r>
                <a:rPr lang="en-US" dirty="0">
                  <a:solidFill>
                    <a:schemeClr val="tx1"/>
                  </a:solidFill>
                </a:rPr>
                <a:t> altos</a:t>
              </a:r>
              <a:endParaRPr lang="es-CO" dirty="0">
                <a:solidFill>
                  <a:schemeClr val="tx1"/>
                </a:solidFill>
              </a:endParaRPr>
            </a:p>
          </p:txBody>
        </p:sp>
        <p:sp>
          <p:nvSpPr>
            <p:cNvPr id="6" name="Rectángulo 5">
              <a:extLst>
                <a:ext uri="{FF2B5EF4-FFF2-40B4-BE49-F238E27FC236}">
                  <a16:creationId xmlns:a16="http://schemas.microsoft.com/office/drawing/2014/main" id="{63B220F1-2957-8A55-C2C0-309DB986C007}"/>
                </a:ext>
              </a:extLst>
            </p:cNvPr>
            <p:cNvSpPr/>
            <p:nvPr/>
          </p:nvSpPr>
          <p:spPr>
            <a:xfrm>
              <a:off x="4772021" y="1939289"/>
              <a:ext cx="1600200"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a:solidFill>
                    <a:schemeClr val="tx1"/>
                  </a:solidFill>
                </a:rPr>
                <a:t>Amplificador</a:t>
              </a:r>
              <a:r>
                <a:rPr lang="en-US" dirty="0">
                  <a:solidFill>
                    <a:schemeClr val="tx1"/>
                  </a:solidFill>
                </a:rPr>
                <a:t> no </a:t>
              </a:r>
              <a:r>
                <a:rPr lang="en-US" dirty="0" err="1">
                  <a:solidFill>
                    <a:schemeClr val="tx1"/>
                  </a:solidFill>
                </a:rPr>
                <a:t>inversor</a:t>
              </a:r>
              <a:endParaRPr lang="es-CO" dirty="0">
                <a:solidFill>
                  <a:schemeClr val="tx1"/>
                </a:solidFill>
              </a:endParaRPr>
            </a:p>
          </p:txBody>
        </p:sp>
      </p:grpSp>
    </p:spTree>
    <p:custDataLst>
      <p:tags r:id="rId1"/>
    </p:custDataLst>
    <p:extLst>
      <p:ext uri="{BB962C8B-B14F-4D97-AF65-F5344CB8AC3E}">
        <p14:creationId xmlns:p14="http://schemas.microsoft.com/office/powerpoint/2010/main" val="826369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EF494-3ABC-E47B-1836-3C16835449D5}"/>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AA38B18B-C351-CC61-0708-8705803EBEF2}"/>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C6555545-0C5C-2BC4-2F83-C15609DCE4E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Filtro pasa altas con amplificación</a:t>
            </a:r>
            <a:endParaRPr lang="en-US" dirty="0"/>
          </a:p>
        </p:txBody>
      </p:sp>
      <p:sp>
        <p:nvSpPr>
          <p:cNvPr id="18" name="Marcador de número de diapositiva 3">
            <a:extLst>
              <a:ext uri="{FF2B5EF4-FFF2-40B4-BE49-F238E27FC236}">
                <a16:creationId xmlns:a16="http://schemas.microsoft.com/office/drawing/2014/main" id="{2E2F2927-CD10-1570-F2FE-E9F0BD4C4F05}"/>
              </a:ext>
            </a:extLst>
          </p:cNvPr>
          <p:cNvSpPr txBox="1">
            <a:spLocks/>
          </p:cNvSpPr>
          <p:nvPr/>
        </p:nvSpPr>
        <p:spPr>
          <a:xfrm>
            <a:off x="8619344" y="5885920"/>
            <a:ext cx="47433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19" name="Título 1">
            <a:extLst>
              <a:ext uri="{FF2B5EF4-FFF2-40B4-BE49-F238E27FC236}">
                <a16:creationId xmlns:a16="http://schemas.microsoft.com/office/drawing/2014/main" id="{D48ABBA4-67F8-93EA-79EE-87C94844568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E1297FFE-87D8-FA06-783B-407451BCC69B}"/>
              </a:ext>
            </a:extLst>
          </p:cNvPr>
          <p:cNvSpPr txBox="1"/>
          <p:nvPr/>
        </p:nvSpPr>
        <p:spPr>
          <a:xfrm>
            <a:off x="46418" y="545619"/>
            <a:ext cx="8303103" cy="523220"/>
          </a:xfrm>
          <a:prstGeom prst="rect">
            <a:avLst/>
          </a:prstGeom>
          <a:noFill/>
        </p:spPr>
        <p:txBody>
          <a:bodyPr wrap="square" lIns="91440" tIns="45720" rIns="91440" bIns="45720" anchor="t">
            <a:spAutoFit/>
          </a:bodyPr>
          <a:lstStyle/>
          <a:p>
            <a:pPr marL="285750" indent="-285750">
              <a:buFont typeface="Arial"/>
              <a:buChar char="•"/>
            </a:pPr>
            <a:r>
              <a:rPr lang="es-ES" sz="1400" dirty="0"/>
              <a:t>La respuesta en frecuencia del circuito es la misma que la del filtro pasivo, excepto que la amplitud de la señal aumenta con la ganancia del amplificador</a:t>
            </a:r>
            <a:endParaRPr lang="es-MX" sz="1400" dirty="0">
              <a:ea typeface="+mn-lt"/>
              <a:cs typeface="+mn-lt"/>
            </a:endParaRPr>
          </a:p>
        </p:txBody>
      </p:sp>
      <p:grpSp>
        <p:nvGrpSpPr>
          <p:cNvPr id="8" name="Grupo 7">
            <a:extLst>
              <a:ext uri="{FF2B5EF4-FFF2-40B4-BE49-F238E27FC236}">
                <a16:creationId xmlns:a16="http://schemas.microsoft.com/office/drawing/2014/main" id="{8C238C20-64E8-2B0F-71EE-DDC526BC5E18}"/>
              </a:ext>
            </a:extLst>
          </p:cNvPr>
          <p:cNvGrpSpPr/>
          <p:nvPr/>
        </p:nvGrpSpPr>
        <p:grpSpPr>
          <a:xfrm>
            <a:off x="261463" y="1519526"/>
            <a:ext cx="5789396" cy="3544320"/>
            <a:chOff x="1680787" y="1570673"/>
            <a:chExt cx="5789396" cy="3544320"/>
          </a:xfrm>
        </p:grpSpPr>
        <p:pic>
          <p:nvPicPr>
            <p:cNvPr id="4" name="Imagen 3">
              <a:extLst>
                <a:ext uri="{FF2B5EF4-FFF2-40B4-BE49-F238E27FC236}">
                  <a16:creationId xmlns:a16="http://schemas.microsoft.com/office/drawing/2014/main" id="{94003222-0B56-A36D-FC74-E8DAA32E2144}"/>
                </a:ext>
              </a:extLst>
            </p:cNvPr>
            <p:cNvPicPr>
              <a:picLocks noChangeAspect="1"/>
            </p:cNvPicPr>
            <p:nvPr/>
          </p:nvPicPr>
          <p:blipFill>
            <a:blip r:embed="rId4"/>
            <a:stretch>
              <a:fillRect/>
            </a:stretch>
          </p:blipFill>
          <p:spPr>
            <a:xfrm>
              <a:off x="1680787" y="1821245"/>
              <a:ext cx="5789396" cy="3293748"/>
            </a:xfrm>
            <a:prstGeom prst="rect">
              <a:avLst/>
            </a:prstGeom>
          </p:spPr>
        </p:pic>
        <p:sp>
          <p:nvSpPr>
            <p:cNvPr id="5" name="Rectángulo 4">
              <a:extLst>
                <a:ext uri="{FF2B5EF4-FFF2-40B4-BE49-F238E27FC236}">
                  <a16:creationId xmlns:a16="http://schemas.microsoft.com/office/drawing/2014/main" id="{A26418AB-B4FD-53DC-D1F6-D083A26A3588}"/>
                </a:ext>
              </a:extLst>
            </p:cNvPr>
            <p:cNvSpPr/>
            <p:nvPr/>
          </p:nvSpPr>
          <p:spPr>
            <a:xfrm>
              <a:off x="2488845" y="1584454"/>
              <a:ext cx="1232763" cy="64633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Filtro pasa </a:t>
              </a:r>
            </a:p>
            <a:p>
              <a:pPr algn="ctr"/>
              <a:r>
                <a:rPr lang="es-CO" dirty="0">
                  <a:solidFill>
                    <a:schemeClr val="tx1"/>
                  </a:solidFill>
                </a:rPr>
                <a:t>altos</a:t>
              </a:r>
              <a:endParaRPr lang="es-CO" noProof="0" dirty="0">
                <a:solidFill>
                  <a:schemeClr val="tx1"/>
                </a:solidFill>
              </a:endParaRPr>
            </a:p>
          </p:txBody>
        </p:sp>
        <p:sp>
          <p:nvSpPr>
            <p:cNvPr id="6" name="Rectángulo 5">
              <a:extLst>
                <a:ext uri="{FF2B5EF4-FFF2-40B4-BE49-F238E27FC236}">
                  <a16:creationId xmlns:a16="http://schemas.microsoft.com/office/drawing/2014/main" id="{F0C61DC7-29A0-36E8-3B8B-9CF595EA34E5}"/>
                </a:ext>
              </a:extLst>
            </p:cNvPr>
            <p:cNvSpPr/>
            <p:nvPr/>
          </p:nvSpPr>
          <p:spPr>
            <a:xfrm>
              <a:off x="3583002" y="1884659"/>
              <a:ext cx="1232763"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dirty="0">
                  <a:solidFill>
                    <a:schemeClr val="tx1"/>
                  </a:solidFill>
                </a:rPr>
                <a:t>alta</a:t>
              </a:r>
              <a:r>
                <a:rPr lang="es-CO" noProof="0" dirty="0">
                  <a:solidFill>
                    <a:schemeClr val="tx1"/>
                  </a:solidFill>
                </a:rPr>
                <a:t> frecuencia</a:t>
              </a:r>
            </a:p>
          </p:txBody>
        </p:sp>
        <p:sp>
          <p:nvSpPr>
            <p:cNvPr id="7" name="Rectángulo 6">
              <a:extLst>
                <a:ext uri="{FF2B5EF4-FFF2-40B4-BE49-F238E27FC236}">
                  <a16:creationId xmlns:a16="http://schemas.microsoft.com/office/drawing/2014/main" id="{916E6AA5-9055-0076-986A-0EFE4213E2AE}"/>
                </a:ext>
              </a:extLst>
            </p:cNvPr>
            <p:cNvSpPr/>
            <p:nvPr/>
          </p:nvSpPr>
          <p:spPr>
            <a:xfrm>
              <a:off x="4845745" y="1570673"/>
              <a:ext cx="1500300"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Amplificación</a:t>
              </a:r>
            </a:p>
          </p:txBody>
        </p:sp>
      </p:grpSp>
      <p:sp>
        <p:nvSpPr>
          <p:cNvPr id="9" name="Rectángulo 8">
            <a:extLst>
              <a:ext uri="{FF2B5EF4-FFF2-40B4-BE49-F238E27FC236}">
                <a16:creationId xmlns:a16="http://schemas.microsoft.com/office/drawing/2014/main" id="{4FC30594-0ABA-2FE0-1C90-2DDE9799EC4A}"/>
              </a:ext>
            </a:extLst>
          </p:cNvPr>
          <p:cNvSpPr/>
          <p:nvPr/>
        </p:nvSpPr>
        <p:spPr>
          <a:xfrm>
            <a:off x="727120" y="3103528"/>
            <a:ext cx="1232763" cy="56692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noProof="0" dirty="0">
                <a:solidFill>
                  <a:schemeClr val="tx1"/>
                </a:solidFill>
              </a:rPr>
              <a:t>baja frecuencia</a:t>
            </a:r>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8553CBA-F1FE-32DD-FEB2-4D2F4553546F}"/>
                  </a:ext>
                </a:extLst>
              </p:cNvPr>
              <p:cNvSpPr txBox="1"/>
              <p:nvPr/>
            </p:nvSpPr>
            <p:spPr>
              <a:xfrm>
                <a:off x="6874464" y="2294451"/>
                <a:ext cx="1241237"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𝐺</m:t>
                      </m:r>
                      <m:r>
                        <a:rPr lang="es-ES" b="0" i="1" smtClean="0">
                          <a:latin typeface="Cambria Math" panose="02040503050406030204" pitchFamily="18" charset="0"/>
                        </a:rPr>
                        <m:t>=1+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oMath>
                  </m:oMathPara>
                </a14:m>
                <a:endParaRPr lang="es-CO" dirty="0"/>
              </a:p>
            </p:txBody>
          </p:sp>
        </mc:Choice>
        <mc:Fallback xmlns="">
          <p:sp>
            <p:nvSpPr>
              <p:cNvPr id="10" name="CuadroTexto 9">
                <a:extLst>
                  <a:ext uri="{FF2B5EF4-FFF2-40B4-BE49-F238E27FC236}">
                    <a16:creationId xmlns:a16="http://schemas.microsoft.com/office/drawing/2014/main" id="{B8553CBA-F1FE-32DD-FEB2-4D2F4553546F}"/>
                  </a:ext>
                </a:extLst>
              </p:cNvPr>
              <p:cNvSpPr txBox="1">
                <a:spLocks noRot="1" noChangeAspect="1" noMove="1" noResize="1" noEditPoints="1" noAdjustHandles="1" noChangeArrowheads="1" noChangeShapeType="1" noTextEdit="1"/>
              </p:cNvSpPr>
              <p:nvPr/>
            </p:nvSpPr>
            <p:spPr>
              <a:xfrm>
                <a:off x="6874464" y="2294451"/>
                <a:ext cx="1241237" cy="518604"/>
              </a:xfrm>
              <a:prstGeom prst="rect">
                <a:avLst/>
              </a:prstGeom>
              <a:blipFill>
                <a:blip r:embed="rId5"/>
                <a:stretch>
                  <a:fillRect/>
                </a:stretch>
              </a:blipFill>
            </p:spPr>
            <p:txBody>
              <a:bodyPr/>
              <a:lstStyle/>
              <a:p>
                <a:r>
                  <a:rPr lang="es-CO">
                    <a:noFill/>
                  </a:rPr>
                  <a:t> </a:t>
                </a:r>
              </a:p>
            </p:txBody>
          </p:sp>
        </mc:Fallback>
      </mc:AlternateContent>
      <p:grpSp>
        <p:nvGrpSpPr>
          <p:cNvPr id="14" name="Grupo 13">
            <a:extLst>
              <a:ext uri="{FF2B5EF4-FFF2-40B4-BE49-F238E27FC236}">
                <a16:creationId xmlns:a16="http://schemas.microsoft.com/office/drawing/2014/main" id="{D4337179-AA75-A760-45CF-909E5EC644A6}"/>
              </a:ext>
            </a:extLst>
          </p:cNvPr>
          <p:cNvGrpSpPr/>
          <p:nvPr/>
        </p:nvGrpSpPr>
        <p:grpSpPr>
          <a:xfrm>
            <a:off x="5953592" y="3766715"/>
            <a:ext cx="3204607" cy="1106778"/>
            <a:chOff x="5953592" y="3960350"/>
            <a:chExt cx="3204607" cy="1106778"/>
          </a:xfrm>
        </p:grpSpPr>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A4598D9-305D-0589-C302-413429305155}"/>
                    </a:ext>
                  </a:extLst>
                </p:cNvPr>
                <p:cNvSpPr txBox="1"/>
                <p:nvPr/>
              </p:nvSpPr>
              <p:spPr>
                <a:xfrm>
                  <a:off x="5953592" y="3960350"/>
                  <a:ext cx="3068532" cy="1106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𝐺𝑉</m:t>
                        </m:r>
                        <m:r>
                          <a:rPr lang="es-ES" b="0" i="1" smtClean="0">
                            <a:latin typeface="Cambria Math" panose="02040503050406030204" pitchFamily="18" charset="0"/>
                          </a:rPr>
                          <m:t>(</m:t>
                        </m:r>
                        <m:r>
                          <a:rPr lang="es-ES" b="0" i="1" smtClean="0">
                            <a:latin typeface="Cambria Math" panose="02040503050406030204" pitchFamily="18" charset="0"/>
                          </a:rPr>
                          <m:t>𝐴𝑣</m:t>
                        </m:r>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𝐴𝑓</m:t>
                            </m:r>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𝑓</m:t>
                                    </m:r>
                                  </m:num>
                                  <m:den>
                                    <m:r>
                                      <a:rPr lang="es-ES" i="1">
                                        <a:latin typeface="Cambria Math" panose="02040503050406030204" pitchFamily="18" charset="0"/>
                                      </a:rPr>
                                      <m:t>𝑓𝑐</m:t>
                                    </m:r>
                                  </m:den>
                                </m:f>
                              </m:e>
                            </m:d>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1+</m:t>
                                </m:r>
                                <m:d>
                                  <m:dPr>
                                    <m:ctrlPr>
                                      <a:rPr lang="es-ES" b="0" i="1" smtClean="0">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𝑓</m:t>
                                        </m:r>
                                      </m:num>
                                      <m:den>
                                        <m:r>
                                          <a:rPr lang="es-ES" i="1">
                                            <a:latin typeface="Cambria Math" panose="02040503050406030204" pitchFamily="18" charset="0"/>
                                          </a:rPr>
                                          <m:t>𝑓𝑐</m:t>
                                        </m:r>
                                      </m:den>
                                    </m:f>
                                  </m:e>
                                </m:d>
                              </m:e>
                            </m:rad>
                          </m:den>
                        </m:f>
                      </m:oMath>
                    </m:oMathPara>
                  </a14:m>
                  <a:endParaRPr lang="es-CO" dirty="0"/>
                </a:p>
              </p:txBody>
            </p:sp>
          </mc:Choice>
          <mc:Fallback xmlns="">
            <p:sp>
              <p:nvSpPr>
                <p:cNvPr id="11" name="CuadroTexto 10">
                  <a:extLst>
                    <a:ext uri="{FF2B5EF4-FFF2-40B4-BE49-F238E27FC236}">
                      <a16:creationId xmlns:a16="http://schemas.microsoft.com/office/drawing/2014/main" id="{BA4598D9-305D-0589-C302-413429305155}"/>
                    </a:ext>
                  </a:extLst>
                </p:cNvPr>
                <p:cNvSpPr txBox="1">
                  <a:spLocks noRot="1" noChangeAspect="1" noMove="1" noResize="1" noEditPoints="1" noAdjustHandles="1" noChangeArrowheads="1" noChangeShapeType="1" noTextEdit="1"/>
                </p:cNvSpPr>
                <p:nvPr/>
              </p:nvSpPr>
              <p:spPr>
                <a:xfrm>
                  <a:off x="5953592" y="3960350"/>
                  <a:ext cx="3068532" cy="1106778"/>
                </a:xfrm>
                <a:prstGeom prst="rect">
                  <a:avLst/>
                </a:prstGeom>
                <a:blipFill>
                  <a:blip r:embed="rId6"/>
                  <a:stretch>
                    <a:fillRect/>
                  </a:stretch>
                </a:blipFill>
              </p:spPr>
              <p:txBody>
                <a:bodyPr/>
                <a:lstStyle/>
                <a:p>
                  <a:r>
                    <a:rPr lang="es-CO">
                      <a:noFill/>
                    </a:rPr>
                    <a:t> </a:t>
                  </a:r>
                </a:p>
              </p:txBody>
            </p:sp>
          </mc:Fallback>
        </mc:AlternateContent>
        <p:sp>
          <p:nvSpPr>
            <p:cNvPr id="13" name="CuadroTexto 12">
              <a:extLst>
                <a:ext uri="{FF2B5EF4-FFF2-40B4-BE49-F238E27FC236}">
                  <a16:creationId xmlns:a16="http://schemas.microsoft.com/office/drawing/2014/main" id="{9ABEE5CF-C3F4-8DBD-4998-0C43F2E5DD02}"/>
                </a:ext>
              </a:extLst>
            </p:cNvPr>
            <p:cNvSpPr txBox="1"/>
            <p:nvPr/>
          </p:nvSpPr>
          <p:spPr>
            <a:xfrm>
              <a:off x="8856513" y="4555163"/>
              <a:ext cx="301686" cy="369332"/>
            </a:xfrm>
            <a:prstGeom prst="rect">
              <a:avLst/>
            </a:prstGeom>
            <a:noFill/>
          </p:spPr>
          <p:txBody>
            <a:bodyPr wrap="none" rtlCol="0">
              <a:spAutoFit/>
            </a:bodyPr>
            <a:lstStyle/>
            <a:p>
              <a:r>
                <a:rPr lang="es-ES" dirty="0"/>
                <a:t>2</a:t>
              </a:r>
              <a:endParaRPr lang="es-CO" dirty="0"/>
            </a:p>
          </p:txBody>
        </p:sp>
      </p:grpSp>
      <p:sp>
        <p:nvSpPr>
          <p:cNvPr id="15" name="CuadroTexto 14">
            <a:extLst>
              <a:ext uri="{FF2B5EF4-FFF2-40B4-BE49-F238E27FC236}">
                <a16:creationId xmlns:a16="http://schemas.microsoft.com/office/drawing/2014/main" id="{E6AAFD7D-5952-60B0-6714-1A8D8E3A2035}"/>
              </a:ext>
            </a:extLst>
          </p:cNvPr>
          <p:cNvSpPr txBox="1"/>
          <p:nvPr/>
        </p:nvSpPr>
        <p:spPr>
          <a:xfrm>
            <a:off x="3818179" y="4828187"/>
            <a:ext cx="5570993" cy="1077218"/>
          </a:xfrm>
          <a:prstGeom prst="rect">
            <a:avLst/>
          </a:prstGeom>
          <a:noFill/>
        </p:spPr>
        <p:txBody>
          <a:bodyPr wrap="square">
            <a:spAutoFit/>
          </a:bodyPr>
          <a:lstStyle/>
          <a:p>
            <a:r>
              <a:rPr lang="es-ES" sz="1600" b="1" dirty="0"/>
              <a:t>Donde</a:t>
            </a:r>
            <a:r>
              <a:rPr lang="es-ES" sz="1600" dirty="0"/>
              <a:t>:</a:t>
            </a:r>
          </a:p>
          <a:p>
            <a:r>
              <a:rPr lang="es-ES" sz="1600" b="1" dirty="0"/>
              <a:t>AF</a:t>
            </a:r>
            <a:r>
              <a:rPr lang="es-ES" sz="1600" dirty="0"/>
              <a:t> = Ganancia de la banda de paso del filtro, (1 + R2/R1) </a:t>
            </a:r>
          </a:p>
          <a:p>
            <a:r>
              <a:rPr lang="es-ES" sz="1600" b="1" dirty="0"/>
              <a:t>ƒ </a:t>
            </a:r>
            <a:r>
              <a:rPr lang="es-ES" sz="1600" dirty="0"/>
              <a:t>= Frecuencia de la señal de entrada en hercios (Hz) </a:t>
            </a:r>
          </a:p>
          <a:p>
            <a:r>
              <a:rPr lang="es-ES" sz="1600" b="1" dirty="0" err="1"/>
              <a:t>ƒc</a:t>
            </a:r>
            <a:r>
              <a:rPr lang="es-ES" sz="1600" dirty="0"/>
              <a:t> = Frecuencia de corte en hercios (Hz)</a:t>
            </a:r>
            <a:endParaRPr lang="es-CO" sz="1600" dirty="0"/>
          </a:p>
        </p:txBody>
      </p:sp>
      <p:sp>
        <p:nvSpPr>
          <p:cNvPr id="16" name="Rectángulo 15">
            <a:extLst>
              <a:ext uri="{FF2B5EF4-FFF2-40B4-BE49-F238E27FC236}">
                <a16:creationId xmlns:a16="http://schemas.microsoft.com/office/drawing/2014/main" id="{61A4AD36-F974-5324-90E3-E29BBFC8DAC3}"/>
              </a:ext>
            </a:extLst>
          </p:cNvPr>
          <p:cNvSpPr/>
          <p:nvPr/>
        </p:nvSpPr>
        <p:spPr>
          <a:xfrm>
            <a:off x="7872984" y="3688744"/>
            <a:ext cx="1158284" cy="593745"/>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7" name="Rectángulo 16">
            <a:extLst>
              <a:ext uri="{FF2B5EF4-FFF2-40B4-BE49-F238E27FC236}">
                <a16:creationId xmlns:a16="http://schemas.microsoft.com/office/drawing/2014/main" id="{E57D828E-85F5-52A1-5618-2DEF3C8BD0B7}"/>
              </a:ext>
            </a:extLst>
          </p:cNvPr>
          <p:cNvSpPr/>
          <p:nvPr/>
        </p:nvSpPr>
        <p:spPr>
          <a:xfrm>
            <a:off x="6827406" y="2219310"/>
            <a:ext cx="1365617" cy="670194"/>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3002915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CD21-CDBF-CD8A-F709-2B8AF5F5E4BC}"/>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A692B97C-7BD4-0485-D487-FF594606D132}"/>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ABE86CA2-E487-A14E-D9B4-CAC3CB550773}"/>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Ganancia</a:t>
            </a:r>
            <a:endParaRPr lang="en-US" dirty="0"/>
          </a:p>
        </p:txBody>
      </p:sp>
      <p:sp>
        <p:nvSpPr>
          <p:cNvPr id="18" name="Marcador de número de diapositiva 3">
            <a:extLst>
              <a:ext uri="{FF2B5EF4-FFF2-40B4-BE49-F238E27FC236}">
                <a16:creationId xmlns:a16="http://schemas.microsoft.com/office/drawing/2014/main" id="{D642604D-0804-C9B4-12BF-88B0EB5DDC60}"/>
              </a:ext>
            </a:extLst>
          </p:cNvPr>
          <p:cNvSpPr txBox="1">
            <a:spLocks/>
          </p:cNvSpPr>
          <p:nvPr/>
        </p:nvSpPr>
        <p:spPr>
          <a:xfrm>
            <a:off x="8544393" y="5885920"/>
            <a:ext cx="549289"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19" name="Título 1">
            <a:extLst>
              <a:ext uri="{FF2B5EF4-FFF2-40B4-BE49-F238E27FC236}">
                <a16:creationId xmlns:a16="http://schemas.microsoft.com/office/drawing/2014/main" id="{B886AFE5-E4E0-3A2A-3F96-089ED21FE1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A573CEAB-6748-A9B2-07D5-1B9AD83605F2}"/>
              </a:ext>
            </a:extLst>
          </p:cNvPr>
          <p:cNvSpPr txBox="1"/>
          <p:nvPr/>
        </p:nvSpPr>
        <p:spPr>
          <a:xfrm>
            <a:off x="46418" y="545619"/>
            <a:ext cx="6538223" cy="461665"/>
          </a:xfrm>
          <a:prstGeom prst="rect">
            <a:avLst/>
          </a:prstGeom>
          <a:noFill/>
        </p:spPr>
        <p:txBody>
          <a:bodyPr wrap="square" lIns="91440" tIns="45720" rIns="91440" bIns="45720" anchor="t">
            <a:spAutoFit/>
          </a:bodyPr>
          <a:lstStyle/>
          <a:p>
            <a:pPr marL="285750" indent="-285750">
              <a:buFont typeface="Arial"/>
              <a:buChar char="•"/>
            </a:pPr>
            <a:r>
              <a:rPr lang="es-ES" sz="1200" dirty="0"/>
              <a:t>Por lo tanto, el funcionamiento de un filtro activo paso altas se puede verificar a partir de la ecuación de ganancia de frecuencia anterior:</a:t>
            </a:r>
            <a:endParaRPr lang="es-MX" sz="1200" dirty="0">
              <a:ea typeface="+mn-lt"/>
              <a:cs typeface="+mn-lt"/>
            </a:endParaRPr>
          </a:p>
        </p:txBody>
      </p:sp>
      <p:sp>
        <p:nvSpPr>
          <p:cNvPr id="6" name="CuadroTexto 5">
            <a:extLst>
              <a:ext uri="{FF2B5EF4-FFF2-40B4-BE49-F238E27FC236}">
                <a16:creationId xmlns:a16="http://schemas.microsoft.com/office/drawing/2014/main" id="{4C494581-6FA3-411E-E1C1-CD8C3BC8AB81}"/>
              </a:ext>
            </a:extLst>
          </p:cNvPr>
          <p:cNvSpPr txBox="1"/>
          <p:nvPr/>
        </p:nvSpPr>
        <p:spPr>
          <a:xfrm>
            <a:off x="184557" y="1643348"/>
            <a:ext cx="4608576" cy="2031325"/>
          </a:xfrm>
          <a:prstGeom prst="rect">
            <a:avLst/>
          </a:prstGeom>
          <a:noFill/>
        </p:spPr>
        <p:txBody>
          <a:bodyPr wrap="square">
            <a:spAutoFit/>
          </a:bodyPr>
          <a:lstStyle/>
          <a:p>
            <a:pPr marL="342900" indent="-342900">
              <a:buAutoNum type="arabicPeriod"/>
            </a:pPr>
            <a:r>
              <a:rPr lang="es-CO" dirty="0"/>
              <a:t>A frecuencias muy bajas, ƒ &lt; </a:t>
            </a:r>
            <a:r>
              <a:rPr lang="es-CO" dirty="0" err="1"/>
              <a:t>ƒc</a:t>
            </a:r>
            <a:endParaRPr lang="es-CO" dirty="0"/>
          </a:p>
          <a:p>
            <a:pPr marL="342900" indent="-342900">
              <a:buAutoNum type="arabicPeriod"/>
            </a:pPr>
            <a:endParaRPr lang="es-CO" dirty="0"/>
          </a:p>
          <a:p>
            <a:pPr marL="342900" indent="-342900">
              <a:buAutoNum type="arabicPeriod"/>
            </a:pPr>
            <a:endParaRPr lang="es-CO" dirty="0"/>
          </a:p>
          <a:p>
            <a:pPr marL="342900" indent="-342900">
              <a:buAutoNum type="arabicPeriod"/>
            </a:pPr>
            <a:r>
              <a:rPr lang="es-CO" dirty="0"/>
              <a:t>A la frecuencia de corte, ƒ = </a:t>
            </a:r>
            <a:r>
              <a:rPr lang="es-CO" dirty="0" err="1"/>
              <a:t>ƒc</a:t>
            </a:r>
            <a:endParaRPr lang="es-CO" dirty="0"/>
          </a:p>
          <a:p>
            <a:pPr marL="342900" indent="-342900">
              <a:buAutoNum type="arabicPeriod"/>
            </a:pPr>
            <a:endParaRPr lang="es-CO" dirty="0"/>
          </a:p>
          <a:p>
            <a:pPr marL="342900" indent="-342900">
              <a:buAutoNum type="arabicPeriod"/>
            </a:pPr>
            <a:endParaRPr lang="es-CO" dirty="0"/>
          </a:p>
          <a:p>
            <a:pPr marL="342900" indent="-342900">
              <a:buAutoNum type="arabicPeriod"/>
            </a:pPr>
            <a:r>
              <a:rPr lang="es-CO" dirty="0"/>
              <a:t>A frecuencias muy altas, ƒ &gt; </a:t>
            </a:r>
            <a:r>
              <a:rPr lang="es-CO" dirty="0" err="1"/>
              <a:t>ƒc</a:t>
            </a:r>
            <a:endParaRPr lang="es-CO"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D5A75FC-1E39-5AC5-33F8-D9AB7C7AFA40}"/>
                  </a:ext>
                </a:extLst>
              </p:cNvPr>
              <p:cNvSpPr txBox="1"/>
              <p:nvPr/>
            </p:nvSpPr>
            <p:spPr>
              <a:xfrm>
                <a:off x="3775788" y="1672622"/>
                <a:ext cx="1131271"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&lt;</m:t>
                      </m:r>
                      <m:r>
                        <a:rPr lang="es-ES" b="0" i="1" smtClean="0">
                          <a:latin typeface="Cambria Math" panose="02040503050406030204" pitchFamily="18" charset="0"/>
                        </a:rPr>
                        <m:t>𝐴𝑓</m:t>
                      </m:r>
                    </m:oMath>
                  </m:oMathPara>
                </a14:m>
                <a:endParaRPr lang="es-CO" dirty="0"/>
              </a:p>
            </p:txBody>
          </p:sp>
        </mc:Choice>
        <mc:Fallback xmlns="">
          <p:sp>
            <p:nvSpPr>
              <p:cNvPr id="7" name="CuadroTexto 6">
                <a:extLst>
                  <a:ext uri="{FF2B5EF4-FFF2-40B4-BE49-F238E27FC236}">
                    <a16:creationId xmlns:a16="http://schemas.microsoft.com/office/drawing/2014/main" id="{2D5A75FC-1E39-5AC5-33F8-D9AB7C7AFA40}"/>
                  </a:ext>
                </a:extLst>
              </p:cNvPr>
              <p:cNvSpPr txBox="1">
                <a:spLocks noRot="1" noChangeAspect="1" noMove="1" noResize="1" noEditPoints="1" noAdjustHandles="1" noChangeArrowheads="1" noChangeShapeType="1" noTextEdit="1"/>
              </p:cNvSpPr>
              <p:nvPr/>
            </p:nvSpPr>
            <p:spPr>
              <a:xfrm>
                <a:off x="3775788" y="1672622"/>
                <a:ext cx="1131271" cy="518604"/>
              </a:xfrm>
              <a:prstGeom prst="rect">
                <a:avLst/>
              </a:prstGeom>
              <a:blipFill>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47741E7-C95E-B6A8-77EC-6EDABD7477E4}"/>
                  </a:ext>
                </a:extLst>
              </p:cNvPr>
              <p:cNvSpPr txBox="1"/>
              <p:nvPr/>
            </p:nvSpPr>
            <p:spPr>
              <a:xfrm>
                <a:off x="3719010" y="2404060"/>
                <a:ext cx="2376100" cy="578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𝐴𝑓</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2</m:t>
                              </m:r>
                            </m:e>
                          </m:rad>
                        </m:den>
                      </m:f>
                      <m:r>
                        <a:rPr lang="es-ES" b="0" i="1" smtClean="0">
                          <a:latin typeface="Cambria Math" panose="02040503050406030204" pitchFamily="18" charset="0"/>
                        </a:rPr>
                        <m:t>=0.707 </m:t>
                      </m:r>
                      <m:r>
                        <a:rPr lang="es-ES" b="0" i="1" smtClean="0">
                          <a:latin typeface="Cambria Math" panose="02040503050406030204" pitchFamily="18" charset="0"/>
                        </a:rPr>
                        <m:t>𝐴𝑓</m:t>
                      </m:r>
                    </m:oMath>
                  </m:oMathPara>
                </a14:m>
                <a:endParaRPr lang="es-CO" dirty="0"/>
              </a:p>
            </p:txBody>
          </p:sp>
        </mc:Choice>
        <mc:Fallback xmlns="">
          <p:sp>
            <p:nvSpPr>
              <p:cNvPr id="8" name="CuadroTexto 7">
                <a:extLst>
                  <a:ext uri="{FF2B5EF4-FFF2-40B4-BE49-F238E27FC236}">
                    <a16:creationId xmlns:a16="http://schemas.microsoft.com/office/drawing/2014/main" id="{747741E7-C95E-B6A8-77EC-6EDABD7477E4}"/>
                  </a:ext>
                </a:extLst>
              </p:cNvPr>
              <p:cNvSpPr txBox="1">
                <a:spLocks noRot="1" noChangeAspect="1" noMove="1" noResize="1" noEditPoints="1" noAdjustHandles="1" noChangeArrowheads="1" noChangeShapeType="1" noTextEdit="1"/>
              </p:cNvSpPr>
              <p:nvPr/>
            </p:nvSpPr>
            <p:spPr>
              <a:xfrm>
                <a:off x="3719010" y="2404060"/>
                <a:ext cx="2376100" cy="578428"/>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270611F-C699-937E-94AD-48CDB9A8C4A4}"/>
                  </a:ext>
                </a:extLst>
              </p:cNvPr>
              <p:cNvSpPr txBox="1"/>
              <p:nvPr/>
            </p:nvSpPr>
            <p:spPr>
              <a:xfrm>
                <a:off x="3742408" y="3183570"/>
                <a:ext cx="1182567"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 </m:t>
                      </m:r>
                      <m:r>
                        <a:rPr lang="es-ES" b="0" i="1" smtClean="0">
                          <a:latin typeface="Cambria Math" panose="02040503050406030204" pitchFamily="18" charset="0"/>
                        </a:rPr>
                        <m:t>𝐴𝑓</m:t>
                      </m:r>
                    </m:oMath>
                  </m:oMathPara>
                </a14:m>
                <a:endParaRPr lang="es-CO" dirty="0"/>
              </a:p>
            </p:txBody>
          </p:sp>
        </mc:Choice>
        <mc:Fallback xmlns="">
          <p:sp>
            <p:nvSpPr>
              <p:cNvPr id="9" name="CuadroTexto 8">
                <a:extLst>
                  <a:ext uri="{FF2B5EF4-FFF2-40B4-BE49-F238E27FC236}">
                    <a16:creationId xmlns:a16="http://schemas.microsoft.com/office/drawing/2014/main" id="{8270611F-C699-937E-94AD-48CDB9A8C4A4}"/>
                  </a:ext>
                </a:extLst>
              </p:cNvPr>
              <p:cNvSpPr txBox="1">
                <a:spLocks noRot="1" noChangeAspect="1" noMove="1" noResize="1" noEditPoints="1" noAdjustHandles="1" noChangeArrowheads="1" noChangeShapeType="1" noTextEdit="1"/>
              </p:cNvSpPr>
              <p:nvPr/>
            </p:nvSpPr>
            <p:spPr>
              <a:xfrm>
                <a:off x="3742408" y="3183570"/>
                <a:ext cx="1182567" cy="518604"/>
              </a:xfrm>
              <a:prstGeom prst="rect">
                <a:avLst/>
              </a:prstGeom>
              <a:blipFill>
                <a:blip r:embed="rId6"/>
                <a:stretch>
                  <a:fillRect/>
                </a:stretch>
              </a:blipFill>
            </p:spPr>
            <p:txBody>
              <a:bodyPr/>
              <a:lstStyle/>
              <a:p>
                <a:r>
                  <a:rPr lang="es-CO">
                    <a:noFill/>
                  </a:rPr>
                  <a:t> </a:t>
                </a:r>
              </a:p>
            </p:txBody>
          </p:sp>
        </mc:Fallback>
      </mc:AlternateContent>
    </p:spTree>
    <p:custDataLst>
      <p:tags r:id="rId1"/>
    </p:custDataLst>
    <p:extLst>
      <p:ext uri="{BB962C8B-B14F-4D97-AF65-F5344CB8AC3E}">
        <p14:creationId xmlns:p14="http://schemas.microsoft.com/office/powerpoint/2010/main" val="2732794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CD626-42E6-30B1-29E9-F9C24A53B80E}"/>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0BD84C16-0829-66DB-FFB8-5E1F140D3EB9}"/>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82009239-1847-C0FF-6F6B-AC56E9F9AC9E}"/>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rPr>
              <a:t>Ganancia de voltaje en (dB)</a:t>
            </a:r>
            <a:endParaRPr lang="en-US" b="1" dirty="0">
              <a:solidFill>
                <a:srgbClr val="2C5697"/>
              </a:solidFill>
              <a:latin typeface="Arial"/>
              <a:cs typeface="Arial"/>
            </a:endParaRPr>
          </a:p>
        </p:txBody>
      </p:sp>
      <p:sp>
        <p:nvSpPr>
          <p:cNvPr id="18" name="Marcador de número de diapositiva 3">
            <a:extLst>
              <a:ext uri="{FF2B5EF4-FFF2-40B4-BE49-F238E27FC236}">
                <a16:creationId xmlns:a16="http://schemas.microsoft.com/office/drawing/2014/main" id="{AC19FCC0-6A12-2574-B0D2-D60BC2EDEEDD}"/>
              </a:ext>
            </a:extLst>
          </p:cNvPr>
          <p:cNvSpPr txBox="1">
            <a:spLocks/>
          </p:cNvSpPr>
          <p:nvPr/>
        </p:nvSpPr>
        <p:spPr>
          <a:xfrm>
            <a:off x="8705088" y="5885920"/>
            <a:ext cx="38859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19" name="Título 1">
            <a:extLst>
              <a:ext uri="{FF2B5EF4-FFF2-40B4-BE49-F238E27FC236}">
                <a16:creationId xmlns:a16="http://schemas.microsoft.com/office/drawing/2014/main" id="{495FF42E-1393-309F-832C-898A306242B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1075664B-5FBC-70EB-BD4F-FDBA98941DB1}"/>
              </a:ext>
            </a:extLst>
          </p:cNvPr>
          <p:cNvSpPr txBox="1"/>
          <p:nvPr/>
        </p:nvSpPr>
        <p:spPr>
          <a:xfrm>
            <a:off x="119570" y="747632"/>
            <a:ext cx="7604502" cy="738664"/>
          </a:xfrm>
          <a:prstGeom prst="rect">
            <a:avLst/>
          </a:prstGeom>
          <a:noFill/>
        </p:spPr>
        <p:txBody>
          <a:bodyPr wrap="square" lIns="91440" tIns="45720" rIns="91440" bIns="45720" anchor="t">
            <a:spAutoFit/>
          </a:bodyPr>
          <a:lstStyle/>
          <a:p>
            <a:pPr marL="285750" indent="-285750">
              <a:buFont typeface="Arial"/>
              <a:buChar char="•"/>
            </a:pPr>
            <a:r>
              <a:rPr lang="es-ES" sz="1400" dirty="0"/>
              <a:t>En </a:t>
            </a:r>
            <a:r>
              <a:rPr lang="es-ES" sz="1400" dirty="0" err="1"/>
              <a:t>ƒC</a:t>
            </a:r>
            <a:r>
              <a:rPr lang="es-ES" sz="1400" dirty="0"/>
              <a:t>, la ganancia es de 0,707*AF, y después de </a:t>
            </a:r>
            <a:r>
              <a:rPr lang="es-ES" sz="1400" dirty="0" err="1"/>
              <a:t>ƒC</a:t>
            </a:r>
            <a:r>
              <a:rPr lang="es-ES" sz="1400" dirty="0"/>
              <a:t>, todas las frecuencias son de banda de paso, por lo que el filtro tiene una ganancia AF constante, siendo la frecuencia más alta determinada por el ancho de banda de bucle cerrado del amplificador operacional.</a:t>
            </a:r>
            <a:endParaRPr lang="es-MX" sz="1400" dirty="0">
              <a:ea typeface="+mn-lt"/>
              <a:cs typeface="+mn-lt"/>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9B94696F-F204-ABF6-2994-1111DBE30D96}"/>
                  </a:ext>
                </a:extLst>
              </p:cNvPr>
              <p:cNvSpPr txBox="1"/>
              <p:nvPr/>
            </p:nvSpPr>
            <p:spPr>
              <a:xfrm>
                <a:off x="632394" y="2020716"/>
                <a:ext cx="2340769" cy="393441"/>
              </a:xfrm>
              <a:prstGeom prst="rect">
                <a:avLst/>
              </a:prstGeom>
              <a:noFill/>
            </p:spPr>
            <p:txBody>
              <a:bodyPr wrap="none" lIns="0" tIns="0" rIns="0" bIns="0" rtlCol="0">
                <a:spAutoFit/>
              </a:bodyPr>
              <a:lstStyle/>
              <a:p>
                <a:r>
                  <a:rPr lang="es-ES" b="0" dirty="0"/>
                  <a:t>Av</a:t>
                </a:r>
                <a14:m>
                  <m:oMath xmlns:m="http://schemas.openxmlformats.org/officeDocument/2006/math">
                    <m:d>
                      <m:dPr>
                        <m:ctrlPr>
                          <a:rPr lang="es-ES" b="0" i="1" smtClean="0">
                            <a:latin typeface="Cambria Math" panose="02040503050406030204" pitchFamily="18" charset="0"/>
                          </a:rPr>
                        </m:ctrlPr>
                      </m:dPr>
                      <m:e>
                        <m:r>
                          <a:rPr lang="es-ES" b="0" i="1" smtClean="0">
                            <a:latin typeface="Cambria Math" panose="02040503050406030204" pitchFamily="18" charset="0"/>
                          </a:rPr>
                          <m:t>𝑑𝐵</m:t>
                        </m:r>
                      </m:e>
                    </m:d>
                    <m:r>
                      <a:rPr lang="es-ES" b="0" i="1" smtClean="0">
                        <a:latin typeface="Cambria Math" panose="02040503050406030204" pitchFamily="18" charset="0"/>
                      </a:rPr>
                      <m:t>=20</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𝑙𝑜𝑔</m:t>
                        </m:r>
                      </m:e>
                      <m:sub>
                        <m:r>
                          <a:rPr lang="es-ES" b="0" i="1" smtClean="0">
                            <a:latin typeface="Cambria Math" panose="02040503050406030204" pitchFamily="18" charset="0"/>
                          </a:rPr>
                          <m:t>10</m:t>
                        </m:r>
                      </m:sub>
                    </m:sSub>
                    <m:r>
                      <a:rPr lang="es-ES" b="0" i="1" smtClean="0">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𝑉𝑜𝑢𝑡</m:t>
                        </m:r>
                      </m:num>
                      <m:den>
                        <m:r>
                          <a:rPr lang="es-ES" i="1">
                            <a:latin typeface="Cambria Math" panose="02040503050406030204" pitchFamily="18" charset="0"/>
                          </a:rPr>
                          <m:t>𝑉𝑖𝑛</m:t>
                        </m:r>
                      </m:den>
                    </m:f>
                    <m:r>
                      <a:rPr lang="es-ES" i="1">
                        <a:latin typeface="Cambria Math" panose="02040503050406030204" pitchFamily="18" charset="0"/>
                      </a:rPr>
                      <m:t> </m:t>
                    </m:r>
                  </m:oMath>
                </a14:m>
                <a:endParaRPr lang="es-CO" dirty="0"/>
              </a:p>
            </p:txBody>
          </p:sp>
        </mc:Choice>
        <mc:Fallback xmlns="">
          <p:sp>
            <p:nvSpPr>
              <p:cNvPr id="2" name="CuadroTexto 1">
                <a:extLst>
                  <a:ext uri="{FF2B5EF4-FFF2-40B4-BE49-F238E27FC236}">
                    <a16:creationId xmlns:a16="http://schemas.microsoft.com/office/drawing/2014/main" id="{9B94696F-F204-ABF6-2994-1111DBE30D96}"/>
                  </a:ext>
                </a:extLst>
              </p:cNvPr>
              <p:cNvSpPr txBox="1">
                <a:spLocks noRot="1" noChangeAspect="1" noMove="1" noResize="1" noEditPoints="1" noAdjustHandles="1" noChangeArrowheads="1" noChangeShapeType="1" noTextEdit="1"/>
              </p:cNvSpPr>
              <p:nvPr/>
            </p:nvSpPr>
            <p:spPr>
              <a:xfrm>
                <a:off x="632394" y="2020716"/>
                <a:ext cx="2340769" cy="393441"/>
              </a:xfrm>
              <a:prstGeom prst="rect">
                <a:avLst/>
              </a:prstGeom>
              <a:blipFill>
                <a:blip r:embed="rId4"/>
                <a:stretch>
                  <a:fillRect l="-6250" t="-4615" b="-2153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8A6875A6-F3D6-81BA-3193-F49933B0635B}"/>
                  </a:ext>
                </a:extLst>
              </p:cNvPr>
              <p:cNvSpPr txBox="1"/>
              <p:nvPr/>
            </p:nvSpPr>
            <p:spPr>
              <a:xfrm>
                <a:off x="4572000" y="1999620"/>
                <a:ext cx="3078920" cy="414537"/>
              </a:xfrm>
              <a:prstGeom prst="rect">
                <a:avLst/>
              </a:prstGeom>
              <a:noFill/>
            </p:spPr>
            <p:txBody>
              <a:bodyPr wrap="none" lIns="0" tIns="0" rIns="0" bIns="0" rtlCol="0">
                <a:spAutoFit/>
              </a:bodyPr>
              <a:lstStyle/>
              <a:p>
                <a:r>
                  <a:rPr lang="es-ES" dirty="0"/>
                  <a:t>-3 dB</a:t>
                </a:r>
                <a14:m>
                  <m:oMath xmlns:m="http://schemas.openxmlformats.org/officeDocument/2006/math">
                    <m:r>
                      <a:rPr lang="es-ES" b="0" i="0" smtClean="0">
                        <a:latin typeface="Cambria Math" panose="02040503050406030204" pitchFamily="18" charset="0"/>
                      </a:rPr>
                      <m:t> </m:t>
                    </m:r>
                    <m:r>
                      <a:rPr lang="es-ES" b="0" i="1" smtClean="0">
                        <a:latin typeface="Cambria Math" panose="02040503050406030204" pitchFamily="18" charset="0"/>
                      </a:rPr>
                      <m:t>=20</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𝑙𝑜𝑔</m:t>
                        </m:r>
                      </m:e>
                      <m:sub>
                        <m:r>
                          <a:rPr lang="es-ES" b="0" i="1" smtClean="0">
                            <a:latin typeface="Cambria Math" panose="02040503050406030204" pitchFamily="18" charset="0"/>
                          </a:rPr>
                          <m:t>10</m:t>
                        </m:r>
                      </m:sub>
                    </m:sSub>
                    <m:r>
                      <a:rPr lang="es-ES" b="0" i="1" smtClean="0">
                        <a:latin typeface="Cambria Math" panose="02040503050406030204" pitchFamily="18" charset="0"/>
                      </a:rPr>
                      <m:t>(0.707 </m:t>
                    </m:r>
                    <m:d>
                      <m:dPr>
                        <m:ctrlPr>
                          <a:rPr lang="es-ES" b="0" i="1" smtClean="0">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𝑉𝑜𝑢𝑡</m:t>
                            </m:r>
                          </m:num>
                          <m:den>
                            <m:r>
                              <a:rPr lang="es-ES" i="1">
                                <a:latin typeface="Cambria Math" panose="02040503050406030204" pitchFamily="18" charset="0"/>
                              </a:rPr>
                              <m:t>𝑉𝑖𝑛</m:t>
                            </m:r>
                          </m:den>
                        </m:f>
                      </m:e>
                    </m:d>
                    <m:r>
                      <a:rPr lang="es-ES" b="0" i="1" smtClean="0">
                        <a:latin typeface="Cambria Math" panose="02040503050406030204" pitchFamily="18" charset="0"/>
                      </a:rPr>
                      <m:t>)</m:t>
                    </m:r>
                    <m:r>
                      <a:rPr lang="es-ES" i="1">
                        <a:latin typeface="Cambria Math" panose="02040503050406030204" pitchFamily="18" charset="0"/>
                      </a:rPr>
                      <m:t> </m:t>
                    </m:r>
                  </m:oMath>
                </a14:m>
                <a:endParaRPr lang="es-CO" dirty="0"/>
              </a:p>
            </p:txBody>
          </p:sp>
        </mc:Choice>
        <mc:Fallback xmlns="">
          <p:sp>
            <p:nvSpPr>
              <p:cNvPr id="4" name="CuadroTexto 3">
                <a:extLst>
                  <a:ext uri="{FF2B5EF4-FFF2-40B4-BE49-F238E27FC236}">
                    <a16:creationId xmlns:a16="http://schemas.microsoft.com/office/drawing/2014/main" id="{8A6875A6-F3D6-81BA-3193-F49933B0635B}"/>
                  </a:ext>
                </a:extLst>
              </p:cNvPr>
              <p:cNvSpPr txBox="1">
                <a:spLocks noRot="1" noChangeAspect="1" noMove="1" noResize="1" noEditPoints="1" noAdjustHandles="1" noChangeArrowheads="1" noChangeShapeType="1" noTextEdit="1"/>
              </p:cNvSpPr>
              <p:nvPr/>
            </p:nvSpPr>
            <p:spPr>
              <a:xfrm>
                <a:off x="4572000" y="1999620"/>
                <a:ext cx="3078920" cy="414537"/>
              </a:xfrm>
              <a:prstGeom prst="rect">
                <a:avLst/>
              </a:prstGeom>
              <a:blipFill>
                <a:blip r:embed="rId5"/>
                <a:stretch>
                  <a:fillRect l="-4554" t="-1471" r="-1386" b="-1911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F2F4447-925F-22E4-E190-D7209FE52D96}"/>
                  </a:ext>
                </a:extLst>
              </p:cNvPr>
              <p:cNvSpPr txBox="1"/>
              <p:nvPr/>
            </p:nvSpPr>
            <p:spPr>
              <a:xfrm>
                <a:off x="3579799" y="4604502"/>
                <a:ext cx="1622218" cy="392928"/>
              </a:xfrm>
              <a:prstGeom prst="rect">
                <a:avLst/>
              </a:prstGeom>
              <a:noFill/>
            </p:spPr>
            <p:txBody>
              <a:bodyPr wrap="square" lIns="0" tIns="0" rIns="0" bIns="0" rtlCol="0">
                <a:spAutoFit/>
              </a:bodyPr>
              <a:lstStyle/>
              <a:p>
                <a:r>
                  <a:rPr lang="es-ES" b="0" dirty="0"/>
                  <a:t>Fc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𝑅𝐶</m:t>
                        </m:r>
                      </m:den>
                    </m:f>
                  </m:oMath>
                </a14:m>
                <a:endParaRPr lang="es-CO" dirty="0"/>
              </a:p>
            </p:txBody>
          </p:sp>
        </mc:Choice>
        <mc:Fallback xmlns="">
          <p:sp>
            <p:nvSpPr>
              <p:cNvPr id="5" name="CuadroTexto 4">
                <a:extLst>
                  <a:ext uri="{FF2B5EF4-FFF2-40B4-BE49-F238E27FC236}">
                    <a16:creationId xmlns:a16="http://schemas.microsoft.com/office/drawing/2014/main" id="{7F2F4447-925F-22E4-E190-D7209FE52D96}"/>
                  </a:ext>
                </a:extLst>
              </p:cNvPr>
              <p:cNvSpPr txBox="1">
                <a:spLocks noRot="1" noChangeAspect="1" noMove="1" noResize="1" noEditPoints="1" noAdjustHandles="1" noChangeArrowheads="1" noChangeShapeType="1" noTextEdit="1"/>
              </p:cNvSpPr>
              <p:nvPr/>
            </p:nvSpPr>
            <p:spPr>
              <a:xfrm>
                <a:off x="3579799" y="4604502"/>
                <a:ext cx="1622218" cy="392928"/>
              </a:xfrm>
              <a:prstGeom prst="rect">
                <a:avLst/>
              </a:prstGeom>
              <a:blipFill>
                <a:blip r:embed="rId6"/>
                <a:stretch>
                  <a:fillRect l="-8647" t="-4615" b="-21538"/>
                </a:stretch>
              </a:blipFill>
            </p:spPr>
            <p:txBody>
              <a:bodyPr/>
              <a:lstStyle/>
              <a:p>
                <a:r>
                  <a:rPr lang="es-CO">
                    <a:noFill/>
                  </a:rPr>
                  <a:t> </a:t>
                </a:r>
              </a:p>
            </p:txBody>
          </p:sp>
        </mc:Fallback>
      </mc:AlternateContent>
      <p:sp>
        <p:nvSpPr>
          <p:cNvPr id="7" name="CuadroTexto 6">
            <a:extLst>
              <a:ext uri="{FF2B5EF4-FFF2-40B4-BE49-F238E27FC236}">
                <a16:creationId xmlns:a16="http://schemas.microsoft.com/office/drawing/2014/main" id="{14896C82-E867-74BB-B028-BFA35670CE2F}"/>
              </a:ext>
            </a:extLst>
          </p:cNvPr>
          <p:cNvSpPr txBox="1"/>
          <p:nvPr/>
        </p:nvSpPr>
        <p:spPr>
          <a:xfrm>
            <a:off x="119570" y="3530091"/>
            <a:ext cx="7918704" cy="738664"/>
          </a:xfrm>
          <a:prstGeom prst="rect">
            <a:avLst/>
          </a:prstGeom>
          <a:noFill/>
        </p:spPr>
        <p:txBody>
          <a:bodyPr wrap="square" lIns="91440" tIns="45720" rIns="91440" bIns="45720" anchor="t">
            <a:spAutoFit/>
          </a:bodyPr>
          <a:lstStyle>
            <a:defPPr>
              <a:defRPr lang="es-ES"/>
            </a:defPPr>
            <a:lvl1pPr marL="285750" indent="-285750">
              <a:buFont typeface="Arial"/>
              <a:buChar char="•"/>
              <a:defRPr sz="1400"/>
            </a:lvl1pPr>
          </a:lstStyle>
          <a:p>
            <a:r>
              <a:rPr lang="es-ES" dirty="0"/>
              <a:t>Para un filtro de primer orden, la curva de respuesta en frecuencia del filtro aumenta en 20 dB/década o 6 dB/octava hasta el punto de corte determinado, que siempre está -3 dB por debajo del valor máximo de ganancia</a:t>
            </a:r>
            <a:endParaRPr lang="es-CO" dirty="0"/>
          </a:p>
        </p:txBody>
      </p:sp>
    </p:spTree>
    <p:custDataLst>
      <p:tags r:id="rId1"/>
    </p:custDataLst>
    <p:extLst>
      <p:ext uri="{BB962C8B-B14F-4D97-AF65-F5344CB8AC3E}">
        <p14:creationId xmlns:p14="http://schemas.microsoft.com/office/powerpoint/2010/main" val="3304926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7F30F-5351-5B54-EBD0-011D8C85F022}"/>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17DBDF88-AB9E-704B-612B-E9106FCBFAFC}"/>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758B44F1-E139-3B1E-B351-D7A332908074}"/>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Ejemplo</a:t>
            </a:r>
            <a:endParaRPr lang="en-US" dirty="0"/>
          </a:p>
        </p:txBody>
      </p:sp>
      <p:sp>
        <p:nvSpPr>
          <p:cNvPr id="18" name="Marcador de número de diapositiva 3">
            <a:extLst>
              <a:ext uri="{FF2B5EF4-FFF2-40B4-BE49-F238E27FC236}">
                <a16:creationId xmlns:a16="http://schemas.microsoft.com/office/drawing/2014/main" id="{F4EA04AD-2855-B702-F4E0-0DA9F07B2DC3}"/>
              </a:ext>
            </a:extLst>
          </p:cNvPr>
          <p:cNvSpPr txBox="1">
            <a:spLocks/>
          </p:cNvSpPr>
          <p:nvPr/>
        </p:nvSpPr>
        <p:spPr>
          <a:xfrm>
            <a:off x="8613648" y="5885920"/>
            <a:ext cx="48003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19" name="Título 1">
            <a:extLst>
              <a:ext uri="{FF2B5EF4-FFF2-40B4-BE49-F238E27FC236}">
                <a16:creationId xmlns:a16="http://schemas.microsoft.com/office/drawing/2014/main" id="{F58AC0D5-42C9-AC4F-7B25-E6B85C43B28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FB6A63F6-5640-AD21-8AEE-76F1ACFDF705}"/>
              </a:ext>
            </a:extLst>
          </p:cNvPr>
          <p:cNvSpPr txBox="1"/>
          <p:nvPr/>
        </p:nvSpPr>
        <p:spPr>
          <a:xfrm>
            <a:off x="46418" y="545619"/>
            <a:ext cx="7826566" cy="830997"/>
          </a:xfrm>
          <a:prstGeom prst="rect">
            <a:avLst/>
          </a:prstGeom>
          <a:noFill/>
        </p:spPr>
        <p:txBody>
          <a:bodyPr wrap="square" lIns="91440" tIns="45720" rIns="91440" bIns="45720" anchor="t">
            <a:spAutoFit/>
          </a:bodyPr>
          <a:lstStyle/>
          <a:p>
            <a:pPr marL="285750" indent="-285750">
              <a:buFont typeface="Arial"/>
              <a:buChar char="•"/>
            </a:pPr>
            <a:r>
              <a:rPr lang="es-ES" sz="1200" dirty="0"/>
              <a:t>Un filtro paso alto activo de primer orden tiene una ganancia de banda de paso de dos (2 veces) y una frecuencia de corte de 1 kHz. Si el condensador de entrada tiene un valor de 10 </a:t>
            </a:r>
            <a:r>
              <a:rPr lang="es-ES" sz="1200" dirty="0" err="1"/>
              <a:t>nF</a:t>
            </a:r>
            <a:r>
              <a:rPr lang="es-ES" sz="1200" dirty="0"/>
              <a:t>, calcule el valor de la resistencia que determina la frecuencia de corte (R3) y las resistencias de ganancia en la red de retroalimentación (R1/R2). Además, grafique la respuesta en frecuencia esperada del filtro.</a:t>
            </a:r>
            <a:endParaRPr lang="es-MX" sz="1200" dirty="0">
              <a:ea typeface="+mn-lt"/>
              <a:cs typeface="+mn-lt"/>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D94F7FEF-2F30-007A-4AA1-B386B5B661A7}"/>
                  </a:ext>
                </a:extLst>
              </p:cNvPr>
              <p:cNvSpPr txBox="1"/>
              <p:nvPr/>
            </p:nvSpPr>
            <p:spPr>
              <a:xfrm>
                <a:off x="459459" y="1736809"/>
                <a:ext cx="1622218" cy="392928"/>
              </a:xfrm>
              <a:prstGeom prst="rect">
                <a:avLst/>
              </a:prstGeom>
              <a:noFill/>
            </p:spPr>
            <p:txBody>
              <a:bodyPr wrap="square" lIns="0" tIns="0" rIns="0" bIns="0" rtlCol="0">
                <a:spAutoFit/>
              </a:bodyPr>
              <a:lstStyle/>
              <a:p>
                <a:r>
                  <a:rPr lang="es-ES" b="0" dirty="0"/>
                  <a:t>Fc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𝑅𝐶</m:t>
                        </m:r>
                      </m:den>
                    </m:f>
                  </m:oMath>
                </a14:m>
                <a:endParaRPr lang="es-CO" dirty="0"/>
              </a:p>
            </p:txBody>
          </p:sp>
        </mc:Choice>
        <mc:Fallback xmlns="">
          <p:sp>
            <p:nvSpPr>
              <p:cNvPr id="4" name="CuadroTexto 3">
                <a:extLst>
                  <a:ext uri="{FF2B5EF4-FFF2-40B4-BE49-F238E27FC236}">
                    <a16:creationId xmlns:a16="http://schemas.microsoft.com/office/drawing/2014/main" id="{D94F7FEF-2F30-007A-4AA1-B386B5B661A7}"/>
                  </a:ext>
                </a:extLst>
              </p:cNvPr>
              <p:cNvSpPr txBox="1">
                <a:spLocks noRot="1" noChangeAspect="1" noMove="1" noResize="1" noEditPoints="1" noAdjustHandles="1" noChangeArrowheads="1" noChangeShapeType="1" noTextEdit="1"/>
              </p:cNvSpPr>
              <p:nvPr/>
            </p:nvSpPr>
            <p:spPr>
              <a:xfrm>
                <a:off x="459459" y="1736809"/>
                <a:ext cx="1622218" cy="392928"/>
              </a:xfrm>
              <a:prstGeom prst="rect">
                <a:avLst/>
              </a:prstGeom>
              <a:blipFill>
                <a:blip r:embed="rId4"/>
                <a:stretch>
                  <a:fillRect l="-8647" t="-4688" b="-21875"/>
                </a:stretch>
              </a:blipFill>
            </p:spPr>
            <p:txBody>
              <a:bodyPr/>
              <a:lstStyle/>
              <a:p>
                <a:r>
                  <a:rPr lang="es-CO">
                    <a:noFill/>
                  </a:rPr>
                  <a:t> </a:t>
                </a:r>
              </a:p>
            </p:txBody>
          </p:sp>
        </mc:Fallback>
      </mc:AlternateContent>
      <p:sp>
        <p:nvSpPr>
          <p:cNvPr id="5" name="Flecha: a la derecha 4">
            <a:extLst>
              <a:ext uri="{FF2B5EF4-FFF2-40B4-BE49-F238E27FC236}">
                <a16:creationId xmlns:a16="http://schemas.microsoft.com/office/drawing/2014/main" id="{79D289A1-12D6-0C85-43B1-01C0AA320527}"/>
              </a:ext>
            </a:extLst>
          </p:cNvPr>
          <p:cNvSpPr/>
          <p:nvPr/>
        </p:nvSpPr>
        <p:spPr>
          <a:xfrm>
            <a:off x="1673880" y="1695967"/>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8BC5E7B-4B65-C25C-0707-0FA12980365A}"/>
                  </a:ext>
                </a:extLst>
              </p:cNvPr>
              <p:cNvSpPr txBox="1"/>
              <p:nvPr/>
            </p:nvSpPr>
            <p:spPr>
              <a:xfrm>
                <a:off x="2484989" y="1715734"/>
                <a:ext cx="1622218" cy="392928"/>
              </a:xfrm>
              <a:prstGeom prst="rect">
                <a:avLst/>
              </a:prstGeom>
              <a:noFill/>
            </p:spPr>
            <p:txBody>
              <a:bodyPr wrap="square" lIns="0" tIns="0" rIns="0" bIns="0" rtlCol="0">
                <a:spAutoFit/>
              </a:bodyPr>
              <a:lstStyle/>
              <a:p>
                <a:r>
                  <a:rPr lang="es-ES" dirty="0"/>
                  <a:t>R3</a:t>
                </a:r>
                <a:r>
                  <a:rPr lang="es-ES" b="0" dirty="0"/>
                  <a:t>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𝐹𝑐𝐶</m:t>
                        </m:r>
                      </m:den>
                    </m:f>
                  </m:oMath>
                </a14:m>
                <a:endParaRPr lang="es-CO" dirty="0"/>
              </a:p>
            </p:txBody>
          </p:sp>
        </mc:Choice>
        <mc:Fallback xmlns="">
          <p:sp>
            <p:nvSpPr>
              <p:cNvPr id="6" name="CuadroTexto 5">
                <a:extLst>
                  <a:ext uri="{FF2B5EF4-FFF2-40B4-BE49-F238E27FC236}">
                    <a16:creationId xmlns:a16="http://schemas.microsoft.com/office/drawing/2014/main" id="{38BC5E7B-4B65-C25C-0707-0FA12980365A}"/>
                  </a:ext>
                </a:extLst>
              </p:cNvPr>
              <p:cNvSpPr txBox="1">
                <a:spLocks noRot="1" noChangeAspect="1" noMove="1" noResize="1" noEditPoints="1" noAdjustHandles="1" noChangeArrowheads="1" noChangeShapeType="1" noTextEdit="1"/>
              </p:cNvSpPr>
              <p:nvPr/>
            </p:nvSpPr>
            <p:spPr>
              <a:xfrm>
                <a:off x="2484989" y="1715734"/>
                <a:ext cx="1622218" cy="392928"/>
              </a:xfrm>
              <a:prstGeom prst="rect">
                <a:avLst/>
              </a:prstGeom>
              <a:blipFill>
                <a:blip r:embed="rId5"/>
                <a:stretch>
                  <a:fillRect l="-9023" t="-4615" b="-21538"/>
                </a:stretch>
              </a:blipFill>
            </p:spPr>
            <p:txBody>
              <a:bodyPr/>
              <a:lstStyle/>
              <a:p>
                <a:r>
                  <a:rPr lang="es-CO">
                    <a:noFill/>
                  </a:rPr>
                  <a:t> </a:t>
                </a:r>
              </a:p>
            </p:txBody>
          </p:sp>
        </mc:Fallback>
      </mc:AlternateContent>
      <p:sp>
        <p:nvSpPr>
          <p:cNvPr id="7" name="Flecha: a la derecha 6">
            <a:extLst>
              <a:ext uri="{FF2B5EF4-FFF2-40B4-BE49-F238E27FC236}">
                <a16:creationId xmlns:a16="http://schemas.microsoft.com/office/drawing/2014/main" id="{CE3D9C0C-3AC5-A8FC-4B76-600CECC0AAB7}"/>
              </a:ext>
            </a:extLst>
          </p:cNvPr>
          <p:cNvSpPr/>
          <p:nvPr/>
        </p:nvSpPr>
        <p:spPr>
          <a:xfrm>
            <a:off x="3784398" y="1700890"/>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18DEEC1-0DFC-2E98-D24D-09CFEB90B1F4}"/>
                  </a:ext>
                </a:extLst>
              </p:cNvPr>
              <p:cNvSpPr txBox="1"/>
              <p:nvPr/>
            </p:nvSpPr>
            <p:spPr>
              <a:xfrm>
                <a:off x="4693536" y="1715733"/>
                <a:ext cx="2776584" cy="423899"/>
              </a:xfrm>
              <a:prstGeom prst="rect">
                <a:avLst/>
              </a:prstGeom>
              <a:noFill/>
            </p:spPr>
            <p:txBody>
              <a:bodyPr wrap="square" lIns="0" tIns="0" rIns="0" bIns="0" rtlCol="0">
                <a:spAutoFit/>
              </a:bodyPr>
              <a:lstStyle/>
              <a:p>
                <a:r>
                  <a:rPr lang="es-ES" dirty="0"/>
                  <a:t>R3</a:t>
                </a:r>
                <a:r>
                  <a:rPr lang="es-ES" b="0" dirty="0"/>
                  <a:t>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 1000</m:t>
                        </m:r>
                        <m:r>
                          <a:rPr lang="es-ES" b="0" i="1" smtClean="0">
                            <a:latin typeface="Cambria Math" panose="02040503050406030204" pitchFamily="18" charset="0"/>
                            <a:ea typeface="Cambria Math" panose="02040503050406030204" pitchFamily="18" charset="0"/>
                          </a:rPr>
                          <m:t>h𝑧</m:t>
                        </m:r>
                        <m:r>
                          <a:rPr lang="es-ES" b="0" i="1" smtClean="0">
                            <a:latin typeface="Cambria Math" panose="02040503050406030204" pitchFamily="18" charset="0"/>
                            <a:ea typeface="Cambria Math" panose="02040503050406030204" pitchFamily="18" charset="0"/>
                          </a:rPr>
                          <m:t> 10</m:t>
                        </m:r>
                        <m:r>
                          <a:rPr lang="es-ES" b="0" i="1" smtClean="0">
                            <a:latin typeface="Cambria Math" panose="02040503050406030204" pitchFamily="18" charset="0"/>
                            <a:ea typeface="Cambria Math" panose="02040503050406030204" pitchFamily="18" charset="0"/>
                          </a:rPr>
                          <m:t>𝑛𝑓</m:t>
                        </m:r>
                      </m:den>
                    </m:f>
                    <m:r>
                      <a:rPr lang="es-ES" b="0" i="1" smtClean="0">
                        <a:latin typeface="Cambria Math" panose="02040503050406030204" pitchFamily="18" charset="0"/>
                      </a:rPr>
                      <m:t>=</m:t>
                    </m:r>
                  </m:oMath>
                </a14:m>
                <a:endParaRPr lang="es-CO" dirty="0"/>
              </a:p>
            </p:txBody>
          </p:sp>
        </mc:Choice>
        <mc:Fallback xmlns="">
          <p:sp>
            <p:nvSpPr>
              <p:cNvPr id="8" name="CuadroTexto 7">
                <a:extLst>
                  <a:ext uri="{FF2B5EF4-FFF2-40B4-BE49-F238E27FC236}">
                    <a16:creationId xmlns:a16="http://schemas.microsoft.com/office/drawing/2014/main" id="{218DEEC1-0DFC-2E98-D24D-09CFEB90B1F4}"/>
                  </a:ext>
                </a:extLst>
              </p:cNvPr>
              <p:cNvSpPr txBox="1">
                <a:spLocks noRot="1" noChangeAspect="1" noMove="1" noResize="1" noEditPoints="1" noAdjustHandles="1" noChangeArrowheads="1" noChangeShapeType="1" noTextEdit="1"/>
              </p:cNvSpPr>
              <p:nvPr/>
            </p:nvSpPr>
            <p:spPr>
              <a:xfrm>
                <a:off x="4693536" y="1715733"/>
                <a:ext cx="2776584" cy="423899"/>
              </a:xfrm>
              <a:prstGeom prst="rect">
                <a:avLst/>
              </a:prstGeom>
              <a:blipFill>
                <a:blip r:embed="rId6"/>
                <a:stretch>
                  <a:fillRect l="-5275" t="-4286" b="-18571"/>
                </a:stretch>
              </a:blipFill>
            </p:spPr>
            <p:txBody>
              <a:bodyPr/>
              <a:lstStyle/>
              <a:p>
                <a:r>
                  <a:rPr lang="es-CO">
                    <a:noFill/>
                  </a:rPr>
                  <a:t> </a:t>
                </a:r>
              </a:p>
            </p:txBody>
          </p:sp>
        </mc:Fallback>
      </mc:AlternateContent>
      <p:sp>
        <p:nvSpPr>
          <p:cNvPr id="14" name="CuadroTexto 13">
            <a:extLst>
              <a:ext uri="{FF2B5EF4-FFF2-40B4-BE49-F238E27FC236}">
                <a16:creationId xmlns:a16="http://schemas.microsoft.com/office/drawing/2014/main" id="{7C1E0DEF-D604-0E9F-C9A3-1779DDF21161}"/>
              </a:ext>
            </a:extLst>
          </p:cNvPr>
          <p:cNvSpPr txBox="1"/>
          <p:nvPr/>
        </p:nvSpPr>
        <p:spPr>
          <a:xfrm>
            <a:off x="475568" y="2645354"/>
            <a:ext cx="5349160" cy="276999"/>
          </a:xfrm>
          <a:prstGeom prst="rect">
            <a:avLst/>
          </a:prstGeom>
          <a:noFill/>
        </p:spPr>
        <p:txBody>
          <a:bodyPr wrap="square" lIns="91440" tIns="45720" rIns="91440" bIns="45720" anchor="t">
            <a:spAutoFit/>
          </a:bodyPr>
          <a:lstStyle>
            <a:defPPr>
              <a:defRPr lang="es-ES"/>
            </a:defPPr>
            <a:lvl1pPr marL="285750" indent="-285750">
              <a:buFont typeface="Arial"/>
              <a:buChar char="•"/>
              <a:defRPr sz="1200"/>
            </a:lvl1pPr>
          </a:lstStyle>
          <a:p>
            <a:r>
              <a:rPr lang="es-ES" dirty="0"/>
              <a:t>Por lo tanto, la ganancia de banda de paso del filtro, AF, se expresa como: 2.</a:t>
            </a:r>
            <a:endParaRPr lang="es-CO" dirty="0"/>
          </a:p>
        </p:txBody>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9A65D19-2E2D-582F-AB26-C9402946D929}"/>
                  </a:ext>
                </a:extLst>
              </p:cNvPr>
              <p:cNvSpPr txBox="1"/>
              <p:nvPr/>
            </p:nvSpPr>
            <p:spPr>
              <a:xfrm>
                <a:off x="1295769" y="3183891"/>
                <a:ext cx="1364476"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𝐴𝑓</m:t>
                      </m:r>
                      <m:r>
                        <a:rPr lang="es-ES" b="0" i="1" smtClean="0">
                          <a:latin typeface="Cambria Math" panose="02040503050406030204" pitchFamily="18" charset="0"/>
                        </a:rPr>
                        <m:t>=1+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oMath>
                  </m:oMathPara>
                </a14:m>
                <a:endParaRPr lang="es-CO" dirty="0"/>
              </a:p>
            </p:txBody>
          </p:sp>
        </mc:Choice>
        <mc:Fallback xmlns="">
          <p:sp>
            <p:nvSpPr>
              <p:cNvPr id="16" name="CuadroTexto 15">
                <a:extLst>
                  <a:ext uri="{FF2B5EF4-FFF2-40B4-BE49-F238E27FC236}">
                    <a16:creationId xmlns:a16="http://schemas.microsoft.com/office/drawing/2014/main" id="{D9A65D19-2E2D-582F-AB26-C9402946D929}"/>
                  </a:ext>
                </a:extLst>
              </p:cNvPr>
              <p:cNvSpPr txBox="1">
                <a:spLocks noRot="1" noChangeAspect="1" noMove="1" noResize="1" noEditPoints="1" noAdjustHandles="1" noChangeArrowheads="1" noChangeShapeType="1" noTextEdit="1"/>
              </p:cNvSpPr>
              <p:nvPr/>
            </p:nvSpPr>
            <p:spPr>
              <a:xfrm>
                <a:off x="1295769" y="3183891"/>
                <a:ext cx="1364476" cy="518604"/>
              </a:xfrm>
              <a:prstGeom prst="rect">
                <a:avLst/>
              </a:prstGeom>
              <a:blipFill>
                <a:blip r:embed="rId7"/>
                <a:stretch>
                  <a:fillRect/>
                </a:stretch>
              </a:blipFill>
            </p:spPr>
            <p:txBody>
              <a:bodyPr/>
              <a:lstStyle/>
              <a:p>
                <a:r>
                  <a:rPr lang="es-CO">
                    <a:noFill/>
                  </a:rPr>
                  <a:t> </a:t>
                </a:r>
              </a:p>
            </p:txBody>
          </p:sp>
        </mc:Fallback>
      </mc:AlternateContent>
      <p:sp>
        <p:nvSpPr>
          <p:cNvPr id="17" name="Flecha: a la derecha 16">
            <a:extLst>
              <a:ext uri="{FF2B5EF4-FFF2-40B4-BE49-F238E27FC236}">
                <a16:creationId xmlns:a16="http://schemas.microsoft.com/office/drawing/2014/main" id="{D6C2399E-AC4D-DB21-C2A2-675882568F04}"/>
              </a:ext>
            </a:extLst>
          </p:cNvPr>
          <p:cNvSpPr/>
          <p:nvPr/>
        </p:nvSpPr>
        <p:spPr>
          <a:xfrm>
            <a:off x="2899703" y="3266454"/>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BFDA786B-475C-622F-0AD4-DFFBC158A940}"/>
                  </a:ext>
                </a:extLst>
              </p:cNvPr>
              <p:cNvSpPr txBox="1"/>
              <p:nvPr/>
            </p:nvSpPr>
            <p:spPr>
              <a:xfrm>
                <a:off x="3750622" y="3275015"/>
                <a:ext cx="1070806" cy="391839"/>
              </a:xfrm>
              <a:prstGeom prst="rect">
                <a:avLst/>
              </a:prstGeom>
              <a:noFill/>
            </p:spPr>
            <p:txBody>
              <a:bodyPr wrap="none" lIns="0" tIns="0" rIns="0" bIns="0" rtlCol="0">
                <a:spAutoFit/>
              </a:bodyPr>
              <a:lstStyle/>
              <a:p>
                <a:r>
                  <a:rPr lang="es-ES" b="0" dirty="0"/>
                  <a:t>2 </a:t>
                </a:r>
                <a14:m>
                  <m:oMath xmlns:m="http://schemas.openxmlformats.org/officeDocument/2006/math">
                    <m:r>
                      <a:rPr lang="es-ES" b="0" i="1" smtClean="0">
                        <a:latin typeface="Cambria Math" panose="02040503050406030204" pitchFamily="18" charset="0"/>
                      </a:rPr>
                      <m:t>=1+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oMath>
                </a14:m>
                <a:endParaRPr lang="es-CO" dirty="0"/>
              </a:p>
            </p:txBody>
          </p:sp>
        </mc:Choice>
        <mc:Fallback xmlns="">
          <p:sp>
            <p:nvSpPr>
              <p:cNvPr id="20" name="CuadroTexto 19">
                <a:extLst>
                  <a:ext uri="{FF2B5EF4-FFF2-40B4-BE49-F238E27FC236}">
                    <a16:creationId xmlns:a16="http://schemas.microsoft.com/office/drawing/2014/main" id="{BFDA786B-475C-622F-0AD4-DFFBC158A940}"/>
                  </a:ext>
                </a:extLst>
              </p:cNvPr>
              <p:cNvSpPr txBox="1">
                <a:spLocks noRot="1" noChangeAspect="1" noMove="1" noResize="1" noEditPoints="1" noAdjustHandles="1" noChangeArrowheads="1" noChangeShapeType="1" noTextEdit="1"/>
              </p:cNvSpPr>
              <p:nvPr/>
            </p:nvSpPr>
            <p:spPr>
              <a:xfrm>
                <a:off x="3750622" y="3275015"/>
                <a:ext cx="1070806" cy="391839"/>
              </a:xfrm>
              <a:prstGeom prst="rect">
                <a:avLst/>
              </a:prstGeom>
              <a:blipFill>
                <a:blip r:embed="rId8"/>
                <a:stretch>
                  <a:fillRect l="-13068" t="-4615" r="-3977" b="-21538"/>
                </a:stretch>
              </a:blipFill>
            </p:spPr>
            <p:txBody>
              <a:bodyPr/>
              <a:lstStyle/>
              <a:p>
                <a:r>
                  <a:rPr lang="es-CO">
                    <a:noFill/>
                  </a:rPr>
                  <a:t> </a:t>
                </a:r>
              </a:p>
            </p:txBody>
          </p:sp>
        </mc:Fallback>
      </mc:AlternateContent>
      <p:sp>
        <p:nvSpPr>
          <p:cNvPr id="21" name="Flecha: a la derecha 20">
            <a:extLst>
              <a:ext uri="{FF2B5EF4-FFF2-40B4-BE49-F238E27FC236}">
                <a16:creationId xmlns:a16="http://schemas.microsoft.com/office/drawing/2014/main" id="{B60E283A-6D64-3385-5FAC-D98E9932F86F}"/>
              </a:ext>
            </a:extLst>
          </p:cNvPr>
          <p:cNvSpPr/>
          <p:nvPr/>
        </p:nvSpPr>
        <p:spPr>
          <a:xfrm>
            <a:off x="5253575" y="3271905"/>
            <a:ext cx="566959" cy="39292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EFE7648B-4676-74CC-8B62-6B5D355E3EC7}"/>
                  </a:ext>
                </a:extLst>
              </p:cNvPr>
              <p:cNvSpPr txBox="1"/>
              <p:nvPr/>
            </p:nvSpPr>
            <p:spPr>
              <a:xfrm>
                <a:off x="6072938" y="3271905"/>
                <a:ext cx="809517"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𝑅</m:t>
                          </m:r>
                          <m:r>
                            <a:rPr lang="es-ES" b="0" i="1" smtClean="0">
                              <a:latin typeface="Cambria Math" panose="02040503050406030204" pitchFamily="18" charset="0"/>
                            </a:rPr>
                            <m:t>2</m:t>
                          </m:r>
                        </m:num>
                        <m:den>
                          <m:r>
                            <a:rPr lang="es-ES" b="0" i="1" smtClean="0">
                              <a:latin typeface="Cambria Math" panose="02040503050406030204" pitchFamily="18" charset="0"/>
                            </a:rPr>
                            <m:t>𝑅</m:t>
                          </m:r>
                          <m:r>
                            <a:rPr lang="es-ES" b="0" i="1" smtClean="0">
                              <a:latin typeface="Cambria Math" panose="02040503050406030204" pitchFamily="18" charset="0"/>
                            </a:rPr>
                            <m:t>1</m:t>
                          </m:r>
                        </m:den>
                      </m:f>
                      <m:r>
                        <a:rPr lang="es-ES" b="0" i="1" smtClean="0">
                          <a:latin typeface="Cambria Math" panose="02040503050406030204" pitchFamily="18" charset="0"/>
                        </a:rPr>
                        <m:t>=1</m:t>
                      </m:r>
                    </m:oMath>
                  </m:oMathPara>
                </a14:m>
                <a:endParaRPr lang="es-CO" dirty="0"/>
              </a:p>
            </p:txBody>
          </p:sp>
        </mc:Choice>
        <mc:Fallback xmlns="">
          <p:sp>
            <p:nvSpPr>
              <p:cNvPr id="22" name="CuadroTexto 21">
                <a:extLst>
                  <a:ext uri="{FF2B5EF4-FFF2-40B4-BE49-F238E27FC236}">
                    <a16:creationId xmlns:a16="http://schemas.microsoft.com/office/drawing/2014/main" id="{EFE7648B-4676-74CC-8B62-6B5D355E3EC7}"/>
                  </a:ext>
                </a:extLst>
              </p:cNvPr>
              <p:cNvSpPr txBox="1">
                <a:spLocks noRot="1" noChangeAspect="1" noMove="1" noResize="1" noEditPoints="1" noAdjustHandles="1" noChangeArrowheads="1" noChangeShapeType="1" noTextEdit="1"/>
              </p:cNvSpPr>
              <p:nvPr/>
            </p:nvSpPr>
            <p:spPr>
              <a:xfrm>
                <a:off x="6072938" y="3271905"/>
                <a:ext cx="809517" cy="518604"/>
              </a:xfrm>
              <a:prstGeom prst="rect">
                <a:avLst/>
              </a:prstGeom>
              <a:blipFill>
                <a:blip r:embed="rId9"/>
                <a:stretch>
                  <a:fillRect/>
                </a:stretch>
              </a:blipFill>
            </p:spPr>
            <p:txBody>
              <a:bodyPr/>
              <a:lstStyle/>
              <a:p>
                <a:r>
                  <a:rPr lang="es-CO">
                    <a:noFill/>
                  </a:rPr>
                  <a:t> </a:t>
                </a:r>
              </a:p>
            </p:txBody>
          </p:sp>
        </mc:Fallback>
      </mc:AlternateContent>
      <p:sp>
        <p:nvSpPr>
          <p:cNvPr id="24" name="CuadroTexto 23">
            <a:extLst>
              <a:ext uri="{FF2B5EF4-FFF2-40B4-BE49-F238E27FC236}">
                <a16:creationId xmlns:a16="http://schemas.microsoft.com/office/drawing/2014/main" id="{7B22D7B6-4227-3918-2756-CFB7A30FB65A}"/>
              </a:ext>
            </a:extLst>
          </p:cNvPr>
          <p:cNvSpPr txBox="1"/>
          <p:nvPr/>
        </p:nvSpPr>
        <p:spPr>
          <a:xfrm>
            <a:off x="519691" y="4339700"/>
            <a:ext cx="7663331" cy="646331"/>
          </a:xfrm>
          <a:prstGeom prst="rect">
            <a:avLst/>
          </a:prstGeom>
          <a:noFill/>
        </p:spPr>
        <p:txBody>
          <a:bodyPr wrap="square" lIns="91440" tIns="45720" rIns="91440" bIns="45720" anchor="t">
            <a:spAutoFit/>
          </a:bodyPr>
          <a:lstStyle>
            <a:defPPr>
              <a:defRPr lang="es-ES"/>
            </a:defPPr>
            <a:lvl1pPr marL="285750" indent="-285750">
              <a:buFont typeface="Arial"/>
              <a:buChar char="•"/>
              <a:defRPr sz="1200"/>
            </a:lvl1pPr>
          </a:lstStyle>
          <a:p>
            <a:r>
              <a:rPr lang="es-ES" dirty="0"/>
              <a:t>Por lo tanto, la resistencia R1 debe ser igual a la resistencia R2, ya que la ganancia de banda de paso, AF = 2. Por lo tanto, podemos seleccionar un valor adecuado para las dos resistencias, por ejemplo, 10 </a:t>
            </a:r>
            <a:r>
              <a:rPr lang="es-ES" dirty="0" err="1"/>
              <a:t>kΩ</a:t>
            </a:r>
            <a:r>
              <a:rPr lang="es-ES" dirty="0"/>
              <a:t> cada una para ambas resistencias de retroalimentación.</a:t>
            </a:r>
            <a:endParaRPr lang="es-CO" dirty="0"/>
          </a:p>
        </p:txBody>
      </p:sp>
    </p:spTree>
    <p:custDataLst>
      <p:tags r:id="rId1"/>
    </p:custDataLst>
    <p:extLst>
      <p:ext uri="{BB962C8B-B14F-4D97-AF65-F5344CB8AC3E}">
        <p14:creationId xmlns:p14="http://schemas.microsoft.com/office/powerpoint/2010/main" val="1408472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D6EA9-A5FA-0885-B29B-87509BE93E64}"/>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F854100D-EB0F-EE08-DA9C-13D4C9B1F7BF}"/>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C25E76E5-3766-DCD5-37E6-D00D48131B20}"/>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Ejemplo</a:t>
            </a:r>
            <a:endParaRPr lang="en-US" dirty="0"/>
          </a:p>
        </p:txBody>
      </p:sp>
      <p:sp>
        <p:nvSpPr>
          <p:cNvPr id="18" name="Marcador de número de diapositiva 3">
            <a:extLst>
              <a:ext uri="{FF2B5EF4-FFF2-40B4-BE49-F238E27FC236}">
                <a16:creationId xmlns:a16="http://schemas.microsoft.com/office/drawing/2014/main" id="{023B0C68-CCB8-9C2C-DAA7-B0E3D8406729}"/>
              </a:ext>
            </a:extLst>
          </p:cNvPr>
          <p:cNvSpPr txBox="1">
            <a:spLocks/>
          </p:cNvSpPr>
          <p:nvPr/>
        </p:nvSpPr>
        <p:spPr>
          <a:xfrm>
            <a:off x="8649325" y="5885920"/>
            <a:ext cx="444357"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19" name="Título 1">
            <a:extLst>
              <a:ext uri="{FF2B5EF4-FFF2-40B4-BE49-F238E27FC236}">
                <a16:creationId xmlns:a16="http://schemas.microsoft.com/office/drawing/2014/main" id="{CAB51048-6BE6-032D-B285-ACE397C8241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sp>
        <p:nvSpPr>
          <p:cNvPr id="3" name="CuadroTexto 9">
            <a:extLst>
              <a:ext uri="{FF2B5EF4-FFF2-40B4-BE49-F238E27FC236}">
                <a16:creationId xmlns:a16="http://schemas.microsoft.com/office/drawing/2014/main" id="{789A39D7-453E-B495-63D3-8D72BD7E3D25}"/>
              </a:ext>
            </a:extLst>
          </p:cNvPr>
          <p:cNvSpPr txBox="1"/>
          <p:nvPr/>
        </p:nvSpPr>
        <p:spPr>
          <a:xfrm>
            <a:off x="46418" y="545619"/>
            <a:ext cx="7671118" cy="461665"/>
          </a:xfrm>
          <a:prstGeom prst="rect">
            <a:avLst/>
          </a:prstGeom>
          <a:noFill/>
        </p:spPr>
        <p:txBody>
          <a:bodyPr wrap="square" lIns="91440" tIns="45720" rIns="91440" bIns="45720" anchor="t">
            <a:spAutoFit/>
          </a:bodyPr>
          <a:lstStyle/>
          <a:p>
            <a:pPr marL="285750" indent="-285750">
              <a:buFont typeface="Arial"/>
              <a:buChar char="•"/>
            </a:pPr>
            <a:r>
              <a:rPr lang="es-ES" sz="1200" dirty="0"/>
              <a:t>Los datos para el diagrama de Bode de la respuesta en frecuencia se pueden obtener sustituyendo los valores obtenidos anteriormente en un rango de frecuencia de 100 Hz a 100 kHz en la ecuación de la ganancia de tensión:</a:t>
            </a:r>
            <a:endParaRPr lang="es-MX" sz="1200" dirty="0">
              <a:ea typeface="+mn-lt"/>
              <a:cs typeface="+mn-lt"/>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3EE179B-49CA-2328-CECF-ECEB103CF0B1}"/>
                  </a:ext>
                </a:extLst>
              </p:cNvPr>
              <p:cNvSpPr txBox="1"/>
              <p:nvPr/>
            </p:nvSpPr>
            <p:spPr>
              <a:xfrm>
                <a:off x="261463" y="3291686"/>
                <a:ext cx="3068532" cy="1106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𝐺𝑉</m:t>
                      </m:r>
                      <m:r>
                        <a:rPr lang="es-ES" b="0" i="1" smtClean="0">
                          <a:latin typeface="Cambria Math" panose="02040503050406030204" pitchFamily="18" charset="0"/>
                        </a:rPr>
                        <m:t>(</m:t>
                      </m:r>
                      <m:r>
                        <a:rPr lang="es-ES" b="0" i="1" smtClean="0">
                          <a:latin typeface="Cambria Math" panose="02040503050406030204" pitchFamily="18" charset="0"/>
                        </a:rPr>
                        <m:t>𝐴𝑣</m:t>
                      </m:r>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𝑉𝑜𝑢𝑡</m:t>
                          </m:r>
                        </m:num>
                        <m:den>
                          <m:r>
                            <a:rPr lang="es-ES" b="0" i="1" smtClean="0">
                              <a:latin typeface="Cambria Math" panose="02040503050406030204" pitchFamily="18" charset="0"/>
                            </a:rPr>
                            <m:t>𝑉𝑖𝑛</m:t>
                          </m:r>
                        </m:den>
                      </m:f>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𝐴𝑓</m:t>
                          </m:r>
                          <m:d>
                            <m:dPr>
                              <m:ctrlPr>
                                <a:rPr lang="es-ES" i="1">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𝑓</m:t>
                                  </m:r>
                                </m:num>
                                <m:den>
                                  <m:r>
                                    <a:rPr lang="es-ES" i="1">
                                      <a:latin typeface="Cambria Math" panose="02040503050406030204" pitchFamily="18" charset="0"/>
                                    </a:rPr>
                                    <m:t>𝑓𝑐</m:t>
                                  </m:r>
                                </m:den>
                              </m:f>
                            </m:e>
                          </m:d>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1+</m:t>
                              </m:r>
                              <m:d>
                                <m:dPr>
                                  <m:ctrlPr>
                                    <a:rPr lang="es-ES" b="0" i="1" smtClean="0">
                                      <a:latin typeface="Cambria Math" panose="02040503050406030204" pitchFamily="18" charset="0"/>
                                    </a:rPr>
                                  </m:ctrlPr>
                                </m:dPr>
                                <m:e>
                                  <m:f>
                                    <m:fPr>
                                      <m:ctrlPr>
                                        <a:rPr lang="es-ES" i="1">
                                          <a:latin typeface="Cambria Math" panose="02040503050406030204" pitchFamily="18" charset="0"/>
                                        </a:rPr>
                                      </m:ctrlPr>
                                    </m:fPr>
                                    <m:num>
                                      <m:r>
                                        <a:rPr lang="es-ES" i="1">
                                          <a:latin typeface="Cambria Math" panose="02040503050406030204" pitchFamily="18" charset="0"/>
                                        </a:rPr>
                                        <m:t>𝑓</m:t>
                                      </m:r>
                                    </m:num>
                                    <m:den>
                                      <m:r>
                                        <a:rPr lang="es-ES" i="1">
                                          <a:latin typeface="Cambria Math" panose="02040503050406030204" pitchFamily="18" charset="0"/>
                                        </a:rPr>
                                        <m:t>𝑓𝑐</m:t>
                                      </m:r>
                                    </m:den>
                                  </m:f>
                                </m:e>
                              </m:d>
                            </m:e>
                          </m:rad>
                        </m:den>
                      </m:f>
                    </m:oMath>
                  </m:oMathPara>
                </a14:m>
                <a:endParaRPr lang="es-CO" dirty="0"/>
              </a:p>
            </p:txBody>
          </p:sp>
        </mc:Choice>
        <mc:Fallback xmlns="">
          <p:sp>
            <p:nvSpPr>
              <p:cNvPr id="2" name="CuadroTexto 1">
                <a:extLst>
                  <a:ext uri="{FF2B5EF4-FFF2-40B4-BE49-F238E27FC236}">
                    <a16:creationId xmlns:a16="http://schemas.microsoft.com/office/drawing/2014/main" id="{A3EE179B-49CA-2328-CECF-ECEB103CF0B1}"/>
                  </a:ext>
                </a:extLst>
              </p:cNvPr>
              <p:cNvSpPr txBox="1">
                <a:spLocks noRot="1" noChangeAspect="1" noMove="1" noResize="1" noEditPoints="1" noAdjustHandles="1" noChangeArrowheads="1" noChangeShapeType="1" noTextEdit="1"/>
              </p:cNvSpPr>
              <p:nvPr/>
            </p:nvSpPr>
            <p:spPr>
              <a:xfrm>
                <a:off x="261463" y="3291686"/>
                <a:ext cx="3068532" cy="1106778"/>
              </a:xfrm>
              <a:prstGeom prst="rect">
                <a:avLst/>
              </a:prstGeom>
              <a:blipFill>
                <a:blip r:embed="rId4"/>
                <a:stretch>
                  <a:fillRect/>
                </a:stretch>
              </a:blipFill>
            </p:spPr>
            <p:txBody>
              <a:bodyPr/>
              <a:lstStyle/>
              <a:p>
                <a:r>
                  <a:rPr lang="es-CO">
                    <a:noFill/>
                  </a:rPr>
                  <a:t> </a:t>
                </a:r>
              </a:p>
            </p:txBody>
          </p:sp>
        </mc:Fallback>
      </mc:AlternateContent>
      <p:sp>
        <p:nvSpPr>
          <p:cNvPr id="5" name="CuadroTexto 4">
            <a:extLst>
              <a:ext uri="{FF2B5EF4-FFF2-40B4-BE49-F238E27FC236}">
                <a16:creationId xmlns:a16="http://schemas.microsoft.com/office/drawing/2014/main" id="{E2160A00-D490-2BEB-D8CE-7FDA566D2D1C}"/>
              </a:ext>
            </a:extLst>
          </p:cNvPr>
          <p:cNvSpPr txBox="1"/>
          <p:nvPr/>
        </p:nvSpPr>
        <p:spPr>
          <a:xfrm>
            <a:off x="5340096" y="1174979"/>
            <a:ext cx="1572768" cy="369332"/>
          </a:xfrm>
          <a:prstGeom prst="rect">
            <a:avLst/>
          </a:prstGeom>
          <a:noFill/>
        </p:spPr>
        <p:txBody>
          <a:bodyPr wrap="square">
            <a:spAutoFit/>
          </a:bodyPr>
          <a:lstStyle/>
          <a:p>
            <a:r>
              <a:rPr lang="es-ES" dirty="0"/>
              <a:t>Tabla de datos</a:t>
            </a:r>
            <a:endParaRPr lang="es-CO" dirty="0"/>
          </a:p>
        </p:txBody>
      </p:sp>
      <p:graphicFrame>
        <p:nvGraphicFramePr>
          <p:cNvPr id="6" name="Tabla 5">
            <a:extLst>
              <a:ext uri="{FF2B5EF4-FFF2-40B4-BE49-F238E27FC236}">
                <a16:creationId xmlns:a16="http://schemas.microsoft.com/office/drawing/2014/main" id="{E2B693C7-2EF5-54C7-4081-7C1D6758C37D}"/>
              </a:ext>
            </a:extLst>
          </p:cNvPr>
          <p:cNvGraphicFramePr>
            <a:graphicFrameLocks noGrp="1"/>
          </p:cNvGraphicFramePr>
          <p:nvPr>
            <p:extLst>
              <p:ext uri="{D42A27DB-BD31-4B8C-83A1-F6EECF244321}">
                <p14:modId xmlns:p14="http://schemas.microsoft.com/office/powerpoint/2010/main" val="3922974280"/>
              </p:ext>
            </p:extLst>
          </p:nvPr>
        </p:nvGraphicFramePr>
        <p:xfrm>
          <a:off x="4233672" y="1812664"/>
          <a:ext cx="4215383" cy="3855720"/>
        </p:xfrm>
        <a:graphic>
          <a:graphicData uri="http://schemas.openxmlformats.org/drawingml/2006/table">
            <a:tbl>
              <a:tblPr firstRow="1" bandRow="1">
                <a:tableStyleId>{5940675A-B579-460E-94D1-54222C63F5DA}</a:tableStyleId>
              </a:tblPr>
              <a:tblGrid>
                <a:gridCol w="1228059">
                  <a:extLst>
                    <a:ext uri="{9D8B030D-6E8A-4147-A177-3AD203B41FA5}">
                      <a16:colId xmlns:a16="http://schemas.microsoft.com/office/drawing/2014/main" val="2178752725"/>
                    </a:ext>
                  </a:extLst>
                </a:gridCol>
                <a:gridCol w="1493662">
                  <a:extLst>
                    <a:ext uri="{9D8B030D-6E8A-4147-A177-3AD203B41FA5}">
                      <a16:colId xmlns:a16="http://schemas.microsoft.com/office/drawing/2014/main" val="2414019844"/>
                    </a:ext>
                  </a:extLst>
                </a:gridCol>
                <a:gridCol w="1493662">
                  <a:extLst>
                    <a:ext uri="{9D8B030D-6E8A-4147-A177-3AD203B41FA5}">
                      <a16:colId xmlns:a16="http://schemas.microsoft.com/office/drawing/2014/main" val="3989288498"/>
                    </a:ext>
                  </a:extLst>
                </a:gridCol>
              </a:tblGrid>
              <a:tr h="370840">
                <a:tc>
                  <a:txBody>
                    <a:bodyPr/>
                    <a:lstStyle/>
                    <a:p>
                      <a:pPr algn="ctr"/>
                      <a:r>
                        <a:rPr lang="es-ES" sz="1400" dirty="0"/>
                        <a:t>Frecuencia</a:t>
                      </a:r>
                    </a:p>
                    <a:p>
                      <a:pPr algn="ctr"/>
                      <a:r>
                        <a:rPr lang="es-ES" sz="1400" dirty="0"/>
                        <a:t>(Hz)</a:t>
                      </a:r>
                      <a:endParaRPr lang="es-CO" sz="1400" dirty="0"/>
                    </a:p>
                  </a:txBody>
                  <a:tcPr/>
                </a:tc>
                <a:tc>
                  <a:txBody>
                    <a:bodyPr/>
                    <a:lstStyle/>
                    <a:p>
                      <a:pPr algn="ctr"/>
                      <a:r>
                        <a:rPr lang="es-ES" sz="1400" dirty="0"/>
                        <a:t>Ganancia de voltaje (Vout/</a:t>
                      </a:r>
                      <a:r>
                        <a:rPr lang="es-ES" sz="1400" dirty="0" err="1"/>
                        <a:t>Vin</a:t>
                      </a:r>
                      <a:r>
                        <a:rPr lang="es-ES" sz="1400" dirty="0"/>
                        <a:t>)</a:t>
                      </a:r>
                      <a:endParaRPr lang="es-CO" sz="1400" dirty="0"/>
                    </a:p>
                  </a:txBody>
                  <a:tcPr/>
                </a:tc>
                <a:tc>
                  <a:txBody>
                    <a:bodyPr/>
                    <a:lstStyle/>
                    <a:p>
                      <a:pPr algn="ctr"/>
                      <a:r>
                        <a:rPr lang="es-ES" sz="1400" dirty="0"/>
                        <a:t>Ganancia (dB)</a:t>
                      </a:r>
                    </a:p>
                    <a:p>
                      <a:pPr algn="ctr"/>
                      <a:r>
                        <a:rPr lang="es-ES" sz="1400" dirty="0"/>
                        <a:t>20log(Vout/</a:t>
                      </a:r>
                      <a:r>
                        <a:rPr lang="es-ES" sz="1400" dirty="0" err="1"/>
                        <a:t>Vin</a:t>
                      </a:r>
                      <a:r>
                        <a:rPr lang="es-ES" sz="1400" dirty="0"/>
                        <a:t>)</a:t>
                      </a:r>
                      <a:endParaRPr lang="es-CO" sz="1400" dirty="0"/>
                    </a:p>
                  </a:txBody>
                  <a:tcPr/>
                </a:tc>
                <a:extLst>
                  <a:ext uri="{0D108BD9-81ED-4DB2-BD59-A6C34878D82A}">
                    <a16:rowId xmlns:a16="http://schemas.microsoft.com/office/drawing/2014/main" val="1237548183"/>
                  </a:ext>
                </a:extLst>
              </a:tr>
              <a:tr h="370840">
                <a:tc>
                  <a:txBody>
                    <a:bodyPr/>
                    <a:lstStyle/>
                    <a:p>
                      <a:pPr algn="ctr"/>
                      <a:r>
                        <a:rPr lang="es-ES" sz="1400" dirty="0"/>
                        <a:t>100</a:t>
                      </a:r>
                      <a:endParaRPr lang="es-CO" sz="1400" dirty="0"/>
                    </a:p>
                  </a:txBody>
                  <a:tcPr/>
                </a:tc>
                <a:tc>
                  <a:txBody>
                    <a:bodyPr/>
                    <a:lstStyle/>
                    <a:p>
                      <a:endParaRPr lang="es-CO" sz="1400" dirty="0"/>
                    </a:p>
                  </a:txBody>
                  <a:tcPr/>
                </a:tc>
                <a:tc>
                  <a:txBody>
                    <a:bodyPr/>
                    <a:lstStyle/>
                    <a:p>
                      <a:endParaRPr lang="es-CO" sz="1400"/>
                    </a:p>
                  </a:txBody>
                  <a:tcPr/>
                </a:tc>
                <a:extLst>
                  <a:ext uri="{0D108BD9-81ED-4DB2-BD59-A6C34878D82A}">
                    <a16:rowId xmlns:a16="http://schemas.microsoft.com/office/drawing/2014/main" val="3050640296"/>
                  </a:ext>
                </a:extLst>
              </a:tr>
              <a:tr h="370840">
                <a:tc>
                  <a:txBody>
                    <a:bodyPr/>
                    <a:lstStyle/>
                    <a:p>
                      <a:pPr algn="ctr"/>
                      <a:r>
                        <a:rPr lang="es-ES" sz="1400" dirty="0"/>
                        <a:t>200</a:t>
                      </a:r>
                      <a:endParaRPr lang="es-CO" sz="1400" dirty="0"/>
                    </a:p>
                  </a:txBody>
                  <a:tcPr/>
                </a:tc>
                <a:tc>
                  <a:txBody>
                    <a:bodyPr/>
                    <a:lstStyle/>
                    <a:p>
                      <a:endParaRPr lang="es-CO" sz="1400"/>
                    </a:p>
                  </a:txBody>
                  <a:tcPr/>
                </a:tc>
                <a:tc>
                  <a:txBody>
                    <a:bodyPr/>
                    <a:lstStyle/>
                    <a:p>
                      <a:endParaRPr lang="es-CO" sz="1400"/>
                    </a:p>
                  </a:txBody>
                  <a:tcPr/>
                </a:tc>
                <a:extLst>
                  <a:ext uri="{0D108BD9-81ED-4DB2-BD59-A6C34878D82A}">
                    <a16:rowId xmlns:a16="http://schemas.microsoft.com/office/drawing/2014/main" val="2662528183"/>
                  </a:ext>
                </a:extLst>
              </a:tr>
              <a:tr h="370840">
                <a:tc>
                  <a:txBody>
                    <a:bodyPr/>
                    <a:lstStyle/>
                    <a:p>
                      <a:pPr algn="ctr"/>
                      <a:r>
                        <a:rPr lang="es-ES" sz="1400" dirty="0"/>
                        <a:t>500</a:t>
                      </a:r>
                      <a:endParaRPr lang="es-CO" sz="1400" dirty="0"/>
                    </a:p>
                  </a:txBody>
                  <a:tcPr/>
                </a:tc>
                <a:tc>
                  <a:txBody>
                    <a:bodyPr/>
                    <a:lstStyle/>
                    <a:p>
                      <a:endParaRPr lang="es-CO" sz="1400"/>
                    </a:p>
                  </a:txBody>
                  <a:tcPr/>
                </a:tc>
                <a:tc>
                  <a:txBody>
                    <a:bodyPr/>
                    <a:lstStyle/>
                    <a:p>
                      <a:endParaRPr lang="es-CO" sz="1400"/>
                    </a:p>
                  </a:txBody>
                  <a:tcPr/>
                </a:tc>
                <a:extLst>
                  <a:ext uri="{0D108BD9-81ED-4DB2-BD59-A6C34878D82A}">
                    <a16:rowId xmlns:a16="http://schemas.microsoft.com/office/drawing/2014/main" val="2809079113"/>
                  </a:ext>
                </a:extLst>
              </a:tr>
              <a:tr h="370840">
                <a:tc>
                  <a:txBody>
                    <a:bodyPr/>
                    <a:lstStyle/>
                    <a:p>
                      <a:pPr algn="ctr"/>
                      <a:r>
                        <a:rPr lang="es-ES" sz="1400" dirty="0"/>
                        <a:t>800</a:t>
                      </a:r>
                      <a:endParaRPr lang="es-CO" sz="1400" dirty="0"/>
                    </a:p>
                  </a:txBody>
                  <a:tcPr/>
                </a:tc>
                <a:tc>
                  <a:txBody>
                    <a:bodyPr/>
                    <a:lstStyle/>
                    <a:p>
                      <a:endParaRPr lang="es-CO" sz="1400" dirty="0"/>
                    </a:p>
                  </a:txBody>
                  <a:tcPr/>
                </a:tc>
                <a:tc>
                  <a:txBody>
                    <a:bodyPr/>
                    <a:lstStyle/>
                    <a:p>
                      <a:endParaRPr lang="es-CO" sz="1400"/>
                    </a:p>
                  </a:txBody>
                  <a:tcPr/>
                </a:tc>
                <a:extLst>
                  <a:ext uri="{0D108BD9-81ED-4DB2-BD59-A6C34878D82A}">
                    <a16:rowId xmlns:a16="http://schemas.microsoft.com/office/drawing/2014/main" val="3633198144"/>
                  </a:ext>
                </a:extLst>
              </a:tr>
              <a:tr h="370840">
                <a:tc>
                  <a:txBody>
                    <a:bodyPr/>
                    <a:lstStyle/>
                    <a:p>
                      <a:pPr algn="ctr"/>
                      <a:r>
                        <a:rPr lang="es-ES" sz="1400" dirty="0"/>
                        <a:t>1000</a:t>
                      </a:r>
                      <a:endParaRPr lang="es-CO" sz="1400" dirty="0"/>
                    </a:p>
                  </a:txBody>
                  <a:tcPr/>
                </a:tc>
                <a:tc>
                  <a:txBody>
                    <a:bodyPr/>
                    <a:lstStyle/>
                    <a:p>
                      <a:endParaRPr lang="es-CO" sz="1400"/>
                    </a:p>
                  </a:txBody>
                  <a:tcPr/>
                </a:tc>
                <a:tc>
                  <a:txBody>
                    <a:bodyPr/>
                    <a:lstStyle/>
                    <a:p>
                      <a:endParaRPr lang="es-CO" sz="1400" dirty="0"/>
                    </a:p>
                  </a:txBody>
                  <a:tcPr/>
                </a:tc>
                <a:extLst>
                  <a:ext uri="{0D108BD9-81ED-4DB2-BD59-A6C34878D82A}">
                    <a16:rowId xmlns:a16="http://schemas.microsoft.com/office/drawing/2014/main" val="638807468"/>
                  </a:ext>
                </a:extLst>
              </a:tr>
              <a:tr h="370840">
                <a:tc>
                  <a:txBody>
                    <a:bodyPr/>
                    <a:lstStyle/>
                    <a:p>
                      <a:pPr algn="ctr"/>
                      <a:r>
                        <a:rPr lang="es-ES" sz="1400" dirty="0"/>
                        <a:t>3000</a:t>
                      </a:r>
                      <a:endParaRPr lang="es-CO" sz="1400" dirty="0"/>
                    </a:p>
                  </a:txBody>
                  <a:tcPr/>
                </a:tc>
                <a:tc>
                  <a:txBody>
                    <a:bodyPr/>
                    <a:lstStyle/>
                    <a:p>
                      <a:endParaRPr lang="es-CO" sz="1400"/>
                    </a:p>
                  </a:txBody>
                  <a:tcPr/>
                </a:tc>
                <a:tc>
                  <a:txBody>
                    <a:bodyPr/>
                    <a:lstStyle/>
                    <a:p>
                      <a:endParaRPr lang="es-CO" sz="1400" dirty="0"/>
                    </a:p>
                  </a:txBody>
                  <a:tcPr/>
                </a:tc>
                <a:extLst>
                  <a:ext uri="{0D108BD9-81ED-4DB2-BD59-A6C34878D82A}">
                    <a16:rowId xmlns:a16="http://schemas.microsoft.com/office/drawing/2014/main" val="770213071"/>
                  </a:ext>
                </a:extLst>
              </a:tr>
              <a:tr h="370840">
                <a:tc>
                  <a:txBody>
                    <a:bodyPr/>
                    <a:lstStyle/>
                    <a:p>
                      <a:pPr algn="ctr"/>
                      <a:r>
                        <a:rPr lang="es-ES" sz="1400" dirty="0"/>
                        <a:t>10000</a:t>
                      </a:r>
                      <a:endParaRPr lang="es-CO" sz="1400" dirty="0"/>
                    </a:p>
                  </a:txBody>
                  <a:tcPr/>
                </a:tc>
                <a:tc>
                  <a:txBody>
                    <a:bodyPr/>
                    <a:lstStyle/>
                    <a:p>
                      <a:endParaRPr lang="es-CO" sz="1400"/>
                    </a:p>
                  </a:txBody>
                  <a:tcPr/>
                </a:tc>
                <a:tc>
                  <a:txBody>
                    <a:bodyPr/>
                    <a:lstStyle/>
                    <a:p>
                      <a:endParaRPr lang="es-CO" sz="1400" dirty="0"/>
                    </a:p>
                  </a:txBody>
                  <a:tcPr/>
                </a:tc>
                <a:extLst>
                  <a:ext uri="{0D108BD9-81ED-4DB2-BD59-A6C34878D82A}">
                    <a16:rowId xmlns:a16="http://schemas.microsoft.com/office/drawing/2014/main" val="3125643"/>
                  </a:ext>
                </a:extLst>
              </a:tr>
              <a:tr h="370840">
                <a:tc>
                  <a:txBody>
                    <a:bodyPr/>
                    <a:lstStyle/>
                    <a:p>
                      <a:pPr algn="ctr"/>
                      <a:r>
                        <a:rPr lang="es-ES" sz="1400" dirty="0"/>
                        <a:t>50000</a:t>
                      </a:r>
                      <a:endParaRPr lang="es-CO" sz="1400" dirty="0"/>
                    </a:p>
                  </a:txBody>
                  <a:tcPr/>
                </a:tc>
                <a:tc>
                  <a:txBody>
                    <a:bodyPr/>
                    <a:lstStyle/>
                    <a:p>
                      <a:endParaRPr lang="es-CO" sz="1400"/>
                    </a:p>
                  </a:txBody>
                  <a:tcPr/>
                </a:tc>
                <a:tc>
                  <a:txBody>
                    <a:bodyPr/>
                    <a:lstStyle/>
                    <a:p>
                      <a:endParaRPr lang="es-CO" sz="1400" dirty="0"/>
                    </a:p>
                  </a:txBody>
                  <a:tcPr/>
                </a:tc>
                <a:extLst>
                  <a:ext uri="{0D108BD9-81ED-4DB2-BD59-A6C34878D82A}">
                    <a16:rowId xmlns:a16="http://schemas.microsoft.com/office/drawing/2014/main" val="3685883483"/>
                  </a:ext>
                </a:extLst>
              </a:tr>
              <a:tr h="370840">
                <a:tc>
                  <a:txBody>
                    <a:bodyPr/>
                    <a:lstStyle/>
                    <a:p>
                      <a:pPr algn="ctr"/>
                      <a:r>
                        <a:rPr lang="es-ES" sz="1400" dirty="0"/>
                        <a:t>100000</a:t>
                      </a:r>
                      <a:endParaRPr lang="es-CO" sz="1400" dirty="0"/>
                    </a:p>
                  </a:txBody>
                  <a:tcPr/>
                </a:tc>
                <a:tc>
                  <a:txBody>
                    <a:bodyPr/>
                    <a:lstStyle/>
                    <a:p>
                      <a:endParaRPr lang="es-CO" sz="1400" dirty="0"/>
                    </a:p>
                  </a:txBody>
                  <a:tcPr/>
                </a:tc>
                <a:tc>
                  <a:txBody>
                    <a:bodyPr/>
                    <a:lstStyle/>
                    <a:p>
                      <a:endParaRPr lang="es-CO" sz="1400" dirty="0"/>
                    </a:p>
                  </a:txBody>
                  <a:tcPr/>
                </a:tc>
                <a:extLst>
                  <a:ext uri="{0D108BD9-81ED-4DB2-BD59-A6C34878D82A}">
                    <a16:rowId xmlns:a16="http://schemas.microsoft.com/office/drawing/2014/main" val="2924079856"/>
                  </a:ext>
                </a:extLst>
              </a:tr>
            </a:tbl>
          </a:graphicData>
        </a:graphic>
      </p:graphicFrame>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A118B00C-66C0-8E3D-4076-1ABE9F9CBAE9}"/>
                  </a:ext>
                </a:extLst>
              </p:cNvPr>
              <p:cNvSpPr txBox="1"/>
              <p:nvPr/>
            </p:nvSpPr>
            <p:spPr>
              <a:xfrm>
                <a:off x="1270568" y="2028265"/>
                <a:ext cx="1622218" cy="392928"/>
              </a:xfrm>
              <a:prstGeom prst="rect">
                <a:avLst/>
              </a:prstGeom>
              <a:noFill/>
            </p:spPr>
            <p:txBody>
              <a:bodyPr wrap="square" lIns="0" tIns="0" rIns="0" bIns="0" rtlCol="0">
                <a:spAutoFit/>
              </a:bodyPr>
              <a:lstStyle/>
              <a:p>
                <a:r>
                  <a:rPr lang="es-ES" b="0" dirty="0"/>
                  <a:t>Fc </a:t>
                </a:r>
                <a14:m>
                  <m:oMath xmlns:m="http://schemas.openxmlformats.org/officeDocument/2006/math">
                    <m:r>
                      <a:rPr lang="es-ES" b="0" i="1" smtClean="0">
                        <a:latin typeface="Cambria Math" panose="02040503050406030204" pitchFamily="18" charset="0"/>
                      </a:rPr>
                      <m:t>= </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𝜋</m:t>
                        </m:r>
                        <m:r>
                          <a:rPr lang="es-ES" b="0" i="1" smtClean="0">
                            <a:latin typeface="Cambria Math" panose="02040503050406030204" pitchFamily="18" charset="0"/>
                            <a:ea typeface="Cambria Math" panose="02040503050406030204" pitchFamily="18" charset="0"/>
                          </a:rPr>
                          <m:t>𝑅𝐶</m:t>
                        </m:r>
                      </m:den>
                    </m:f>
                  </m:oMath>
                </a14:m>
                <a:endParaRPr lang="es-CO" dirty="0"/>
              </a:p>
            </p:txBody>
          </p:sp>
        </mc:Choice>
        <mc:Fallback xmlns="">
          <p:sp>
            <p:nvSpPr>
              <p:cNvPr id="7" name="CuadroTexto 6">
                <a:extLst>
                  <a:ext uri="{FF2B5EF4-FFF2-40B4-BE49-F238E27FC236}">
                    <a16:creationId xmlns:a16="http://schemas.microsoft.com/office/drawing/2014/main" id="{A118B00C-66C0-8E3D-4076-1ABE9F9CBAE9}"/>
                  </a:ext>
                </a:extLst>
              </p:cNvPr>
              <p:cNvSpPr txBox="1">
                <a:spLocks noRot="1" noChangeAspect="1" noMove="1" noResize="1" noEditPoints="1" noAdjustHandles="1" noChangeArrowheads="1" noChangeShapeType="1" noTextEdit="1"/>
              </p:cNvSpPr>
              <p:nvPr/>
            </p:nvSpPr>
            <p:spPr>
              <a:xfrm>
                <a:off x="1270568" y="2028265"/>
                <a:ext cx="1622218" cy="392928"/>
              </a:xfrm>
              <a:prstGeom prst="rect">
                <a:avLst/>
              </a:prstGeom>
              <a:blipFill>
                <a:blip r:embed="rId5"/>
                <a:stretch>
                  <a:fillRect l="-8614" t="-4688" b="-21875"/>
                </a:stretch>
              </a:blipFill>
            </p:spPr>
            <p:txBody>
              <a:bodyPr/>
              <a:lstStyle/>
              <a:p>
                <a:r>
                  <a:rPr lang="es-CO">
                    <a:noFill/>
                  </a:rPr>
                  <a:t> </a:t>
                </a:r>
              </a:p>
            </p:txBody>
          </p:sp>
        </mc:Fallback>
      </mc:AlternateContent>
      <p:sp>
        <p:nvSpPr>
          <p:cNvPr id="4" name="CuadroTexto 3">
            <a:extLst>
              <a:ext uri="{FF2B5EF4-FFF2-40B4-BE49-F238E27FC236}">
                <a16:creationId xmlns:a16="http://schemas.microsoft.com/office/drawing/2014/main" id="{9D343F93-2543-0240-F27C-993CE75B459A}"/>
              </a:ext>
            </a:extLst>
          </p:cNvPr>
          <p:cNvSpPr txBox="1"/>
          <p:nvPr/>
        </p:nvSpPr>
        <p:spPr>
          <a:xfrm>
            <a:off x="3179152" y="3802587"/>
            <a:ext cx="301686" cy="369332"/>
          </a:xfrm>
          <a:prstGeom prst="rect">
            <a:avLst/>
          </a:prstGeom>
          <a:noFill/>
        </p:spPr>
        <p:txBody>
          <a:bodyPr wrap="none" rtlCol="0">
            <a:spAutoFit/>
          </a:bodyPr>
          <a:lstStyle/>
          <a:p>
            <a:r>
              <a:rPr lang="es-ES" dirty="0"/>
              <a:t>2</a:t>
            </a:r>
            <a:endParaRPr lang="es-CO" dirty="0"/>
          </a:p>
        </p:txBody>
      </p:sp>
    </p:spTree>
    <p:custDataLst>
      <p:tags r:id="rId1"/>
    </p:custDataLst>
    <p:extLst>
      <p:ext uri="{BB962C8B-B14F-4D97-AF65-F5344CB8AC3E}">
        <p14:creationId xmlns:p14="http://schemas.microsoft.com/office/powerpoint/2010/main" val="307989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E8AF6-43A5-45BA-EEEA-EC129634753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45B77BE-074F-2B70-658D-80D536D436C9}"/>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4AE834D4-413C-67EB-14CB-3CCCA39456C2}"/>
              </a:ext>
            </a:extLst>
          </p:cNvPr>
          <p:cNvSpPr/>
          <p:nvPr/>
        </p:nvSpPr>
        <p:spPr>
          <a:xfrm>
            <a:off x="-2262" y="74589"/>
            <a:ext cx="8786340"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Resultados</a:t>
            </a:r>
            <a:endParaRPr lang="en-US" dirty="0"/>
          </a:p>
        </p:txBody>
      </p:sp>
      <p:sp>
        <p:nvSpPr>
          <p:cNvPr id="18" name="Marcador de número de diapositiva 3">
            <a:extLst>
              <a:ext uri="{FF2B5EF4-FFF2-40B4-BE49-F238E27FC236}">
                <a16:creationId xmlns:a16="http://schemas.microsoft.com/office/drawing/2014/main" id="{60BCA9E2-F9AE-DD9F-963A-D269555FF391}"/>
              </a:ext>
            </a:extLst>
          </p:cNvPr>
          <p:cNvSpPr txBox="1">
            <a:spLocks/>
          </p:cNvSpPr>
          <p:nvPr/>
        </p:nvSpPr>
        <p:spPr>
          <a:xfrm>
            <a:off x="8641080" y="5885920"/>
            <a:ext cx="45260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19" name="Título 1">
            <a:extLst>
              <a:ext uri="{FF2B5EF4-FFF2-40B4-BE49-F238E27FC236}">
                <a16:creationId xmlns:a16="http://schemas.microsoft.com/office/drawing/2014/main" id="{3A31D703-751A-01E4-6A48-5BA6820AF52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activos</a:t>
            </a:r>
            <a:endParaRPr lang="en-US" dirty="0">
              <a:solidFill>
                <a:schemeClr val="bg1"/>
              </a:solidFill>
            </a:endParaRPr>
          </a:p>
        </p:txBody>
      </p:sp>
      <p:graphicFrame>
        <p:nvGraphicFramePr>
          <p:cNvPr id="2" name="Tabla 1">
            <a:extLst>
              <a:ext uri="{FF2B5EF4-FFF2-40B4-BE49-F238E27FC236}">
                <a16:creationId xmlns:a16="http://schemas.microsoft.com/office/drawing/2014/main" id="{A9D53773-6AF1-90B2-0981-5318A19B98C8}"/>
              </a:ext>
            </a:extLst>
          </p:cNvPr>
          <p:cNvGraphicFramePr>
            <a:graphicFrameLocks noGrp="1"/>
          </p:cNvGraphicFramePr>
          <p:nvPr>
            <p:extLst>
              <p:ext uri="{D42A27DB-BD31-4B8C-83A1-F6EECF244321}">
                <p14:modId xmlns:p14="http://schemas.microsoft.com/office/powerpoint/2010/main" val="878755405"/>
              </p:ext>
            </p:extLst>
          </p:nvPr>
        </p:nvGraphicFramePr>
        <p:xfrm>
          <a:off x="275717" y="1631160"/>
          <a:ext cx="3775075" cy="4069080"/>
        </p:xfrm>
        <a:graphic>
          <a:graphicData uri="http://schemas.openxmlformats.org/drawingml/2006/table">
            <a:tbl>
              <a:tblPr firstRow="1" bandRow="1">
                <a:tableStyleId>{5940675A-B579-460E-94D1-54222C63F5DA}</a:tableStyleId>
              </a:tblPr>
              <a:tblGrid>
                <a:gridCol w="1070889">
                  <a:extLst>
                    <a:ext uri="{9D8B030D-6E8A-4147-A177-3AD203B41FA5}">
                      <a16:colId xmlns:a16="http://schemas.microsoft.com/office/drawing/2014/main" val="2178752725"/>
                    </a:ext>
                  </a:extLst>
                </a:gridCol>
                <a:gridCol w="1302499">
                  <a:extLst>
                    <a:ext uri="{9D8B030D-6E8A-4147-A177-3AD203B41FA5}">
                      <a16:colId xmlns:a16="http://schemas.microsoft.com/office/drawing/2014/main" val="2414019844"/>
                    </a:ext>
                  </a:extLst>
                </a:gridCol>
                <a:gridCol w="1401687">
                  <a:extLst>
                    <a:ext uri="{9D8B030D-6E8A-4147-A177-3AD203B41FA5}">
                      <a16:colId xmlns:a16="http://schemas.microsoft.com/office/drawing/2014/main" val="3989288498"/>
                    </a:ext>
                  </a:extLst>
                </a:gridCol>
              </a:tblGrid>
              <a:tr h="370840">
                <a:tc>
                  <a:txBody>
                    <a:bodyPr/>
                    <a:lstStyle/>
                    <a:p>
                      <a:pPr algn="ctr"/>
                      <a:r>
                        <a:rPr lang="es-ES" sz="1400" dirty="0"/>
                        <a:t>Frecuencia</a:t>
                      </a:r>
                    </a:p>
                    <a:p>
                      <a:pPr algn="ctr"/>
                      <a:r>
                        <a:rPr lang="es-ES" sz="1400" dirty="0"/>
                        <a:t>(Hz)</a:t>
                      </a:r>
                      <a:endParaRPr lang="es-CO" sz="1400" dirty="0"/>
                    </a:p>
                  </a:txBody>
                  <a:tcPr/>
                </a:tc>
                <a:tc>
                  <a:txBody>
                    <a:bodyPr/>
                    <a:lstStyle/>
                    <a:p>
                      <a:pPr algn="ctr"/>
                      <a:r>
                        <a:rPr lang="es-ES" sz="1400" dirty="0"/>
                        <a:t>Ganancia de voltaje (Vout/</a:t>
                      </a:r>
                      <a:r>
                        <a:rPr lang="es-ES" sz="1400" dirty="0" err="1"/>
                        <a:t>Vin</a:t>
                      </a:r>
                      <a:r>
                        <a:rPr lang="es-ES" sz="1400" dirty="0"/>
                        <a:t>)</a:t>
                      </a:r>
                      <a:endParaRPr lang="es-CO" sz="1400" dirty="0"/>
                    </a:p>
                  </a:txBody>
                  <a:tcPr/>
                </a:tc>
                <a:tc>
                  <a:txBody>
                    <a:bodyPr/>
                    <a:lstStyle/>
                    <a:p>
                      <a:pPr algn="ctr"/>
                      <a:r>
                        <a:rPr lang="es-ES" sz="1400" dirty="0"/>
                        <a:t>Ganancia (dB)</a:t>
                      </a:r>
                    </a:p>
                    <a:p>
                      <a:pPr algn="ctr"/>
                      <a:r>
                        <a:rPr lang="es-ES" sz="1400" dirty="0"/>
                        <a:t>20log(Vout/</a:t>
                      </a:r>
                      <a:r>
                        <a:rPr lang="es-ES" sz="1400" dirty="0" err="1"/>
                        <a:t>Vin</a:t>
                      </a:r>
                      <a:r>
                        <a:rPr lang="es-ES" sz="1400" dirty="0"/>
                        <a:t>)</a:t>
                      </a:r>
                      <a:endParaRPr lang="es-CO" sz="1400" dirty="0"/>
                    </a:p>
                  </a:txBody>
                  <a:tcPr/>
                </a:tc>
                <a:extLst>
                  <a:ext uri="{0D108BD9-81ED-4DB2-BD59-A6C34878D82A}">
                    <a16:rowId xmlns:a16="http://schemas.microsoft.com/office/drawing/2014/main" val="1237548183"/>
                  </a:ext>
                </a:extLst>
              </a:tr>
              <a:tr h="370840">
                <a:tc>
                  <a:txBody>
                    <a:bodyPr/>
                    <a:lstStyle/>
                    <a:p>
                      <a:pPr algn="ctr"/>
                      <a:r>
                        <a:rPr lang="es-ES" sz="1400" dirty="0"/>
                        <a:t>100</a:t>
                      </a:r>
                      <a:endParaRPr lang="es-CO" sz="1400" dirty="0"/>
                    </a:p>
                  </a:txBody>
                  <a:tcPr/>
                </a:tc>
                <a:tc>
                  <a:txBody>
                    <a:bodyPr/>
                    <a:lstStyle/>
                    <a:p>
                      <a:pPr marL="0" algn="ctr" defTabSz="457200" rtl="0" eaLnBrk="1" latinLnBrk="0" hangingPunct="1">
                        <a:buNone/>
                      </a:pPr>
                      <a:r>
                        <a:rPr lang="es-CO" sz="1400" kern="1200" dirty="0">
                          <a:solidFill>
                            <a:schemeClr val="tx1"/>
                          </a:solidFill>
                          <a:latin typeface="+mn-lt"/>
                          <a:ea typeface="+mn-ea"/>
                          <a:cs typeface="+mn-cs"/>
                        </a:rPr>
                        <a:t>0.20</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-14.02</a:t>
                      </a:r>
                    </a:p>
                  </a:txBody>
                  <a:tcPr anchor="ctr"/>
                </a:tc>
                <a:extLst>
                  <a:ext uri="{0D108BD9-81ED-4DB2-BD59-A6C34878D82A}">
                    <a16:rowId xmlns:a16="http://schemas.microsoft.com/office/drawing/2014/main" val="3050640296"/>
                  </a:ext>
                </a:extLst>
              </a:tr>
              <a:tr h="370840">
                <a:tc>
                  <a:txBody>
                    <a:bodyPr/>
                    <a:lstStyle/>
                    <a:p>
                      <a:pPr algn="ctr"/>
                      <a:r>
                        <a:rPr lang="es-ES" sz="1400" dirty="0"/>
                        <a:t>200</a:t>
                      </a:r>
                      <a:endParaRPr lang="es-CO" sz="1400" dirty="0"/>
                    </a:p>
                  </a:txBody>
                  <a:tcPr/>
                </a:tc>
                <a:tc>
                  <a:txBody>
                    <a:bodyPr/>
                    <a:lstStyle/>
                    <a:p>
                      <a:pPr marL="0" algn="ctr" defTabSz="457200" rtl="0" eaLnBrk="1" latinLnBrk="0" hangingPunct="1">
                        <a:buNone/>
                      </a:pPr>
                      <a:r>
                        <a:rPr lang="es-CO" sz="1400" kern="1200" dirty="0">
                          <a:solidFill>
                            <a:schemeClr val="tx1"/>
                          </a:solidFill>
                          <a:latin typeface="+mn-lt"/>
                          <a:ea typeface="+mn-ea"/>
                          <a:cs typeface="+mn-cs"/>
                        </a:rPr>
                        <a:t>0.39</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-8.13</a:t>
                      </a:r>
                    </a:p>
                  </a:txBody>
                  <a:tcPr anchor="ctr"/>
                </a:tc>
                <a:extLst>
                  <a:ext uri="{0D108BD9-81ED-4DB2-BD59-A6C34878D82A}">
                    <a16:rowId xmlns:a16="http://schemas.microsoft.com/office/drawing/2014/main" val="2662528183"/>
                  </a:ext>
                </a:extLst>
              </a:tr>
              <a:tr h="370840">
                <a:tc>
                  <a:txBody>
                    <a:bodyPr/>
                    <a:lstStyle/>
                    <a:p>
                      <a:pPr algn="ctr"/>
                      <a:r>
                        <a:rPr lang="es-ES" sz="1400" dirty="0"/>
                        <a:t>500</a:t>
                      </a:r>
                      <a:endParaRPr lang="es-CO" sz="1400" dirty="0"/>
                    </a:p>
                  </a:txBody>
                  <a:tcPr/>
                </a:tc>
                <a:tc>
                  <a:txBody>
                    <a:bodyPr/>
                    <a:lstStyle/>
                    <a:p>
                      <a:pPr marL="0" algn="ctr" defTabSz="457200" rtl="0" eaLnBrk="1" latinLnBrk="0" hangingPunct="1">
                        <a:buNone/>
                      </a:pPr>
                      <a:r>
                        <a:rPr lang="es-CO" sz="1400" kern="1200" dirty="0">
                          <a:solidFill>
                            <a:schemeClr val="tx1"/>
                          </a:solidFill>
                          <a:latin typeface="+mn-lt"/>
                          <a:ea typeface="+mn-ea"/>
                          <a:cs typeface="+mn-cs"/>
                        </a:rPr>
                        <a:t>0.89</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-0.97</a:t>
                      </a:r>
                    </a:p>
                  </a:txBody>
                  <a:tcPr anchor="ctr"/>
                </a:tc>
                <a:extLst>
                  <a:ext uri="{0D108BD9-81ED-4DB2-BD59-A6C34878D82A}">
                    <a16:rowId xmlns:a16="http://schemas.microsoft.com/office/drawing/2014/main" val="2809079113"/>
                  </a:ext>
                </a:extLst>
              </a:tr>
              <a:tr h="370840">
                <a:tc>
                  <a:txBody>
                    <a:bodyPr/>
                    <a:lstStyle/>
                    <a:p>
                      <a:pPr algn="ctr"/>
                      <a:r>
                        <a:rPr lang="es-ES" sz="1400" dirty="0"/>
                        <a:t>800</a:t>
                      </a:r>
                      <a:endParaRPr lang="es-CO" sz="1400" dirty="0"/>
                    </a:p>
                  </a:txBody>
                  <a:tcPr/>
                </a:tc>
                <a:tc>
                  <a:txBody>
                    <a:bodyPr/>
                    <a:lstStyle/>
                    <a:p>
                      <a:pPr marL="0" algn="ctr" defTabSz="457200" rtl="0" eaLnBrk="1" latinLnBrk="0" hangingPunct="1">
                        <a:buNone/>
                      </a:pPr>
                      <a:r>
                        <a:rPr lang="es-CO" sz="1400" kern="1200" dirty="0">
                          <a:solidFill>
                            <a:schemeClr val="tx1"/>
                          </a:solidFill>
                          <a:latin typeface="+mn-lt"/>
                          <a:ea typeface="+mn-ea"/>
                          <a:cs typeface="+mn-cs"/>
                        </a:rPr>
                        <a:t>1.25</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1.93</a:t>
                      </a:r>
                    </a:p>
                  </a:txBody>
                  <a:tcPr anchor="ctr"/>
                </a:tc>
                <a:extLst>
                  <a:ext uri="{0D108BD9-81ED-4DB2-BD59-A6C34878D82A}">
                    <a16:rowId xmlns:a16="http://schemas.microsoft.com/office/drawing/2014/main" val="3633198144"/>
                  </a:ext>
                </a:extLst>
              </a:tr>
              <a:tr h="370840">
                <a:tc>
                  <a:txBody>
                    <a:bodyPr/>
                    <a:lstStyle/>
                    <a:p>
                      <a:pPr algn="ctr"/>
                      <a:r>
                        <a:rPr lang="es-ES" sz="1400" dirty="0"/>
                        <a:t>1000</a:t>
                      </a:r>
                      <a:endParaRPr lang="es-CO" sz="1400" dirty="0"/>
                    </a:p>
                  </a:txBody>
                  <a:tcPr/>
                </a:tc>
                <a:tc>
                  <a:txBody>
                    <a:bodyPr/>
                    <a:lstStyle/>
                    <a:p>
                      <a:pPr marL="0" algn="ctr" defTabSz="457200" rtl="0" eaLnBrk="1" latinLnBrk="0" hangingPunct="1">
                        <a:buNone/>
                      </a:pPr>
                      <a:r>
                        <a:rPr lang="es-CO" sz="1400" kern="1200" dirty="0">
                          <a:solidFill>
                            <a:schemeClr val="tx1"/>
                          </a:solidFill>
                          <a:latin typeface="+mn-lt"/>
                          <a:ea typeface="+mn-ea"/>
                          <a:cs typeface="+mn-cs"/>
                        </a:rPr>
                        <a:t>1.41</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3.01</a:t>
                      </a:r>
                    </a:p>
                  </a:txBody>
                  <a:tcPr anchor="ctr"/>
                </a:tc>
                <a:extLst>
                  <a:ext uri="{0D108BD9-81ED-4DB2-BD59-A6C34878D82A}">
                    <a16:rowId xmlns:a16="http://schemas.microsoft.com/office/drawing/2014/main" val="638807468"/>
                  </a:ext>
                </a:extLst>
              </a:tr>
              <a:tr h="370840">
                <a:tc>
                  <a:txBody>
                    <a:bodyPr/>
                    <a:lstStyle/>
                    <a:p>
                      <a:pPr algn="ctr"/>
                      <a:r>
                        <a:rPr lang="es-ES" sz="1400" dirty="0"/>
                        <a:t>3000</a:t>
                      </a:r>
                      <a:endParaRPr lang="es-CO" sz="1400" dirty="0"/>
                    </a:p>
                  </a:txBody>
                  <a:tcPr/>
                </a:tc>
                <a:tc>
                  <a:txBody>
                    <a:bodyPr/>
                    <a:lstStyle/>
                    <a:p>
                      <a:pPr marL="0" algn="ctr" defTabSz="457200" rtl="0" eaLnBrk="1" latinLnBrk="0" hangingPunct="1">
                        <a:buNone/>
                      </a:pPr>
                      <a:r>
                        <a:rPr lang="es-CO" sz="1400" kern="1200">
                          <a:solidFill>
                            <a:schemeClr val="tx1"/>
                          </a:solidFill>
                          <a:latin typeface="+mn-lt"/>
                          <a:ea typeface="+mn-ea"/>
                          <a:cs typeface="+mn-cs"/>
                        </a:rPr>
                        <a:t>1.90</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5.56</a:t>
                      </a:r>
                    </a:p>
                  </a:txBody>
                  <a:tcPr anchor="ctr"/>
                </a:tc>
                <a:extLst>
                  <a:ext uri="{0D108BD9-81ED-4DB2-BD59-A6C34878D82A}">
                    <a16:rowId xmlns:a16="http://schemas.microsoft.com/office/drawing/2014/main" val="770213071"/>
                  </a:ext>
                </a:extLst>
              </a:tr>
              <a:tr h="370840">
                <a:tc>
                  <a:txBody>
                    <a:bodyPr/>
                    <a:lstStyle/>
                    <a:p>
                      <a:pPr algn="ctr"/>
                      <a:r>
                        <a:rPr lang="es-ES" sz="1400" dirty="0"/>
                        <a:t>10000</a:t>
                      </a:r>
                      <a:endParaRPr lang="es-CO" sz="1400" dirty="0"/>
                    </a:p>
                  </a:txBody>
                  <a:tcPr/>
                </a:tc>
                <a:tc>
                  <a:txBody>
                    <a:bodyPr/>
                    <a:lstStyle/>
                    <a:p>
                      <a:pPr marL="0" algn="ctr" defTabSz="457200" rtl="0" eaLnBrk="1" latinLnBrk="0" hangingPunct="1">
                        <a:buNone/>
                      </a:pPr>
                      <a:r>
                        <a:rPr lang="es-CO" sz="1400" kern="1200">
                          <a:solidFill>
                            <a:schemeClr val="tx1"/>
                          </a:solidFill>
                          <a:latin typeface="+mn-lt"/>
                          <a:ea typeface="+mn-ea"/>
                          <a:cs typeface="+mn-cs"/>
                        </a:rPr>
                        <a:t>1.99</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5.98</a:t>
                      </a:r>
                    </a:p>
                  </a:txBody>
                  <a:tcPr anchor="ctr"/>
                </a:tc>
                <a:extLst>
                  <a:ext uri="{0D108BD9-81ED-4DB2-BD59-A6C34878D82A}">
                    <a16:rowId xmlns:a16="http://schemas.microsoft.com/office/drawing/2014/main" val="3125643"/>
                  </a:ext>
                </a:extLst>
              </a:tr>
              <a:tr h="370840">
                <a:tc>
                  <a:txBody>
                    <a:bodyPr/>
                    <a:lstStyle/>
                    <a:p>
                      <a:pPr algn="ctr"/>
                      <a:r>
                        <a:rPr lang="es-ES" sz="1400" dirty="0"/>
                        <a:t>50000</a:t>
                      </a:r>
                      <a:endParaRPr lang="es-CO" sz="1400" dirty="0"/>
                    </a:p>
                  </a:txBody>
                  <a:tcPr/>
                </a:tc>
                <a:tc>
                  <a:txBody>
                    <a:bodyPr/>
                    <a:lstStyle/>
                    <a:p>
                      <a:pPr marL="0" algn="ctr" defTabSz="457200" rtl="0" eaLnBrk="1" latinLnBrk="0" hangingPunct="1">
                        <a:buNone/>
                      </a:pPr>
                      <a:r>
                        <a:rPr lang="es-CO" sz="1400" kern="1200">
                          <a:solidFill>
                            <a:schemeClr val="tx1"/>
                          </a:solidFill>
                          <a:latin typeface="+mn-lt"/>
                          <a:ea typeface="+mn-ea"/>
                          <a:cs typeface="+mn-cs"/>
                        </a:rPr>
                        <a:t>2.00</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6.02</a:t>
                      </a:r>
                    </a:p>
                  </a:txBody>
                  <a:tcPr anchor="ctr"/>
                </a:tc>
                <a:extLst>
                  <a:ext uri="{0D108BD9-81ED-4DB2-BD59-A6C34878D82A}">
                    <a16:rowId xmlns:a16="http://schemas.microsoft.com/office/drawing/2014/main" val="3685883483"/>
                  </a:ext>
                </a:extLst>
              </a:tr>
              <a:tr h="370840">
                <a:tc>
                  <a:txBody>
                    <a:bodyPr/>
                    <a:lstStyle/>
                    <a:p>
                      <a:pPr algn="ctr"/>
                      <a:r>
                        <a:rPr lang="es-ES" sz="1400" dirty="0"/>
                        <a:t>100000</a:t>
                      </a:r>
                      <a:endParaRPr lang="es-CO" sz="1400" dirty="0"/>
                    </a:p>
                  </a:txBody>
                  <a:tcPr/>
                </a:tc>
                <a:tc>
                  <a:txBody>
                    <a:bodyPr/>
                    <a:lstStyle/>
                    <a:p>
                      <a:pPr marL="0" algn="ctr" defTabSz="457200" rtl="0" eaLnBrk="1" latinLnBrk="0" hangingPunct="1">
                        <a:buNone/>
                      </a:pPr>
                      <a:r>
                        <a:rPr lang="es-CO" sz="1400" kern="1200">
                          <a:solidFill>
                            <a:schemeClr val="tx1"/>
                          </a:solidFill>
                          <a:latin typeface="+mn-lt"/>
                          <a:ea typeface="+mn-ea"/>
                          <a:cs typeface="+mn-cs"/>
                        </a:rPr>
                        <a:t>2.00</a:t>
                      </a:r>
                    </a:p>
                  </a:txBody>
                  <a:tcPr anchor="ctr"/>
                </a:tc>
                <a:tc>
                  <a:txBody>
                    <a:bodyPr/>
                    <a:lstStyle/>
                    <a:p>
                      <a:pPr marL="0" algn="ctr" defTabSz="457200" rtl="0" eaLnBrk="1" latinLnBrk="0" hangingPunct="1">
                        <a:buNone/>
                      </a:pPr>
                      <a:r>
                        <a:rPr lang="es-CO" sz="1400" kern="1200" dirty="0">
                          <a:solidFill>
                            <a:schemeClr val="tx1"/>
                          </a:solidFill>
                          <a:latin typeface="+mn-lt"/>
                          <a:ea typeface="+mn-ea"/>
                          <a:cs typeface="+mn-cs"/>
                        </a:rPr>
                        <a:t>6.02</a:t>
                      </a:r>
                    </a:p>
                  </a:txBody>
                  <a:tcPr anchor="ctr"/>
                </a:tc>
                <a:extLst>
                  <a:ext uri="{0D108BD9-81ED-4DB2-BD59-A6C34878D82A}">
                    <a16:rowId xmlns:a16="http://schemas.microsoft.com/office/drawing/2014/main" val="2924079856"/>
                  </a:ext>
                </a:extLst>
              </a:tr>
            </a:tbl>
          </a:graphicData>
        </a:graphic>
      </p:graphicFrame>
      <p:sp>
        <p:nvSpPr>
          <p:cNvPr id="4" name="CuadroTexto 3">
            <a:extLst>
              <a:ext uri="{FF2B5EF4-FFF2-40B4-BE49-F238E27FC236}">
                <a16:creationId xmlns:a16="http://schemas.microsoft.com/office/drawing/2014/main" id="{638D8EB1-2194-CD09-9D04-E10580F3299A}"/>
              </a:ext>
            </a:extLst>
          </p:cNvPr>
          <p:cNvSpPr txBox="1"/>
          <p:nvPr/>
        </p:nvSpPr>
        <p:spPr>
          <a:xfrm>
            <a:off x="1323823" y="1157760"/>
            <a:ext cx="2330043" cy="307777"/>
          </a:xfrm>
          <a:prstGeom prst="rect">
            <a:avLst/>
          </a:prstGeom>
          <a:noFill/>
        </p:spPr>
        <p:txBody>
          <a:bodyPr wrap="square">
            <a:spAutoFit/>
          </a:bodyPr>
          <a:lstStyle/>
          <a:p>
            <a:r>
              <a:rPr lang="es-ES" sz="1400" dirty="0"/>
              <a:t>Tabla de resultados</a:t>
            </a:r>
            <a:endParaRPr lang="es-CO" sz="1400" dirty="0"/>
          </a:p>
        </p:txBody>
      </p:sp>
      <p:sp>
        <p:nvSpPr>
          <p:cNvPr id="6" name="CuadroTexto 5">
            <a:extLst>
              <a:ext uri="{FF2B5EF4-FFF2-40B4-BE49-F238E27FC236}">
                <a16:creationId xmlns:a16="http://schemas.microsoft.com/office/drawing/2014/main" id="{92BA029A-119F-3CE9-3D22-73C10E475A3F}"/>
              </a:ext>
            </a:extLst>
          </p:cNvPr>
          <p:cNvSpPr txBox="1"/>
          <p:nvPr/>
        </p:nvSpPr>
        <p:spPr>
          <a:xfrm>
            <a:off x="4829392" y="1847988"/>
            <a:ext cx="4608576" cy="307777"/>
          </a:xfrm>
          <a:prstGeom prst="rect">
            <a:avLst/>
          </a:prstGeom>
          <a:noFill/>
        </p:spPr>
        <p:txBody>
          <a:bodyPr wrap="square">
            <a:spAutoFit/>
          </a:bodyPr>
          <a:lstStyle/>
          <a:p>
            <a:r>
              <a:rPr lang="es-ES" sz="1400" dirty="0"/>
              <a:t>Diagrama de Bode de la respuesta en frecuencia </a:t>
            </a:r>
            <a:endParaRPr lang="es-CO" sz="1400" dirty="0"/>
          </a:p>
        </p:txBody>
      </p:sp>
      <p:pic>
        <p:nvPicPr>
          <p:cNvPr id="8" name="Imagen 7">
            <a:extLst>
              <a:ext uri="{FF2B5EF4-FFF2-40B4-BE49-F238E27FC236}">
                <a16:creationId xmlns:a16="http://schemas.microsoft.com/office/drawing/2014/main" id="{4186BABE-D900-F331-EC29-9195C2CE880D}"/>
              </a:ext>
            </a:extLst>
          </p:cNvPr>
          <p:cNvPicPr>
            <a:picLocks noChangeAspect="1"/>
          </p:cNvPicPr>
          <p:nvPr/>
        </p:nvPicPr>
        <p:blipFill>
          <a:blip r:embed="rId4"/>
          <a:stretch>
            <a:fillRect/>
          </a:stretch>
        </p:blipFill>
        <p:spPr>
          <a:xfrm>
            <a:off x="4288383" y="2388326"/>
            <a:ext cx="4574484" cy="2705759"/>
          </a:xfrm>
          <a:prstGeom prst="rect">
            <a:avLst/>
          </a:prstGeom>
        </p:spPr>
      </p:pic>
    </p:spTree>
    <p:custDataLst>
      <p:tags r:id="rId1"/>
    </p:custDataLst>
    <p:extLst>
      <p:ext uri="{BB962C8B-B14F-4D97-AF65-F5344CB8AC3E}">
        <p14:creationId xmlns:p14="http://schemas.microsoft.com/office/powerpoint/2010/main" val="191787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BDA3-1C0D-1877-08CB-DA9BEA04CD2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600201A-6A4D-3453-1763-D7CB402BC164}"/>
              </a:ext>
            </a:extLst>
          </p:cNvPr>
          <p:cNvSpPr/>
          <p:nvPr/>
        </p:nvSpPr>
        <p:spPr>
          <a:xfrm>
            <a:off x="261463" y="605790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4AA0EED2-BF07-135B-C2F8-1B40EEE58E05}"/>
              </a:ext>
            </a:extLst>
          </p:cNvPr>
          <p:cNvSpPr/>
          <p:nvPr/>
        </p:nvSpPr>
        <p:spPr>
          <a:xfrm>
            <a:off x="3139833" y="2890941"/>
            <a:ext cx="2864334"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Gracias por su atención</a:t>
            </a:r>
            <a:endParaRPr lang="en-US" dirty="0"/>
          </a:p>
        </p:txBody>
      </p:sp>
      <p:sp>
        <p:nvSpPr>
          <p:cNvPr id="18" name="Marcador de número de diapositiva 3">
            <a:extLst>
              <a:ext uri="{FF2B5EF4-FFF2-40B4-BE49-F238E27FC236}">
                <a16:creationId xmlns:a16="http://schemas.microsoft.com/office/drawing/2014/main" id="{6B2865B9-D8AB-9516-80D7-8FE731B21CDA}"/>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sp>
        <p:nvSpPr>
          <p:cNvPr id="19" name="Título 1">
            <a:extLst>
              <a:ext uri="{FF2B5EF4-FFF2-40B4-BE49-F238E27FC236}">
                <a16:creationId xmlns:a16="http://schemas.microsoft.com/office/drawing/2014/main" id="{01B4BDD4-118F-7F41-D6B9-C0D2E064B1B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Filtros pasivos</a:t>
            </a:r>
            <a:endParaRPr lang="en-US" dirty="0">
              <a:solidFill>
                <a:schemeClr val="bg1"/>
              </a:solidFill>
            </a:endParaRPr>
          </a:p>
        </p:txBody>
      </p:sp>
    </p:spTree>
    <p:custDataLst>
      <p:tags r:id="rId1"/>
    </p:custDataLst>
    <p:extLst>
      <p:ext uri="{BB962C8B-B14F-4D97-AF65-F5344CB8AC3E}">
        <p14:creationId xmlns:p14="http://schemas.microsoft.com/office/powerpoint/2010/main" val="25920771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68008-267B-42B0-9C9F-2DD9B1D5EE7A}">
  <ds:schemaRefs>
    <ds:schemaRef ds:uri="http://purl.org/dc/terms/"/>
    <ds:schemaRef ds:uri="http://purl.org/dc/dcmitype/"/>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http://www.w3.org/XML/1998/namespace"/>
    <ds:schemaRef ds:uri="http://schemas.microsoft.com/office/2006/documentManagement/types"/>
    <ds:schemaRef ds:uri="c0c46fdd-2a6c-49f1-bb4d-a6e06b52ee64"/>
  </ds:schemaRefs>
</ds:datastoreItem>
</file>

<file path=customXml/itemProps2.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3.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4030</TotalTime>
  <Words>1663</Words>
  <Application>Microsoft Office PowerPoint</Application>
  <PresentationFormat>Presentación en pantalla (4:3)</PresentationFormat>
  <Paragraphs>269</Paragraphs>
  <Slides>18</Slides>
  <Notes>17</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2</vt:i4>
      </vt:variant>
      <vt:variant>
        <vt:lpstr>Títulos de diapositiva</vt:lpstr>
      </vt:variant>
      <vt:variant>
        <vt:i4>18</vt:i4>
      </vt:variant>
    </vt:vector>
  </HeadingPairs>
  <TitlesOfParts>
    <vt:vector size="26" baseType="lpstr">
      <vt:lpstr>Arial</vt:lpstr>
      <vt:lpstr>Calibri</vt:lpstr>
      <vt:lpstr>Cambria Math</vt:lpstr>
      <vt:lpstr>Times New Roman</vt:lpstr>
      <vt:lpstr>Wingdings</vt:lpstr>
      <vt:lpstr>Tema de Office</vt:lpstr>
      <vt:lpstr>Imagen de mapa de bits</vt:lpstr>
      <vt:lpstr>Imagen</vt:lpstr>
      <vt:lpstr>Filtros activos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FIltros pasivos</dc:title>
  <dc:creator>Jenny Rojas</dc:creator>
  <cp:lastModifiedBy>Pedro Antonio Aya Parra</cp:lastModifiedBy>
  <cp:revision>1822</cp:revision>
  <dcterms:created xsi:type="dcterms:W3CDTF">2018-06-28T02:15:01Z</dcterms:created>
  <dcterms:modified xsi:type="dcterms:W3CDTF">2026-02-17T14:55:43Z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