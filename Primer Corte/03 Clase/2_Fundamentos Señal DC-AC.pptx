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61" r:id="rId4"/>
    <p:sldId id="278" r:id="rId5"/>
    <p:sldId id="292" r:id="rId6"/>
    <p:sldId id="279" r:id="rId7"/>
    <p:sldId id="280" r:id="rId8"/>
    <p:sldId id="281" r:id="rId9"/>
    <p:sldId id="282" r:id="rId10"/>
    <p:sldId id="283" r:id="rId11"/>
    <p:sldId id="284" r:id="rId12"/>
    <p:sldId id="286" r:id="rId13"/>
    <p:sldId id="285" r:id="rId14"/>
    <p:sldId id="289" r:id="rId15"/>
    <p:sldId id="306" r:id="rId16"/>
    <p:sldId id="288" r:id="rId17"/>
    <p:sldId id="290" r:id="rId18"/>
    <p:sldId id="291" r:id="rId19"/>
    <p:sldId id="301" r:id="rId20"/>
    <p:sldId id="293" r:id="rId21"/>
    <p:sldId id="294" r:id="rId22"/>
    <p:sldId id="295" r:id="rId23"/>
    <p:sldId id="296" r:id="rId24"/>
    <p:sldId id="297" r:id="rId25"/>
    <p:sldId id="298" r:id="rId26"/>
    <p:sldId id="299" r:id="rId27"/>
    <p:sldId id="302" r:id="rId28"/>
    <p:sldId id="300" r:id="rId29"/>
  </p:sldIdLst>
  <p:sldSz cx="9144000" cy="6858000" type="screen4x3"/>
  <p:notesSz cx="7772400" cy="10058400"/>
  <p:defaultText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5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1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1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1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1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1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2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2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2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3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3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4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4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4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5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5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5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58"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5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0"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62"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3"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4"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6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8"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0"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1"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6"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8"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9"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0"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1"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2"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3"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w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n 11" descr="cuadrado_azul.png"/>
          <p:cNvPicPr/>
          <p:nvPr/>
        </p:nvPicPr>
        <p:blipFill>
          <a:blip r:embed="rId14"/>
          <a:stretch/>
        </p:blipFill>
        <p:spPr>
          <a:xfrm>
            <a:off x="-18000" y="5860440"/>
            <a:ext cx="9179280" cy="1007280"/>
          </a:xfrm>
          <a:prstGeom prst="rect">
            <a:avLst/>
          </a:prstGeom>
          <a:ln w="0">
            <a:noFill/>
          </a:ln>
        </p:spPr>
      </p:pic>
      <p:pic>
        <p:nvPicPr>
          <p:cNvPr id="7" name="Imagen 12" descr="escudoPUJ_lateral.eps"/>
          <p:cNvPicPr/>
          <p:nvPr/>
        </p:nvPicPr>
        <p:blipFill>
          <a:blip r:embed="rId15"/>
          <a:stretch/>
        </p:blipFill>
        <p:spPr>
          <a:xfrm>
            <a:off x="6993720" y="5914440"/>
            <a:ext cx="1917720" cy="899280"/>
          </a:xfrm>
          <a:prstGeom prst="rect">
            <a:avLst/>
          </a:prstGeom>
          <a:ln w="0">
            <a:noFill/>
          </a:ln>
        </p:spPr>
      </p:pic>
      <p:sp>
        <p:nvSpPr>
          <p:cNvPr id="2" name="Subtítulo 2" hidden="1"/>
          <p:cNvSpPr/>
          <p:nvPr/>
        </p:nvSpPr>
        <p:spPr>
          <a:xfrm>
            <a:off x="5247000" y="6126120"/>
            <a:ext cx="1604520" cy="52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a:lnSpc>
                <a:spcPct val="100000"/>
              </a:lnSpc>
              <a:spcBef>
                <a:spcPts val="241"/>
              </a:spcBef>
              <a:buNone/>
              <a:tabLst>
                <a:tab pos="0" algn="l"/>
              </a:tabLst>
            </a:pPr>
            <a:r>
              <a:rPr lang="pt-BR" sz="1200" b="0" strike="noStrike" spc="-1">
                <a:solidFill>
                  <a:srgbClr val="FFFFFF"/>
                </a:solidFill>
                <a:latin typeface="Arial"/>
                <a:ea typeface="DejaVu Sans"/>
              </a:rPr>
              <a:t>Nombre o logo</a:t>
            </a:r>
            <a:endParaRPr lang="es-CO" sz="1200" b="0" strike="noStrike" spc="-1">
              <a:latin typeface="Arial"/>
            </a:endParaRPr>
          </a:p>
          <a:p>
            <a:pPr algn="ctr">
              <a:lnSpc>
                <a:spcPct val="100000"/>
              </a:lnSpc>
              <a:spcBef>
                <a:spcPts val="241"/>
              </a:spcBef>
              <a:buNone/>
              <a:tabLst>
                <a:tab pos="0" algn="l"/>
              </a:tabLst>
            </a:pPr>
            <a:r>
              <a:rPr lang="pt-BR" sz="1200" b="0" strike="noStrike" spc="-1">
                <a:solidFill>
                  <a:srgbClr val="FFFFFF"/>
                </a:solidFill>
                <a:latin typeface="Arial"/>
                <a:ea typeface="DejaVu Sans"/>
              </a:rPr>
              <a:t>de la dependencia</a:t>
            </a:r>
            <a:endParaRPr lang="es-CO" sz="1200" b="0" strike="noStrike" spc="-1">
              <a:latin typeface="Arial"/>
            </a:endParaRPr>
          </a:p>
        </p:txBody>
      </p:sp>
      <p:sp>
        <p:nvSpPr>
          <p:cNvPr id="3" name="Título 1" hidden="1"/>
          <p:cNvSpPr/>
          <p:nvPr/>
        </p:nvSpPr>
        <p:spPr>
          <a:xfrm>
            <a:off x="300960" y="6178320"/>
            <a:ext cx="433080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buNone/>
            </a:pPr>
            <a:r>
              <a:rPr lang="es-ES_tradnl" sz="1300" b="1" strike="noStrike" spc="-1">
                <a:solidFill>
                  <a:srgbClr val="FFFFFF"/>
                </a:solidFill>
                <a:latin typeface="Arial"/>
                <a:ea typeface="DejaVu Sans"/>
              </a:rPr>
              <a:t>Título de la presentación</a:t>
            </a:r>
            <a:endParaRPr lang="es-CO" sz="1300" b="0" strike="noStrike" spc="-1">
              <a:latin typeface="Arial"/>
            </a:endParaRPr>
          </a:p>
        </p:txBody>
      </p:sp>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s-CO" sz="4400" b="0" strike="noStrike" spc="-1">
                <a:latin typeface="Arial"/>
              </a:rPr>
              <a:t>Pulse para editar el formato del texto de título</a:t>
            </a:r>
          </a:p>
        </p:txBody>
      </p:sp>
      <p:sp>
        <p:nvSpPr>
          <p:cNvPr id="5"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CO"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CO"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CO" sz="2400" b="0" strike="noStrike" spc="-1">
                <a:latin typeface="Arial"/>
              </a:rPr>
              <a:t>Tercer nivel del esquema</a:t>
            </a:r>
          </a:p>
          <a:p>
            <a:pPr marL="1728000" lvl="3" indent="-216000">
              <a:spcBef>
                <a:spcPts val="567"/>
              </a:spcBef>
              <a:buClr>
                <a:srgbClr val="000000"/>
              </a:buClr>
              <a:buSzPct val="75000"/>
              <a:buFont typeface="Symbol" charset="2"/>
              <a:buChar char=""/>
            </a:pPr>
            <a:r>
              <a:rPr lang="es-CO" sz="2000" b="0" strike="noStrike" spc="-1">
                <a:latin typeface="Arial"/>
              </a:rPr>
              <a:t>Cuarto nivel del esquema</a:t>
            </a:r>
          </a:p>
          <a:p>
            <a:pPr marL="2160000" lvl="4" indent="-216000">
              <a:spcBef>
                <a:spcPts val="283"/>
              </a:spcBef>
              <a:buClr>
                <a:srgbClr val="000000"/>
              </a:buClr>
              <a:buSzPct val="45000"/>
              <a:buFont typeface="Wingdings" charset="2"/>
              <a:buChar char=""/>
            </a:pPr>
            <a:r>
              <a:rPr lang="es-CO" sz="2000" b="0" strike="noStrike" spc="-1">
                <a:latin typeface="Arial"/>
              </a:rPr>
              <a:t>Quinto nivel del esquema</a:t>
            </a:r>
          </a:p>
          <a:p>
            <a:pPr marL="2592000" lvl="5" indent="-216000">
              <a:spcBef>
                <a:spcPts val="283"/>
              </a:spcBef>
              <a:buClr>
                <a:srgbClr val="000000"/>
              </a:buClr>
              <a:buSzPct val="45000"/>
              <a:buFont typeface="Wingdings" charset="2"/>
              <a:buChar char=""/>
            </a:pPr>
            <a:r>
              <a:rPr lang="es-CO" sz="2000" b="0" strike="noStrike" spc="-1">
                <a:latin typeface="Arial"/>
              </a:rPr>
              <a:t>Sexto nivel del esquema</a:t>
            </a:r>
          </a:p>
          <a:p>
            <a:pPr marL="3024000" lvl="6" indent="-216000">
              <a:spcBef>
                <a:spcPts val="283"/>
              </a:spcBef>
              <a:buClr>
                <a:srgbClr val="000000"/>
              </a:buClr>
              <a:buSzPct val="45000"/>
              <a:buFont typeface="Wingdings" charset="2"/>
              <a:buChar char=""/>
            </a:pPr>
            <a:r>
              <a:rPr lang="es-CO"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Imagen 11" descr="cuadrado_azul.png"/>
          <p:cNvPicPr/>
          <p:nvPr/>
        </p:nvPicPr>
        <p:blipFill>
          <a:blip r:embed="rId14"/>
          <a:stretch/>
        </p:blipFill>
        <p:spPr>
          <a:xfrm>
            <a:off x="-18000" y="5860440"/>
            <a:ext cx="9179280" cy="1007280"/>
          </a:xfrm>
          <a:prstGeom prst="rect">
            <a:avLst/>
          </a:prstGeom>
          <a:ln w="0">
            <a:noFill/>
          </a:ln>
        </p:spPr>
      </p:pic>
      <p:pic>
        <p:nvPicPr>
          <p:cNvPr id="43" name="Imagen 12" descr="escudoPUJ_lateral.eps"/>
          <p:cNvPicPr/>
          <p:nvPr/>
        </p:nvPicPr>
        <p:blipFill>
          <a:blip r:embed="rId15"/>
          <a:stretch/>
        </p:blipFill>
        <p:spPr>
          <a:xfrm>
            <a:off x="6993720" y="5914440"/>
            <a:ext cx="1917720" cy="899280"/>
          </a:xfrm>
          <a:prstGeom prst="rect">
            <a:avLst/>
          </a:prstGeom>
          <a:ln w="0">
            <a:noFill/>
          </a:ln>
        </p:spPr>
      </p:pic>
      <p:sp>
        <p:nvSpPr>
          <p:cNvPr id="44" name="Subtítulo 2"/>
          <p:cNvSpPr/>
          <p:nvPr/>
        </p:nvSpPr>
        <p:spPr>
          <a:xfrm>
            <a:off x="5247000" y="6126120"/>
            <a:ext cx="1604520" cy="52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a:lnSpc>
                <a:spcPct val="100000"/>
              </a:lnSpc>
              <a:spcBef>
                <a:spcPts val="241"/>
              </a:spcBef>
              <a:buNone/>
              <a:tabLst>
                <a:tab pos="0" algn="l"/>
              </a:tabLst>
            </a:pPr>
            <a:r>
              <a:rPr lang="pt-BR" sz="1200" b="0" strike="noStrike" spc="-1">
                <a:solidFill>
                  <a:srgbClr val="FFFFFF"/>
                </a:solidFill>
                <a:latin typeface="Arial"/>
                <a:ea typeface="DejaVu Sans"/>
              </a:rPr>
              <a:t>Nombre o logo</a:t>
            </a:r>
            <a:endParaRPr lang="es-CO" sz="1200" b="0" strike="noStrike" spc="-1">
              <a:latin typeface="Arial"/>
            </a:endParaRPr>
          </a:p>
          <a:p>
            <a:pPr algn="ctr">
              <a:lnSpc>
                <a:spcPct val="100000"/>
              </a:lnSpc>
              <a:spcBef>
                <a:spcPts val="241"/>
              </a:spcBef>
              <a:buNone/>
              <a:tabLst>
                <a:tab pos="0" algn="l"/>
              </a:tabLst>
            </a:pPr>
            <a:r>
              <a:rPr lang="pt-BR" sz="1200" b="0" strike="noStrike" spc="-1">
                <a:solidFill>
                  <a:srgbClr val="FFFFFF"/>
                </a:solidFill>
                <a:latin typeface="Arial"/>
                <a:ea typeface="DejaVu Sans"/>
              </a:rPr>
              <a:t>de la dependencia</a:t>
            </a:r>
            <a:endParaRPr lang="es-CO" sz="1200" b="0" strike="noStrike" spc="-1">
              <a:latin typeface="Arial"/>
            </a:endParaRPr>
          </a:p>
        </p:txBody>
      </p:sp>
      <p:sp>
        <p:nvSpPr>
          <p:cNvPr id="45" name="Título 1"/>
          <p:cNvSpPr/>
          <p:nvPr/>
        </p:nvSpPr>
        <p:spPr>
          <a:xfrm>
            <a:off x="300960" y="6178320"/>
            <a:ext cx="433080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buNone/>
            </a:pPr>
            <a:r>
              <a:rPr lang="es-ES_tradnl" sz="1300" b="1" strike="noStrike" spc="-1">
                <a:solidFill>
                  <a:srgbClr val="FFFFFF"/>
                </a:solidFill>
                <a:latin typeface="Arial"/>
                <a:ea typeface="DejaVu Sans"/>
              </a:rPr>
              <a:t>Título de la presentación</a:t>
            </a:r>
            <a:endParaRPr lang="es-CO" sz="1300" b="0" strike="noStrike" spc="-1">
              <a:latin typeface="Arial"/>
            </a:endParaRPr>
          </a:p>
        </p:txBody>
      </p:sp>
      <p:sp>
        <p:nvSpPr>
          <p:cNvPr id="4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s-CO" sz="4400" b="0" strike="noStrike" spc="-1">
                <a:latin typeface="Arial"/>
              </a:rPr>
              <a:t>Pulse para editar el formato del texto de título</a:t>
            </a:r>
          </a:p>
        </p:txBody>
      </p:sp>
      <p:sp>
        <p:nvSpPr>
          <p:cNvPr id="47"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CO"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CO"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CO" sz="2400" b="0" strike="noStrike" spc="-1">
                <a:latin typeface="Arial"/>
              </a:rPr>
              <a:t>Tercer nivel del esquema</a:t>
            </a:r>
          </a:p>
          <a:p>
            <a:pPr marL="1728000" lvl="3" indent="-216000">
              <a:spcBef>
                <a:spcPts val="567"/>
              </a:spcBef>
              <a:buClr>
                <a:srgbClr val="000000"/>
              </a:buClr>
              <a:buSzPct val="75000"/>
              <a:buFont typeface="Symbol" charset="2"/>
              <a:buChar char=""/>
            </a:pPr>
            <a:r>
              <a:rPr lang="es-CO" sz="2000" b="0" strike="noStrike" spc="-1">
                <a:latin typeface="Arial"/>
              </a:rPr>
              <a:t>Cuarto nivel del esquema</a:t>
            </a:r>
          </a:p>
          <a:p>
            <a:pPr marL="2160000" lvl="4" indent="-216000">
              <a:spcBef>
                <a:spcPts val="283"/>
              </a:spcBef>
              <a:buClr>
                <a:srgbClr val="000000"/>
              </a:buClr>
              <a:buSzPct val="45000"/>
              <a:buFont typeface="Wingdings" charset="2"/>
              <a:buChar char=""/>
            </a:pPr>
            <a:r>
              <a:rPr lang="es-CO" sz="2000" b="0" strike="noStrike" spc="-1">
                <a:latin typeface="Arial"/>
              </a:rPr>
              <a:t>Quinto nivel del esquema</a:t>
            </a:r>
          </a:p>
          <a:p>
            <a:pPr marL="2592000" lvl="5" indent="-216000">
              <a:spcBef>
                <a:spcPts val="283"/>
              </a:spcBef>
              <a:buClr>
                <a:srgbClr val="000000"/>
              </a:buClr>
              <a:buSzPct val="45000"/>
              <a:buFont typeface="Wingdings" charset="2"/>
              <a:buChar char=""/>
            </a:pPr>
            <a:r>
              <a:rPr lang="es-CO" sz="2000" b="0" strike="noStrike" spc="-1">
                <a:latin typeface="Arial"/>
              </a:rPr>
              <a:t>Sexto nivel del esquema</a:t>
            </a:r>
          </a:p>
          <a:p>
            <a:pPr marL="3024000" lvl="6" indent="-216000">
              <a:spcBef>
                <a:spcPts val="283"/>
              </a:spcBef>
              <a:buClr>
                <a:srgbClr val="000000"/>
              </a:buClr>
              <a:buSzPct val="45000"/>
              <a:buFont typeface="Wingdings" charset="2"/>
              <a:buChar char=""/>
            </a:pPr>
            <a:r>
              <a:rPr lang="es-CO"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phet.colorado.edu/sims/html/charges-and-fields/latest/charges-and-fields_en.html"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 Id="rId6" Type="http://schemas.openxmlformats.org/officeDocument/2006/relationships/hyperlink" Target="https://www.youtube.com/watch?v=xooNGQwq_eQ&amp;t=5s" TargetMode="Externa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2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xml"/><Relationship Id="rId5" Type="http://schemas.openxmlformats.org/officeDocument/2006/relationships/image" Target="../media/image65.png"/><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ángulo 3"/>
          <p:cNvSpPr/>
          <p:nvPr/>
        </p:nvSpPr>
        <p:spPr>
          <a:xfrm>
            <a:off x="0" y="0"/>
            <a:ext cx="9143280" cy="6857280"/>
          </a:xfrm>
          <a:prstGeom prst="rect">
            <a:avLst/>
          </a:prstGeom>
          <a:gradFill rotWithShape="0">
            <a:gsLst>
              <a:gs pos="0">
                <a:srgbClr val="D0D0D0"/>
              </a:gs>
              <a:gs pos="100000">
                <a:srgbClr val="EDEDED"/>
              </a:gs>
            </a:gsLst>
            <a:lin ang="16200000"/>
          </a:gradFill>
          <a:ln>
            <a:noFill/>
          </a:ln>
          <a:effectLst>
            <a:outerShdw blurRad="39960" dist="20160" dir="5400000" rotWithShape="0">
              <a:srgbClr val="000000">
                <a:alpha val="38000"/>
              </a:srgbClr>
            </a:outerShdw>
          </a:effectLst>
        </p:spPr>
        <p:style>
          <a:lnRef idx="1">
            <a:schemeClr val="dk1"/>
          </a:lnRef>
          <a:fillRef idx="2">
            <a:schemeClr val="dk1"/>
          </a:fillRef>
          <a:effectRef idx="1">
            <a:schemeClr val="dk1"/>
          </a:effectRef>
          <a:fontRef idx="minor"/>
        </p:style>
        <p:txBody>
          <a:bodyPr/>
          <a:lstStyle/>
          <a:p>
            <a:endParaRPr lang="es-CO"/>
          </a:p>
        </p:txBody>
      </p:sp>
      <p:sp>
        <p:nvSpPr>
          <p:cNvPr id="85" name="Rectángulo 9"/>
          <p:cNvSpPr/>
          <p:nvPr/>
        </p:nvSpPr>
        <p:spPr>
          <a:xfrm>
            <a:off x="1920240" y="3731400"/>
            <a:ext cx="5302800" cy="1592280"/>
          </a:xfrm>
          <a:prstGeom prst="rect">
            <a:avLst/>
          </a:prstGeom>
          <a:solidFill>
            <a:schemeClr val="bg1">
              <a:alpha val="80000"/>
            </a:scheme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es-CO"/>
          </a:p>
        </p:txBody>
      </p:sp>
      <p:sp>
        <p:nvSpPr>
          <p:cNvPr id="86" name="PlaceHolder 1"/>
          <p:cNvSpPr>
            <a:spLocks noGrp="1"/>
          </p:cNvSpPr>
          <p:nvPr>
            <p:ph type="title"/>
          </p:nvPr>
        </p:nvSpPr>
        <p:spPr>
          <a:xfrm>
            <a:off x="1920240" y="3709800"/>
            <a:ext cx="5302800" cy="783720"/>
          </a:xfrm>
          <a:prstGeom prst="rect">
            <a:avLst/>
          </a:prstGeom>
          <a:noFill/>
          <a:ln w="0">
            <a:noFill/>
          </a:ln>
        </p:spPr>
        <p:txBody>
          <a:bodyPr lIns="0" tIns="0" rIns="0" bIns="0" anchor="t">
            <a:normAutofit fontScale="90000"/>
          </a:bodyPr>
          <a:lstStyle/>
          <a:p>
            <a:pPr algn="ctr">
              <a:lnSpc>
                <a:spcPct val="100000"/>
              </a:lnSpc>
              <a:buNone/>
            </a:pPr>
            <a:r>
              <a:rPr lang="es-ES_tradnl" sz="2800" b="1" strike="noStrike" spc="-1" dirty="0">
                <a:solidFill>
                  <a:srgbClr val="2C5697"/>
                </a:solidFill>
                <a:latin typeface="Arial"/>
              </a:rPr>
              <a:t>Fundamentos de señales DC/AC</a:t>
            </a:r>
            <a:br>
              <a:rPr sz="2800" dirty="0"/>
            </a:br>
            <a:r>
              <a:rPr lang="es-ES_tradnl" sz="2200" b="0" strike="noStrike" spc="-1" dirty="0">
                <a:solidFill>
                  <a:srgbClr val="2C5697"/>
                </a:solidFill>
                <a:latin typeface="Arial"/>
              </a:rPr>
              <a:t>Instrumentación biomédica</a:t>
            </a:r>
            <a:endParaRPr lang="es-CO" sz="2200" b="0" strike="noStrike" spc="-1" dirty="0">
              <a:latin typeface="Arial"/>
            </a:endParaRPr>
          </a:p>
        </p:txBody>
      </p:sp>
      <p:sp>
        <p:nvSpPr>
          <p:cNvPr id="87" name="PlaceHolder 2"/>
          <p:cNvSpPr>
            <a:spLocks noGrp="1"/>
          </p:cNvSpPr>
          <p:nvPr>
            <p:ph type="subTitle"/>
          </p:nvPr>
        </p:nvSpPr>
        <p:spPr>
          <a:xfrm>
            <a:off x="2103480" y="4625280"/>
            <a:ext cx="4936320" cy="673920"/>
          </a:xfrm>
          <a:prstGeom prst="rect">
            <a:avLst/>
          </a:prstGeom>
          <a:noFill/>
          <a:ln w="0">
            <a:noFill/>
          </a:ln>
        </p:spPr>
        <p:txBody>
          <a:bodyPr lIns="0" tIns="0" rIns="0" bIns="0" anchor="t">
            <a:normAutofit/>
          </a:bodyPr>
          <a:lstStyle/>
          <a:p>
            <a:pPr algn="ctr">
              <a:lnSpc>
                <a:spcPct val="100000"/>
              </a:lnSpc>
              <a:spcBef>
                <a:spcPts val="320"/>
              </a:spcBef>
              <a:buNone/>
              <a:tabLst>
                <a:tab pos="0" algn="l"/>
              </a:tabLst>
            </a:pPr>
            <a:r>
              <a:rPr lang="es-ES" sz="1600" b="0" strike="noStrike" spc="-1" dirty="0">
                <a:solidFill>
                  <a:srgbClr val="2C5697"/>
                </a:solidFill>
                <a:latin typeface="Arial"/>
              </a:rPr>
              <a:t>Pedro Antonio Aya Parra</a:t>
            </a:r>
            <a:endParaRPr lang="es-CO" sz="1600" b="0" strike="noStrike" spc="-1" dirty="0">
              <a:latin typeface="Arial"/>
            </a:endParaRPr>
          </a:p>
          <a:p>
            <a:pPr algn="ctr">
              <a:lnSpc>
                <a:spcPct val="100000"/>
              </a:lnSpc>
              <a:spcBef>
                <a:spcPts val="320"/>
              </a:spcBef>
              <a:buNone/>
              <a:tabLst>
                <a:tab pos="0" algn="l"/>
              </a:tabLst>
            </a:pPr>
            <a:r>
              <a:rPr lang="pt-BR" sz="1600" b="0" strike="noStrike" spc="-1" dirty="0" err="1">
                <a:solidFill>
                  <a:srgbClr val="2C5697"/>
                </a:solidFill>
                <a:latin typeface="Arial"/>
              </a:rPr>
              <a:t>Facultad</a:t>
            </a:r>
            <a:r>
              <a:rPr lang="pt-BR" sz="1600" b="0" strike="noStrike" spc="-1" dirty="0">
                <a:solidFill>
                  <a:srgbClr val="2C5697"/>
                </a:solidFill>
                <a:latin typeface="Arial"/>
              </a:rPr>
              <a:t> de </a:t>
            </a:r>
            <a:r>
              <a:rPr lang="pt-BR" sz="1600" spc="-1" dirty="0" err="1">
                <a:solidFill>
                  <a:srgbClr val="2C5697"/>
                </a:solidFill>
                <a:latin typeface="Arial"/>
              </a:rPr>
              <a:t>I</a:t>
            </a:r>
            <a:r>
              <a:rPr lang="pt-BR" sz="1600" b="0" strike="noStrike" spc="-1" dirty="0" err="1">
                <a:solidFill>
                  <a:srgbClr val="2C5697"/>
                </a:solidFill>
                <a:latin typeface="Arial"/>
              </a:rPr>
              <a:t>ngeniería</a:t>
            </a:r>
            <a:endParaRPr lang="es-CO" sz="1600" b="0" strike="noStrike" spc="-1" dirty="0">
              <a:latin typeface="Arial"/>
            </a:endParaRPr>
          </a:p>
        </p:txBody>
      </p:sp>
      <p:grpSp>
        <p:nvGrpSpPr>
          <p:cNvPr id="88" name="Agrupar 16"/>
          <p:cNvGrpSpPr/>
          <p:nvPr/>
        </p:nvGrpSpPr>
        <p:grpSpPr>
          <a:xfrm>
            <a:off x="3494880" y="0"/>
            <a:ext cx="2153160" cy="2590200"/>
            <a:chOff x="3494880" y="0"/>
            <a:chExt cx="2153160" cy="2590200"/>
          </a:xfrm>
        </p:grpSpPr>
        <p:pic>
          <p:nvPicPr>
            <p:cNvPr id="89" name="Imagen 8" descr="cuadrado_azul.png"/>
            <p:cNvPicPr/>
            <p:nvPr/>
          </p:nvPicPr>
          <p:blipFill>
            <a:blip r:embed="rId2"/>
            <a:stretch/>
          </p:blipFill>
          <p:spPr>
            <a:xfrm>
              <a:off x="3494880" y="0"/>
              <a:ext cx="2153160" cy="2590200"/>
            </a:xfrm>
            <a:prstGeom prst="rect">
              <a:avLst/>
            </a:prstGeom>
            <a:ln w="0">
              <a:noFill/>
            </a:ln>
          </p:spPr>
        </p:pic>
        <p:pic>
          <p:nvPicPr>
            <p:cNvPr id="90" name="Imagen 12" descr="escudoPUJ_central.eps"/>
            <p:cNvPicPr/>
            <p:nvPr/>
          </p:nvPicPr>
          <p:blipFill>
            <a:blip r:embed="rId3"/>
            <a:stretch/>
          </p:blipFill>
          <p:spPr>
            <a:xfrm>
              <a:off x="3582000" y="200880"/>
              <a:ext cx="1979280" cy="2117880"/>
            </a:xfrm>
            <a:prstGeom prst="rect">
              <a:avLst/>
            </a:prstGeom>
            <a:ln w="0">
              <a:noFill/>
            </a:ln>
          </p:spPr>
        </p:pic>
        <p:pic>
          <p:nvPicPr>
            <p:cNvPr id="91" name="Imagen 15" descr="texto_vigilada_mineducacion_rgb-negativo.eps"/>
            <p:cNvPicPr/>
            <p:nvPr/>
          </p:nvPicPr>
          <p:blipFill>
            <a:blip r:embed="rId4"/>
            <a:stretch/>
          </p:blipFill>
          <p:spPr>
            <a:xfrm>
              <a:off x="4014000" y="2382840"/>
              <a:ext cx="1115280" cy="83880"/>
            </a:xfrm>
            <a:prstGeom prst="rect">
              <a:avLst/>
            </a:prstGeom>
            <a:ln w="0">
              <a:noFill/>
            </a:ln>
          </p:spPr>
        </p:pic>
      </p:grpSp>
      <p:sp>
        <p:nvSpPr>
          <p:cNvPr id="92" name="CuadroTexto 4"/>
          <p:cNvSpPr/>
          <p:nvPr/>
        </p:nvSpPr>
        <p:spPr>
          <a:xfrm>
            <a:off x="6040800" y="6258600"/>
            <a:ext cx="183960" cy="368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s-CO"/>
          </a:p>
        </p:txBody>
      </p:sp>
      <p:sp>
        <p:nvSpPr>
          <p:cNvPr id="93" name="CuadroTexto 6"/>
          <p:cNvSpPr/>
          <p:nvPr/>
        </p:nvSpPr>
        <p:spPr>
          <a:xfrm>
            <a:off x="1498680" y="6052680"/>
            <a:ext cx="183960" cy="368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s-C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Índice de Contenido</a:t>
            </a:r>
          </a:p>
        </p:txBody>
      </p:sp>
      <p:sp>
        <p:nvSpPr>
          <p:cNvPr id="127"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a:t>
            </a:fld>
            <a:endParaRPr lang="es-CO" sz="1200" b="0" strike="noStrike" spc="-1">
              <a:latin typeface="Arial"/>
            </a:endParaRPr>
          </a:p>
        </p:txBody>
      </p:sp>
      <p:sp>
        <p:nvSpPr>
          <p:cNvPr id="2" name="Marcador de texto 2">
            <a:extLst>
              <a:ext uri="{FF2B5EF4-FFF2-40B4-BE49-F238E27FC236}">
                <a16:creationId xmlns:a16="http://schemas.microsoft.com/office/drawing/2014/main" id="{946FB5D6-1E95-FC66-C29F-E045E5BEE2BC}"/>
              </a:ext>
            </a:extLst>
          </p:cNvPr>
          <p:cNvSpPr txBox="1">
            <a:spLocks/>
          </p:cNvSpPr>
          <p:nvPr/>
        </p:nvSpPr>
        <p:spPr>
          <a:xfrm>
            <a:off x="959450" y="1273454"/>
            <a:ext cx="9429206" cy="44799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q"/>
            </a:pPr>
            <a:r>
              <a:rPr lang="es-CO" sz="1800" dirty="0"/>
              <a:t>Introducción y fundamentos de circuitos electrónicos</a:t>
            </a:r>
          </a:p>
          <a:p>
            <a:pPr marL="457200" indent="-457200">
              <a:buFont typeface="Wingdings" panose="05000000000000000000" pitchFamily="2" charset="2"/>
              <a:buChar char="q"/>
            </a:pPr>
            <a:endParaRPr lang="es-CO" sz="2000" dirty="0"/>
          </a:p>
          <a:p>
            <a:pPr marL="342900" indent="-342900">
              <a:buFont typeface="Wingdings" panose="05000000000000000000" pitchFamily="2" charset="2"/>
              <a:buChar char="q"/>
            </a:pPr>
            <a:r>
              <a:rPr lang="es-CO" sz="1800" dirty="0"/>
              <a:t>Conceptos de electrónica</a:t>
            </a:r>
          </a:p>
          <a:p>
            <a:pPr marL="342900" indent="-342900">
              <a:buFont typeface="Wingdings" panose="05000000000000000000" pitchFamily="2" charset="2"/>
              <a:buChar char="q"/>
            </a:pPr>
            <a:endParaRPr lang="es-CO" sz="1800" dirty="0"/>
          </a:p>
          <a:p>
            <a:pPr marL="342900" indent="-342900">
              <a:buFont typeface="Wingdings" panose="05000000000000000000" pitchFamily="2" charset="2"/>
              <a:buChar char="q"/>
            </a:pPr>
            <a:r>
              <a:rPr lang="es-CO" sz="1800" dirty="0"/>
              <a:t>Características de la corriente y voltaje</a:t>
            </a:r>
          </a:p>
          <a:p>
            <a:pPr marL="342900" indent="-342900">
              <a:buFont typeface="Wingdings" panose="05000000000000000000" pitchFamily="2" charset="2"/>
              <a:buChar char="q"/>
            </a:pPr>
            <a:endParaRPr lang="es-CO" sz="1800" dirty="0"/>
          </a:p>
          <a:p>
            <a:pPr marL="342900" indent="-342900">
              <a:buFont typeface="Wingdings" panose="05000000000000000000" pitchFamily="2" charset="2"/>
              <a:buChar char="q"/>
            </a:pPr>
            <a:r>
              <a:rPr lang="es-MX" sz="1800" dirty="0"/>
              <a:t>Tipos de señales</a:t>
            </a:r>
          </a:p>
          <a:p>
            <a:pPr marL="342900" indent="-342900">
              <a:buFont typeface="Wingdings" panose="05000000000000000000" pitchFamily="2" charset="2"/>
              <a:buChar char="q"/>
            </a:pPr>
            <a:endParaRPr lang="es-CO" sz="2000" dirty="0"/>
          </a:p>
          <a:p>
            <a:pPr marL="342900" indent="-342900">
              <a:buFont typeface="Wingdings" panose="05000000000000000000" pitchFamily="2" charset="2"/>
              <a:buChar char="q"/>
            </a:pPr>
            <a:r>
              <a:rPr lang="es-CO" sz="1800" dirty="0"/>
              <a:t>Comportamiento de una señal (DC/AC)</a:t>
            </a:r>
          </a:p>
          <a:p>
            <a:pPr marL="342900" indent="-342900">
              <a:buFont typeface="Wingdings" panose="05000000000000000000" pitchFamily="2" charset="2"/>
              <a:buChar char="q"/>
            </a:pPr>
            <a:endParaRPr lang="es-CO" sz="1800" dirty="0"/>
          </a:p>
          <a:p>
            <a:pPr marL="342900" indent="-342900">
              <a:buFont typeface="Wingdings" panose="05000000000000000000" pitchFamily="2" charset="2"/>
              <a:buChar char="q"/>
            </a:pPr>
            <a:r>
              <a:rPr lang="es-CO" sz="1800" dirty="0"/>
              <a:t>Características de medición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00BDE-A7B8-7D2F-A4BC-E1A00B9261A6}"/>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E746F4C1-71AC-DC89-A444-2EFDF54E7177}"/>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CBDCBC1D-B576-7026-2C14-5EA9A950452E}"/>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27FF5ACA-25AE-4878-D4F8-80FD7A35D0AB}"/>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Potencial Eléctrico</a:t>
            </a:r>
          </a:p>
        </p:txBody>
      </p:sp>
      <p:sp>
        <p:nvSpPr>
          <p:cNvPr id="127" name="Marcador de número de diapositiva 3">
            <a:extLst>
              <a:ext uri="{FF2B5EF4-FFF2-40B4-BE49-F238E27FC236}">
                <a16:creationId xmlns:a16="http://schemas.microsoft.com/office/drawing/2014/main" id="{1485C0F6-5115-6BE3-A857-3AB0758BDF02}"/>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3</a:t>
            </a:fld>
            <a:endParaRPr lang="es-CO" sz="1200" b="0" strike="noStrike" spc="-1">
              <a:latin typeface="Arial"/>
            </a:endParaRPr>
          </a:p>
        </p:txBody>
      </p:sp>
      <p:sp>
        <p:nvSpPr>
          <p:cNvPr id="4" name="Marcador de contenido 2">
            <a:extLst>
              <a:ext uri="{FF2B5EF4-FFF2-40B4-BE49-F238E27FC236}">
                <a16:creationId xmlns:a16="http://schemas.microsoft.com/office/drawing/2014/main" id="{0165D4F9-CC06-D45F-EDEE-FDBF6BEC1659}"/>
              </a:ext>
            </a:extLst>
          </p:cNvPr>
          <p:cNvSpPr txBox="1">
            <a:spLocks/>
          </p:cNvSpPr>
          <p:nvPr/>
        </p:nvSpPr>
        <p:spPr>
          <a:xfrm>
            <a:off x="126272" y="854214"/>
            <a:ext cx="8229600" cy="1236749"/>
          </a:xfrm>
          <a:prstGeom prst="rect">
            <a:avLst/>
          </a:prstGeom>
          <a:noFill/>
        </p:spPr>
        <p:txBody>
          <a:bodyPr wrap="square">
            <a:spAutoFit/>
          </a:bodyPr>
          <a:lstStyle>
            <a:defPPr>
              <a:defRPr lang="es-CO"/>
            </a:defPPr>
            <a:lvl1pPr>
              <a:defRPr sz="1600"/>
            </a:lvl1pPr>
            <a:lvl2pPr indent="0">
              <a:lnSpc>
                <a:spcPct val="90000"/>
              </a:lnSpc>
              <a:spcBef>
                <a:spcPts val="500"/>
              </a:spcBef>
              <a:buClr>
                <a:srgbClr val="5BBBB7"/>
              </a:buClr>
              <a:buFont typeface="Arial" panose="020B0604020202020204" pitchFamily="34" charset="0"/>
              <a:buNone/>
              <a:defRPr sz="2000">
                <a:solidFill>
                  <a:schemeClr val="tx1">
                    <a:tint val="75000"/>
                  </a:schemeClr>
                </a:solidFill>
                <a:latin typeface="Gotham Book" panose="02000604040000020004" pitchFamily="50" charset="0"/>
              </a:defRPr>
            </a:lvl2pPr>
            <a:lvl3pPr indent="0">
              <a:lnSpc>
                <a:spcPct val="90000"/>
              </a:lnSpc>
              <a:spcBef>
                <a:spcPts val="500"/>
              </a:spcBef>
              <a:buClr>
                <a:srgbClr val="5BBBB7"/>
              </a:buClr>
              <a:buFont typeface="Arial" panose="020B0604020202020204" pitchFamily="34" charset="0"/>
              <a:buNone/>
              <a:defRPr>
                <a:solidFill>
                  <a:schemeClr val="tx1">
                    <a:tint val="75000"/>
                  </a:schemeClr>
                </a:solidFill>
                <a:latin typeface="Gotham Book" panose="02000604040000020004" pitchFamily="50" charset="0"/>
              </a:defRPr>
            </a:lvl3pPr>
            <a:lvl4pPr indent="0">
              <a:lnSpc>
                <a:spcPct val="90000"/>
              </a:lnSpc>
              <a:spcBef>
                <a:spcPts val="500"/>
              </a:spcBef>
              <a:buClr>
                <a:srgbClr val="5BBBB7"/>
              </a:buClr>
              <a:buFont typeface="Arial" panose="020B0604020202020204" pitchFamily="34" charset="0"/>
              <a:buNone/>
              <a:defRPr sz="1600">
                <a:solidFill>
                  <a:schemeClr val="tx1">
                    <a:tint val="75000"/>
                  </a:schemeClr>
                </a:solidFill>
                <a:latin typeface="Gotham Book" panose="02000604040000020004" pitchFamily="50" charset="0"/>
              </a:defRPr>
            </a:lvl4pPr>
            <a:lvl5pPr indent="0">
              <a:lnSpc>
                <a:spcPct val="90000"/>
              </a:lnSpc>
              <a:spcBef>
                <a:spcPts val="500"/>
              </a:spcBef>
              <a:buClr>
                <a:srgbClr val="5BBBB7"/>
              </a:buClr>
              <a:buFont typeface="Arial" panose="020B0604020202020204" pitchFamily="34" charset="0"/>
              <a:buNone/>
              <a:defRPr sz="1600">
                <a:solidFill>
                  <a:schemeClr val="tx1">
                    <a:tint val="75000"/>
                  </a:schemeClr>
                </a:solidFill>
                <a:latin typeface="Gotham Book" panose="02000604040000020004" pitchFamily="50" charset="0"/>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r>
              <a:rPr lang="es-ES" sz="1800" dirty="0"/>
              <a:t>Es la energía eléctrica que adquiere una carga al ubicarse en un punto en el espacio dividía por el valor de la carga.</a:t>
            </a:r>
          </a:p>
          <a:p>
            <a:endParaRPr lang="es-ES" sz="1800" dirty="0"/>
          </a:p>
          <a:p>
            <a:pPr lvl="4"/>
            <a:endParaRPr lang="es-419" sz="18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17BABF6B-F482-22F0-0ED8-1C59C57F9736}"/>
                  </a:ext>
                </a:extLst>
              </p:cNvPr>
              <p:cNvSpPr txBox="1"/>
              <p:nvPr/>
            </p:nvSpPr>
            <p:spPr>
              <a:xfrm>
                <a:off x="5033365" y="1378314"/>
                <a:ext cx="3575315" cy="470065"/>
              </a:xfrm>
              <a:prstGeom prst="rect">
                <a:avLst/>
              </a:prstGeom>
              <a:noFill/>
            </p:spPr>
            <p:txBody>
              <a:bodyPr wrap="square" lIns="0" tIns="0" rIns="0" bIns="0" rtlCol="0">
                <a:spAutoFit/>
              </a:bodyPr>
              <a:lstStyle/>
              <a:p>
                <a:r>
                  <a:rPr lang="es-ES" sz="2100" dirty="0"/>
                  <a:t>Unidades  </a:t>
                </a:r>
                <a14:m>
                  <m:oMath xmlns:m="http://schemas.openxmlformats.org/officeDocument/2006/math">
                    <m:r>
                      <a:rPr lang="es-ES" sz="2100" i="1">
                        <a:latin typeface="Cambria Math" panose="02040503050406030204" pitchFamily="18" charset="0"/>
                      </a:rPr>
                      <m:t>=</m:t>
                    </m:r>
                    <m:f>
                      <m:fPr>
                        <m:ctrlPr>
                          <a:rPr lang="es-ES" sz="2100" i="1">
                            <a:latin typeface="Cambria Math" panose="02040503050406030204" pitchFamily="18" charset="0"/>
                          </a:rPr>
                        </m:ctrlPr>
                      </m:fPr>
                      <m:num>
                        <m:r>
                          <a:rPr lang="es-ES" sz="2100" i="1">
                            <a:latin typeface="Cambria Math" panose="02040503050406030204" pitchFamily="18" charset="0"/>
                          </a:rPr>
                          <m:t>𝐽𝑢𝑙𝑖𝑜</m:t>
                        </m:r>
                      </m:num>
                      <m:den>
                        <m:r>
                          <a:rPr lang="es-ES" sz="2100" i="1">
                            <a:latin typeface="Cambria Math" panose="02040503050406030204" pitchFamily="18" charset="0"/>
                          </a:rPr>
                          <m:t>𝑠</m:t>
                        </m:r>
                      </m:den>
                    </m:f>
                    <m:r>
                      <a:rPr lang="es-ES" sz="2100" i="1">
                        <a:latin typeface="Cambria Math" panose="02040503050406030204" pitchFamily="18" charset="0"/>
                      </a:rPr>
                      <m:t>=</m:t>
                    </m:r>
                    <m:r>
                      <a:rPr lang="es-ES" sz="2100" i="1">
                        <a:latin typeface="Cambria Math" panose="02040503050406030204" pitchFamily="18" charset="0"/>
                      </a:rPr>
                      <m:t>𝑉𝑜𝑙𝑡𝑖𝑜</m:t>
                    </m:r>
                  </m:oMath>
                </a14:m>
                <a:r>
                  <a:rPr lang="es-CO" sz="2100" dirty="0"/>
                  <a:t>(V)</a:t>
                </a:r>
              </a:p>
            </p:txBody>
          </p:sp>
        </mc:Choice>
        <mc:Fallback xmlns="">
          <p:sp>
            <p:nvSpPr>
              <p:cNvPr id="5" name="CuadroTexto 4">
                <a:extLst>
                  <a:ext uri="{FF2B5EF4-FFF2-40B4-BE49-F238E27FC236}">
                    <a16:creationId xmlns:a16="http://schemas.microsoft.com/office/drawing/2014/main" id="{17BABF6B-F482-22F0-0ED8-1C59C57F9736}"/>
                  </a:ext>
                </a:extLst>
              </p:cNvPr>
              <p:cNvSpPr txBox="1">
                <a:spLocks noRot="1" noChangeAspect="1" noMove="1" noResize="1" noEditPoints="1" noAdjustHandles="1" noChangeArrowheads="1" noChangeShapeType="1" noTextEdit="1"/>
              </p:cNvSpPr>
              <p:nvPr/>
            </p:nvSpPr>
            <p:spPr>
              <a:xfrm>
                <a:off x="5033365" y="1378314"/>
                <a:ext cx="3575315" cy="470065"/>
              </a:xfrm>
              <a:prstGeom prst="rect">
                <a:avLst/>
              </a:prstGeom>
              <a:blipFill>
                <a:blip r:embed="rId2"/>
                <a:stretch>
                  <a:fillRect l="-4608" t="-3896" r="-1536" b="-18182"/>
                </a:stretch>
              </a:blipFill>
            </p:spPr>
            <p:txBody>
              <a:bodyPr/>
              <a:lstStyle/>
              <a:p>
                <a:r>
                  <a:rPr lang="es-CO">
                    <a:noFill/>
                  </a:rPr>
                  <a:t> </a:t>
                </a:r>
              </a:p>
            </p:txBody>
          </p:sp>
        </mc:Fallback>
      </mc:AlternateContent>
      <p:sp>
        <p:nvSpPr>
          <p:cNvPr id="7" name="Sol 6">
            <a:hlinkClick r:id="rId3"/>
            <a:extLst>
              <a:ext uri="{FF2B5EF4-FFF2-40B4-BE49-F238E27FC236}">
                <a16:creationId xmlns:a16="http://schemas.microsoft.com/office/drawing/2014/main" id="{C9710F93-4888-B357-7424-BC7C8A60A610}"/>
              </a:ext>
            </a:extLst>
          </p:cNvPr>
          <p:cNvSpPr/>
          <p:nvPr/>
        </p:nvSpPr>
        <p:spPr>
          <a:xfrm>
            <a:off x="2315357" y="99503"/>
            <a:ext cx="465827" cy="427119"/>
          </a:xfrm>
          <a:prstGeom prst="su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9" name="Imagen 8">
            <a:extLst>
              <a:ext uri="{FF2B5EF4-FFF2-40B4-BE49-F238E27FC236}">
                <a16:creationId xmlns:a16="http://schemas.microsoft.com/office/drawing/2014/main" id="{C9B23D50-C006-E1B8-47D2-32D4C7F21381}"/>
              </a:ext>
            </a:extLst>
          </p:cNvPr>
          <p:cNvPicPr>
            <a:picLocks noChangeAspect="1"/>
          </p:cNvPicPr>
          <p:nvPr/>
        </p:nvPicPr>
        <p:blipFill>
          <a:blip r:embed="rId4"/>
          <a:stretch>
            <a:fillRect/>
          </a:stretch>
        </p:blipFill>
        <p:spPr>
          <a:xfrm>
            <a:off x="492547" y="2015471"/>
            <a:ext cx="2353003" cy="1952898"/>
          </a:xfrm>
          <a:prstGeom prst="rect">
            <a:avLst/>
          </a:prstGeom>
        </p:spPr>
      </p:pic>
      <p:pic>
        <p:nvPicPr>
          <p:cNvPr id="11" name="Imagen 10">
            <a:extLst>
              <a:ext uri="{FF2B5EF4-FFF2-40B4-BE49-F238E27FC236}">
                <a16:creationId xmlns:a16="http://schemas.microsoft.com/office/drawing/2014/main" id="{6CFE5E9F-A435-0B27-F5DF-5ADA6E8579AC}"/>
              </a:ext>
            </a:extLst>
          </p:cNvPr>
          <p:cNvPicPr>
            <a:picLocks noChangeAspect="1"/>
          </p:cNvPicPr>
          <p:nvPr/>
        </p:nvPicPr>
        <p:blipFill>
          <a:blip r:embed="rId5"/>
          <a:stretch>
            <a:fillRect/>
          </a:stretch>
        </p:blipFill>
        <p:spPr>
          <a:xfrm>
            <a:off x="4241072" y="2090963"/>
            <a:ext cx="3991532" cy="1676634"/>
          </a:xfrm>
          <a:prstGeom prst="rect">
            <a:avLst/>
          </a:prstGeom>
        </p:spPr>
      </p:pic>
      <p:pic>
        <p:nvPicPr>
          <p:cNvPr id="17" name="Imagen 16" descr="Diagrama&#10;&#10;El contenido generado por IA puede ser incorrecto.">
            <a:extLst>
              <a:ext uri="{FF2B5EF4-FFF2-40B4-BE49-F238E27FC236}">
                <a16:creationId xmlns:a16="http://schemas.microsoft.com/office/drawing/2014/main" id="{C4942688-BBAD-8619-1847-EEBF2108E5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81776" y="4199394"/>
            <a:ext cx="2087371" cy="1744241"/>
          </a:xfrm>
          <a:prstGeom prst="rect">
            <a:avLst/>
          </a:prstGeom>
        </p:spPr>
      </p:pic>
      <p:pic>
        <p:nvPicPr>
          <p:cNvPr id="19" name="Imagen 18" descr="Un dibujo de una cara feliz&#10;&#10;El contenido generado por IA puede ser incorrecto.">
            <a:extLst>
              <a:ext uri="{FF2B5EF4-FFF2-40B4-BE49-F238E27FC236}">
                <a16:creationId xmlns:a16="http://schemas.microsoft.com/office/drawing/2014/main" id="{0CE41716-41CA-B68A-FD2C-134E811785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3260" y="3963402"/>
            <a:ext cx="3021446" cy="1982526"/>
          </a:xfrm>
          <a:prstGeom prst="rect">
            <a:avLst/>
          </a:prstGeom>
        </p:spPr>
      </p:pic>
    </p:spTree>
    <p:extLst>
      <p:ext uri="{BB962C8B-B14F-4D97-AF65-F5344CB8AC3E}">
        <p14:creationId xmlns:p14="http://schemas.microsoft.com/office/powerpoint/2010/main" val="393134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665DF-A0C7-D69B-2E43-7ED88351A61C}"/>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104791AD-9EFB-CA31-659E-8E691EA9F12A}"/>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720A51B2-CED1-4252-80E8-305FC420E83D}"/>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585A17A3-4308-CEB2-9EB9-35D9D79DC29C}"/>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Circuitos Eléctricos </a:t>
            </a:r>
          </a:p>
        </p:txBody>
      </p:sp>
      <p:sp>
        <p:nvSpPr>
          <p:cNvPr id="127" name="Marcador de número de diapositiva 3">
            <a:extLst>
              <a:ext uri="{FF2B5EF4-FFF2-40B4-BE49-F238E27FC236}">
                <a16:creationId xmlns:a16="http://schemas.microsoft.com/office/drawing/2014/main" id="{D56A674D-1C35-20A6-BDAB-DF59F4395E65}"/>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4</a:t>
            </a:fld>
            <a:endParaRPr lang="es-CO" sz="1200" b="0" strike="noStrike" spc="-1">
              <a:latin typeface="Arial"/>
            </a:endParaRPr>
          </a:p>
        </p:txBody>
      </p:sp>
      <p:sp>
        <p:nvSpPr>
          <p:cNvPr id="2" name="Marcador de contenido 2">
            <a:extLst>
              <a:ext uri="{FF2B5EF4-FFF2-40B4-BE49-F238E27FC236}">
                <a16:creationId xmlns:a16="http://schemas.microsoft.com/office/drawing/2014/main" id="{1714FB74-548C-686F-4DA1-E9CCEDAC6CB7}"/>
              </a:ext>
            </a:extLst>
          </p:cNvPr>
          <p:cNvSpPr txBox="1">
            <a:spLocks/>
          </p:cNvSpPr>
          <p:nvPr/>
        </p:nvSpPr>
        <p:spPr>
          <a:xfrm>
            <a:off x="570240" y="763778"/>
            <a:ext cx="8229600" cy="339447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5BBBB7"/>
              </a:buClr>
              <a:buFont typeface="Arial" panose="020B0604020202020204" pitchFamily="34" charset="0"/>
              <a:buNone/>
              <a:defRPr sz="2400" kern="1200">
                <a:solidFill>
                  <a:schemeClr val="tx1">
                    <a:tint val="75000"/>
                  </a:schemeClr>
                </a:solidFill>
                <a:latin typeface="Gotham Book" panose="02000604040000020004" pitchFamily="50" charset="0"/>
                <a:ea typeface="+mn-ea"/>
                <a:cs typeface="+mn-cs"/>
              </a:defRPr>
            </a:lvl1pPr>
            <a:lvl2pPr marL="457200" indent="0" algn="l" defTabSz="914400" rtl="0" eaLnBrk="1" latinLnBrk="0" hangingPunct="1">
              <a:lnSpc>
                <a:spcPct val="90000"/>
              </a:lnSpc>
              <a:spcBef>
                <a:spcPts val="500"/>
              </a:spcBef>
              <a:buClr>
                <a:srgbClr val="5BBBB7"/>
              </a:buClr>
              <a:buFont typeface="Arial" panose="020B0604020202020204" pitchFamily="34" charset="0"/>
              <a:buNone/>
              <a:defRPr sz="2000" kern="1200">
                <a:solidFill>
                  <a:schemeClr val="tx1">
                    <a:tint val="75000"/>
                  </a:schemeClr>
                </a:solidFill>
                <a:latin typeface="Gotham Book" panose="02000604040000020004" pitchFamily="50" charset="0"/>
                <a:ea typeface="+mn-ea"/>
                <a:cs typeface="+mn-cs"/>
              </a:defRPr>
            </a:lvl2pPr>
            <a:lvl3pPr marL="914400" indent="0" algn="l" defTabSz="914400" rtl="0" eaLnBrk="1" latinLnBrk="0" hangingPunct="1">
              <a:lnSpc>
                <a:spcPct val="90000"/>
              </a:lnSpc>
              <a:spcBef>
                <a:spcPts val="500"/>
              </a:spcBef>
              <a:buClr>
                <a:srgbClr val="5BBBB7"/>
              </a:buClr>
              <a:buFont typeface="Arial" panose="020B0604020202020204" pitchFamily="34" charset="0"/>
              <a:buNone/>
              <a:defRPr sz="1800" kern="1200">
                <a:solidFill>
                  <a:schemeClr val="tx1">
                    <a:tint val="75000"/>
                  </a:schemeClr>
                </a:solidFill>
                <a:latin typeface="Gotham Book" panose="02000604040000020004" pitchFamily="50" charset="0"/>
                <a:ea typeface="+mn-ea"/>
                <a:cs typeface="+mn-cs"/>
              </a:defRPr>
            </a:lvl3pPr>
            <a:lvl4pPr marL="1371600" indent="0" algn="l" defTabSz="914400" rtl="0" eaLnBrk="1" latinLnBrk="0" hangingPunct="1">
              <a:lnSpc>
                <a:spcPct val="90000"/>
              </a:lnSpc>
              <a:spcBef>
                <a:spcPts val="500"/>
              </a:spcBef>
              <a:buClr>
                <a:srgbClr val="5BBBB7"/>
              </a:buClr>
              <a:buFont typeface="Arial" panose="020B0604020202020204" pitchFamily="34" charset="0"/>
              <a:buNone/>
              <a:defRPr sz="1600" kern="1200">
                <a:solidFill>
                  <a:schemeClr val="tx1">
                    <a:tint val="75000"/>
                  </a:schemeClr>
                </a:solidFill>
                <a:latin typeface="Gotham Book" panose="02000604040000020004" pitchFamily="50" charset="0"/>
                <a:ea typeface="+mn-ea"/>
                <a:cs typeface="+mn-cs"/>
              </a:defRPr>
            </a:lvl4pPr>
            <a:lvl5pPr marL="1828800" indent="0" algn="l" defTabSz="914400" rtl="0" eaLnBrk="1" latinLnBrk="0" hangingPunct="1">
              <a:lnSpc>
                <a:spcPct val="90000"/>
              </a:lnSpc>
              <a:spcBef>
                <a:spcPts val="500"/>
              </a:spcBef>
              <a:buClr>
                <a:srgbClr val="5BBBB7"/>
              </a:buClr>
              <a:buFont typeface="Arial" panose="020B0604020202020204" pitchFamily="34" charset="0"/>
              <a:buNone/>
              <a:defRPr sz="1600" kern="1200">
                <a:solidFill>
                  <a:schemeClr val="tx1">
                    <a:tint val="75000"/>
                  </a:schemeClr>
                </a:solidFill>
                <a:latin typeface="Gotham Book" panose="02000604040000020004"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CO" dirty="0"/>
              <a:t>Hace referencia a una palabra que conjuga varios componentes interrelacionados entre si, en un </a:t>
            </a:r>
            <a:r>
              <a:rPr lang="es-CO" b="1" dirty="0"/>
              <a:t>camino o un sentido</a:t>
            </a:r>
            <a:r>
              <a:rPr lang="es-CO" dirty="0"/>
              <a:t>. Conjunto de componentes conectados entre si con alimentación o sin ella.</a:t>
            </a:r>
          </a:p>
        </p:txBody>
      </p:sp>
      <p:pic>
        <p:nvPicPr>
          <p:cNvPr id="3" name="Imagen 2">
            <a:extLst>
              <a:ext uri="{FF2B5EF4-FFF2-40B4-BE49-F238E27FC236}">
                <a16:creationId xmlns:a16="http://schemas.microsoft.com/office/drawing/2014/main" id="{79F6B4BA-1380-D580-8D9D-6FA1A65FEE4A}"/>
              </a:ext>
            </a:extLst>
          </p:cNvPr>
          <p:cNvPicPr>
            <a:picLocks noChangeAspect="1"/>
          </p:cNvPicPr>
          <p:nvPr/>
        </p:nvPicPr>
        <p:blipFill>
          <a:blip r:embed="rId2"/>
          <a:stretch>
            <a:fillRect/>
          </a:stretch>
        </p:blipFill>
        <p:spPr>
          <a:xfrm>
            <a:off x="1545026" y="2715481"/>
            <a:ext cx="6071505" cy="3102578"/>
          </a:xfrm>
          <a:prstGeom prst="rect">
            <a:avLst/>
          </a:prstGeom>
        </p:spPr>
      </p:pic>
    </p:spTree>
    <p:extLst>
      <p:ext uri="{BB962C8B-B14F-4D97-AF65-F5344CB8AC3E}">
        <p14:creationId xmlns:p14="http://schemas.microsoft.com/office/powerpoint/2010/main" val="1457981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3ADC-41F5-0F72-EAFC-2CD64D0DA2FE}"/>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FDC3FEA8-9E25-AA0D-27FA-3E1BC3AA041C}"/>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BBD323E0-EBA8-49A6-7DB5-6D7AB1CF4478}"/>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96C1B0DE-38EC-66B2-B410-2571432E35A0}"/>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Componentes Electrónicos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B4D38731-226A-880E-111D-BB35863A8818}"/>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5</a:t>
            </a:fld>
            <a:endParaRPr lang="es-CO" sz="1200" b="0" strike="noStrike" spc="-1">
              <a:latin typeface="Arial"/>
            </a:endParaRPr>
          </a:p>
        </p:txBody>
      </p:sp>
      <p:sp>
        <p:nvSpPr>
          <p:cNvPr id="2" name="Rectángulo 1">
            <a:extLst>
              <a:ext uri="{FF2B5EF4-FFF2-40B4-BE49-F238E27FC236}">
                <a16:creationId xmlns:a16="http://schemas.microsoft.com/office/drawing/2014/main" id="{43C600FA-7DD2-289D-9E30-DED03E106376}"/>
              </a:ext>
            </a:extLst>
          </p:cNvPr>
          <p:cNvSpPr/>
          <p:nvPr/>
        </p:nvSpPr>
        <p:spPr>
          <a:xfrm rot="16200000">
            <a:off x="-493326" y="3107823"/>
            <a:ext cx="2245112" cy="4014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O" dirty="0"/>
              <a:t>Componentes </a:t>
            </a:r>
          </a:p>
        </p:txBody>
      </p:sp>
      <p:sp>
        <p:nvSpPr>
          <p:cNvPr id="3" name="Rectángulo 2">
            <a:extLst>
              <a:ext uri="{FF2B5EF4-FFF2-40B4-BE49-F238E27FC236}">
                <a16:creationId xmlns:a16="http://schemas.microsoft.com/office/drawing/2014/main" id="{2DA28C2F-02C7-1BFA-9AC1-381DFBF514F8}"/>
              </a:ext>
            </a:extLst>
          </p:cNvPr>
          <p:cNvSpPr/>
          <p:nvPr/>
        </p:nvSpPr>
        <p:spPr>
          <a:xfrm>
            <a:off x="1573366" y="1910394"/>
            <a:ext cx="1769327" cy="4311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O" dirty="0"/>
              <a:t>Generadores </a:t>
            </a:r>
          </a:p>
        </p:txBody>
      </p:sp>
      <p:sp>
        <p:nvSpPr>
          <p:cNvPr id="4" name="Rectángulo 3">
            <a:extLst>
              <a:ext uri="{FF2B5EF4-FFF2-40B4-BE49-F238E27FC236}">
                <a16:creationId xmlns:a16="http://schemas.microsoft.com/office/drawing/2014/main" id="{C092DE94-9818-A321-3CB1-8E62D8A2E40D}"/>
              </a:ext>
            </a:extLst>
          </p:cNvPr>
          <p:cNvSpPr/>
          <p:nvPr/>
        </p:nvSpPr>
        <p:spPr>
          <a:xfrm>
            <a:off x="1573366" y="2698971"/>
            <a:ext cx="1769327" cy="4311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O" dirty="0"/>
              <a:t>Receptores </a:t>
            </a:r>
          </a:p>
        </p:txBody>
      </p:sp>
      <p:sp>
        <p:nvSpPr>
          <p:cNvPr id="5" name="Rectángulo 4">
            <a:extLst>
              <a:ext uri="{FF2B5EF4-FFF2-40B4-BE49-F238E27FC236}">
                <a16:creationId xmlns:a16="http://schemas.microsoft.com/office/drawing/2014/main" id="{37EE2EA1-A2E0-4082-0E58-053D131B9816}"/>
              </a:ext>
            </a:extLst>
          </p:cNvPr>
          <p:cNvSpPr/>
          <p:nvPr/>
        </p:nvSpPr>
        <p:spPr>
          <a:xfrm>
            <a:off x="1573365" y="3469612"/>
            <a:ext cx="1769327" cy="4311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O" dirty="0"/>
              <a:t>Conductores </a:t>
            </a:r>
          </a:p>
        </p:txBody>
      </p:sp>
      <p:sp>
        <p:nvSpPr>
          <p:cNvPr id="6" name="Rectángulo 5">
            <a:extLst>
              <a:ext uri="{FF2B5EF4-FFF2-40B4-BE49-F238E27FC236}">
                <a16:creationId xmlns:a16="http://schemas.microsoft.com/office/drawing/2014/main" id="{2EA7534B-F3F9-CBE0-28D5-EE835627D6EB}"/>
              </a:ext>
            </a:extLst>
          </p:cNvPr>
          <p:cNvSpPr/>
          <p:nvPr/>
        </p:nvSpPr>
        <p:spPr>
          <a:xfrm>
            <a:off x="1573364" y="4251809"/>
            <a:ext cx="1769327" cy="4311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O" dirty="0"/>
              <a:t>Control </a:t>
            </a:r>
          </a:p>
        </p:txBody>
      </p:sp>
      <p:cxnSp>
        <p:nvCxnSpPr>
          <p:cNvPr id="8" name="Conector recto de flecha 7">
            <a:extLst>
              <a:ext uri="{FF2B5EF4-FFF2-40B4-BE49-F238E27FC236}">
                <a16:creationId xmlns:a16="http://schemas.microsoft.com/office/drawing/2014/main" id="{C15B12F1-8EAF-EF60-FD09-87DA82709E6C}"/>
              </a:ext>
            </a:extLst>
          </p:cNvPr>
          <p:cNvCxnSpPr>
            <a:cxnSpLocks/>
            <a:stCxn id="2" idx="2"/>
          </p:cNvCxnSpPr>
          <p:nvPr/>
        </p:nvCxnSpPr>
        <p:spPr>
          <a:xfrm>
            <a:off x="829952" y="3308545"/>
            <a:ext cx="4237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Abrir llave 8">
            <a:extLst>
              <a:ext uri="{FF2B5EF4-FFF2-40B4-BE49-F238E27FC236}">
                <a16:creationId xmlns:a16="http://schemas.microsoft.com/office/drawing/2014/main" id="{5FE71E3B-87D3-EDC6-BBCD-87490B611372}"/>
              </a:ext>
            </a:extLst>
          </p:cNvPr>
          <p:cNvSpPr/>
          <p:nvPr/>
        </p:nvSpPr>
        <p:spPr>
          <a:xfrm>
            <a:off x="1253699" y="1847670"/>
            <a:ext cx="281829" cy="288649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pic>
        <p:nvPicPr>
          <p:cNvPr id="17" name="Imagen 16">
            <a:extLst>
              <a:ext uri="{FF2B5EF4-FFF2-40B4-BE49-F238E27FC236}">
                <a16:creationId xmlns:a16="http://schemas.microsoft.com/office/drawing/2014/main" id="{E114D91B-78AE-CED6-77BC-74705BD5F4D8}"/>
              </a:ext>
            </a:extLst>
          </p:cNvPr>
          <p:cNvPicPr>
            <a:picLocks noChangeAspect="1"/>
          </p:cNvPicPr>
          <p:nvPr/>
        </p:nvPicPr>
        <p:blipFill>
          <a:blip r:embed="rId2"/>
          <a:stretch>
            <a:fillRect/>
          </a:stretch>
        </p:blipFill>
        <p:spPr>
          <a:xfrm>
            <a:off x="3516480" y="795963"/>
            <a:ext cx="5528689" cy="4989911"/>
          </a:xfrm>
          <a:prstGeom prst="rect">
            <a:avLst/>
          </a:prstGeom>
        </p:spPr>
      </p:pic>
    </p:spTree>
    <p:extLst>
      <p:ext uri="{BB962C8B-B14F-4D97-AF65-F5344CB8AC3E}">
        <p14:creationId xmlns:p14="http://schemas.microsoft.com/office/powerpoint/2010/main" val="146958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610A1-7DA6-0729-B517-366501ED7147}"/>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807E0882-F45A-0B99-AC9F-91FE64B5002C}"/>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8C01EBD3-2EA2-BB32-A567-65F568A8380C}"/>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2D7EB71B-F037-B75B-DE00-D7F714807333}"/>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Voltaje, Corriente y Resistencia </a:t>
            </a:r>
          </a:p>
        </p:txBody>
      </p:sp>
      <p:sp>
        <p:nvSpPr>
          <p:cNvPr id="127" name="Marcador de número de diapositiva 3">
            <a:extLst>
              <a:ext uri="{FF2B5EF4-FFF2-40B4-BE49-F238E27FC236}">
                <a16:creationId xmlns:a16="http://schemas.microsoft.com/office/drawing/2014/main" id="{AB09C5BA-668C-ADD3-B130-84BEE3D23DB7}"/>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6</a:t>
            </a:fld>
            <a:endParaRPr lang="es-CO" sz="1200" b="0" strike="noStrike" spc="-1">
              <a:latin typeface="Arial"/>
            </a:endParaRPr>
          </a:p>
        </p:txBody>
      </p:sp>
      <p:sp>
        <p:nvSpPr>
          <p:cNvPr id="2" name="CuadroTexto 1">
            <a:extLst>
              <a:ext uri="{FF2B5EF4-FFF2-40B4-BE49-F238E27FC236}">
                <a16:creationId xmlns:a16="http://schemas.microsoft.com/office/drawing/2014/main" id="{A494DCD6-F4EE-9DD0-FED8-E0E2999D476B}"/>
              </a:ext>
            </a:extLst>
          </p:cNvPr>
          <p:cNvSpPr txBox="1"/>
          <p:nvPr/>
        </p:nvSpPr>
        <p:spPr>
          <a:xfrm>
            <a:off x="261360" y="1360800"/>
            <a:ext cx="2312586" cy="1661993"/>
          </a:xfrm>
          <a:prstGeom prst="rect">
            <a:avLst/>
          </a:prstGeom>
          <a:noFill/>
        </p:spPr>
        <p:txBody>
          <a:bodyPr wrap="square" rtlCol="0">
            <a:spAutoFit/>
          </a:bodyPr>
          <a:lstStyle/>
          <a:p>
            <a:pPr algn="just"/>
            <a:r>
              <a:rPr lang="es-CO" sz="1400" dirty="0"/>
              <a:t>El </a:t>
            </a:r>
            <a:r>
              <a:rPr lang="es-CO" b="1" dirty="0"/>
              <a:t>voltaje/tensión</a:t>
            </a:r>
            <a:r>
              <a:rPr lang="es-CO" sz="1400" dirty="0"/>
              <a:t> es una magnitud física, con la cual podemos cuantificar o “medir” la diferencia de potencial </a:t>
            </a:r>
            <a:r>
              <a:rPr lang="es-CO" sz="1400" b="1" dirty="0"/>
              <a:t>eléctrico</a:t>
            </a:r>
            <a:r>
              <a:rPr lang="es-CO" sz="1400" dirty="0"/>
              <a:t> o la tensión eléctrica entre dos puntos</a:t>
            </a:r>
          </a:p>
        </p:txBody>
      </p:sp>
      <p:sp>
        <p:nvSpPr>
          <p:cNvPr id="3" name="CuadroTexto 2">
            <a:extLst>
              <a:ext uri="{FF2B5EF4-FFF2-40B4-BE49-F238E27FC236}">
                <a16:creationId xmlns:a16="http://schemas.microsoft.com/office/drawing/2014/main" id="{DFFE54C2-FD4C-C33D-2596-4770D288D6E5}"/>
              </a:ext>
            </a:extLst>
          </p:cNvPr>
          <p:cNvSpPr txBox="1"/>
          <p:nvPr/>
        </p:nvSpPr>
        <p:spPr>
          <a:xfrm>
            <a:off x="1655881" y="4666203"/>
            <a:ext cx="2396872" cy="1231106"/>
          </a:xfrm>
          <a:prstGeom prst="rect">
            <a:avLst/>
          </a:prstGeom>
          <a:noFill/>
        </p:spPr>
        <p:txBody>
          <a:bodyPr wrap="square" rtlCol="0">
            <a:spAutoFit/>
          </a:bodyPr>
          <a:lstStyle>
            <a:defPPr>
              <a:defRPr lang="es-CO"/>
            </a:defPPr>
            <a:lvl1pPr algn="just">
              <a:defRPr sz="1200"/>
            </a:lvl1pPr>
          </a:lstStyle>
          <a:p>
            <a:r>
              <a:rPr lang="es-CO" sz="1400" dirty="0"/>
              <a:t>La </a:t>
            </a:r>
            <a:r>
              <a:rPr lang="es-CO" sz="1800" b="1" dirty="0"/>
              <a:t>resistencia</a:t>
            </a:r>
            <a:r>
              <a:rPr lang="es-CO" sz="1400" dirty="0"/>
              <a:t> “eléctrica” es la oposición que tienen los electrones al moverse a través de un conductor</a:t>
            </a:r>
          </a:p>
        </p:txBody>
      </p:sp>
      <p:sp>
        <p:nvSpPr>
          <p:cNvPr id="4" name="CuadroTexto 3">
            <a:extLst>
              <a:ext uri="{FF2B5EF4-FFF2-40B4-BE49-F238E27FC236}">
                <a16:creationId xmlns:a16="http://schemas.microsoft.com/office/drawing/2014/main" id="{BBE0708F-AA43-3C05-48ED-C8DA49D716C1}"/>
              </a:ext>
            </a:extLst>
          </p:cNvPr>
          <p:cNvSpPr txBox="1"/>
          <p:nvPr/>
        </p:nvSpPr>
        <p:spPr>
          <a:xfrm>
            <a:off x="5977950" y="2878545"/>
            <a:ext cx="2821890" cy="1015663"/>
          </a:xfrm>
          <a:prstGeom prst="rect">
            <a:avLst/>
          </a:prstGeom>
          <a:noFill/>
        </p:spPr>
        <p:txBody>
          <a:bodyPr wrap="square" rtlCol="0">
            <a:spAutoFit/>
          </a:bodyPr>
          <a:lstStyle>
            <a:defPPr>
              <a:defRPr lang="es-CO"/>
            </a:defPPr>
            <a:lvl1pPr algn="just">
              <a:defRPr sz="1200"/>
            </a:lvl1pPr>
          </a:lstStyle>
          <a:p>
            <a:r>
              <a:rPr lang="es-CO" sz="1400" dirty="0"/>
              <a:t>La </a:t>
            </a:r>
            <a:r>
              <a:rPr lang="es-CO" sz="1800" b="1" dirty="0"/>
              <a:t>corriente</a:t>
            </a:r>
            <a:r>
              <a:rPr lang="es-CO" sz="1400" dirty="0"/>
              <a:t> eléctrica o intensidad eléctrica es el flujo de carga eléctrica por unidad de tiempo que recorre un material</a:t>
            </a:r>
          </a:p>
        </p:txBody>
      </p:sp>
      <p:pic>
        <p:nvPicPr>
          <p:cNvPr id="5" name="Marcador de contenido 3">
            <a:extLst>
              <a:ext uri="{FF2B5EF4-FFF2-40B4-BE49-F238E27FC236}">
                <a16:creationId xmlns:a16="http://schemas.microsoft.com/office/drawing/2014/main" id="{86DBF458-23A6-FA2F-B7BF-04EE9B7504C3}"/>
              </a:ext>
            </a:extLst>
          </p:cNvPr>
          <p:cNvPicPr>
            <a:picLocks noChangeAspect="1"/>
          </p:cNvPicPr>
          <p:nvPr/>
        </p:nvPicPr>
        <p:blipFill>
          <a:blip r:embed="rId2"/>
          <a:stretch>
            <a:fillRect/>
          </a:stretch>
        </p:blipFill>
        <p:spPr>
          <a:xfrm>
            <a:off x="2854317" y="966943"/>
            <a:ext cx="3123633" cy="3519770"/>
          </a:xfrm>
          <a:prstGeom prst="rect">
            <a:avLst/>
          </a:prstGeom>
        </p:spPr>
      </p:pic>
    </p:spTree>
    <p:extLst>
      <p:ext uri="{BB962C8B-B14F-4D97-AF65-F5344CB8AC3E}">
        <p14:creationId xmlns:p14="http://schemas.microsoft.com/office/powerpoint/2010/main" val="250556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16B88-3DEA-CFA0-048E-4B232F228610}"/>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D82FDCDE-BC9E-0DCC-BC06-02EDF4C06CBC}"/>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9707EED4-CAC9-F205-8C33-44D56FCBC0F1}"/>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414D9B53-E51C-885D-F3F3-AD1670CFB95A}"/>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Unidades de Medida </a:t>
            </a:r>
          </a:p>
        </p:txBody>
      </p:sp>
      <p:sp>
        <p:nvSpPr>
          <p:cNvPr id="127" name="Marcador de número de diapositiva 3">
            <a:extLst>
              <a:ext uri="{FF2B5EF4-FFF2-40B4-BE49-F238E27FC236}">
                <a16:creationId xmlns:a16="http://schemas.microsoft.com/office/drawing/2014/main" id="{51FC1ADD-7FD7-A31B-9F8A-C574A268C02C}"/>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7</a:t>
            </a:fld>
            <a:endParaRPr lang="es-CO" sz="1200" b="0" strike="noStrike" spc="-1">
              <a:latin typeface="Arial"/>
            </a:endParaRPr>
          </a:p>
        </p:txBody>
      </p:sp>
      <p:pic>
        <p:nvPicPr>
          <p:cNvPr id="3" name="Imagen 2" descr="Forma, Polígono&#10;&#10;Descripción generada automáticamente">
            <a:extLst>
              <a:ext uri="{FF2B5EF4-FFF2-40B4-BE49-F238E27FC236}">
                <a16:creationId xmlns:a16="http://schemas.microsoft.com/office/drawing/2014/main" id="{F77FB5FC-19B1-8589-E5A1-445F4A4799E1}"/>
              </a:ext>
            </a:extLst>
          </p:cNvPr>
          <p:cNvPicPr>
            <a:picLocks noChangeAspect="1"/>
          </p:cNvPicPr>
          <p:nvPr/>
        </p:nvPicPr>
        <p:blipFill>
          <a:blip r:embed="rId2"/>
          <a:stretch>
            <a:fillRect/>
          </a:stretch>
        </p:blipFill>
        <p:spPr>
          <a:xfrm>
            <a:off x="122207" y="832238"/>
            <a:ext cx="5149885" cy="3055477"/>
          </a:xfrm>
          <a:prstGeom prst="rect">
            <a:avLst/>
          </a:prstGeom>
        </p:spPr>
      </p:pic>
      <p:sp>
        <p:nvSpPr>
          <p:cNvPr id="5" name="Es igual a 4">
            <a:extLst>
              <a:ext uri="{FF2B5EF4-FFF2-40B4-BE49-F238E27FC236}">
                <a16:creationId xmlns:a16="http://schemas.microsoft.com/office/drawing/2014/main" id="{EB0E0E99-73B8-6F3B-A92D-CDD1925EDC2D}"/>
              </a:ext>
            </a:extLst>
          </p:cNvPr>
          <p:cNvSpPr/>
          <p:nvPr/>
        </p:nvSpPr>
        <p:spPr>
          <a:xfrm>
            <a:off x="4956480" y="3055704"/>
            <a:ext cx="800468" cy="746592"/>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solidFill>
                <a:schemeClr val="tx1"/>
              </a:solidFill>
            </a:endParaRPr>
          </a:p>
        </p:txBody>
      </p:sp>
      <p:pic>
        <p:nvPicPr>
          <p:cNvPr id="7" name="Imagen 6" descr="No hay ninguna descripción de la foto disponible.">
            <a:extLst>
              <a:ext uri="{FF2B5EF4-FFF2-40B4-BE49-F238E27FC236}">
                <a16:creationId xmlns:a16="http://schemas.microsoft.com/office/drawing/2014/main" id="{EA30CE7A-D8BA-AA06-ECC9-47361A51DC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79481" y="1415340"/>
            <a:ext cx="2920359" cy="4378855"/>
          </a:xfrm>
          <a:prstGeom prst="rect">
            <a:avLst/>
          </a:prstGeom>
          <a:noFill/>
          <a:ln>
            <a:noFill/>
          </a:ln>
        </p:spPr>
      </p:pic>
    </p:spTree>
    <p:extLst>
      <p:ext uri="{BB962C8B-B14F-4D97-AF65-F5344CB8AC3E}">
        <p14:creationId xmlns:p14="http://schemas.microsoft.com/office/powerpoint/2010/main" val="406950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AF813-D81D-B0FB-AA12-3A20566AE943}"/>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69A52052-9910-DE7B-8AC8-7C970475FD49}"/>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35CD6A0A-59B8-E239-4DFF-A90B91391AB2}"/>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477DD575-45D5-785A-8A4E-46D897826743}"/>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Configuración Serie </a:t>
            </a:r>
          </a:p>
        </p:txBody>
      </p:sp>
      <p:sp>
        <p:nvSpPr>
          <p:cNvPr id="127" name="Marcador de número de diapositiva 3">
            <a:extLst>
              <a:ext uri="{FF2B5EF4-FFF2-40B4-BE49-F238E27FC236}">
                <a16:creationId xmlns:a16="http://schemas.microsoft.com/office/drawing/2014/main" id="{879C7C61-4718-B4F6-E9AA-BD9CFC95BC29}"/>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8</a:t>
            </a:fld>
            <a:endParaRPr lang="es-CO" sz="1200" b="0" strike="noStrike" spc="-1">
              <a:latin typeface="Arial"/>
            </a:endParaRPr>
          </a:p>
        </p:txBody>
      </p:sp>
      <p:pic>
        <p:nvPicPr>
          <p:cNvPr id="2" name="Imagen 1">
            <a:extLst>
              <a:ext uri="{FF2B5EF4-FFF2-40B4-BE49-F238E27FC236}">
                <a16:creationId xmlns:a16="http://schemas.microsoft.com/office/drawing/2014/main" id="{041EFB74-FC35-6629-3E86-3362C1712E00}"/>
              </a:ext>
            </a:extLst>
          </p:cNvPr>
          <p:cNvPicPr>
            <a:picLocks noChangeAspect="1"/>
          </p:cNvPicPr>
          <p:nvPr/>
        </p:nvPicPr>
        <p:blipFill>
          <a:blip r:embed="rId2"/>
          <a:stretch>
            <a:fillRect/>
          </a:stretch>
        </p:blipFill>
        <p:spPr>
          <a:xfrm>
            <a:off x="261360" y="1751452"/>
            <a:ext cx="4216428" cy="3078933"/>
          </a:xfrm>
          <a:prstGeom prst="rect">
            <a:avLst/>
          </a:prstGeom>
        </p:spPr>
      </p:pic>
      <p:pic>
        <p:nvPicPr>
          <p:cNvPr id="3" name="Imagen 2">
            <a:extLst>
              <a:ext uri="{FF2B5EF4-FFF2-40B4-BE49-F238E27FC236}">
                <a16:creationId xmlns:a16="http://schemas.microsoft.com/office/drawing/2014/main" id="{05D76241-9BFF-C5EC-3A4C-36E8555DF5D1}"/>
              </a:ext>
            </a:extLst>
          </p:cNvPr>
          <p:cNvPicPr>
            <a:picLocks noChangeAspect="1"/>
          </p:cNvPicPr>
          <p:nvPr/>
        </p:nvPicPr>
        <p:blipFill>
          <a:blip r:embed="rId3"/>
          <a:stretch>
            <a:fillRect/>
          </a:stretch>
        </p:blipFill>
        <p:spPr>
          <a:xfrm rot="16200000">
            <a:off x="5765834" y="1143437"/>
            <a:ext cx="2191367" cy="4169685"/>
          </a:xfrm>
          <a:prstGeom prst="rect">
            <a:avLst/>
          </a:prstGeom>
        </p:spPr>
      </p:pic>
    </p:spTree>
    <p:extLst>
      <p:ext uri="{BB962C8B-B14F-4D97-AF65-F5344CB8AC3E}">
        <p14:creationId xmlns:p14="http://schemas.microsoft.com/office/powerpoint/2010/main" val="801282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3858C-1C13-5C87-97B5-50DE0E3D9556}"/>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615513B3-7D5B-64BF-2729-D1854D77F007}"/>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AE048B27-4FCD-3D40-812A-48BD445DC754}"/>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F48D3AE1-695E-6877-463D-56FEE7B2BEB4}"/>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Configuración Paralelo </a:t>
            </a:r>
          </a:p>
        </p:txBody>
      </p:sp>
      <p:sp>
        <p:nvSpPr>
          <p:cNvPr id="127" name="Marcador de número de diapositiva 3">
            <a:extLst>
              <a:ext uri="{FF2B5EF4-FFF2-40B4-BE49-F238E27FC236}">
                <a16:creationId xmlns:a16="http://schemas.microsoft.com/office/drawing/2014/main" id="{672711E7-A38F-AAD8-957E-EA3377E8141B}"/>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9</a:t>
            </a:fld>
            <a:endParaRPr lang="es-CO" sz="1200" b="0" strike="noStrike" spc="-1">
              <a:latin typeface="Arial"/>
            </a:endParaRPr>
          </a:p>
        </p:txBody>
      </p:sp>
      <p:pic>
        <p:nvPicPr>
          <p:cNvPr id="2" name="Imagen 1" descr="Diagrama, Esquemático&#10;&#10;Descripción generada automáticamente">
            <a:extLst>
              <a:ext uri="{FF2B5EF4-FFF2-40B4-BE49-F238E27FC236}">
                <a16:creationId xmlns:a16="http://schemas.microsoft.com/office/drawing/2014/main" id="{942308B1-9FFE-77A5-14A4-29CB328EEA56}"/>
              </a:ext>
            </a:extLst>
          </p:cNvPr>
          <p:cNvPicPr>
            <a:picLocks noChangeAspect="1"/>
          </p:cNvPicPr>
          <p:nvPr/>
        </p:nvPicPr>
        <p:blipFill>
          <a:blip r:embed="rId2"/>
          <a:stretch>
            <a:fillRect/>
          </a:stretch>
        </p:blipFill>
        <p:spPr>
          <a:xfrm>
            <a:off x="214842" y="1005488"/>
            <a:ext cx="4741638" cy="2086321"/>
          </a:xfrm>
          <a:prstGeom prst="rect">
            <a:avLst/>
          </a:prstGeom>
        </p:spPr>
      </p:pic>
      <p:pic>
        <p:nvPicPr>
          <p:cNvPr id="3" name="Imagen 2">
            <a:extLst>
              <a:ext uri="{FF2B5EF4-FFF2-40B4-BE49-F238E27FC236}">
                <a16:creationId xmlns:a16="http://schemas.microsoft.com/office/drawing/2014/main" id="{83423D82-755A-372A-A758-29966FDFA6F0}"/>
              </a:ext>
            </a:extLst>
          </p:cNvPr>
          <p:cNvPicPr>
            <a:picLocks noChangeAspect="1"/>
          </p:cNvPicPr>
          <p:nvPr/>
        </p:nvPicPr>
        <p:blipFill>
          <a:blip r:embed="rId3"/>
          <a:stretch>
            <a:fillRect/>
          </a:stretch>
        </p:blipFill>
        <p:spPr>
          <a:xfrm>
            <a:off x="4521268" y="3240357"/>
            <a:ext cx="4278572" cy="2306295"/>
          </a:xfrm>
          <a:prstGeom prst="rect">
            <a:avLst/>
          </a:prstGeom>
        </p:spPr>
      </p:pic>
    </p:spTree>
    <p:extLst>
      <p:ext uri="{BB962C8B-B14F-4D97-AF65-F5344CB8AC3E}">
        <p14:creationId xmlns:p14="http://schemas.microsoft.com/office/powerpoint/2010/main" val="1606231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DBEC0-552A-E01B-E82C-8E9D604BBB5E}"/>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0893D838-16F1-3447-40BB-A20E56C77DC6}"/>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1EA049E8-FD04-1A11-3445-3444E8C586DE}"/>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C7A7DCE3-A9AF-E1B9-4F15-59A5263A73BF}"/>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Configuración Serie / Paralelo</a:t>
            </a:r>
          </a:p>
        </p:txBody>
      </p:sp>
      <p:sp>
        <p:nvSpPr>
          <p:cNvPr id="127" name="Marcador de número de diapositiva 3">
            <a:extLst>
              <a:ext uri="{FF2B5EF4-FFF2-40B4-BE49-F238E27FC236}">
                <a16:creationId xmlns:a16="http://schemas.microsoft.com/office/drawing/2014/main" id="{D6EA1711-2A79-1BAB-7016-0054E5D6B007}"/>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10</a:t>
            </a:fld>
            <a:endParaRPr lang="es-CO" sz="1200" b="0" strike="noStrike" spc="-1" dirty="0">
              <a:latin typeface="Arial"/>
            </a:endParaRPr>
          </a:p>
        </p:txBody>
      </p:sp>
      <p:pic>
        <p:nvPicPr>
          <p:cNvPr id="2" name="Imagen 1" descr="Diagrama&#10;&#10;Descripción generada automáticamente">
            <a:extLst>
              <a:ext uri="{FF2B5EF4-FFF2-40B4-BE49-F238E27FC236}">
                <a16:creationId xmlns:a16="http://schemas.microsoft.com/office/drawing/2014/main" id="{535C9C96-7791-6155-0B2D-1628A8C2A521}"/>
              </a:ext>
            </a:extLst>
          </p:cNvPr>
          <p:cNvPicPr>
            <a:picLocks noChangeAspect="1"/>
          </p:cNvPicPr>
          <p:nvPr/>
        </p:nvPicPr>
        <p:blipFill>
          <a:blip r:embed="rId2"/>
          <a:stretch>
            <a:fillRect/>
          </a:stretch>
        </p:blipFill>
        <p:spPr>
          <a:xfrm>
            <a:off x="1784648" y="1700278"/>
            <a:ext cx="5974492" cy="4185722"/>
          </a:xfrm>
          <a:prstGeom prst="rect">
            <a:avLst/>
          </a:prstGeom>
        </p:spPr>
      </p:pic>
    </p:spTree>
    <p:extLst>
      <p:ext uri="{BB962C8B-B14F-4D97-AF65-F5344CB8AC3E}">
        <p14:creationId xmlns:p14="http://schemas.microsoft.com/office/powerpoint/2010/main" val="2712272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DC2E-1815-81E5-D9C6-9D2195ED5D45}"/>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7DB6990C-E009-BAFA-2C10-55C8953893D3}"/>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44C238E7-10AC-222E-7EDE-237C0647FE22}"/>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19612FD0-94D8-7148-1C29-5D64E8C465B4}"/>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Tipos de señales </a:t>
            </a:r>
          </a:p>
        </p:txBody>
      </p:sp>
      <p:sp>
        <p:nvSpPr>
          <p:cNvPr id="127" name="Marcador de número de diapositiva 3">
            <a:extLst>
              <a:ext uri="{FF2B5EF4-FFF2-40B4-BE49-F238E27FC236}">
                <a16:creationId xmlns:a16="http://schemas.microsoft.com/office/drawing/2014/main" id="{EA3A4B50-AA98-250D-6F92-A1CFF2D2FFA9}"/>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11</a:t>
            </a:fld>
            <a:endParaRPr lang="es-CO" sz="1200" b="0" strike="noStrike" spc="-1">
              <a:latin typeface="Arial"/>
            </a:endParaRPr>
          </a:p>
        </p:txBody>
      </p:sp>
      <p:sp>
        <p:nvSpPr>
          <p:cNvPr id="2" name="Marcador de texto 7">
            <a:extLst>
              <a:ext uri="{FF2B5EF4-FFF2-40B4-BE49-F238E27FC236}">
                <a16:creationId xmlns:a16="http://schemas.microsoft.com/office/drawing/2014/main" id="{C2A31F41-D8B1-7616-5639-C79E2CCF9F0C}"/>
              </a:ext>
            </a:extLst>
          </p:cNvPr>
          <p:cNvSpPr txBox="1">
            <a:spLocks/>
          </p:cNvSpPr>
          <p:nvPr/>
        </p:nvSpPr>
        <p:spPr>
          <a:xfrm>
            <a:off x="1238901" y="1075120"/>
            <a:ext cx="2119585" cy="47982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sz="1800" dirty="0">
                <a:solidFill>
                  <a:schemeClr val="tx1">
                    <a:lumMod val="50000"/>
                    <a:lumOff val="50000"/>
                  </a:schemeClr>
                </a:solidFill>
                <a:latin typeface="Myriad Pro"/>
              </a:rPr>
              <a:t>Señal Analógica</a:t>
            </a:r>
          </a:p>
        </p:txBody>
      </p:sp>
      <p:pic>
        <p:nvPicPr>
          <p:cNvPr id="3" name="Marcador de contenido 12" descr="Imagen que contiene objeto&#10;&#10;Descripción generada automáticamente">
            <a:extLst>
              <a:ext uri="{FF2B5EF4-FFF2-40B4-BE49-F238E27FC236}">
                <a16:creationId xmlns:a16="http://schemas.microsoft.com/office/drawing/2014/main" id="{D2EC8FD4-EEAE-D4A1-67C0-864A5AA5B2F6}"/>
              </a:ext>
            </a:extLst>
          </p:cNvPr>
          <p:cNvPicPr>
            <a:picLocks noChangeAspect="1"/>
          </p:cNvPicPr>
          <p:nvPr/>
        </p:nvPicPr>
        <p:blipFill>
          <a:blip r:embed="rId2"/>
          <a:stretch>
            <a:fillRect/>
          </a:stretch>
        </p:blipFill>
        <p:spPr>
          <a:xfrm>
            <a:off x="408845" y="1826173"/>
            <a:ext cx="3779698" cy="1580601"/>
          </a:xfrm>
          <a:prstGeom prst="rect">
            <a:avLst/>
          </a:prstGeom>
        </p:spPr>
      </p:pic>
      <p:sp>
        <p:nvSpPr>
          <p:cNvPr id="4" name="Marcador de texto 9">
            <a:extLst>
              <a:ext uri="{FF2B5EF4-FFF2-40B4-BE49-F238E27FC236}">
                <a16:creationId xmlns:a16="http://schemas.microsoft.com/office/drawing/2014/main" id="{5F162FE2-42F7-B2A2-E4FE-9EFBB6CA57EB}"/>
              </a:ext>
            </a:extLst>
          </p:cNvPr>
          <p:cNvSpPr txBox="1">
            <a:spLocks/>
          </p:cNvSpPr>
          <p:nvPr/>
        </p:nvSpPr>
        <p:spPr>
          <a:xfrm>
            <a:off x="4831712" y="2926952"/>
            <a:ext cx="4041775" cy="479822"/>
          </a:xfrm>
          <a:prstGeom prst="rect">
            <a:avLst/>
          </a:prstGeom>
        </p:spPr>
        <p:txBody>
          <a:bodyPr vert="horz" lIns="91440" tIns="45720" rIns="91440" bIns="45720" rtlCol="0" anchor="ctr"/>
          <a:lstStyle>
            <a:defPPr>
              <a:defRPr lang="es-CO"/>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419" sz="1800" dirty="0">
                <a:solidFill>
                  <a:schemeClr val="tx1">
                    <a:lumMod val="50000"/>
                    <a:lumOff val="50000"/>
                  </a:schemeClr>
                </a:solidFill>
                <a:latin typeface="Myriad Pro"/>
              </a:rPr>
              <a:t>Señal Digital</a:t>
            </a:r>
          </a:p>
        </p:txBody>
      </p:sp>
      <p:pic>
        <p:nvPicPr>
          <p:cNvPr id="5" name="Marcador de contenido 14">
            <a:extLst>
              <a:ext uri="{FF2B5EF4-FFF2-40B4-BE49-F238E27FC236}">
                <a16:creationId xmlns:a16="http://schemas.microsoft.com/office/drawing/2014/main" id="{2A24BBF2-A32A-DB0E-EEB6-D7F3A4FD5A3D}"/>
              </a:ext>
            </a:extLst>
          </p:cNvPr>
          <p:cNvPicPr>
            <a:picLocks noChangeAspect="1"/>
          </p:cNvPicPr>
          <p:nvPr/>
        </p:nvPicPr>
        <p:blipFill>
          <a:blip r:embed="rId3"/>
          <a:stretch>
            <a:fillRect/>
          </a:stretch>
        </p:blipFill>
        <p:spPr>
          <a:xfrm>
            <a:off x="4758840" y="4164516"/>
            <a:ext cx="4187520" cy="1488127"/>
          </a:xfrm>
          <a:prstGeom prst="rect">
            <a:avLst/>
          </a:prstGeom>
        </p:spPr>
      </p:pic>
    </p:spTree>
    <p:extLst>
      <p:ext uri="{BB962C8B-B14F-4D97-AF65-F5344CB8AC3E}">
        <p14:creationId xmlns:p14="http://schemas.microsoft.com/office/powerpoint/2010/main" val="838744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7A12D-7AD4-DD6A-9B38-4254F1EF647F}"/>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017683FA-0663-7125-08B9-D13DA83D2062}"/>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C0DADD35-57B2-4327-32E4-A91E13BB3A78}"/>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16855CCD-181B-6E1E-FDBB-CFB87EDC23F7}"/>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b="1" spc="-1" dirty="0">
                <a:solidFill>
                  <a:srgbClr val="2C5697"/>
                </a:solidFill>
                <a:latin typeface="Arial"/>
                <a:ea typeface="DejaVu Sans"/>
              </a:rPr>
              <a:t>S</a:t>
            </a:r>
            <a:r>
              <a:rPr lang="es-ES" sz="1800" b="1" strike="noStrike" spc="-1" dirty="0">
                <a:solidFill>
                  <a:srgbClr val="2C5697"/>
                </a:solidFill>
                <a:latin typeface="Arial"/>
                <a:ea typeface="DejaVu Sans"/>
              </a:rPr>
              <a:t>eñale DC/AC </a:t>
            </a:r>
          </a:p>
        </p:txBody>
      </p:sp>
      <p:sp>
        <p:nvSpPr>
          <p:cNvPr id="127" name="Marcador de número de diapositiva 3">
            <a:extLst>
              <a:ext uri="{FF2B5EF4-FFF2-40B4-BE49-F238E27FC236}">
                <a16:creationId xmlns:a16="http://schemas.microsoft.com/office/drawing/2014/main" id="{1D2A1E36-694E-67D5-3490-2BDE85A285AE}"/>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12</a:t>
            </a:fld>
            <a:endParaRPr lang="es-CO" sz="1200" b="0" strike="noStrike" spc="-1">
              <a:latin typeface="Arial"/>
            </a:endParaRPr>
          </a:p>
        </p:txBody>
      </p:sp>
      <p:pic>
        <p:nvPicPr>
          <p:cNvPr id="2" name="Marcador de contenido 3">
            <a:extLst>
              <a:ext uri="{FF2B5EF4-FFF2-40B4-BE49-F238E27FC236}">
                <a16:creationId xmlns:a16="http://schemas.microsoft.com/office/drawing/2014/main" id="{7D0BF4C3-B314-88DA-1BD6-C43329804122}"/>
              </a:ext>
            </a:extLst>
          </p:cNvPr>
          <p:cNvPicPr>
            <a:picLocks noChangeAspect="1"/>
          </p:cNvPicPr>
          <p:nvPr/>
        </p:nvPicPr>
        <p:blipFill>
          <a:blip r:embed="rId2"/>
          <a:stretch>
            <a:fillRect/>
          </a:stretch>
        </p:blipFill>
        <p:spPr>
          <a:xfrm>
            <a:off x="618012" y="1610587"/>
            <a:ext cx="7490623" cy="3636826"/>
          </a:xfrm>
          <a:prstGeom prst="rect">
            <a:avLst/>
          </a:prstGeom>
        </p:spPr>
      </p:pic>
      <p:pic>
        <p:nvPicPr>
          <p:cNvPr id="3" name="Imagen 2">
            <a:extLst>
              <a:ext uri="{FF2B5EF4-FFF2-40B4-BE49-F238E27FC236}">
                <a16:creationId xmlns:a16="http://schemas.microsoft.com/office/drawing/2014/main" id="{A5A52D03-A04B-89EB-6EC8-165914AF5BF1}"/>
              </a:ext>
            </a:extLst>
          </p:cNvPr>
          <p:cNvPicPr>
            <a:picLocks noChangeAspect="1"/>
          </p:cNvPicPr>
          <p:nvPr/>
        </p:nvPicPr>
        <p:blipFill>
          <a:blip r:embed="rId3"/>
          <a:stretch>
            <a:fillRect/>
          </a:stretch>
        </p:blipFill>
        <p:spPr>
          <a:xfrm>
            <a:off x="8126703" y="2380790"/>
            <a:ext cx="673137" cy="617042"/>
          </a:xfrm>
          <a:prstGeom prst="rect">
            <a:avLst/>
          </a:prstGeom>
        </p:spPr>
      </p:pic>
      <p:pic>
        <p:nvPicPr>
          <p:cNvPr id="4" name="Imagen 3">
            <a:extLst>
              <a:ext uri="{FF2B5EF4-FFF2-40B4-BE49-F238E27FC236}">
                <a16:creationId xmlns:a16="http://schemas.microsoft.com/office/drawing/2014/main" id="{56E3D081-DFF6-D550-1D5E-B7EE47D3CA06}"/>
              </a:ext>
            </a:extLst>
          </p:cNvPr>
          <p:cNvPicPr>
            <a:picLocks noChangeAspect="1"/>
          </p:cNvPicPr>
          <p:nvPr/>
        </p:nvPicPr>
        <p:blipFill>
          <a:blip r:embed="rId4"/>
          <a:stretch>
            <a:fillRect/>
          </a:stretch>
        </p:blipFill>
        <p:spPr>
          <a:xfrm>
            <a:off x="8206713" y="3505580"/>
            <a:ext cx="513119" cy="617042"/>
          </a:xfrm>
          <a:prstGeom prst="rect">
            <a:avLst/>
          </a:prstGeom>
        </p:spPr>
      </p:pic>
    </p:spTree>
    <p:extLst>
      <p:ext uri="{BB962C8B-B14F-4D97-AF65-F5344CB8AC3E}">
        <p14:creationId xmlns:p14="http://schemas.microsoft.com/office/powerpoint/2010/main" val="2005993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0D82-2563-F6F9-D277-2CA7FD04730A}"/>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4505DF9B-E0BE-C32F-AA36-04EF41D9B5CB}"/>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79184F79-3EEC-136B-8530-5E6874AECEF6}"/>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AA71F060-43A9-2C1B-FFF8-9B38817A249F}"/>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Característica de la señal AC</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2D21E6B5-7048-459F-74CD-0566BC2E637C}"/>
              </a:ext>
            </a:extLst>
          </p:cNvPr>
          <p:cNvSpPr/>
          <p:nvPr/>
        </p:nvSpPr>
        <p:spPr>
          <a:xfrm>
            <a:off x="8681884" y="5886000"/>
            <a:ext cx="410996"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13</a:t>
            </a:fld>
            <a:endParaRPr lang="es-CO" sz="1200" b="0" strike="noStrike" spc="-1" dirty="0">
              <a:latin typeface="Arial"/>
            </a:endParaRPr>
          </a:p>
        </p:txBody>
      </p:sp>
      <p:grpSp>
        <p:nvGrpSpPr>
          <p:cNvPr id="23" name="Grupo 22">
            <a:extLst>
              <a:ext uri="{FF2B5EF4-FFF2-40B4-BE49-F238E27FC236}">
                <a16:creationId xmlns:a16="http://schemas.microsoft.com/office/drawing/2014/main" id="{1A888611-3FD7-5291-6BC5-D73614B0A3C1}"/>
              </a:ext>
            </a:extLst>
          </p:cNvPr>
          <p:cNvGrpSpPr/>
          <p:nvPr/>
        </p:nvGrpSpPr>
        <p:grpSpPr>
          <a:xfrm>
            <a:off x="5426620" y="828756"/>
            <a:ext cx="3666260" cy="2880393"/>
            <a:chOff x="5426620" y="908375"/>
            <a:chExt cx="3666260" cy="2880393"/>
          </a:xfrm>
        </p:grpSpPr>
        <p:sp>
          <p:nvSpPr>
            <p:cNvPr id="5" name="CuadroTexto 4">
              <a:extLst>
                <a:ext uri="{FF2B5EF4-FFF2-40B4-BE49-F238E27FC236}">
                  <a16:creationId xmlns:a16="http://schemas.microsoft.com/office/drawing/2014/main" id="{2EADC6FF-DA4F-F3CC-C1B4-CD126943FCA5}"/>
                </a:ext>
              </a:extLst>
            </p:cNvPr>
            <p:cNvSpPr txBox="1"/>
            <p:nvPr/>
          </p:nvSpPr>
          <p:spPr>
            <a:xfrm>
              <a:off x="5426620" y="908375"/>
              <a:ext cx="3255264" cy="523220"/>
            </a:xfrm>
            <a:prstGeom prst="rect">
              <a:avLst/>
            </a:prstGeom>
            <a:noFill/>
          </p:spPr>
          <p:txBody>
            <a:bodyPr wrap="square">
              <a:spAutoFit/>
            </a:bodyPr>
            <a:lstStyle/>
            <a:p>
              <a:r>
                <a:rPr lang="es-ES" sz="1400" b="1" dirty="0"/>
                <a:t>Ecuación general de la señal senoidal</a:t>
              </a:r>
              <a:endParaRPr lang="es-CO" sz="1400" b="1" dirty="0"/>
            </a:p>
          </p:txBody>
        </p:sp>
        <p:sp>
          <p:nvSpPr>
            <p:cNvPr id="7" name="CuadroTexto 6">
              <a:extLst>
                <a:ext uri="{FF2B5EF4-FFF2-40B4-BE49-F238E27FC236}">
                  <a16:creationId xmlns:a16="http://schemas.microsoft.com/office/drawing/2014/main" id="{7D373886-D654-FE02-F966-F7EC9C7317BB}"/>
                </a:ext>
              </a:extLst>
            </p:cNvPr>
            <p:cNvSpPr txBox="1"/>
            <p:nvPr/>
          </p:nvSpPr>
          <p:spPr>
            <a:xfrm>
              <a:off x="5618160" y="2403773"/>
              <a:ext cx="3474720" cy="1384995"/>
            </a:xfrm>
            <a:prstGeom prst="rect">
              <a:avLst/>
            </a:prstGeom>
            <a:noFill/>
          </p:spPr>
          <p:txBody>
            <a:bodyPr wrap="square">
              <a:spAutoFit/>
            </a:bodyPr>
            <a:lstStyle/>
            <a:p>
              <a:r>
                <a:rPr lang="es-ES" sz="1200" dirty="0"/>
                <a:t>Donde:</a:t>
              </a:r>
            </a:p>
            <a:p>
              <a:endParaRPr lang="es-ES" sz="1200" dirty="0"/>
            </a:p>
            <a:p>
              <a:r>
                <a:rPr lang="es-ES" sz="1200" dirty="0"/>
                <a:t>𝑣(𝑡): valor instantáneo de la señal en el tiempo 𝑡</a:t>
              </a:r>
            </a:p>
            <a:p>
              <a:r>
                <a:rPr lang="es-ES" sz="1200" dirty="0"/>
                <a:t>A: amplitud máxima (valor pico)</a:t>
              </a:r>
            </a:p>
            <a:p>
              <a:r>
                <a:rPr lang="es-ES" sz="1200" dirty="0"/>
                <a:t>ω: frecuencia angular (rad/s)</a:t>
              </a:r>
            </a:p>
            <a:p>
              <a:r>
                <a:rPr lang="es-ES" sz="1200" dirty="0"/>
                <a:t>𝜙: ángulo de fase (rad)</a:t>
              </a:r>
            </a:p>
            <a:p>
              <a:r>
                <a:rPr lang="es-ES" sz="1200" dirty="0"/>
                <a:t>𝑡: tiempo (s)</a:t>
              </a:r>
              <a:endParaRPr lang="es-CO" sz="1200" dirty="0"/>
            </a:p>
          </p:txBody>
        </p:sp>
        <p:pic>
          <p:nvPicPr>
            <p:cNvPr id="9" name="Imagen 8">
              <a:extLst>
                <a:ext uri="{FF2B5EF4-FFF2-40B4-BE49-F238E27FC236}">
                  <a16:creationId xmlns:a16="http://schemas.microsoft.com/office/drawing/2014/main" id="{94492CEB-727C-9B38-F666-E0C8FC2031AF}"/>
                </a:ext>
              </a:extLst>
            </p:cNvPr>
            <p:cNvPicPr>
              <a:picLocks noChangeAspect="1"/>
            </p:cNvPicPr>
            <p:nvPr/>
          </p:nvPicPr>
          <p:blipFill>
            <a:blip r:embed="rId2"/>
            <a:stretch>
              <a:fillRect/>
            </a:stretch>
          </p:blipFill>
          <p:spPr>
            <a:xfrm>
              <a:off x="5968250" y="1625126"/>
              <a:ext cx="2172003" cy="257211"/>
            </a:xfrm>
            <a:prstGeom prst="rect">
              <a:avLst/>
            </a:prstGeom>
          </p:spPr>
        </p:pic>
      </p:grpSp>
      <p:grpSp>
        <p:nvGrpSpPr>
          <p:cNvPr id="22" name="Grupo 21">
            <a:extLst>
              <a:ext uri="{FF2B5EF4-FFF2-40B4-BE49-F238E27FC236}">
                <a16:creationId xmlns:a16="http://schemas.microsoft.com/office/drawing/2014/main" id="{BCF88ED6-C8CD-E493-63CC-C58FA72D01CB}"/>
              </a:ext>
            </a:extLst>
          </p:cNvPr>
          <p:cNvGrpSpPr/>
          <p:nvPr/>
        </p:nvGrpSpPr>
        <p:grpSpPr>
          <a:xfrm>
            <a:off x="5804878" y="4431659"/>
            <a:ext cx="2877006" cy="1454341"/>
            <a:chOff x="5804878" y="4206888"/>
            <a:chExt cx="2877006" cy="1454341"/>
          </a:xfrm>
        </p:grpSpPr>
        <p:sp>
          <p:nvSpPr>
            <p:cNvPr id="11" name="CuadroTexto 10">
              <a:extLst>
                <a:ext uri="{FF2B5EF4-FFF2-40B4-BE49-F238E27FC236}">
                  <a16:creationId xmlns:a16="http://schemas.microsoft.com/office/drawing/2014/main" id="{73A49138-0316-7C52-1B5D-0D2CF6DF6FE4}"/>
                </a:ext>
              </a:extLst>
            </p:cNvPr>
            <p:cNvSpPr txBox="1"/>
            <p:nvPr/>
          </p:nvSpPr>
          <p:spPr>
            <a:xfrm>
              <a:off x="6210062" y="4206888"/>
              <a:ext cx="2290916" cy="307777"/>
            </a:xfrm>
            <a:prstGeom prst="rect">
              <a:avLst/>
            </a:prstGeom>
            <a:noFill/>
          </p:spPr>
          <p:txBody>
            <a:bodyPr wrap="square">
              <a:spAutoFit/>
            </a:bodyPr>
            <a:lstStyle>
              <a:defPPr>
                <a:defRPr lang="es-US"/>
              </a:defPPr>
              <a:lvl1pPr>
                <a:defRPr sz="1400"/>
              </a:lvl1pPr>
            </a:lstStyle>
            <a:p>
              <a:r>
                <a:rPr lang="es-CO" b="1" dirty="0"/>
                <a:t>Frecuencia angular (</a:t>
              </a:r>
              <a:r>
                <a:rPr lang="el-GR" b="1" dirty="0"/>
                <a:t>ω)</a:t>
              </a:r>
              <a:endParaRPr lang="es-CO" b="1" dirty="0"/>
            </a:p>
          </p:txBody>
        </p:sp>
        <p:sp>
          <p:nvSpPr>
            <p:cNvPr id="13" name="Rectangle 4">
              <a:extLst>
                <a:ext uri="{FF2B5EF4-FFF2-40B4-BE49-F238E27FC236}">
                  <a16:creationId xmlns:a16="http://schemas.microsoft.com/office/drawing/2014/main" id="{D13F8A5F-85A1-CA2C-C1D5-8FDF396D1579}"/>
                </a:ext>
              </a:extLst>
            </p:cNvPr>
            <p:cNvSpPr>
              <a:spLocks noChangeArrowheads="1"/>
            </p:cNvSpPr>
            <p:nvPr/>
          </p:nvSpPr>
          <p:spPr bwMode="auto">
            <a:xfrm>
              <a:off x="5804878" y="5199564"/>
              <a:ext cx="2877006" cy="461665"/>
            </a:xfrm>
            <a:prstGeom prst="rect">
              <a:avLst/>
            </a:prstGeom>
            <a:noFill/>
          </p:spPr>
          <p:txBody>
            <a:bodyPr wrap="square">
              <a:spAutoFit/>
            </a:bodyPr>
            <a:lstStyle/>
            <a:p>
              <a:r>
                <a:rPr lang="es-CO" altLang="es-CO" sz="1200" dirty="0"/>
                <a:t>Donde f es la frecuencia en Hertz (Hz)</a:t>
              </a:r>
            </a:p>
            <a:p>
              <a:r>
                <a:rPr lang="es-CO" altLang="es-CO" sz="1200" dirty="0"/>
                <a:t>Unidad: radianes por segundo (rad/s)</a:t>
              </a:r>
            </a:p>
          </p:txBody>
        </p:sp>
        <p:pic>
          <p:nvPicPr>
            <p:cNvPr id="15" name="Imagen 14">
              <a:extLst>
                <a:ext uri="{FF2B5EF4-FFF2-40B4-BE49-F238E27FC236}">
                  <a16:creationId xmlns:a16="http://schemas.microsoft.com/office/drawing/2014/main" id="{6DA049FF-8D86-86EB-22BD-60442EADFBEA}"/>
                </a:ext>
              </a:extLst>
            </p:cNvPr>
            <p:cNvPicPr>
              <a:picLocks noChangeAspect="1"/>
            </p:cNvPicPr>
            <p:nvPr/>
          </p:nvPicPr>
          <p:blipFill>
            <a:blip r:embed="rId3"/>
            <a:stretch>
              <a:fillRect/>
            </a:stretch>
          </p:blipFill>
          <p:spPr>
            <a:xfrm>
              <a:off x="6802993" y="4647535"/>
              <a:ext cx="1105054" cy="419158"/>
            </a:xfrm>
            <a:prstGeom prst="rect">
              <a:avLst/>
            </a:prstGeom>
          </p:spPr>
        </p:pic>
      </p:grpSp>
      <p:pic>
        <p:nvPicPr>
          <p:cNvPr id="1030" name="Picture 6">
            <a:extLst>
              <a:ext uri="{FF2B5EF4-FFF2-40B4-BE49-F238E27FC236}">
                <a16:creationId xmlns:a16="http://schemas.microsoft.com/office/drawing/2014/main" id="{0B0CD31F-1466-25CA-4B9E-A855ABFD06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360" y="1533914"/>
            <a:ext cx="4905540" cy="2051408"/>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upo 20">
            <a:extLst>
              <a:ext uri="{FF2B5EF4-FFF2-40B4-BE49-F238E27FC236}">
                <a16:creationId xmlns:a16="http://schemas.microsoft.com/office/drawing/2014/main" id="{F67A78AC-43A9-A449-854B-D8796BE77758}"/>
              </a:ext>
            </a:extLst>
          </p:cNvPr>
          <p:cNvGrpSpPr/>
          <p:nvPr/>
        </p:nvGrpSpPr>
        <p:grpSpPr>
          <a:xfrm>
            <a:off x="261360" y="4369008"/>
            <a:ext cx="2263761" cy="1487005"/>
            <a:chOff x="261360" y="4369008"/>
            <a:chExt cx="2263761" cy="1487005"/>
          </a:xfrm>
        </p:grpSpPr>
        <p:sp>
          <p:nvSpPr>
            <p:cNvPr id="17" name="CuadroTexto 16">
              <a:extLst>
                <a:ext uri="{FF2B5EF4-FFF2-40B4-BE49-F238E27FC236}">
                  <a16:creationId xmlns:a16="http://schemas.microsoft.com/office/drawing/2014/main" id="{87CCCCB9-8549-4104-1C81-47A41E66275B}"/>
                </a:ext>
              </a:extLst>
            </p:cNvPr>
            <p:cNvSpPr txBox="1"/>
            <p:nvPr/>
          </p:nvSpPr>
          <p:spPr>
            <a:xfrm>
              <a:off x="539100" y="4369008"/>
              <a:ext cx="1393704" cy="307777"/>
            </a:xfrm>
            <a:prstGeom prst="rect">
              <a:avLst/>
            </a:prstGeom>
            <a:noFill/>
          </p:spPr>
          <p:txBody>
            <a:bodyPr wrap="square">
              <a:spAutoFit/>
            </a:bodyPr>
            <a:lstStyle>
              <a:defPPr>
                <a:defRPr lang="es-US"/>
              </a:defPPr>
              <a:lvl1pPr>
                <a:defRPr sz="1400" b="1"/>
              </a:lvl1pPr>
            </a:lstStyle>
            <a:p>
              <a:r>
                <a:rPr lang="es-CO" dirty="0"/>
                <a:t>Frecuencia (f)</a:t>
              </a:r>
            </a:p>
          </p:txBody>
        </p:sp>
        <p:sp>
          <p:nvSpPr>
            <p:cNvPr id="18" name="Rectangle 7">
              <a:extLst>
                <a:ext uri="{FF2B5EF4-FFF2-40B4-BE49-F238E27FC236}">
                  <a16:creationId xmlns:a16="http://schemas.microsoft.com/office/drawing/2014/main" id="{EC2BE46F-9366-D901-9CE9-06B63E10B839}"/>
                </a:ext>
              </a:extLst>
            </p:cNvPr>
            <p:cNvSpPr>
              <a:spLocks noChangeArrowheads="1"/>
            </p:cNvSpPr>
            <p:nvPr/>
          </p:nvSpPr>
          <p:spPr bwMode="auto">
            <a:xfrm>
              <a:off x="261360" y="5394348"/>
              <a:ext cx="2263761" cy="461665"/>
            </a:xfrm>
            <a:prstGeom prst="rect">
              <a:avLst/>
            </a:prstGeom>
            <a:noFill/>
          </p:spPr>
          <p:txBody>
            <a:bodyPr wrap="square">
              <a:spAutoFit/>
            </a:bodyPr>
            <a:lstStyle/>
            <a:p>
              <a:r>
                <a:rPr lang="es-CO" altLang="es-CO" sz="1200" dirty="0"/>
                <a:t>Número de ciclos por segundo</a:t>
              </a:r>
            </a:p>
            <a:p>
              <a:r>
                <a:rPr lang="es-CO" altLang="es-CO" sz="1200" dirty="0"/>
                <a:t>Unidad: Hertz (Hz)</a:t>
              </a:r>
            </a:p>
          </p:txBody>
        </p:sp>
        <p:pic>
          <p:nvPicPr>
            <p:cNvPr id="20" name="Imagen 19">
              <a:extLst>
                <a:ext uri="{FF2B5EF4-FFF2-40B4-BE49-F238E27FC236}">
                  <a16:creationId xmlns:a16="http://schemas.microsoft.com/office/drawing/2014/main" id="{490C9F7E-2D57-1DD3-D96C-AB9CF149D2B3}"/>
                </a:ext>
              </a:extLst>
            </p:cNvPr>
            <p:cNvPicPr>
              <a:picLocks noChangeAspect="1"/>
            </p:cNvPicPr>
            <p:nvPr/>
          </p:nvPicPr>
          <p:blipFill>
            <a:blip r:embed="rId5"/>
            <a:stretch>
              <a:fillRect/>
            </a:stretch>
          </p:blipFill>
          <p:spPr>
            <a:xfrm>
              <a:off x="821557" y="4785666"/>
              <a:ext cx="828791" cy="562053"/>
            </a:xfrm>
            <a:prstGeom prst="rect">
              <a:avLst/>
            </a:prstGeom>
          </p:spPr>
        </p:pic>
      </p:grpSp>
      <p:grpSp>
        <p:nvGrpSpPr>
          <p:cNvPr id="29" name="Grupo 28">
            <a:extLst>
              <a:ext uri="{FF2B5EF4-FFF2-40B4-BE49-F238E27FC236}">
                <a16:creationId xmlns:a16="http://schemas.microsoft.com/office/drawing/2014/main" id="{6FEEFF89-F20E-C373-BBD3-366C4C08D334}"/>
              </a:ext>
            </a:extLst>
          </p:cNvPr>
          <p:cNvGrpSpPr/>
          <p:nvPr/>
        </p:nvGrpSpPr>
        <p:grpSpPr>
          <a:xfrm>
            <a:off x="2925640" y="4325219"/>
            <a:ext cx="2755239" cy="1609867"/>
            <a:chOff x="2925640" y="4339758"/>
            <a:chExt cx="2755239" cy="1609867"/>
          </a:xfrm>
        </p:grpSpPr>
        <p:sp>
          <p:nvSpPr>
            <p:cNvPr id="25" name="CuadroTexto 24">
              <a:extLst>
                <a:ext uri="{FF2B5EF4-FFF2-40B4-BE49-F238E27FC236}">
                  <a16:creationId xmlns:a16="http://schemas.microsoft.com/office/drawing/2014/main" id="{01320F52-52D6-20E8-51F4-25A40955347E}"/>
                </a:ext>
              </a:extLst>
            </p:cNvPr>
            <p:cNvSpPr txBox="1"/>
            <p:nvPr/>
          </p:nvSpPr>
          <p:spPr>
            <a:xfrm>
              <a:off x="3527021" y="4339758"/>
              <a:ext cx="1810512" cy="307777"/>
            </a:xfrm>
            <a:prstGeom prst="rect">
              <a:avLst/>
            </a:prstGeom>
            <a:noFill/>
          </p:spPr>
          <p:txBody>
            <a:bodyPr wrap="square">
              <a:spAutoFit/>
            </a:bodyPr>
            <a:lstStyle>
              <a:defPPr>
                <a:defRPr lang="es-US"/>
              </a:defPPr>
              <a:lvl1pPr>
                <a:defRPr sz="1400" b="1"/>
              </a:lvl1pPr>
            </a:lstStyle>
            <a:p>
              <a:r>
                <a:rPr lang="es-CO" dirty="0"/>
                <a:t>Período (T)</a:t>
              </a:r>
            </a:p>
          </p:txBody>
        </p:sp>
        <p:sp>
          <p:nvSpPr>
            <p:cNvPr id="26" name="Rectangle 8">
              <a:extLst>
                <a:ext uri="{FF2B5EF4-FFF2-40B4-BE49-F238E27FC236}">
                  <a16:creationId xmlns:a16="http://schemas.microsoft.com/office/drawing/2014/main" id="{5866344D-0FA7-02F8-7FE6-743E83AC27DD}"/>
                </a:ext>
              </a:extLst>
            </p:cNvPr>
            <p:cNvSpPr>
              <a:spLocks noChangeArrowheads="1"/>
            </p:cNvSpPr>
            <p:nvPr/>
          </p:nvSpPr>
          <p:spPr bwMode="auto">
            <a:xfrm>
              <a:off x="2925640" y="5303294"/>
              <a:ext cx="2755239" cy="646331"/>
            </a:xfrm>
            <a:prstGeom prst="rect">
              <a:avLst/>
            </a:prstGeom>
            <a:noFill/>
          </p:spPr>
          <p:txBody>
            <a:bodyPr wrap="square">
              <a:spAutoFit/>
            </a:bodyPr>
            <a:lstStyle/>
            <a:p>
              <a:r>
                <a:rPr lang="es-CO" altLang="es-CO" sz="1200" dirty="0"/>
                <a:t>Tiempo que tarda en completarse un ciclo de la señal</a:t>
              </a:r>
            </a:p>
            <a:p>
              <a:r>
                <a:rPr lang="es-CO" altLang="es-CO" sz="1200" dirty="0"/>
                <a:t>Unidad: segundos (s)</a:t>
              </a:r>
            </a:p>
          </p:txBody>
        </p:sp>
        <p:pic>
          <p:nvPicPr>
            <p:cNvPr id="28" name="Imagen 27">
              <a:extLst>
                <a:ext uri="{FF2B5EF4-FFF2-40B4-BE49-F238E27FC236}">
                  <a16:creationId xmlns:a16="http://schemas.microsoft.com/office/drawing/2014/main" id="{81F59004-F6B8-BF74-EB27-BB4252626109}"/>
                </a:ext>
              </a:extLst>
            </p:cNvPr>
            <p:cNvPicPr>
              <a:picLocks noChangeAspect="1"/>
            </p:cNvPicPr>
            <p:nvPr/>
          </p:nvPicPr>
          <p:blipFill>
            <a:blip r:embed="rId6"/>
            <a:stretch>
              <a:fillRect/>
            </a:stretch>
          </p:blipFill>
          <p:spPr>
            <a:xfrm>
              <a:off x="3670171" y="4731193"/>
              <a:ext cx="762106" cy="581106"/>
            </a:xfrm>
            <a:prstGeom prst="rect">
              <a:avLst/>
            </a:prstGeom>
          </p:spPr>
        </p:pic>
      </p:grpSp>
    </p:spTree>
    <p:extLst>
      <p:ext uri="{BB962C8B-B14F-4D97-AF65-F5344CB8AC3E}">
        <p14:creationId xmlns:p14="http://schemas.microsoft.com/office/powerpoint/2010/main" val="1463082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D0084-367E-0DD8-FA3B-A2EB1DE30590}"/>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54BCCF15-AF6F-E668-97FE-249EC95DCE97}"/>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9D965916-8C44-A3E2-A883-9306D1DDF540}"/>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8D61B80C-AABD-84B5-9DD5-6202114DD3C1}"/>
              </a:ext>
            </a:extLst>
          </p:cNvPr>
          <p:cNvSpPr/>
          <p:nvPr/>
        </p:nvSpPr>
        <p:spPr>
          <a:xfrm>
            <a:off x="-2160" y="74520"/>
            <a:ext cx="3612626"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ES" sz="1800" b="1" strike="noStrike" spc="-1" dirty="0">
                <a:solidFill>
                  <a:srgbClr val="2C5697"/>
                </a:solidFill>
                <a:latin typeface="Arial"/>
                <a:ea typeface="DejaVu Sans"/>
              </a:rPr>
              <a:t>Característica de la señal AC</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7CD293A4-D956-62E3-239D-D25D72A4A699}"/>
              </a:ext>
            </a:extLst>
          </p:cNvPr>
          <p:cNvSpPr/>
          <p:nvPr/>
        </p:nvSpPr>
        <p:spPr>
          <a:xfrm>
            <a:off x="8681884" y="5886000"/>
            <a:ext cx="410996"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14</a:t>
            </a:fld>
            <a:endParaRPr lang="es-CO" sz="1200" b="0" strike="noStrike" spc="-1" dirty="0">
              <a:latin typeface="Arial"/>
            </a:endParaRPr>
          </a:p>
        </p:txBody>
      </p:sp>
      <p:pic>
        <p:nvPicPr>
          <p:cNvPr id="1030" name="Picture 6">
            <a:extLst>
              <a:ext uri="{FF2B5EF4-FFF2-40B4-BE49-F238E27FC236}">
                <a16:creationId xmlns:a16="http://schemas.microsoft.com/office/drawing/2014/main" id="{45F1C671-EC37-2C8D-3B5E-DC252FA886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29" y="988155"/>
            <a:ext cx="4905540" cy="2051408"/>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upo 36">
            <a:extLst>
              <a:ext uri="{FF2B5EF4-FFF2-40B4-BE49-F238E27FC236}">
                <a16:creationId xmlns:a16="http://schemas.microsoft.com/office/drawing/2014/main" id="{BC82FA74-A334-F9BD-307B-80288FFB0416}"/>
              </a:ext>
            </a:extLst>
          </p:cNvPr>
          <p:cNvGrpSpPr/>
          <p:nvPr/>
        </p:nvGrpSpPr>
        <p:grpSpPr>
          <a:xfrm>
            <a:off x="5846947" y="1631504"/>
            <a:ext cx="3505923" cy="1359561"/>
            <a:chOff x="5850908" y="834267"/>
            <a:chExt cx="3505923" cy="1359561"/>
          </a:xfrm>
        </p:grpSpPr>
        <p:sp>
          <p:nvSpPr>
            <p:cNvPr id="3" name="CuadroTexto 2">
              <a:extLst>
                <a:ext uri="{FF2B5EF4-FFF2-40B4-BE49-F238E27FC236}">
                  <a16:creationId xmlns:a16="http://schemas.microsoft.com/office/drawing/2014/main" id="{B2FCCEF6-1ABF-70E2-9399-5530524BCB17}"/>
                </a:ext>
              </a:extLst>
            </p:cNvPr>
            <p:cNvSpPr txBox="1"/>
            <p:nvPr/>
          </p:nvSpPr>
          <p:spPr>
            <a:xfrm>
              <a:off x="6411802" y="834267"/>
              <a:ext cx="1856232" cy="307777"/>
            </a:xfrm>
            <a:prstGeom prst="rect">
              <a:avLst/>
            </a:prstGeom>
            <a:noFill/>
          </p:spPr>
          <p:txBody>
            <a:bodyPr wrap="square">
              <a:spAutoFit/>
            </a:bodyPr>
            <a:lstStyle>
              <a:defPPr>
                <a:defRPr lang="es-US"/>
              </a:defPPr>
              <a:lvl1pPr>
                <a:defRPr sz="1400" b="1"/>
              </a:lvl1pPr>
            </a:lstStyle>
            <a:p>
              <a:r>
                <a:rPr lang="es-CO" dirty="0"/>
                <a:t>Amplitud (A)</a:t>
              </a:r>
            </a:p>
          </p:txBody>
        </p:sp>
        <p:sp>
          <p:nvSpPr>
            <p:cNvPr id="4" name="Rectangle 1">
              <a:extLst>
                <a:ext uri="{FF2B5EF4-FFF2-40B4-BE49-F238E27FC236}">
                  <a16:creationId xmlns:a16="http://schemas.microsoft.com/office/drawing/2014/main" id="{2AE63544-65DC-8592-7D84-D31F0C52D140}"/>
                </a:ext>
              </a:extLst>
            </p:cNvPr>
            <p:cNvSpPr>
              <a:spLocks noChangeArrowheads="1"/>
            </p:cNvSpPr>
            <p:nvPr/>
          </p:nvSpPr>
          <p:spPr bwMode="auto">
            <a:xfrm>
              <a:off x="5850908" y="1362831"/>
              <a:ext cx="3505923" cy="830997"/>
            </a:xfrm>
            <a:prstGeom prst="rect">
              <a:avLst/>
            </a:prstGeom>
            <a:noFill/>
          </p:spPr>
          <p:txBody>
            <a:bodyPr wrap="square">
              <a:spAutoFit/>
            </a:bodyPr>
            <a:lstStyle/>
            <a:p>
              <a:r>
                <a:rPr lang="es-CO" altLang="es-CO" sz="1200" dirty="0"/>
                <a:t>Es el valor máximo (positivo o negativo) que alcanza la señal.</a:t>
              </a:r>
            </a:p>
            <a:p>
              <a:r>
                <a:rPr lang="es-CO" altLang="es-CO" sz="1200" dirty="0"/>
                <a:t>Unidad depende del tipo de señal (volts, amperios, etc.)</a:t>
              </a:r>
            </a:p>
          </p:txBody>
        </p:sp>
      </p:grpSp>
      <p:grpSp>
        <p:nvGrpSpPr>
          <p:cNvPr id="41" name="Grupo 40">
            <a:extLst>
              <a:ext uri="{FF2B5EF4-FFF2-40B4-BE49-F238E27FC236}">
                <a16:creationId xmlns:a16="http://schemas.microsoft.com/office/drawing/2014/main" id="{2A1D6321-DF4E-64C7-86C6-49196330C650}"/>
              </a:ext>
            </a:extLst>
          </p:cNvPr>
          <p:cNvGrpSpPr/>
          <p:nvPr/>
        </p:nvGrpSpPr>
        <p:grpSpPr>
          <a:xfrm>
            <a:off x="20160" y="3830184"/>
            <a:ext cx="3155979" cy="2065400"/>
            <a:chOff x="235670" y="3852819"/>
            <a:chExt cx="3155979" cy="2065400"/>
          </a:xfrm>
        </p:grpSpPr>
        <p:sp>
          <p:nvSpPr>
            <p:cNvPr id="24" name="CuadroTexto 23">
              <a:extLst>
                <a:ext uri="{FF2B5EF4-FFF2-40B4-BE49-F238E27FC236}">
                  <a16:creationId xmlns:a16="http://schemas.microsoft.com/office/drawing/2014/main" id="{8D5C36DA-ED9C-340E-E83D-01C58A79157D}"/>
                </a:ext>
              </a:extLst>
            </p:cNvPr>
            <p:cNvSpPr txBox="1"/>
            <p:nvPr/>
          </p:nvSpPr>
          <p:spPr>
            <a:xfrm>
              <a:off x="1006355" y="3852819"/>
              <a:ext cx="1591562" cy="307777"/>
            </a:xfrm>
            <a:prstGeom prst="rect">
              <a:avLst/>
            </a:prstGeom>
            <a:noFill/>
          </p:spPr>
          <p:txBody>
            <a:bodyPr wrap="square">
              <a:spAutoFit/>
            </a:bodyPr>
            <a:lstStyle>
              <a:defPPr>
                <a:defRPr lang="es-US"/>
              </a:defPPr>
              <a:lvl1pPr>
                <a:defRPr sz="1400" b="1"/>
              </a:lvl1pPr>
            </a:lstStyle>
            <a:p>
              <a:r>
                <a:rPr lang="es-CO" dirty="0"/>
                <a:t>Valor promedio</a:t>
              </a:r>
            </a:p>
          </p:txBody>
        </p:sp>
        <p:sp>
          <p:nvSpPr>
            <p:cNvPr id="30" name="CuadroTexto 29">
              <a:extLst>
                <a:ext uri="{FF2B5EF4-FFF2-40B4-BE49-F238E27FC236}">
                  <a16:creationId xmlns:a16="http://schemas.microsoft.com/office/drawing/2014/main" id="{36EBFBCD-536B-8EF8-AC00-457B6CA36C1B}"/>
                </a:ext>
              </a:extLst>
            </p:cNvPr>
            <p:cNvSpPr txBox="1"/>
            <p:nvPr/>
          </p:nvSpPr>
          <p:spPr>
            <a:xfrm>
              <a:off x="235670" y="4192056"/>
              <a:ext cx="3155979" cy="276999"/>
            </a:xfrm>
            <a:prstGeom prst="rect">
              <a:avLst/>
            </a:prstGeom>
            <a:noFill/>
          </p:spPr>
          <p:txBody>
            <a:bodyPr wrap="square">
              <a:spAutoFit/>
            </a:bodyPr>
            <a:lstStyle>
              <a:defPPr>
                <a:defRPr lang="es-US"/>
              </a:defPPr>
              <a:lvl1pPr>
                <a:defRPr sz="1200"/>
              </a:lvl1pPr>
            </a:lstStyle>
            <a:p>
              <a:r>
                <a:rPr lang="es-CO" dirty="0"/>
                <a:t>En un ciclo completo de una onda pura:</a:t>
              </a:r>
            </a:p>
          </p:txBody>
        </p:sp>
        <p:pic>
          <p:nvPicPr>
            <p:cNvPr id="32" name="Imagen 31">
              <a:extLst>
                <a:ext uri="{FF2B5EF4-FFF2-40B4-BE49-F238E27FC236}">
                  <a16:creationId xmlns:a16="http://schemas.microsoft.com/office/drawing/2014/main" id="{C74ADCBE-BA8F-BA59-36F3-E21B784215DC}"/>
                </a:ext>
              </a:extLst>
            </p:cNvPr>
            <p:cNvPicPr>
              <a:picLocks noChangeAspect="1"/>
            </p:cNvPicPr>
            <p:nvPr/>
          </p:nvPicPr>
          <p:blipFill>
            <a:blip r:embed="rId3"/>
            <a:stretch>
              <a:fillRect/>
            </a:stretch>
          </p:blipFill>
          <p:spPr>
            <a:xfrm>
              <a:off x="1054607" y="4514658"/>
              <a:ext cx="1038370" cy="390580"/>
            </a:xfrm>
            <a:prstGeom prst="rect">
              <a:avLst/>
            </a:prstGeom>
          </p:spPr>
        </p:pic>
        <p:sp>
          <p:nvSpPr>
            <p:cNvPr id="34" name="CuadroTexto 33">
              <a:extLst>
                <a:ext uri="{FF2B5EF4-FFF2-40B4-BE49-F238E27FC236}">
                  <a16:creationId xmlns:a16="http://schemas.microsoft.com/office/drawing/2014/main" id="{35ED451F-0020-A830-671B-072C16AD3725}"/>
                </a:ext>
              </a:extLst>
            </p:cNvPr>
            <p:cNvSpPr txBox="1"/>
            <p:nvPr/>
          </p:nvSpPr>
          <p:spPr>
            <a:xfrm>
              <a:off x="261360" y="5025385"/>
              <a:ext cx="1540776" cy="276999"/>
            </a:xfrm>
            <a:prstGeom prst="rect">
              <a:avLst/>
            </a:prstGeom>
            <a:noFill/>
          </p:spPr>
          <p:txBody>
            <a:bodyPr wrap="square">
              <a:spAutoFit/>
            </a:bodyPr>
            <a:lstStyle>
              <a:defPPr>
                <a:defRPr lang="es-US"/>
              </a:defPPr>
              <a:lvl1pPr>
                <a:defRPr sz="1200"/>
              </a:lvl1pPr>
            </a:lstStyle>
            <a:p>
              <a:r>
                <a:rPr lang="es-CO" dirty="0"/>
                <a:t>En media onda:</a:t>
              </a:r>
            </a:p>
          </p:txBody>
        </p:sp>
        <p:pic>
          <p:nvPicPr>
            <p:cNvPr id="36" name="Imagen 35">
              <a:extLst>
                <a:ext uri="{FF2B5EF4-FFF2-40B4-BE49-F238E27FC236}">
                  <a16:creationId xmlns:a16="http://schemas.microsoft.com/office/drawing/2014/main" id="{309AE003-ABD9-6609-3267-3792327FBB62}"/>
                </a:ext>
              </a:extLst>
            </p:cNvPr>
            <p:cNvPicPr>
              <a:picLocks noChangeAspect="1"/>
            </p:cNvPicPr>
            <p:nvPr/>
          </p:nvPicPr>
          <p:blipFill>
            <a:blip r:embed="rId4"/>
            <a:srcRect t="11444"/>
            <a:stretch>
              <a:fillRect/>
            </a:stretch>
          </p:blipFill>
          <p:spPr>
            <a:xfrm>
              <a:off x="904588" y="5302384"/>
              <a:ext cx="1829055" cy="615835"/>
            </a:xfrm>
            <a:prstGeom prst="rect">
              <a:avLst/>
            </a:prstGeom>
          </p:spPr>
        </p:pic>
      </p:grpSp>
      <p:grpSp>
        <p:nvGrpSpPr>
          <p:cNvPr id="49" name="Grupo 48">
            <a:extLst>
              <a:ext uri="{FF2B5EF4-FFF2-40B4-BE49-F238E27FC236}">
                <a16:creationId xmlns:a16="http://schemas.microsoft.com/office/drawing/2014/main" id="{41E3890E-8310-4376-EE39-29006AE7F00C}"/>
              </a:ext>
            </a:extLst>
          </p:cNvPr>
          <p:cNvGrpSpPr/>
          <p:nvPr/>
        </p:nvGrpSpPr>
        <p:grpSpPr>
          <a:xfrm>
            <a:off x="3011768" y="3833552"/>
            <a:ext cx="3120464" cy="1938157"/>
            <a:chOff x="3159362" y="3777769"/>
            <a:chExt cx="3120464" cy="1938157"/>
          </a:xfrm>
        </p:grpSpPr>
        <p:sp>
          <p:nvSpPr>
            <p:cNvPr id="40" name="CuadroTexto 39">
              <a:extLst>
                <a:ext uri="{FF2B5EF4-FFF2-40B4-BE49-F238E27FC236}">
                  <a16:creationId xmlns:a16="http://schemas.microsoft.com/office/drawing/2014/main" id="{93BFBEAA-9B7F-0AF8-71F9-18A20B1BCE07}"/>
                </a:ext>
              </a:extLst>
            </p:cNvPr>
            <p:cNvSpPr txBox="1"/>
            <p:nvPr/>
          </p:nvSpPr>
          <p:spPr>
            <a:xfrm>
              <a:off x="3418395" y="3777769"/>
              <a:ext cx="2307210" cy="307777"/>
            </a:xfrm>
            <a:prstGeom prst="rect">
              <a:avLst/>
            </a:prstGeom>
            <a:noFill/>
          </p:spPr>
          <p:txBody>
            <a:bodyPr wrap="square">
              <a:spAutoFit/>
            </a:bodyPr>
            <a:lstStyle>
              <a:defPPr>
                <a:defRPr lang="es-US"/>
              </a:defPPr>
              <a:lvl1pPr>
                <a:defRPr sz="1400" b="1"/>
              </a:lvl1pPr>
            </a:lstStyle>
            <a:p>
              <a:r>
                <a:rPr lang="es-CO" dirty="0"/>
                <a:t>Valor eficaz (RMS)</a:t>
              </a:r>
            </a:p>
          </p:txBody>
        </p:sp>
        <p:pic>
          <p:nvPicPr>
            <p:cNvPr id="43" name="Imagen 42">
              <a:extLst>
                <a:ext uri="{FF2B5EF4-FFF2-40B4-BE49-F238E27FC236}">
                  <a16:creationId xmlns:a16="http://schemas.microsoft.com/office/drawing/2014/main" id="{2D7A97C8-BE94-88B7-2B36-BA14B54BD106}"/>
                </a:ext>
              </a:extLst>
            </p:cNvPr>
            <p:cNvPicPr>
              <a:picLocks noChangeAspect="1"/>
            </p:cNvPicPr>
            <p:nvPr/>
          </p:nvPicPr>
          <p:blipFill>
            <a:blip r:embed="rId5"/>
            <a:srcRect r="43279"/>
            <a:stretch>
              <a:fillRect/>
            </a:stretch>
          </p:blipFill>
          <p:spPr>
            <a:xfrm>
              <a:off x="3790815" y="5096715"/>
              <a:ext cx="1226575" cy="619211"/>
            </a:xfrm>
            <a:prstGeom prst="rect">
              <a:avLst/>
            </a:prstGeom>
          </p:spPr>
        </p:pic>
        <p:sp>
          <p:nvSpPr>
            <p:cNvPr id="45" name="CuadroTexto 44">
              <a:extLst>
                <a:ext uri="{FF2B5EF4-FFF2-40B4-BE49-F238E27FC236}">
                  <a16:creationId xmlns:a16="http://schemas.microsoft.com/office/drawing/2014/main" id="{CF4C2715-93A8-CBB9-9783-8B6C228B412E}"/>
                </a:ext>
              </a:extLst>
            </p:cNvPr>
            <p:cNvSpPr txBox="1"/>
            <p:nvPr/>
          </p:nvSpPr>
          <p:spPr>
            <a:xfrm>
              <a:off x="3159362" y="4253799"/>
              <a:ext cx="3120464" cy="646331"/>
            </a:xfrm>
            <a:prstGeom prst="rect">
              <a:avLst/>
            </a:prstGeom>
            <a:noFill/>
          </p:spPr>
          <p:txBody>
            <a:bodyPr wrap="square">
              <a:spAutoFit/>
            </a:bodyPr>
            <a:lstStyle>
              <a:defPPr>
                <a:defRPr lang="es-US"/>
              </a:defPPr>
              <a:lvl1pPr>
                <a:defRPr sz="1200"/>
              </a:lvl1pPr>
            </a:lstStyle>
            <a:p>
              <a:r>
                <a:rPr lang="es-ES" dirty="0"/>
                <a:t>Este valor es muy importante porque corresponde al valor equivalente en DC que entrega la misma potencia</a:t>
              </a:r>
              <a:endParaRPr lang="es-CO" dirty="0"/>
            </a:p>
          </p:txBody>
        </p:sp>
      </p:grpSp>
      <p:grpSp>
        <p:nvGrpSpPr>
          <p:cNvPr id="50" name="Grupo 49">
            <a:extLst>
              <a:ext uri="{FF2B5EF4-FFF2-40B4-BE49-F238E27FC236}">
                <a16:creationId xmlns:a16="http://schemas.microsoft.com/office/drawing/2014/main" id="{71D46005-5C8C-6ABD-A95E-3CBA177B1528}"/>
              </a:ext>
            </a:extLst>
          </p:cNvPr>
          <p:cNvGrpSpPr/>
          <p:nvPr/>
        </p:nvGrpSpPr>
        <p:grpSpPr>
          <a:xfrm>
            <a:off x="5994884" y="3806255"/>
            <a:ext cx="2954018" cy="2299315"/>
            <a:chOff x="6279826" y="4061791"/>
            <a:chExt cx="2722772" cy="2299315"/>
          </a:xfrm>
        </p:grpSpPr>
        <p:sp>
          <p:nvSpPr>
            <p:cNvPr id="47" name="CuadroTexto 46">
              <a:extLst>
                <a:ext uri="{FF2B5EF4-FFF2-40B4-BE49-F238E27FC236}">
                  <a16:creationId xmlns:a16="http://schemas.microsoft.com/office/drawing/2014/main" id="{8A1D1054-AF2B-BD09-95E7-D9870206D9D7}"/>
                </a:ext>
              </a:extLst>
            </p:cNvPr>
            <p:cNvSpPr txBox="1"/>
            <p:nvPr/>
          </p:nvSpPr>
          <p:spPr>
            <a:xfrm>
              <a:off x="6982635" y="4061791"/>
              <a:ext cx="978516" cy="523220"/>
            </a:xfrm>
            <a:prstGeom prst="rect">
              <a:avLst/>
            </a:prstGeom>
            <a:noFill/>
          </p:spPr>
          <p:txBody>
            <a:bodyPr wrap="square">
              <a:spAutoFit/>
            </a:bodyPr>
            <a:lstStyle>
              <a:defPPr>
                <a:defRPr lang="es-US"/>
              </a:defPPr>
              <a:lvl1pPr>
                <a:defRPr sz="1400" b="1"/>
              </a:lvl1pPr>
            </a:lstStyle>
            <a:p>
              <a:r>
                <a:rPr lang="es-CO" dirty="0"/>
                <a:t>Fase (</a:t>
              </a:r>
              <a:r>
                <a:rPr lang="el-GR" dirty="0"/>
                <a:t>ϕ)</a:t>
              </a:r>
              <a:endParaRPr lang="es-ES" dirty="0"/>
            </a:p>
            <a:p>
              <a:endParaRPr lang="es-CO" dirty="0"/>
            </a:p>
          </p:txBody>
        </p:sp>
        <p:sp>
          <p:nvSpPr>
            <p:cNvPr id="48" name="Rectangle 2">
              <a:extLst>
                <a:ext uri="{FF2B5EF4-FFF2-40B4-BE49-F238E27FC236}">
                  <a16:creationId xmlns:a16="http://schemas.microsoft.com/office/drawing/2014/main" id="{4018339C-611B-0448-4A3D-E987449BFAFB}"/>
                </a:ext>
              </a:extLst>
            </p:cNvPr>
            <p:cNvSpPr>
              <a:spLocks noChangeArrowheads="1"/>
            </p:cNvSpPr>
            <p:nvPr/>
          </p:nvSpPr>
          <p:spPr bwMode="auto">
            <a:xfrm>
              <a:off x="6279826" y="4422114"/>
              <a:ext cx="2722772" cy="1938992"/>
            </a:xfrm>
            <a:prstGeom prst="rect">
              <a:avLst/>
            </a:prstGeom>
            <a:noFill/>
          </p:spPr>
          <p:txBody>
            <a:bodyPr wrap="square">
              <a:spAutoFit/>
            </a:bodyPr>
            <a:lstStyle/>
            <a:p>
              <a:endParaRPr lang="es-CO" altLang="es-CO" sz="1200" dirty="0"/>
            </a:p>
            <a:p>
              <a:r>
                <a:rPr lang="es-CO" altLang="es-CO" sz="1200" dirty="0"/>
                <a:t>La fase representa un desplazamiento horizontal respecto al origen.</a:t>
              </a:r>
            </a:p>
            <a:p>
              <a:endParaRPr lang="es-CO" altLang="es-CO" sz="1200" dirty="0"/>
            </a:p>
            <a:p>
              <a:r>
                <a:rPr lang="es-CO" altLang="es-CO" sz="1200" dirty="0"/>
                <a:t>Puede indicar adelanto o atraso de la señal:</a:t>
              </a:r>
            </a:p>
            <a:p>
              <a:endParaRPr lang="es-CO" altLang="es-CO" sz="1200" dirty="0"/>
            </a:p>
            <a:p>
              <a:r>
                <a:rPr lang="es-CO" altLang="es-CO" sz="1200" dirty="0"/>
                <a:t>Si ϕ &gt; 0: señal adelantada</a:t>
              </a:r>
            </a:p>
            <a:p>
              <a:r>
                <a:rPr lang="es-CO" altLang="es-CO" sz="1200" dirty="0"/>
                <a:t>Si ϕ &lt; 0: señal atrasada</a:t>
              </a:r>
            </a:p>
            <a:p>
              <a:endParaRPr lang="es-CO" altLang="es-CO" sz="1200" dirty="0"/>
            </a:p>
          </p:txBody>
        </p:sp>
      </p:grpSp>
    </p:spTree>
    <p:extLst>
      <p:ext uri="{BB962C8B-B14F-4D97-AF65-F5344CB8AC3E}">
        <p14:creationId xmlns:p14="http://schemas.microsoft.com/office/powerpoint/2010/main" val="2816202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EDCA9-4576-E878-0BDD-EFD265061BBD}"/>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05928736-D22B-FB36-3C3F-74DB86C31DAA}"/>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CFB15BF6-E0B1-B2D2-4C5C-71030DBB31DD}"/>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8802B429-7A42-A56F-69E4-DD7407E68C70}"/>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Diagramas Fasoriales</a:t>
            </a:r>
          </a:p>
        </p:txBody>
      </p:sp>
      <p:sp>
        <p:nvSpPr>
          <p:cNvPr id="127" name="Marcador de número de diapositiva 3">
            <a:extLst>
              <a:ext uri="{FF2B5EF4-FFF2-40B4-BE49-F238E27FC236}">
                <a16:creationId xmlns:a16="http://schemas.microsoft.com/office/drawing/2014/main" id="{1D519FB6-4EAF-566A-D665-E24B7BCCDCBF}"/>
              </a:ext>
            </a:extLst>
          </p:cNvPr>
          <p:cNvSpPr/>
          <p:nvPr/>
        </p:nvSpPr>
        <p:spPr>
          <a:xfrm>
            <a:off x="8433164" y="5886000"/>
            <a:ext cx="659716"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15</a:t>
            </a:fld>
            <a:endParaRPr lang="es-CO" sz="1200" b="0" strike="noStrike" spc="-1" dirty="0">
              <a:latin typeface="Arial"/>
            </a:endParaRPr>
          </a:p>
        </p:txBody>
      </p:sp>
      <p:pic>
        <p:nvPicPr>
          <p:cNvPr id="3" name="Imagen 2" descr="Gráfico&#10;&#10;El contenido generado por IA puede ser incorrecto.">
            <a:extLst>
              <a:ext uri="{FF2B5EF4-FFF2-40B4-BE49-F238E27FC236}">
                <a16:creationId xmlns:a16="http://schemas.microsoft.com/office/drawing/2014/main" id="{8158ECA2-3B02-3EFE-1584-715F14427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53" y="1936847"/>
            <a:ext cx="4304570" cy="2108599"/>
          </a:xfrm>
          <a:prstGeom prst="rect">
            <a:avLst/>
          </a:prstGeom>
        </p:spPr>
      </p:pic>
      <p:pic>
        <p:nvPicPr>
          <p:cNvPr id="4" name="Imagen 3" descr="Diagrama&#10;&#10;El contenido generado por IA puede ser incorrecto.">
            <a:extLst>
              <a:ext uri="{FF2B5EF4-FFF2-40B4-BE49-F238E27FC236}">
                <a16:creationId xmlns:a16="http://schemas.microsoft.com/office/drawing/2014/main" id="{B3E5F75D-8B39-B307-7DE9-448E72ECA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5734" y="1941798"/>
            <a:ext cx="4110661" cy="2103648"/>
          </a:xfrm>
          <a:prstGeom prst="rect">
            <a:avLst/>
          </a:prstGeom>
        </p:spPr>
      </p:pic>
      <p:pic>
        <p:nvPicPr>
          <p:cNvPr id="5" name="Imagen 4" descr="Diagrama&#10;&#10;El contenido generado por IA puede ser incorrecto.">
            <a:extLst>
              <a:ext uri="{FF2B5EF4-FFF2-40B4-BE49-F238E27FC236}">
                <a16:creationId xmlns:a16="http://schemas.microsoft.com/office/drawing/2014/main" id="{0F38C462-FBAB-4C9A-AABA-9F4CD38047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0312" y="4976077"/>
            <a:ext cx="1914871" cy="1081643"/>
          </a:xfrm>
          <a:prstGeom prst="rect">
            <a:avLst/>
          </a:prstGeom>
        </p:spPr>
      </p:pic>
      <p:pic>
        <p:nvPicPr>
          <p:cNvPr id="6" name="Imagen 5" descr="Imagen que contiene Diagrama&#10;&#10;El contenido generado por IA puede ser incorrecto.">
            <a:extLst>
              <a:ext uri="{FF2B5EF4-FFF2-40B4-BE49-F238E27FC236}">
                <a16:creationId xmlns:a16="http://schemas.microsoft.com/office/drawing/2014/main" id="{92ABABBA-5A9C-F525-A119-CC4B47C026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7037" y="4960553"/>
            <a:ext cx="2291814" cy="1055373"/>
          </a:xfrm>
          <a:prstGeom prst="rect">
            <a:avLst/>
          </a:prstGeom>
        </p:spPr>
      </p:pic>
      <p:sp>
        <p:nvSpPr>
          <p:cNvPr id="7" name="Flecha: a la derecha 6">
            <a:extLst>
              <a:ext uri="{FF2B5EF4-FFF2-40B4-BE49-F238E27FC236}">
                <a16:creationId xmlns:a16="http://schemas.microsoft.com/office/drawing/2014/main" id="{99138C13-98A4-38FF-EB24-997E8537773C}"/>
              </a:ext>
            </a:extLst>
          </p:cNvPr>
          <p:cNvSpPr/>
          <p:nvPr/>
        </p:nvSpPr>
        <p:spPr>
          <a:xfrm>
            <a:off x="4467276" y="3038168"/>
            <a:ext cx="318458" cy="289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CuadroTexto 7">
            <a:extLst>
              <a:ext uri="{FF2B5EF4-FFF2-40B4-BE49-F238E27FC236}">
                <a16:creationId xmlns:a16="http://schemas.microsoft.com/office/drawing/2014/main" id="{F7CAF0C8-9E4F-4FA1-25DB-12224F40631A}"/>
              </a:ext>
            </a:extLst>
          </p:cNvPr>
          <p:cNvSpPr txBox="1"/>
          <p:nvPr/>
        </p:nvSpPr>
        <p:spPr>
          <a:xfrm>
            <a:off x="51120" y="738396"/>
            <a:ext cx="6094562" cy="738664"/>
          </a:xfrm>
          <a:prstGeom prst="rect">
            <a:avLst/>
          </a:prstGeom>
          <a:noFill/>
        </p:spPr>
        <p:txBody>
          <a:bodyPr wrap="square">
            <a:spAutoFit/>
          </a:bodyPr>
          <a:lstStyle>
            <a:defPPr>
              <a:defRPr lang="es-CO"/>
            </a:defPPr>
            <a:lvl1pPr>
              <a:defRPr sz="1400"/>
            </a:lvl1pPr>
          </a:lstStyle>
          <a:p>
            <a:r>
              <a:rPr lang="es-ES" dirty="0"/>
              <a:t>A medida que el vector (color rojizo) gira en sentido contrario a las agujas del reloj, su punta denotada por el punto A, girará una revolución completa de 360° o 2pi que representa un ciclo completo</a:t>
            </a:r>
            <a:endParaRPr lang="es-CO" dirty="0"/>
          </a:p>
        </p:txBody>
      </p:sp>
      <p:sp>
        <p:nvSpPr>
          <p:cNvPr id="9" name="CuadroTexto 8">
            <a:extLst>
              <a:ext uri="{FF2B5EF4-FFF2-40B4-BE49-F238E27FC236}">
                <a16:creationId xmlns:a16="http://schemas.microsoft.com/office/drawing/2014/main" id="{B2A3A832-0241-8BCE-2663-BAFE6502C2A9}"/>
              </a:ext>
            </a:extLst>
          </p:cNvPr>
          <p:cNvSpPr txBox="1"/>
          <p:nvPr/>
        </p:nvSpPr>
        <p:spPr>
          <a:xfrm>
            <a:off x="475954" y="4505233"/>
            <a:ext cx="7126428" cy="523220"/>
          </a:xfrm>
          <a:prstGeom prst="rect">
            <a:avLst/>
          </a:prstGeom>
          <a:noFill/>
        </p:spPr>
        <p:txBody>
          <a:bodyPr wrap="square">
            <a:spAutoFit/>
          </a:bodyPr>
          <a:lstStyle/>
          <a:p>
            <a:r>
              <a:rPr lang="es-ES" sz="1400" dirty="0"/>
              <a:t>La diferencia entre los dos fasores que representan las dos cantidades sinusoidales es el ángulo Φ y el diagrama fasorial resultante será:</a:t>
            </a:r>
            <a:endParaRPr lang="es-CO" sz="1400" dirty="0"/>
          </a:p>
        </p:txBody>
      </p:sp>
      <p:sp>
        <p:nvSpPr>
          <p:cNvPr id="2" name="Sol 1">
            <a:hlinkClick r:id="rId6"/>
            <a:extLst>
              <a:ext uri="{FF2B5EF4-FFF2-40B4-BE49-F238E27FC236}">
                <a16:creationId xmlns:a16="http://schemas.microsoft.com/office/drawing/2014/main" id="{494E91E7-7C69-5D28-D23A-7F85E9A99585}"/>
              </a:ext>
            </a:extLst>
          </p:cNvPr>
          <p:cNvSpPr/>
          <p:nvPr/>
        </p:nvSpPr>
        <p:spPr>
          <a:xfrm>
            <a:off x="2787505" y="54883"/>
            <a:ext cx="310896" cy="367878"/>
          </a:xfrm>
          <a:prstGeom prst="su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213208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E9C6B-D3B4-7AA0-AA25-8B0873B823F7}"/>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BFA87363-873E-C9C6-2C1B-972C9F8E3586}"/>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B272DB64-0D8C-7B75-34D4-6B52086A2FAE}"/>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CB3B54BA-F8C6-18EF-29E6-19F4AE78D94A}"/>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Relación entre voltaje y corriente</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FA663F84-3DA9-7BEE-F4B4-4945235BF874}"/>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16</a:t>
            </a:fld>
            <a:endParaRPr lang="es-CO" sz="1200" b="0" strike="noStrike" spc="-1">
              <a:latin typeface="Arial"/>
            </a:endParaRPr>
          </a:p>
        </p:txBody>
      </p:sp>
      <p:grpSp>
        <p:nvGrpSpPr>
          <p:cNvPr id="14" name="Grupo 13">
            <a:extLst>
              <a:ext uri="{FF2B5EF4-FFF2-40B4-BE49-F238E27FC236}">
                <a16:creationId xmlns:a16="http://schemas.microsoft.com/office/drawing/2014/main" id="{AFA5A529-19BE-AB26-EB8B-3FF6E6846BEA}"/>
              </a:ext>
            </a:extLst>
          </p:cNvPr>
          <p:cNvGrpSpPr/>
          <p:nvPr/>
        </p:nvGrpSpPr>
        <p:grpSpPr>
          <a:xfrm>
            <a:off x="654633" y="1314155"/>
            <a:ext cx="1991003" cy="3602359"/>
            <a:chOff x="654633" y="1314155"/>
            <a:chExt cx="1991003" cy="3602359"/>
          </a:xfrm>
        </p:grpSpPr>
        <p:pic>
          <p:nvPicPr>
            <p:cNvPr id="3" name="Imagen 2">
              <a:extLst>
                <a:ext uri="{FF2B5EF4-FFF2-40B4-BE49-F238E27FC236}">
                  <a16:creationId xmlns:a16="http://schemas.microsoft.com/office/drawing/2014/main" id="{A080146B-3272-183B-2665-E1AC84D3852E}"/>
                </a:ext>
              </a:extLst>
            </p:cNvPr>
            <p:cNvPicPr>
              <a:picLocks noChangeAspect="1"/>
            </p:cNvPicPr>
            <p:nvPr/>
          </p:nvPicPr>
          <p:blipFill>
            <a:blip r:embed="rId2"/>
            <a:stretch>
              <a:fillRect/>
            </a:stretch>
          </p:blipFill>
          <p:spPr>
            <a:xfrm>
              <a:off x="685988" y="1314155"/>
              <a:ext cx="1695687" cy="2095792"/>
            </a:xfrm>
            <a:prstGeom prst="rect">
              <a:avLst/>
            </a:prstGeom>
          </p:spPr>
        </p:pic>
        <p:pic>
          <p:nvPicPr>
            <p:cNvPr id="5" name="Imagen 4">
              <a:extLst>
                <a:ext uri="{FF2B5EF4-FFF2-40B4-BE49-F238E27FC236}">
                  <a16:creationId xmlns:a16="http://schemas.microsoft.com/office/drawing/2014/main" id="{6C4E3440-FFAC-7DC2-0EFE-BB1CA4095BD3}"/>
                </a:ext>
              </a:extLst>
            </p:cNvPr>
            <p:cNvPicPr>
              <a:picLocks noChangeAspect="1"/>
            </p:cNvPicPr>
            <p:nvPr/>
          </p:nvPicPr>
          <p:blipFill>
            <a:blip r:embed="rId3"/>
            <a:stretch>
              <a:fillRect/>
            </a:stretch>
          </p:blipFill>
          <p:spPr>
            <a:xfrm>
              <a:off x="654633" y="3878144"/>
              <a:ext cx="1991003" cy="1038370"/>
            </a:xfrm>
            <a:prstGeom prst="rect">
              <a:avLst/>
            </a:prstGeom>
          </p:spPr>
        </p:pic>
      </p:grpSp>
      <p:grpSp>
        <p:nvGrpSpPr>
          <p:cNvPr id="15" name="Grupo 14">
            <a:extLst>
              <a:ext uri="{FF2B5EF4-FFF2-40B4-BE49-F238E27FC236}">
                <a16:creationId xmlns:a16="http://schemas.microsoft.com/office/drawing/2014/main" id="{2D3A00F8-584D-3811-97BD-A02AF92EDCD4}"/>
              </a:ext>
            </a:extLst>
          </p:cNvPr>
          <p:cNvGrpSpPr/>
          <p:nvPr/>
        </p:nvGrpSpPr>
        <p:grpSpPr>
          <a:xfrm>
            <a:off x="3384079" y="1314155"/>
            <a:ext cx="2000529" cy="3649991"/>
            <a:chOff x="3384079" y="1314155"/>
            <a:chExt cx="2000529" cy="3649991"/>
          </a:xfrm>
        </p:grpSpPr>
        <p:pic>
          <p:nvPicPr>
            <p:cNvPr id="7" name="Imagen 6">
              <a:extLst>
                <a:ext uri="{FF2B5EF4-FFF2-40B4-BE49-F238E27FC236}">
                  <a16:creationId xmlns:a16="http://schemas.microsoft.com/office/drawing/2014/main" id="{6B4D5D6E-74B4-E371-B773-F62B9F079084}"/>
                </a:ext>
              </a:extLst>
            </p:cNvPr>
            <p:cNvPicPr>
              <a:picLocks noChangeAspect="1"/>
            </p:cNvPicPr>
            <p:nvPr/>
          </p:nvPicPr>
          <p:blipFill>
            <a:blip r:embed="rId4"/>
            <a:stretch>
              <a:fillRect/>
            </a:stretch>
          </p:blipFill>
          <p:spPr>
            <a:xfrm>
              <a:off x="3584133" y="1314155"/>
              <a:ext cx="1600423" cy="2086266"/>
            </a:xfrm>
            <a:prstGeom prst="rect">
              <a:avLst/>
            </a:prstGeom>
          </p:spPr>
        </p:pic>
        <p:pic>
          <p:nvPicPr>
            <p:cNvPr id="9" name="Imagen 8">
              <a:extLst>
                <a:ext uri="{FF2B5EF4-FFF2-40B4-BE49-F238E27FC236}">
                  <a16:creationId xmlns:a16="http://schemas.microsoft.com/office/drawing/2014/main" id="{15C45326-3208-59C2-B70A-C086C7D67932}"/>
                </a:ext>
              </a:extLst>
            </p:cNvPr>
            <p:cNvPicPr>
              <a:picLocks noChangeAspect="1"/>
            </p:cNvPicPr>
            <p:nvPr/>
          </p:nvPicPr>
          <p:blipFill>
            <a:blip r:embed="rId5"/>
            <a:stretch>
              <a:fillRect/>
            </a:stretch>
          </p:blipFill>
          <p:spPr>
            <a:xfrm>
              <a:off x="3384079" y="3820986"/>
              <a:ext cx="2000529" cy="1143160"/>
            </a:xfrm>
            <a:prstGeom prst="rect">
              <a:avLst/>
            </a:prstGeom>
          </p:spPr>
        </p:pic>
      </p:grpSp>
      <p:grpSp>
        <p:nvGrpSpPr>
          <p:cNvPr id="16" name="Grupo 15">
            <a:extLst>
              <a:ext uri="{FF2B5EF4-FFF2-40B4-BE49-F238E27FC236}">
                <a16:creationId xmlns:a16="http://schemas.microsoft.com/office/drawing/2014/main" id="{0BEA298D-0E4A-DAE1-8A88-2B0D86E41C4F}"/>
              </a:ext>
            </a:extLst>
          </p:cNvPr>
          <p:cNvGrpSpPr/>
          <p:nvPr/>
        </p:nvGrpSpPr>
        <p:grpSpPr>
          <a:xfrm>
            <a:off x="6123052" y="1314155"/>
            <a:ext cx="1991003" cy="3668204"/>
            <a:chOff x="6123052" y="1314155"/>
            <a:chExt cx="1991003" cy="3668204"/>
          </a:xfrm>
        </p:grpSpPr>
        <p:pic>
          <p:nvPicPr>
            <p:cNvPr id="11" name="Imagen 10">
              <a:extLst>
                <a:ext uri="{FF2B5EF4-FFF2-40B4-BE49-F238E27FC236}">
                  <a16:creationId xmlns:a16="http://schemas.microsoft.com/office/drawing/2014/main" id="{C8DDFB18-E1C4-4CA9-5324-2D3B9498DC7B}"/>
                </a:ext>
              </a:extLst>
            </p:cNvPr>
            <p:cNvPicPr>
              <a:picLocks noChangeAspect="1"/>
            </p:cNvPicPr>
            <p:nvPr/>
          </p:nvPicPr>
          <p:blipFill>
            <a:blip r:embed="rId6"/>
            <a:stretch>
              <a:fillRect/>
            </a:stretch>
          </p:blipFill>
          <p:spPr>
            <a:xfrm>
              <a:off x="6270711" y="1314155"/>
              <a:ext cx="1695687" cy="2114845"/>
            </a:xfrm>
            <a:prstGeom prst="rect">
              <a:avLst/>
            </a:prstGeom>
          </p:spPr>
        </p:pic>
        <p:pic>
          <p:nvPicPr>
            <p:cNvPr id="13" name="Imagen 12">
              <a:extLst>
                <a:ext uri="{FF2B5EF4-FFF2-40B4-BE49-F238E27FC236}">
                  <a16:creationId xmlns:a16="http://schemas.microsoft.com/office/drawing/2014/main" id="{2660BB8E-0EA9-6698-4AE7-13DFD52627AA}"/>
                </a:ext>
              </a:extLst>
            </p:cNvPr>
            <p:cNvPicPr>
              <a:picLocks noChangeAspect="1"/>
            </p:cNvPicPr>
            <p:nvPr/>
          </p:nvPicPr>
          <p:blipFill>
            <a:blip r:embed="rId7"/>
            <a:stretch>
              <a:fillRect/>
            </a:stretch>
          </p:blipFill>
          <p:spPr>
            <a:xfrm>
              <a:off x="6123052" y="3753463"/>
              <a:ext cx="1991003" cy="1228896"/>
            </a:xfrm>
            <a:prstGeom prst="rect">
              <a:avLst/>
            </a:prstGeom>
          </p:spPr>
        </p:pic>
      </p:grpSp>
      <p:sp>
        <p:nvSpPr>
          <p:cNvPr id="18" name="CuadroTexto 17">
            <a:extLst>
              <a:ext uri="{FF2B5EF4-FFF2-40B4-BE49-F238E27FC236}">
                <a16:creationId xmlns:a16="http://schemas.microsoft.com/office/drawing/2014/main" id="{18294A0F-0819-D43D-9555-1DFC7C206A37}"/>
              </a:ext>
            </a:extLst>
          </p:cNvPr>
          <p:cNvSpPr txBox="1"/>
          <p:nvPr/>
        </p:nvSpPr>
        <p:spPr>
          <a:xfrm>
            <a:off x="469679" y="5153878"/>
            <a:ext cx="2545532" cy="461665"/>
          </a:xfrm>
          <a:prstGeom prst="rect">
            <a:avLst/>
          </a:prstGeom>
          <a:noFill/>
        </p:spPr>
        <p:txBody>
          <a:bodyPr wrap="square">
            <a:spAutoFit/>
          </a:bodyPr>
          <a:lstStyle/>
          <a:p>
            <a:pPr algn="ctr"/>
            <a:r>
              <a:rPr lang="es-ES" sz="1200" dirty="0">
                <a:effectLst/>
                <a:latin typeface="Aptos" panose="020B0004020202020204" pitchFamily="34" charset="0"/>
                <a:ea typeface="Aptos" panose="020B0004020202020204" pitchFamily="34" charset="0"/>
                <a:cs typeface="Times New Roman" panose="02020603050405020304" pitchFamily="18" charset="0"/>
              </a:rPr>
              <a:t>En una resistencia (R), el voltaje y la corriente están en fase</a:t>
            </a:r>
            <a:endParaRPr lang="es-CO" sz="1200" dirty="0"/>
          </a:p>
        </p:txBody>
      </p:sp>
      <p:sp>
        <p:nvSpPr>
          <p:cNvPr id="20" name="CuadroTexto 19">
            <a:extLst>
              <a:ext uri="{FF2B5EF4-FFF2-40B4-BE49-F238E27FC236}">
                <a16:creationId xmlns:a16="http://schemas.microsoft.com/office/drawing/2014/main" id="{933143E6-9F9D-5DFB-447B-F7A479A1BCA9}"/>
              </a:ext>
            </a:extLst>
          </p:cNvPr>
          <p:cNvSpPr txBox="1"/>
          <p:nvPr/>
        </p:nvSpPr>
        <p:spPr>
          <a:xfrm>
            <a:off x="3467006" y="5153878"/>
            <a:ext cx="2209988" cy="646331"/>
          </a:xfrm>
          <a:prstGeom prst="rect">
            <a:avLst/>
          </a:prstGeom>
          <a:noFill/>
        </p:spPr>
        <p:txBody>
          <a:bodyPr wrap="square">
            <a:spAutoFit/>
          </a:bodyPr>
          <a:lstStyle>
            <a:defPPr>
              <a:defRPr lang="es-US"/>
            </a:defPPr>
            <a:lvl1pPr algn="ctr">
              <a:defRPr sz="1200">
                <a:effectLst/>
                <a:latin typeface="Aptos" panose="020B0004020202020204" pitchFamily="34" charset="0"/>
                <a:ea typeface="Aptos" panose="020B0004020202020204" pitchFamily="34" charset="0"/>
                <a:cs typeface="Times New Roman" panose="02020603050405020304" pitchFamily="18" charset="0"/>
              </a:defRPr>
            </a:lvl1pPr>
          </a:lstStyle>
          <a:p>
            <a:r>
              <a:rPr lang="es-ES" dirty="0"/>
              <a:t>En un inductor (L), la corriente se atrasa 90° con respecto al voltaje</a:t>
            </a:r>
            <a:endParaRPr lang="es-CO" dirty="0"/>
          </a:p>
        </p:txBody>
      </p:sp>
      <p:sp>
        <p:nvSpPr>
          <p:cNvPr id="22" name="CuadroTexto 21">
            <a:extLst>
              <a:ext uri="{FF2B5EF4-FFF2-40B4-BE49-F238E27FC236}">
                <a16:creationId xmlns:a16="http://schemas.microsoft.com/office/drawing/2014/main" id="{F8F651FA-4AC3-C36E-0DCE-AABDA45A9C8F}"/>
              </a:ext>
            </a:extLst>
          </p:cNvPr>
          <p:cNvSpPr txBox="1"/>
          <p:nvPr/>
        </p:nvSpPr>
        <p:spPr>
          <a:xfrm>
            <a:off x="5894891" y="5153878"/>
            <a:ext cx="3051469" cy="461665"/>
          </a:xfrm>
          <a:prstGeom prst="rect">
            <a:avLst/>
          </a:prstGeom>
          <a:noFill/>
        </p:spPr>
        <p:txBody>
          <a:bodyPr wrap="square">
            <a:spAutoFit/>
          </a:bodyPr>
          <a:lstStyle>
            <a:defPPr>
              <a:defRPr lang="es-US"/>
            </a:defPPr>
            <a:lvl1pPr algn="ctr">
              <a:defRPr sz="1200">
                <a:effectLst/>
                <a:latin typeface="Aptos" panose="020B0004020202020204" pitchFamily="34" charset="0"/>
                <a:ea typeface="Aptos" panose="020B0004020202020204" pitchFamily="34" charset="0"/>
                <a:cs typeface="Times New Roman" panose="02020603050405020304" pitchFamily="18" charset="0"/>
              </a:defRPr>
            </a:lvl1pPr>
          </a:lstStyle>
          <a:p>
            <a:r>
              <a:rPr lang="es-ES" dirty="0"/>
              <a:t>En un condensador (C), la corriente se adelanta 90° con respecto al voltaje</a:t>
            </a:r>
            <a:endParaRPr lang="es-CO" dirty="0"/>
          </a:p>
        </p:txBody>
      </p:sp>
    </p:spTree>
    <p:extLst>
      <p:ext uri="{BB962C8B-B14F-4D97-AF65-F5344CB8AC3E}">
        <p14:creationId xmlns:p14="http://schemas.microsoft.com/office/powerpoint/2010/main" val="2640429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3B4EA-100D-45E5-26B9-D2236D907CD5}"/>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D8D00EF3-0876-A9B4-62B2-0D163D235643}"/>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BB053B13-E5DD-2625-FEDC-BC406B3E3B5A}"/>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A4F82D12-5570-60E9-A823-83832E98283F}"/>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Componente R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685B61E7-180D-B655-254A-F624D60A2BD4}"/>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17</a:t>
            </a:fld>
            <a:endParaRPr lang="es-CO" sz="1200" b="0" strike="noStrike" spc="-1" dirty="0">
              <a:latin typeface="Arial"/>
            </a:endParaRPr>
          </a:p>
        </p:txBody>
      </p:sp>
      <p:pic>
        <p:nvPicPr>
          <p:cNvPr id="2" name="Imagen 1" descr="Puede ser una imagen de texto que dice &quot;Types of Resistors Fixed FixedResistorThickFilmType Resistor Thick Fillm Type LDR Resistor Thin Film Type Potentiometer 0603 Trimming Pot Surface Mount Thermistor SW0.1503 TyHO6-14 Rheostat Varistor Wire Wound Type&quot;">
            <a:extLst>
              <a:ext uri="{FF2B5EF4-FFF2-40B4-BE49-F238E27FC236}">
                <a16:creationId xmlns:a16="http://schemas.microsoft.com/office/drawing/2014/main" id="{A0202A8A-8055-0F9B-4E8A-B0FB8FB6BA42}"/>
              </a:ext>
            </a:extLst>
          </p:cNvPr>
          <p:cNvPicPr>
            <a:picLocks noChangeAspect="1"/>
          </p:cNvPicPr>
          <p:nvPr/>
        </p:nvPicPr>
        <p:blipFill>
          <a:blip r:embed="rId2">
            <a:extLst>
              <a:ext uri="{28A0092B-C50C-407E-A947-70E740481C1C}">
                <a14:useLocalDpi xmlns:a14="http://schemas.microsoft.com/office/drawing/2010/main" val="0"/>
              </a:ext>
            </a:extLst>
          </a:blip>
          <a:srcRect t="13309"/>
          <a:stretch>
            <a:fillRect/>
          </a:stretch>
        </p:blipFill>
        <p:spPr bwMode="auto">
          <a:xfrm>
            <a:off x="4830265" y="2690777"/>
            <a:ext cx="4116095" cy="2990956"/>
          </a:xfrm>
          <a:prstGeom prst="rect">
            <a:avLst/>
          </a:prstGeom>
          <a:noFill/>
          <a:ln>
            <a:noFill/>
          </a:ln>
        </p:spPr>
      </p:pic>
      <p:pic>
        <p:nvPicPr>
          <p:cNvPr id="3" name="Marcador de contenido 3">
            <a:extLst>
              <a:ext uri="{FF2B5EF4-FFF2-40B4-BE49-F238E27FC236}">
                <a16:creationId xmlns:a16="http://schemas.microsoft.com/office/drawing/2014/main" id="{D7A440EB-2411-FDEB-B5B3-461D5BD9E13A}"/>
              </a:ext>
            </a:extLst>
          </p:cNvPr>
          <p:cNvPicPr>
            <a:picLocks noChangeAspect="1"/>
          </p:cNvPicPr>
          <p:nvPr/>
        </p:nvPicPr>
        <p:blipFill>
          <a:blip r:embed="rId3"/>
          <a:stretch>
            <a:fillRect/>
          </a:stretch>
        </p:blipFill>
        <p:spPr>
          <a:xfrm>
            <a:off x="31014" y="1103547"/>
            <a:ext cx="4707534" cy="3174461"/>
          </a:xfrm>
          <a:prstGeom prst="rect">
            <a:avLst/>
          </a:prstGeom>
        </p:spPr>
      </p:pic>
    </p:spTree>
    <p:extLst>
      <p:ext uri="{BB962C8B-B14F-4D97-AF65-F5344CB8AC3E}">
        <p14:creationId xmlns:p14="http://schemas.microsoft.com/office/powerpoint/2010/main" val="263031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3465-E839-2C66-C846-37BDE0DD5320}"/>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F5C96FF6-A3EE-E8B8-0DB2-EF7E8EF57AB3}"/>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77C794D5-D0B1-4FE2-411A-1203504E0E3B}"/>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2BB04540-4D4E-C90E-3A84-65117464D5B6}"/>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Componente C</a:t>
            </a:r>
          </a:p>
        </p:txBody>
      </p:sp>
      <p:sp>
        <p:nvSpPr>
          <p:cNvPr id="127" name="Marcador de número de diapositiva 3">
            <a:extLst>
              <a:ext uri="{FF2B5EF4-FFF2-40B4-BE49-F238E27FC236}">
                <a16:creationId xmlns:a16="http://schemas.microsoft.com/office/drawing/2014/main" id="{36A0CD8D-34AB-9A3F-3780-9DBA5C8D8721}"/>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18</a:t>
            </a:fld>
            <a:endParaRPr lang="es-CO" sz="1200" b="0" strike="noStrike" spc="-1" dirty="0">
              <a:latin typeface="Arial"/>
            </a:endParaRPr>
          </a:p>
        </p:txBody>
      </p:sp>
      <p:pic>
        <p:nvPicPr>
          <p:cNvPr id="3" name="Imagen 2">
            <a:extLst>
              <a:ext uri="{FF2B5EF4-FFF2-40B4-BE49-F238E27FC236}">
                <a16:creationId xmlns:a16="http://schemas.microsoft.com/office/drawing/2014/main" id="{CDD9EC8D-0FFF-A444-52E4-ABAE1528DE1F}"/>
              </a:ext>
            </a:extLst>
          </p:cNvPr>
          <p:cNvPicPr>
            <a:picLocks noChangeAspect="1"/>
          </p:cNvPicPr>
          <p:nvPr/>
        </p:nvPicPr>
        <p:blipFill>
          <a:blip r:embed="rId2"/>
          <a:stretch>
            <a:fillRect/>
          </a:stretch>
        </p:blipFill>
        <p:spPr>
          <a:xfrm>
            <a:off x="6193554" y="2710599"/>
            <a:ext cx="2708188" cy="3130742"/>
          </a:xfrm>
          <a:prstGeom prst="rect">
            <a:avLst/>
          </a:prstGeom>
        </p:spPr>
      </p:pic>
      <p:pic>
        <p:nvPicPr>
          <p:cNvPr id="4" name="Marcador de contenido 3">
            <a:extLst>
              <a:ext uri="{FF2B5EF4-FFF2-40B4-BE49-F238E27FC236}">
                <a16:creationId xmlns:a16="http://schemas.microsoft.com/office/drawing/2014/main" id="{8468984E-31E4-2855-D030-98076ABDF87B}"/>
              </a:ext>
            </a:extLst>
          </p:cNvPr>
          <p:cNvPicPr>
            <a:picLocks noChangeAspect="1"/>
          </p:cNvPicPr>
          <p:nvPr/>
        </p:nvPicPr>
        <p:blipFill>
          <a:blip r:embed="rId3"/>
          <a:stretch>
            <a:fillRect/>
          </a:stretch>
        </p:blipFill>
        <p:spPr>
          <a:xfrm>
            <a:off x="98309" y="1197234"/>
            <a:ext cx="2630215" cy="3884046"/>
          </a:xfrm>
          <a:prstGeom prst="rect">
            <a:avLst/>
          </a:prstGeom>
        </p:spPr>
      </p:pic>
      <p:pic>
        <p:nvPicPr>
          <p:cNvPr id="5" name="Imagen 4">
            <a:extLst>
              <a:ext uri="{FF2B5EF4-FFF2-40B4-BE49-F238E27FC236}">
                <a16:creationId xmlns:a16="http://schemas.microsoft.com/office/drawing/2014/main" id="{3B112793-5AF1-F6A8-505F-A6A82B1663C3}"/>
              </a:ext>
            </a:extLst>
          </p:cNvPr>
          <p:cNvPicPr>
            <a:picLocks noChangeAspect="1"/>
          </p:cNvPicPr>
          <p:nvPr/>
        </p:nvPicPr>
        <p:blipFill>
          <a:blip r:embed="rId4"/>
          <a:stretch>
            <a:fillRect/>
          </a:stretch>
        </p:blipFill>
        <p:spPr>
          <a:xfrm>
            <a:off x="2833470" y="1645755"/>
            <a:ext cx="2856470" cy="2630215"/>
          </a:xfrm>
          <a:prstGeom prst="rect">
            <a:avLst/>
          </a:prstGeom>
        </p:spPr>
      </p:pic>
      <p:pic>
        <p:nvPicPr>
          <p:cNvPr id="6" name="Imagen 5">
            <a:extLst>
              <a:ext uri="{FF2B5EF4-FFF2-40B4-BE49-F238E27FC236}">
                <a16:creationId xmlns:a16="http://schemas.microsoft.com/office/drawing/2014/main" id="{8CA84C39-99B7-B104-4E28-C25010127B27}"/>
              </a:ext>
            </a:extLst>
          </p:cNvPr>
          <p:cNvPicPr>
            <a:picLocks noChangeAspect="1"/>
          </p:cNvPicPr>
          <p:nvPr/>
        </p:nvPicPr>
        <p:blipFill>
          <a:blip r:embed="rId5"/>
          <a:stretch>
            <a:fillRect/>
          </a:stretch>
        </p:blipFill>
        <p:spPr>
          <a:xfrm>
            <a:off x="5794886" y="269372"/>
            <a:ext cx="3004954" cy="1505328"/>
          </a:xfrm>
          <a:prstGeom prst="rect">
            <a:avLst/>
          </a:prstGeom>
        </p:spPr>
      </p:pic>
    </p:spTree>
    <p:extLst>
      <p:ext uri="{BB962C8B-B14F-4D97-AF65-F5344CB8AC3E}">
        <p14:creationId xmlns:p14="http://schemas.microsoft.com/office/powerpoint/2010/main" val="177714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3B523-8429-82F8-6F7E-6990EC4D5683}"/>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3D0A0225-A56E-1813-A36D-AFDA83275A23}"/>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55F1BAA0-B1B2-DEB0-F1EF-9AEC9FBBADAA}"/>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B263EE9E-85D9-3560-E46A-510A421B3A1D}"/>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Componente L </a:t>
            </a:r>
          </a:p>
        </p:txBody>
      </p:sp>
      <p:sp>
        <p:nvSpPr>
          <p:cNvPr id="127" name="Marcador de número de diapositiva 3">
            <a:extLst>
              <a:ext uri="{FF2B5EF4-FFF2-40B4-BE49-F238E27FC236}">
                <a16:creationId xmlns:a16="http://schemas.microsoft.com/office/drawing/2014/main" id="{378C5E25-A64A-897C-8C59-83A7350B15D4}"/>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19</a:t>
            </a:fld>
            <a:endParaRPr lang="es-CO" sz="1200" b="0" strike="noStrike" spc="-1" dirty="0">
              <a:latin typeface="Arial"/>
            </a:endParaRPr>
          </a:p>
        </p:txBody>
      </p:sp>
      <p:grpSp>
        <p:nvGrpSpPr>
          <p:cNvPr id="8" name="Grupo 7">
            <a:extLst>
              <a:ext uri="{FF2B5EF4-FFF2-40B4-BE49-F238E27FC236}">
                <a16:creationId xmlns:a16="http://schemas.microsoft.com/office/drawing/2014/main" id="{9748B1E9-E8D7-4406-FBB0-85F75087BC19}"/>
              </a:ext>
            </a:extLst>
          </p:cNvPr>
          <p:cNvGrpSpPr/>
          <p:nvPr/>
        </p:nvGrpSpPr>
        <p:grpSpPr>
          <a:xfrm>
            <a:off x="5046240" y="3463492"/>
            <a:ext cx="3159672" cy="2422508"/>
            <a:chOff x="504257" y="1666625"/>
            <a:chExt cx="4143953" cy="2895746"/>
          </a:xfrm>
        </p:grpSpPr>
        <p:pic>
          <p:nvPicPr>
            <p:cNvPr id="5" name="Imagen 4">
              <a:extLst>
                <a:ext uri="{FF2B5EF4-FFF2-40B4-BE49-F238E27FC236}">
                  <a16:creationId xmlns:a16="http://schemas.microsoft.com/office/drawing/2014/main" id="{317BA542-D655-D852-0877-B850614CA7D1}"/>
                </a:ext>
              </a:extLst>
            </p:cNvPr>
            <p:cNvPicPr>
              <a:picLocks noChangeAspect="1"/>
            </p:cNvPicPr>
            <p:nvPr/>
          </p:nvPicPr>
          <p:blipFill>
            <a:blip r:embed="rId2"/>
            <a:stretch>
              <a:fillRect/>
            </a:stretch>
          </p:blipFill>
          <p:spPr>
            <a:xfrm>
              <a:off x="504257" y="1666625"/>
              <a:ext cx="4067743" cy="1381318"/>
            </a:xfrm>
            <a:prstGeom prst="rect">
              <a:avLst/>
            </a:prstGeom>
          </p:spPr>
        </p:pic>
        <p:pic>
          <p:nvPicPr>
            <p:cNvPr id="7" name="Imagen 6">
              <a:extLst>
                <a:ext uri="{FF2B5EF4-FFF2-40B4-BE49-F238E27FC236}">
                  <a16:creationId xmlns:a16="http://schemas.microsoft.com/office/drawing/2014/main" id="{789502E3-3AC4-70BE-13D6-75AE3D4BE1E3}"/>
                </a:ext>
              </a:extLst>
            </p:cNvPr>
            <p:cNvPicPr>
              <a:picLocks noChangeAspect="1"/>
            </p:cNvPicPr>
            <p:nvPr/>
          </p:nvPicPr>
          <p:blipFill>
            <a:blip r:embed="rId3"/>
            <a:stretch>
              <a:fillRect/>
            </a:stretch>
          </p:blipFill>
          <p:spPr>
            <a:xfrm>
              <a:off x="504257" y="3200106"/>
              <a:ext cx="4143953" cy="1362265"/>
            </a:xfrm>
            <a:prstGeom prst="rect">
              <a:avLst/>
            </a:prstGeom>
          </p:spPr>
        </p:pic>
      </p:grpSp>
      <p:grpSp>
        <p:nvGrpSpPr>
          <p:cNvPr id="9" name="Grupo 8">
            <a:extLst>
              <a:ext uri="{FF2B5EF4-FFF2-40B4-BE49-F238E27FC236}">
                <a16:creationId xmlns:a16="http://schemas.microsoft.com/office/drawing/2014/main" id="{5811B503-2619-0E32-BC1A-D83DB0D47A14}"/>
              </a:ext>
            </a:extLst>
          </p:cNvPr>
          <p:cNvGrpSpPr/>
          <p:nvPr/>
        </p:nvGrpSpPr>
        <p:grpSpPr>
          <a:xfrm>
            <a:off x="20160" y="833706"/>
            <a:ext cx="2119313" cy="1776647"/>
            <a:chOff x="333374" y="1516099"/>
            <a:chExt cx="2119313" cy="1776647"/>
          </a:xfrm>
        </p:grpSpPr>
        <p:pic>
          <p:nvPicPr>
            <p:cNvPr id="10" name="Imagen 9">
              <a:extLst>
                <a:ext uri="{FF2B5EF4-FFF2-40B4-BE49-F238E27FC236}">
                  <a16:creationId xmlns:a16="http://schemas.microsoft.com/office/drawing/2014/main" id="{9A245BE0-7951-F50A-89E6-E4D715A913E2}"/>
                </a:ext>
              </a:extLst>
            </p:cNvPr>
            <p:cNvPicPr>
              <a:picLocks noChangeAspect="1"/>
            </p:cNvPicPr>
            <p:nvPr/>
          </p:nvPicPr>
          <p:blipFill>
            <a:blip r:embed="rId4"/>
            <a:stretch>
              <a:fillRect/>
            </a:stretch>
          </p:blipFill>
          <p:spPr>
            <a:xfrm>
              <a:off x="333374" y="1583008"/>
              <a:ext cx="2119313" cy="1709738"/>
            </a:xfrm>
            <a:prstGeom prst="rect">
              <a:avLst/>
            </a:prstGeom>
          </p:spPr>
        </p:pic>
        <p:sp>
          <p:nvSpPr>
            <p:cNvPr id="11" name="Rectángulo 10">
              <a:extLst>
                <a:ext uri="{FF2B5EF4-FFF2-40B4-BE49-F238E27FC236}">
                  <a16:creationId xmlns:a16="http://schemas.microsoft.com/office/drawing/2014/main" id="{9094AE33-3B82-BF88-9900-B94BB2D998EF}"/>
                </a:ext>
              </a:extLst>
            </p:cNvPr>
            <p:cNvSpPr/>
            <p:nvPr/>
          </p:nvSpPr>
          <p:spPr>
            <a:xfrm>
              <a:off x="1568606" y="1516099"/>
              <a:ext cx="884081" cy="40190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pic>
        <p:nvPicPr>
          <p:cNvPr id="12" name="Imagen 11">
            <a:extLst>
              <a:ext uri="{FF2B5EF4-FFF2-40B4-BE49-F238E27FC236}">
                <a16:creationId xmlns:a16="http://schemas.microsoft.com/office/drawing/2014/main" id="{2B26C84D-34F2-05A6-B629-BF532C066B63}"/>
              </a:ext>
            </a:extLst>
          </p:cNvPr>
          <p:cNvPicPr>
            <a:picLocks noChangeAspect="1"/>
          </p:cNvPicPr>
          <p:nvPr/>
        </p:nvPicPr>
        <p:blipFill>
          <a:blip r:embed="rId5"/>
          <a:stretch>
            <a:fillRect/>
          </a:stretch>
        </p:blipFill>
        <p:spPr>
          <a:xfrm>
            <a:off x="2588819" y="1303941"/>
            <a:ext cx="3159673" cy="1629937"/>
          </a:xfrm>
          <a:prstGeom prst="rect">
            <a:avLst/>
          </a:prstGeom>
        </p:spPr>
      </p:pic>
      <p:pic>
        <p:nvPicPr>
          <p:cNvPr id="13" name="Imagen 12">
            <a:extLst>
              <a:ext uri="{FF2B5EF4-FFF2-40B4-BE49-F238E27FC236}">
                <a16:creationId xmlns:a16="http://schemas.microsoft.com/office/drawing/2014/main" id="{97F290E8-AB47-6F8E-851C-66A154D8A8D9}"/>
              </a:ext>
            </a:extLst>
          </p:cNvPr>
          <p:cNvPicPr>
            <a:picLocks noChangeAspect="1"/>
          </p:cNvPicPr>
          <p:nvPr/>
        </p:nvPicPr>
        <p:blipFill>
          <a:blip r:embed="rId6"/>
          <a:stretch>
            <a:fillRect/>
          </a:stretch>
        </p:blipFill>
        <p:spPr>
          <a:xfrm>
            <a:off x="520261" y="3606005"/>
            <a:ext cx="1905928" cy="899334"/>
          </a:xfrm>
          <a:prstGeom prst="rect">
            <a:avLst/>
          </a:prstGeom>
        </p:spPr>
      </p:pic>
      <p:sp>
        <p:nvSpPr>
          <p:cNvPr id="14" name="CuadroTexto 13">
            <a:extLst>
              <a:ext uri="{FF2B5EF4-FFF2-40B4-BE49-F238E27FC236}">
                <a16:creationId xmlns:a16="http://schemas.microsoft.com/office/drawing/2014/main" id="{BF9578B0-A9DC-BCB2-2DB9-FC6314FDDAAE}"/>
              </a:ext>
            </a:extLst>
          </p:cNvPr>
          <p:cNvSpPr txBox="1"/>
          <p:nvPr/>
        </p:nvSpPr>
        <p:spPr>
          <a:xfrm>
            <a:off x="5997354" y="833706"/>
            <a:ext cx="2906751" cy="2554545"/>
          </a:xfrm>
          <a:prstGeom prst="rect">
            <a:avLst/>
          </a:prstGeom>
          <a:noFill/>
        </p:spPr>
        <p:txBody>
          <a:bodyPr wrap="square" rtlCol="0">
            <a:spAutoFit/>
          </a:bodyPr>
          <a:lstStyle/>
          <a:p>
            <a:r>
              <a:rPr lang="es-CO" sz="1600" dirty="0"/>
              <a:t>Permeabilidad del material del núcleo (µ)</a:t>
            </a:r>
          </a:p>
          <a:p>
            <a:endParaRPr lang="es-CO" sz="1600" dirty="0"/>
          </a:p>
          <a:p>
            <a:r>
              <a:rPr lang="es-CO" sz="1600" dirty="0"/>
              <a:t>Número de vueltas del alambre</a:t>
            </a:r>
          </a:p>
          <a:p>
            <a:endParaRPr lang="es-CO" sz="1600" dirty="0"/>
          </a:p>
          <a:p>
            <a:r>
              <a:rPr lang="es-CO" sz="1600" dirty="0"/>
              <a:t>Longitud del núcleo </a:t>
            </a:r>
          </a:p>
          <a:p>
            <a:endParaRPr lang="es-CO" sz="1600" dirty="0"/>
          </a:p>
          <a:p>
            <a:r>
              <a:rPr lang="es-CO" sz="1600" dirty="0"/>
              <a:t>Área de la sección transversal del núcleo</a:t>
            </a:r>
          </a:p>
        </p:txBody>
      </p:sp>
      <p:sp>
        <p:nvSpPr>
          <p:cNvPr id="15" name="CuadroTexto 14">
            <a:extLst>
              <a:ext uri="{FF2B5EF4-FFF2-40B4-BE49-F238E27FC236}">
                <a16:creationId xmlns:a16="http://schemas.microsoft.com/office/drawing/2014/main" id="{732594A0-C06E-BE93-4394-3276913515EC}"/>
              </a:ext>
            </a:extLst>
          </p:cNvPr>
          <p:cNvSpPr txBox="1"/>
          <p:nvPr/>
        </p:nvSpPr>
        <p:spPr>
          <a:xfrm>
            <a:off x="222961" y="4820410"/>
            <a:ext cx="3605602" cy="1384995"/>
          </a:xfrm>
          <a:prstGeom prst="rect">
            <a:avLst/>
          </a:prstGeom>
          <a:noFill/>
        </p:spPr>
        <p:txBody>
          <a:bodyPr wrap="none" rtlCol="0">
            <a:spAutoFit/>
          </a:bodyPr>
          <a:lstStyle/>
          <a:p>
            <a:r>
              <a:rPr lang="es-CO" sz="1200" dirty="0"/>
              <a:t>L: inductancia en Henrios (H)</a:t>
            </a:r>
          </a:p>
          <a:p>
            <a:r>
              <a:rPr lang="es-CO" sz="1200" dirty="0"/>
              <a:t>N: número de vueltas del alambre</a:t>
            </a:r>
          </a:p>
          <a:p>
            <a:r>
              <a:rPr lang="es-CO" sz="1200" dirty="0"/>
              <a:t>µ: Permeabilidad del material del núcleo (H por metro)</a:t>
            </a:r>
          </a:p>
          <a:p>
            <a:r>
              <a:rPr lang="es-CO" sz="1200" dirty="0"/>
              <a:t>S: Área de la sección transversal del núcleo (m</a:t>
            </a:r>
            <a:r>
              <a:rPr lang="es-CO" sz="1200" baseline="30000" dirty="0"/>
              <a:t>2</a:t>
            </a:r>
            <a:r>
              <a:rPr lang="es-CO" sz="1200" dirty="0"/>
              <a:t>)</a:t>
            </a:r>
          </a:p>
          <a:p>
            <a:r>
              <a:rPr lang="es-CO" sz="1200" dirty="0"/>
              <a:t>l: longitud del núcleo en metros (m) </a:t>
            </a:r>
          </a:p>
          <a:p>
            <a:endParaRPr lang="es-CO" sz="1200" dirty="0"/>
          </a:p>
          <a:p>
            <a:r>
              <a:rPr lang="es-CO" sz="1200" dirty="0"/>
              <a:t>	</a:t>
            </a:r>
          </a:p>
        </p:txBody>
      </p:sp>
    </p:spTree>
    <p:extLst>
      <p:ext uri="{BB962C8B-B14F-4D97-AF65-F5344CB8AC3E}">
        <p14:creationId xmlns:p14="http://schemas.microsoft.com/office/powerpoint/2010/main" val="1617044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9BE7-662D-41E9-C220-9A363B005141}"/>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C8DCEC70-C779-C2FD-C9F8-08FFDD470A3A}"/>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6A26816E-10DD-7C7C-3E86-DD10778AE072}"/>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FDC2A395-F12B-B35E-A282-90F01D354816}"/>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Elementos funcionales de un sistema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A4EA6683-A289-A64F-A45C-C60E813D7FC7}"/>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20</a:t>
            </a:fld>
            <a:endParaRPr lang="es-CO" sz="1200" b="0" strike="noStrike" spc="-1">
              <a:latin typeface="Arial"/>
            </a:endParaRPr>
          </a:p>
        </p:txBody>
      </p:sp>
      <p:pic>
        <p:nvPicPr>
          <p:cNvPr id="2" name="Imagen 1">
            <a:extLst>
              <a:ext uri="{FF2B5EF4-FFF2-40B4-BE49-F238E27FC236}">
                <a16:creationId xmlns:a16="http://schemas.microsoft.com/office/drawing/2014/main" id="{ADFD7FCC-7758-4EFD-ED18-1DE4FAB5DDA1}"/>
              </a:ext>
            </a:extLst>
          </p:cNvPr>
          <p:cNvPicPr>
            <a:picLocks noChangeAspect="1"/>
          </p:cNvPicPr>
          <p:nvPr/>
        </p:nvPicPr>
        <p:blipFill>
          <a:blip r:embed="rId2"/>
          <a:stretch>
            <a:fillRect/>
          </a:stretch>
        </p:blipFill>
        <p:spPr>
          <a:xfrm>
            <a:off x="428046" y="1721688"/>
            <a:ext cx="8287907" cy="2667372"/>
          </a:xfrm>
          <a:prstGeom prst="rect">
            <a:avLst/>
          </a:prstGeom>
        </p:spPr>
      </p:pic>
    </p:spTree>
    <p:extLst>
      <p:ext uri="{BB962C8B-B14F-4D97-AF65-F5344CB8AC3E}">
        <p14:creationId xmlns:p14="http://schemas.microsoft.com/office/powerpoint/2010/main" val="2563986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97518-B4AF-3BD3-0989-31D41768CD06}"/>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6A66E07F-DC3C-CC5D-665F-0B2E84E69043}"/>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5A2E6613-156B-F0ED-D0C0-427D8D130084}"/>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025EBA00-A787-0564-602B-8F4153D987A4}"/>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Sensor/Transductor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15FC603A-DE78-217C-4FAE-77BC9339BC3A}"/>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21</a:t>
            </a:fld>
            <a:endParaRPr lang="es-CO" sz="1200" b="0" strike="noStrike" spc="-1" dirty="0">
              <a:latin typeface="Arial"/>
            </a:endParaRPr>
          </a:p>
        </p:txBody>
      </p:sp>
      <p:pic>
        <p:nvPicPr>
          <p:cNvPr id="2" name="Picture 2">
            <a:extLst>
              <a:ext uri="{FF2B5EF4-FFF2-40B4-BE49-F238E27FC236}">
                <a16:creationId xmlns:a16="http://schemas.microsoft.com/office/drawing/2014/main" id="{70A62E1F-4257-F5B5-2636-ACC5E0D72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6905" y="2060067"/>
            <a:ext cx="6581775" cy="21717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3215B7E4-9EF8-27C5-6207-3C8BF44C84C4}"/>
              </a:ext>
            </a:extLst>
          </p:cNvPr>
          <p:cNvSpPr txBox="1"/>
          <p:nvPr/>
        </p:nvSpPr>
        <p:spPr>
          <a:xfrm>
            <a:off x="351207" y="912137"/>
            <a:ext cx="6094562" cy="738664"/>
          </a:xfrm>
          <a:prstGeom prst="rect">
            <a:avLst/>
          </a:prstGeom>
          <a:noFill/>
        </p:spPr>
        <p:txBody>
          <a:bodyPr wrap="square">
            <a:spAutoFit/>
          </a:bodyPr>
          <a:lstStyle/>
          <a:p>
            <a:pPr fontAlgn="ctr"/>
            <a:r>
              <a:rPr lang="es-ES" sz="1400" b="1" dirty="0"/>
              <a:t>Transductor:</a:t>
            </a:r>
            <a:r>
              <a:rPr lang="es-ES" sz="1400" dirty="0"/>
              <a:t> Es un dispositivo que convierte una señal física en otra diferente y más fácil de entender para el sistema. Su función es traducir una señal no interpretable en una variable interpretable para el sistema.</a:t>
            </a:r>
          </a:p>
        </p:txBody>
      </p:sp>
      <p:sp>
        <p:nvSpPr>
          <p:cNvPr id="4" name="CuadroTexto 3">
            <a:extLst>
              <a:ext uri="{FF2B5EF4-FFF2-40B4-BE49-F238E27FC236}">
                <a16:creationId xmlns:a16="http://schemas.microsoft.com/office/drawing/2014/main" id="{8B2609E4-7359-2E46-E69D-50D3F0A1A9FC}"/>
              </a:ext>
            </a:extLst>
          </p:cNvPr>
          <p:cNvSpPr txBox="1"/>
          <p:nvPr/>
        </p:nvSpPr>
        <p:spPr>
          <a:xfrm>
            <a:off x="3700846" y="4937484"/>
            <a:ext cx="5061549" cy="738664"/>
          </a:xfrm>
          <a:prstGeom prst="rect">
            <a:avLst/>
          </a:prstGeom>
          <a:noFill/>
        </p:spPr>
        <p:txBody>
          <a:bodyPr wrap="square">
            <a:spAutoFit/>
          </a:bodyPr>
          <a:lstStyle>
            <a:defPPr>
              <a:defRPr lang="es-CO"/>
            </a:defPPr>
            <a:lvl1pPr fontAlgn="ctr">
              <a:defRPr sz="1400" b="1"/>
            </a:lvl1pPr>
          </a:lstStyle>
          <a:p>
            <a:r>
              <a:rPr lang="es-ES" dirty="0"/>
              <a:t>Captador:</a:t>
            </a:r>
            <a:r>
              <a:rPr lang="es-ES" b="0" dirty="0"/>
              <a:t> Es un tipo de transductor que está incorporado en un lazo de control realimentado. Su función es capturar información en el sistema y realimentarla.</a:t>
            </a:r>
          </a:p>
        </p:txBody>
      </p:sp>
    </p:spTree>
    <p:extLst>
      <p:ext uri="{BB962C8B-B14F-4D97-AF65-F5344CB8AC3E}">
        <p14:creationId xmlns:p14="http://schemas.microsoft.com/office/powerpoint/2010/main" val="1827920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C0C1D-AFCD-1D5B-9722-0DB3FA8CF9BF}"/>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454D4436-D01E-AC05-95DE-4DFB36BCF9A3}"/>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F8876538-30B9-CFE3-5BCE-0FDA2A1DDC57}"/>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597367C6-A73A-B92C-EEBC-4825AA78D016}"/>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Características estáticas de los instrumentos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8CCDACF3-5ED7-E1DA-3D64-ADE1FFA0621A}"/>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22</a:t>
            </a:fld>
            <a:endParaRPr lang="es-CO" sz="1200" b="0" strike="noStrike" spc="-1">
              <a:latin typeface="Arial"/>
            </a:endParaRPr>
          </a:p>
        </p:txBody>
      </p:sp>
      <p:sp>
        <p:nvSpPr>
          <p:cNvPr id="2" name="CuadroTexto 1">
            <a:extLst>
              <a:ext uri="{FF2B5EF4-FFF2-40B4-BE49-F238E27FC236}">
                <a16:creationId xmlns:a16="http://schemas.microsoft.com/office/drawing/2014/main" id="{80DF5348-BE8E-4A72-5E65-995F30FED975}"/>
              </a:ext>
            </a:extLst>
          </p:cNvPr>
          <p:cNvSpPr txBox="1"/>
          <p:nvPr/>
        </p:nvSpPr>
        <p:spPr>
          <a:xfrm>
            <a:off x="221992" y="768567"/>
            <a:ext cx="2427616" cy="369332"/>
          </a:xfrm>
          <a:prstGeom prst="rect">
            <a:avLst/>
          </a:prstGeom>
          <a:noFill/>
        </p:spPr>
        <p:txBody>
          <a:bodyPr wrap="square">
            <a:spAutoFit/>
          </a:bodyPr>
          <a:lstStyle/>
          <a:p>
            <a:r>
              <a:rPr lang="es-CO" sz="1800" b="1" i="0" u="none" strike="noStrike" baseline="0" dirty="0">
                <a:latin typeface="TimesNewRomanPS-BoldMT"/>
              </a:rPr>
              <a:t>Exactitud (</a:t>
            </a:r>
            <a:r>
              <a:rPr lang="es-CO" sz="1800" b="1" i="0" u="none" strike="noStrike" baseline="0" dirty="0" err="1">
                <a:latin typeface="TimesNewRomanPS-BoldMT"/>
              </a:rPr>
              <a:t>accuracy</a:t>
            </a:r>
            <a:r>
              <a:rPr lang="es-CO" sz="1800" b="1" i="0" u="none" strike="noStrike" baseline="0" dirty="0">
                <a:latin typeface="TimesNewRomanPS-BoldMT"/>
              </a:rPr>
              <a:t>)</a:t>
            </a:r>
            <a:endParaRPr lang="es-CO" dirty="0"/>
          </a:p>
        </p:txBody>
      </p:sp>
      <p:sp>
        <p:nvSpPr>
          <p:cNvPr id="3" name="CuadroTexto 2">
            <a:extLst>
              <a:ext uri="{FF2B5EF4-FFF2-40B4-BE49-F238E27FC236}">
                <a16:creationId xmlns:a16="http://schemas.microsoft.com/office/drawing/2014/main" id="{4D2F51DA-BC97-6571-50D5-56D7B1F4BF2A}"/>
              </a:ext>
            </a:extLst>
          </p:cNvPr>
          <p:cNvSpPr txBox="1"/>
          <p:nvPr/>
        </p:nvSpPr>
        <p:spPr>
          <a:xfrm>
            <a:off x="51120" y="1638541"/>
            <a:ext cx="4155776" cy="2031325"/>
          </a:xfrm>
          <a:prstGeom prst="rect">
            <a:avLst/>
          </a:prstGeom>
          <a:noFill/>
        </p:spPr>
        <p:txBody>
          <a:bodyPr wrap="square">
            <a:spAutoFit/>
          </a:bodyPr>
          <a:lstStyle>
            <a:defPPr>
              <a:defRPr lang="es-CO"/>
            </a:defPPr>
            <a:lvl1pPr fontAlgn="ctr">
              <a:defRPr sz="1400" b="1"/>
            </a:lvl1pPr>
          </a:lstStyle>
          <a:p>
            <a:r>
              <a:rPr lang="es-ES" b="0" dirty="0"/>
              <a:t>Se refiere a cuán </a:t>
            </a:r>
            <a:r>
              <a:rPr lang="es-ES" dirty="0"/>
              <a:t>cerca del valor real se encuentra el valor medido</a:t>
            </a:r>
            <a:r>
              <a:rPr lang="es-ES" b="0" dirty="0"/>
              <a:t>. En términos estadísticos, la exactitud está relacionada con el sesgo de una estimación. Cuanto menor es el sesgo más exacto es una estimación. Cuando se expresa la exactitud de un resultado, se expresa mediante el </a:t>
            </a:r>
            <a:r>
              <a:rPr lang="es-ES" dirty="0"/>
              <a:t>error absoluto </a:t>
            </a:r>
            <a:r>
              <a:rPr lang="es-ES" b="0" dirty="0"/>
              <a:t>que es la diferencia entre el </a:t>
            </a:r>
            <a:r>
              <a:rPr lang="es-ES" dirty="0"/>
              <a:t>valor experimental y el valor verdadero</a:t>
            </a:r>
            <a:r>
              <a:rPr lang="es-ES" b="0" dirty="0"/>
              <a:t>.</a:t>
            </a:r>
            <a:endParaRPr lang="es-CO" b="0" dirty="0"/>
          </a:p>
        </p:txBody>
      </p:sp>
      <p:pic>
        <p:nvPicPr>
          <p:cNvPr id="4" name="Imagen 3">
            <a:extLst>
              <a:ext uri="{FF2B5EF4-FFF2-40B4-BE49-F238E27FC236}">
                <a16:creationId xmlns:a16="http://schemas.microsoft.com/office/drawing/2014/main" id="{5409292C-5C27-002D-972F-1DAED39441F2}"/>
              </a:ext>
            </a:extLst>
          </p:cNvPr>
          <p:cNvPicPr>
            <a:picLocks noChangeAspect="1"/>
          </p:cNvPicPr>
          <p:nvPr/>
        </p:nvPicPr>
        <p:blipFill>
          <a:blip r:embed="rId2"/>
          <a:stretch>
            <a:fillRect/>
          </a:stretch>
        </p:blipFill>
        <p:spPr>
          <a:xfrm>
            <a:off x="4655173" y="1897625"/>
            <a:ext cx="4409701" cy="2509777"/>
          </a:xfrm>
          <a:prstGeom prst="rect">
            <a:avLst/>
          </a:prstGeom>
        </p:spPr>
      </p:pic>
      <p:pic>
        <p:nvPicPr>
          <p:cNvPr id="5" name="Imagen 4">
            <a:extLst>
              <a:ext uri="{FF2B5EF4-FFF2-40B4-BE49-F238E27FC236}">
                <a16:creationId xmlns:a16="http://schemas.microsoft.com/office/drawing/2014/main" id="{2FC335DA-6F7D-6160-FF8C-200134455201}"/>
              </a:ext>
            </a:extLst>
          </p:cNvPr>
          <p:cNvPicPr>
            <a:picLocks noChangeAspect="1"/>
          </p:cNvPicPr>
          <p:nvPr/>
        </p:nvPicPr>
        <p:blipFill>
          <a:blip r:embed="rId3"/>
          <a:stretch>
            <a:fillRect/>
          </a:stretch>
        </p:blipFill>
        <p:spPr>
          <a:xfrm>
            <a:off x="79126" y="4144577"/>
            <a:ext cx="4099763" cy="868777"/>
          </a:xfrm>
          <a:prstGeom prst="rect">
            <a:avLst/>
          </a:prstGeom>
        </p:spPr>
      </p:pic>
      <p:pic>
        <p:nvPicPr>
          <p:cNvPr id="6" name="Imagen 5">
            <a:extLst>
              <a:ext uri="{FF2B5EF4-FFF2-40B4-BE49-F238E27FC236}">
                <a16:creationId xmlns:a16="http://schemas.microsoft.com/office/drawing/2014/main" id="{FEF834A1-9C33-408C-FE87-4B38D7D92077}"/>
              </a:ext>
            </a:extLst>
          </p:cNvPr>
          <p:cNvPicPr>
            <a:picLocks noChangeAspect="1"/>
          </p:cNvPicPr>
          <p:nvPr/>
        </p:nvPicPr>
        <p:blipFill>
          <a:blip r:embed="rId4"/>
          <a:stretch>
            <a:fillRect/>
          </a:stretch>
        </p:blipFill>
        <p:spPr>
          <a:xfrm>
            <a:off x="2129007" y="5451184"/>
            <a:ext cx="4420217" cy="295316"/>
          </a:xfrm>
          <a:prstGeom prst="rect">
            <a:avLst/>
          </a:prstGeom>
        </p:spPr>
      </p:pic>
    </p:spTree>
    <p:extLst>
      <p:ext uri="{BB962C8B-B14F-4D97-AF65-F5344CB8AC3E}">
        <p14:creationId xmlns:p14="http://schemas.microsoft.com/office/powerpoint/2010/main" val="4092638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5040-6790-6713-6041-5D4B79B1A13C}"/>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2B0FE17D-C86F-26EE-2C3C-F1D04B2F2317}"/>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DCFFDC46-32D5-992E-DB1B-4AB77C3FFEEF}"/>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2ED06FBE-E2AE-1342-69F5-C1048D6C0CE3}"/>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Características estáticas de los instrumentos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B0ECE1B6-DC9D-261B-7FBA-55049C69027C}"/>
              </a:ext>
            </a:extLst>
          </p:cNvPr>
          <p:cNvSpPr/>
          <p:nvPr/>
        </p:nvSpPr>
        <p:spPr>
          <a:xfrm>
            <a:off x="8711381" y="5886000"/>
            <a:ext cx="381499"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23</a:t>
            </a:fld>
            <a:endParaRPr lang="es-CO" sz="1200" b="0" strike="noStrike" spc="-1" dirty="0">
              <a:latin typeface="Arial"/>
            </a:endParaRPr>
          </a:p>
        </p:txBody>
      </p:sp>
      <p:sp>
        <p:nvSpPr>
          <p:cNvPr id="2" name="CuadroTexto 1">
            <a:extLst>
              <a:ext uri="{FF2B5EF4-FFF2-40B4-BE49-F238E27FC236}">
                <a16:creationId xmlns:a16="http://schemas.microsoft.com/office/drawing/2014/main" id="{A3601BD1-71AA-09F0-4F5B-013F10A502C8}"/>
              </a:ext>
            </a:extLst>
          </p:cNvPr>
          <p:cNvSpPr txBox="1"/>
          <p:nvPr/>
        </p:nvSpPr>
        <p:spPr>
          <a:xfrm>
            <a:off x="52837" y="1109912"/>
            <a:ext cx="2594394" cy="369332"/>
          </a:xfrm>
          <a:prstGeom prst="rect">
            <a:avLst/>
          </a:prstGeom>
          <a:noFill/>
        </p:spPr>
        <p:txBody>
          <a:bodyPr wrap="square">
            <a:spAutoFit/>
          </a:bodyPr>
          <a:lstStyle/>
          <a:p>
            <a:r>
              <a:rPr lang="es-CO" sz="1800" b="1" i="0" u="none" strike="noStrike" baseline="0" dirty="0">
                <a:latin typeface="TimesNewRomanPS-BoldMT"/>
              </a:rPr>
              <a:t>Sensibilidad (</a:t>
            </a:r>
            <a:r>
              <a:rPr lang="es-CO" sz="1800" b="1" i="0" u="none" strike="noStrike" baseline="0" dirty="0" err="1">
                <a:latin typeface="TimesNewRomanPS-BoldMT"/>
              </a:rPr>
              <a:t>sensitivity</a:t>
            </a:r>
            <a:r>
              <a:rPr lang="es-CO" sz="1800" b="1" i="0" u="none" strike="noStrike" baseline="0" dirty="0">
                <a:latin typeface="TimesNewRomanPS-BoldMT"/>
              </a:rPr>
              <a:t>)</a:t>
            </a:r>
            <a:endParaRPr lang="es-CO" dirty="0"/>
          </a:p>
        </p:txBody>
      </p:sp>
      <p:sp>
        <p:nvSpPr>
          <p:cNvPr id="3" name="CuadroTexto 2">
            <a:extLst>
              <a:ext uri="{FF2B5EF4-FFF2-40B4-BE49-F238E27FC236}">
                <a16:creationId xmlns:a16="http://schemas.microsoft.com/office/drawing/2014/main" id="{4F1F59BA-A1A4-FEF9-9048-9B3C64D3D323}"/>
              </a:ext>
            </a:extLst>
          </p:cNvPr>
          <p:cNvSpPr txBox="1"/>
          <p:nvPr/>
        </p:nvSpPr>
        <p:spPr>
          <a:xfrm>
            <a:off x="408956" y="3278505"/>
            <a:ext cx="3735871" cy="2031325"/>
          </a:xfrm>
          <a:prstGeom prst="rect">
            <a:avLst/>
          </a:prstGeom>
          <a:noFill/>
        </p:spPr>
        <p:txBody>
          <a:bodyPr wrap="square">
            <a:spAutoFit/>
          </a:bodyPr>
          <a:lstStyle>
            <a:defPPr>
              <a:defRPr lang="es-CO"/>
            </a:defPPr>
            <a:lvl1pPr fontAlgn="ctr">
              <a:defRPr sz="1400" b="0"/>
            </a:lvl1pPr>
          </a:lstStyle>
          <a:p>
            <a:r>
              <a:rPr lang="es-CO" dirty="0"/>
              <a:t>Tiene dos significados:</a:t>
            </a:r>
          </a:p>
          <a:p>
            <a:endParaRPr lang="es-CO" dirty="0"/>
          </a:p>
          <a:p>
            <a:r>
              <a:rPr lang="es-ES" dirty="0"/>
              <a:t>• Variación de la salida por variación unitaria de la entrada</a:t>
            </a:r>
          </a:p>
          <a:p>
            <a:endParaRPr lang="es-ES" dirty="0"/>
          </a:p>
          <a:p>
            <a:r>
              <a:rPr lang="es-ES" dirty="0"/>
              <a:t>• Mínimo cambio en la entrada capaz de originar un cambio en la salida de características deseadas. Menor cambio en la entrada para el cual el instrumento comienza a </a:t>
            </a:r>
            <a:r>
              <a:rPr lang="es-CO" dirty="0"/>
              <a:t>responder.</a:t>
            </a:r>
          </a:p>
        </p:txBody>
      </p:sp>
      <p:sp>
        <p:nvSpPr>
          <p:cNvPr id="4" name="CuadroTexto 3">
            <a:extLst>
              <a:ext uri="{FF2B5EF4-FFF2-40B4-BE49-F238E27FC236}">
                <a16:creationId xmlns:a16="http://schemas.microsoft.com/office/drawing/2014/main" id="{E77D816D-E35A-053E-FF07-C25C16672230}"/>
              </a:ext>
            </a:extLst>
          </p:cNvPr>
          <p:cNvSpPr txBox="1"/>
          <p:nvPr/>
        </p:nvSpPr>
        <p:spPr>
          <a:xfrm>
            <a:off x="0" y="2050955"/>
            <a:ext cx="5294463" cy="738664"/>
          </a:xfrm>
          <a:prstGeom prst="rect">
            <a:avLst/>
          </a:prstGeom>
          <a:noFill/>
        </p:spPr>
        <p:txBody>
          <a:bodyPr wrap="square">
            <a:spAutoFit/>
          </a:bodyPr>
          <a:lstStyle>
            <a:defPPr>
              <a:defRPr lang="es-CO"/>
            </a:defPPr>
            <a:lvl1pPr fontAlgn="ctr">
              <a:defRPr sz="1400" b="0"/>
            </a:lvl1pPr>
          </a:lstStyle>
          <a:p>
            <a:r>
              <a:rPr lang="es-ES" dirty="0"/>
              <a:t>La sensibilidad es la capacidad de un sensor o instrumento para </a:t>
            </a:r>
            <a:r>
              <a:rPr lang="es-ES" b="1" dirty="0"/>
              <a:t>detectar pequeños cambios </a:t>
            </a:r>
            <a:r>
              <a:rPr lang="es-ES" dirty="0"/>
              <a:t>en la magnitud que se está midiendo.</a:t>
            </a:r>
            <a:endParaRPr lang="es-CO" dirty="0"/>
          </a:p>
        </p:txBody>
      </p:sp>
      <p:sp>
        <p:nvSpPr>
          <p:cNvPr id="5" name="CuadroTexto 4">
            <a:extLst>
              <a:ext uri="{FF2B5EF4-FFF2-40B4-BE49-F238E27FC236}">
                <a16:creationId xmlns:a16="http://schemas.microsoft.com/office/drawing/2014/main" id="{EE3AAC10-5066-E5C3-98EB-CC5FBD7B526A}"/>
              </a:ext>
            </a:extLst>
          </p:cNvPr>
          <p:cNvSpPr txBox="1"/>
          <p:nvPr/>
        </p:nvSpPr>
        <p:spPr>
          <a:xfrm>
            <a:off x="4657680" y="3945023"/>
            <a:ext cx="4227840" cy="1169551"/>
          </a:xfrm>
          <a:prstGeom prst="rect">
            <a:avLst/>
          </a:prstGeom>
          <a:noFill/>
        </p:spPr>
        <p:txBody>
          <a:bodyPr wrap="square">
            <a:spAutoFit/>
          </a:bodyPr>
          <a:lstStyle>
            <a:defPPr>
              <a:defRPr lang="es-CO"/>
            </a:defPPr>
            <a:lvl1pPr fontAlgn="ctr">
              <a:defRPr sz="1400" b="0"/>
            </a:lvl1pPr>
          </a:lstStyle>
          <a:p>
            <a:r>
              <a:rPr lang="es-ES" dirty="0"/>
              <a:t>Donde:</a:t>
            </a:r>
          </a:p>
          <a:p>
            <a:r>
              <a:rPr lang="es-ES" b="1" dirty="0"/>
              <a:t>Δ Salida</a:t>
            </a:r>
            <a:r>
              <a:rPr lang="es-ES" dirty="0"/>
              <a:t>: Variación de la señal de salida (por ejemplo, voltios).</a:t>
            </a:r>
          </a:p>
          <a:p>
            <a:r>
              <a:rPr lang="es-ES" b="1" dirty="0"/>
              <a:t>Δ Entrada</a:t>
            </a:r>
            <a:r>
              <a:rPr lang="es-ES" dirty="0"/>
              <a:t>: Variación de la magnitud que se mide (por ejemplo, presión, temperatura, sonido etc.).</a:t>
            </a:r>
          </a:p>
        </p:txBody>
      </p:sp>
      <p:pic>
        <p:nvPicPr>
          <p:cNvPr id="6" name="Imagen 5">
            <a:extLst>
              <a:ext uri="{FF2B5EF4-FFF2-40B4-BE49-F238E27FC236}">
                <a16:creationId xmlns:a16="http://schemas.microsoft.com/office/drawing/2014/main" id="{3F1F3A7B-435A-8CCB-83F5-A6CEAC0F547E}"/>
              </a:ext>
            </a:extLst>
          </p:cNvPr>
          <p:cNvPicPr>
            <a:picLocks noChangeAspect="1"/>
          </p:cNvPicPr>
          <p:nvPr/>
        </p:nvPicPr>
        <p:blipFill>
          <a:blip r:embed="rId2"/>
          <a:stretch>
            <a:fillRect/>
          </a:stretch>
        </p:blipFill>
        <p:spPr>
          <a:xfrm>
            <a:off x="5476019" y="2933631"/>
            <a:ext cx="2591162" cy="495369"/>
          </a:xfrm>
          <a:prstGeom prst="rect">
            <a:avLst/>
          </a:prstGeom>
        </p:spPr>
      </p:pic>
    </p:spTree>
    <p:extLst>
      <p:ext uri="{BB962C8B-B14F-4D97-AF65-F5344CB8AC3E}">
        <p14:creationId xmlns:p14="http://schemas.microsoft.com/office/powerpoint/2010/main" val="4185857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041E-EC14-4492-090C-0947231646BB}"/>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85EA7D00-BC49-B092-9811-442CE1A35395}"/>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B56EDE01-BFFD-C5ED-4E7B-D9E7E8E554C8}"/>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01DD5683-B739-03ED-0C69-94841C211762}"/>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Características estáticas de los instrumentos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14F43E9B-C648-23B3-829E-3F0DE39197DC}"/>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24</a:t>
            </a:fld>
            <a:endParaRPr lang="es-CO" sz="1200" b="0" strike="noStrike" spc="-1" dirty="0">
              <a:latin typeface="Arial"/>
            </a:endParaRPr>
          </a:p>
        </p:txBody>
      </p:sp>
      <p:sp>
        <p:nvSpPr>
          <p:cNvPr id="3" name="CuadroTexto 2">
            <a:extLst>
              <a:ext uri="{FF2B5EF4-FFF2-40B4-BE49-F238E27FC236}">
                <a16:creationId xmlns:a16="http://schemas.microsoft.com/office/drawing/2014/main" id="{E99AA293-635A-5ED3-7413-131216BFD081}"/>
              </a:ext>
            </a:extLst>
          </p:cNvPr>
          <p:cNvSpPr txBox="1"/>
          <p:nvPr/>
        </p:nvSpPr>
        <p:spPr>
          <a:xfrm>
            <a:off x="555349" y="778307"/>
            <a:ext cx="2913572" cy="369332"/>
          </a:xfrm>
          <a:prstGeom prst="rect">
            <a:avLst/>
          </a:prstGeom>
          <a:noFill/>
        </p:spPr>
        <p:txBody>
          <a:bodyPr wrap="square">
            <a:spAutoFit/>
          </a:bodyPr>
          <a:lstStyle/>
          <a:p>
            <a:r>
              <a:rPr lang="es-CO" sz="1800" b="1" i="0" u="none" strike="noStrike" baseline="0" dirty="0">
                <a:latin typeface="TimesNewRomanPS-BoldMT"/>
              </a:rPr>
              <a:t>Zona Muerta (</a:t>
            </a:r>
            <a:r>
              <a:rPr lang="es-CO" sz="1800" b="1" i="0" u="none" strike="noStrike" baseline="0" dirty="0" err="1">
                <a:latin typeface="TimesNewRomanPS-BoldMT"/>
              </a:rPr>
              <a:t>dead</a:t>
            </a:r>
            <a:r>
              <a:rPr lang="es-CO" sz="1800" b="1" i="0" u="none" strike="noStrike" baseline="0" dirty="0">
                <a:latin typeface="TimesNewRomanPS-BoldMT"/>
              </a:rPr>
              <a:t> band)</a:t>
            </a:r>
            <a:endParaRPr lang="es-CO" dirty="0"/>
          </a:p>
        </p:txBody>
      </p:sp>
      <p:sp>
        <p:nvSpPr>
          <p:cNvPr id="4" name="CuadroTexto 3">
            <a:extLst>
              <a:ext uri="{FF2B5EF4-FFF2-40B4-BE49-F238E27FC236}">
                <a16:creationId xmlns:a16="http://schemas.microsoft.com/office/drawing/2014/main" id="{52B19744-BC65-AE56-21EF-0A34B47E5EDA}"/>
              </a:ext>
            </a:extLst>
          </p:cNvPr>
          <p:cNvSpPr txBox="1"/>
          <p:nvPr/>
        </p:nvSpPr>
        <p:spPr>
          <a:xfrm>
            <a:off x="15050" y="1404650"/>
            <a:ext cx="5048563" cy="1384995"/>
          </a:xfrm>
          <a:prstGeom prst="rect">
            <a:avLst/>
          </a:prstGeom>
          <a:noFill/>
        </p:spPr>
        <p:txBody>
          <a:bodyPr wrap="square">
            <a:spAutoFit/>
          </a:bodyPr>
          <a:lstStyle>
            <a:defPPr>
              <a:defRPr lang="es-CO"/>
            </a:defPPr>
            <a:lvl1pPr fontAlgn="ctr">
              <a:defRPr sz="1400" b="0"/>
            </a:lvl1pPr>
          </a:lstStyle>
          <a:p>
            <a:r>
              <a:rPr lang="es-ES" dirty="0"/>
              <a:t>Es el rango de valores de la entrada dentro del cual el instrumento no responde. La zona muerta es el intervalo de valores de entrada donde no se produce ninguna respuesta del sistema o del sensor. Es decir, aunque la variable de entrada cambie, el sensor o dispositivo </a:t>
            </a:r>
            <a:r>
              <a:rPr lang="es-ES" b="1" dirty="0"/>
              <a:t>no registra</a:t>
            </a:r>
            <a:r>
              <a:rPr lang="es-ES" dirty="0"/>
              <a:t> ni muestra ningún cambio en la salida.</a:t>
            </a:r>
            <a:endParaRPr lang="es-CO" dirty="0"/>
          </a:p>
        </p:txBody>
      </p:sp>
      <p:pic>
        <p:nvPicPr>
          <p:cNvPr id="5" name="Imagen 4">
            <a:extLst>
              <a:ext uri="{FF2B5EF4-FFF2-40B4-BE49-F238E27FC236}">
                <a16:creationId xmlns:a16="http://schemas.microsoft.com/office/drawing/2014/main" id="{E1201BCF-C2B7-47C2-1A50-BFA3CC872D4A}"/>
              </a:ext>
            </a:extLst>
          </p:cNvPr>
          <p:cNvPicPr>
            <a:picLocks noChangeAspect="1"/>
          </p:cNvPicPr>
          <p:nvPr/>
        </p:nvPicPr>
        <p:blipFill>
          <a:blip r:embed="rId2"/>
          <a:stretch>
            <a:fillRect/>
          </a:stretch>
        </p:blipFill>
        <p:spPr>
          <a:xfrm>
            <a:off x="5078435" y="838284"/>
            <a:ext cx="3834441" cy="3834441"/>
          </a:xfrm>
          <a:prstGeom prst="rect">
            <a:avLst/>
          </a:prstGeom>
        </p:spPr>
      </p:pic>
      <p:sp>
        <p:nvSpPr>
          <p:cNvPr id="6" name="CuadroTexto 5">
            <a:extLst>
              <a:ext uri="{FF2B5EF4-FFF2-40B4-BE49-F238E27FC236}">
                <a16:creationId xmlns:a16="http://schemas.microsoft.com/office/drawing/2014/main" id="{0425F772-0F0C-4DE2-9EDC-BDA0F7EC6062}"/>
              </a:ext>
            </a:extLst>
          </p:cNvPr>
          <p:cNvSpPr txBox="1"/>
          <p:nvPr/>
        </p:nvSpPr>
        <p:spPr>
          <a:xfrm>
            <a:off x="15050" y="3144993"/>
            <a:ext cx="4645440" cy="738664"/>
          </a:xfrm>
          <a:prstGeom prst="rect">
            <a:avLst/>
          </a:prstGeom>
          <a:noFill/>
        </p:spPr>
        <p:txBody>
          <a:bodyPr wrap="square">
            <a:spAutoFit/>
          </a:bodyPr>
          <a:lstStyle>
            <a:defPPr>
              <a:defRPr lang="es-CO"/>
            </a:defPPr>
            <a:lvl1pPr fontAlgn="ctr">
              <a:defRPr sz="1400" b="0"/>
            </a:lvl1pPr>
          </a:lstStyle>
          <a:p>
            <a:r>
              <a:rPr lang="es-ES" dirty="0"/>
              <a:t>La zona muerta no siempre tiene una "fórmula universal" porque se mide experimentalmente. Pero se puede expresar así:</a:t>
            </a:r>
            <a:endParaRPr lang="es-CO" dirty="0"/>
          </a:p>
        </p:txBody>
      </p:sp>
      <p:pic>
        <p:nvPicPr>
          <p:cNvPr id="7" name="Imagen 6">
            <a:extLst>
              <a:ext uri="{FF2B5EF4-FFF2-40B4-BE49-F238E27FC236}">
                <a16:creationId xmlns:a16="http://schemas.microsoft.com/office/drawing/2014/main" id="{1F258C97-2DC0-78D7-9BE9-95AFFBC9E390}"/>
              </a:ext>
            </a:extLst>
          </p:cNvPr>
          <p:cNvPicPr>
            <a:picLocks noChangeAspect="1"/>
          </p:cNvPicPr>
          <p:nvPr/>
        </p:nvPicPr>
        <p:blipFill>
          <a:blip r:embed="rId3"/>
          <a:stretch>
            <a:fillRect/>
          </a:stretch>
        </p:blipFill>
        <p:spPr>
          <a:xfrm>
            <a:off x="1056095" y="4046405"/>
            <a:ext cx="2534004" cy="247685"/>
          </a:xfrm>
          <a:prstGeom prst="rect">
            <a:avLst/>
          </a:prstGeom>
        </p:spPr>
      </p:pic>
      <p:sp>
        <p:nvSpPr>
          <p:cNvPr id="8" name="CuadroTexto 7">
            <a:extLst>
              <a:ext uri="{FF2B5EF4-FFF2-40B4-BE49-F238E27FC236}">
                <a16:creationId xmlns:a16="http://schemas.microsoft.com/office/drawing/2014/main" id="{79D94335-3ED0-66DD-E8A2-F3E6436DDA31}"/>
              </a:ext>
            </a:extLst>
          </p:cNvPr>
          <p:cNvSpPr txBox="1"/>
          <p:nvPr/>
        </p:nvSpPr>
        <p:spPr>
          <a:xfrm>
            <a:off x="231124" y="4741549"/>
            <a:ext cx="6094562" cy="1384995"/>
          </a:xfrm>
          <a:prstGeom prst="rect">
            <a:avLst/>
          </a:prstGeom>
          <a:noFill/>
        </p:spPr>
        <p:txBody>
          <a:bodyPr wrap="square">
            <a:spAutoFit/>
          </a:bodyPr>
          <a:lstStyle>
            <a:defPPr>
              <a:defRPr lang="es-CO"/>
            </a:defPPr>
            <a:lvl1pPr fontAlgn="ctr">
              <a:defRPr sz="1400" b="0"/>
            </a:lvl1pPr>
          </a:lstStyle>
          <a:p>
            <a:r>
              <a:rPr lang="es-ES" dirty="0"/>
              <a:t>Donde:</a:t>
            </a:r>
          </a:p>
          <a:p>
            <a:endParaRPr lang="es-ES" dirty="0"/>
          </a:p>
          <a:p>
            <a:r>
              <a:rPr lang="es-ES" b="1" dirty="0"/>
              <a:t>E₁</a:t>
            </a:r>
            <a:r>
              <a:rPr lang="es-ES" dirty="0"/>
              <a:t>: Valor de entrada mínimo donde empieza la respuesta del sensor.</a:t>
            </a:r>
          </a:p>
          <a:p>
            <a:r>
              <a:rPr lang="es-ES" b="1" dirty="0"/>
              <a:t>E₂</a:t>
            </a:r>
            <a:r>
              <a:rPr lang="es-ES" dirty="0"/>
              <a:t>: Valor de entrada donde realmente el sensor comienza a reaccionar.</a:t>
            </a:r>
          </a:p>
          <a:p>
            <a:r>
              <a:rPr lang="es-ES" dirty="0"/>
              <a:t>Básicamente:</a:t>
            </a:r>
            <a:br>
              <a:rPr lang="es-ES" dirty="0"/>
            </a:br>
            <a:endParaRPr lang="es-ES" dirty="0"/>
          </a:p>
        </p:txBody>
      </p:sp>
      <p:sp>
        <p:nvSpPr>
          <p:cNvPr id="9" name="CuadroTexto 8">
            <a:extLst>
              <a:ext uri="{FF2B5EF4-FFF2-40B4-BE49-F238E27FC236}">
                <a16:creationId xmlns:a16="http://schemas.microsoft.com/office/drawing/2014/main" id="{7000BF79-3B85-9115-6855-74A1DBA0233B}"/>
              </a:ext>
            </a:extLst>
          </p:cNvPr>
          <p:cNvSpPr txBox="1"/>
          <p:nvPr/>
        </p:nvSpPr>
        <p:spPr>
          <a:xfrm>
            <a:off x="5720725" y="4672725"/>
            <a:ext cx="3684076" cy="523220"/>
          </a:xfrm>
          <a:prstGeom prst="rect">
            <a:avLst/>
          </a:prstGeom>
          <a:noFill/>
        </p:spPr>
        <p:txBody>
          <a:bodyPr wrap="square">
            <a:spAutoFit/>
          </a:bodyPr>
          <a:lstStyle>
            <a:defPPr>
              <a:defRPr lang="es-CO"/>
            </a:defPPr>
            <a:lvl1pPr fontAlgn="ctr">
              <a:defRPr sz="1400" b="0"/>
            </a:lvl1pPr>
          </a:lstStyle>
          <a:p>
            <a:pPr algn="ctr"/>
            <a:r>
              <a:rPr lang="es-ES" b="1" dirty="0"/>
              <a:t>Zona Muerta </a:t>
            </a:r>
            <a:r>
              <a:rPr lang="es-ES" dirty="0"/>
              <a:t>= Rango de entrada sin respuesta.</a:t>
            </a:r>
            <a:endParaRPr lang="es-CO" dirty="0"/>
          </a:p>
        </p:txBody>
      </p:sp>
    </p:spTree>
    <p:extLst>
      <p:ext uri="{BB962C8B-B14F-4D97-AF65-F5344CB8AC3E}">
        <p14:creationId xmlns:p14="http://schemas.microsoft.com/office/powerpoint/2010/main" val="3125497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67CA6-9385-91C8-BBA6-DFF9D6FFA831}"/>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DB47F1D7-8C8B-23EE-9774-7987C36A6484}"/>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84F48D47-D6CE-DDE6-0A02-E469B40886A0}"/>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2F4D1011-A5E2-A1D1-A204-DA1DCF7004EB}"/>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Características estáticas de los instrumentos </a:t>
            </a:r>
            <a:endParaRPr lang="es-CO" sz="1800" b="0" strike="noStrike" spc="-1" dirty="0">
              <a:latin typeface="Arial"/>
            </a:endParaRPr>
          </a:p>
        </p:txBody>
      </p:sp>
      <p:sp>
        <p:nvSpPr>
          <p:cNvPr id="127" name="Marcador de número de diapositiva 3">
            <a:extLst>
              <a:ext uri="{FF2B5EF4-FFF2-40B4-BE49-F238E27FC236}">
                <a16:creationId xmlns:a16="http://schemas.microsoft.com/office/drawing/2014/main" id="{F2584901-0350-0B9F-3898-C85060618716}"/>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25</a:t>
            </a:fld>
            <a:endParaRPr lang="es-CO" sz="1200" b="0" strike="noStrike" spc="-1" dirty="0">
              <a:latin typeface="Arial"/>
            </a:endParaRPr>
          </a:p>
        </p:txBody>
      </p:sp>
      <p:sp>
        <p:nvSpPr>
          <p:cNvPr id="3" name="CuadroTexto 2">
            <a:extLst>
              <a:ext uri="{FF2B5EF4-FFF2-40B4-BE49-F238E27FC236}">
                <a16:creationId xmlns:a16="http://schemas.microsoft.com/office/drawing/2014/main" id="{BB7531D0-3F19-2DCB-9A0F-1A3A00285ED1}"/>
              </a:ext>
            </a:extLst>
          </p:cNvPr>
          <p:cNvSpPr txBox="1"/>
          <p:nvPr/>
        </p:nvSpPr>
        <p:spPr>
          <a:xfrm>
            <a:off x="261360" y="693105"/>
            <a:ext cx="4862744" cy="3970318"/>
          </a:xfrm>
          <a:prstGeom prst="rect">
            <a:avLst/>
          </a:prstGeom>
          <a:noFill/>
        </p:spPr>
        <p:txBody>
          <a:bodyPr wrap="square">
            <a:spAutoFit/>
          </a:bodyPr>
          <a:lstStyle>
            <a:defPPr>
              <a:defRPr lang="es-CO"/>
            </a:defPPr>
            <a:lvl1pPr fontAlgn="ctr">
              <a:defRPr sz="1400" b="0"/>
            </a:lvl1pPr>
          </a:lstStyle>
          <a:p>
            <a:r>
              <a:rPr lang="es-CO" b="1" dirty="0"/>
              <a:t>Histéresis</a:t>
            </a:r>
          </a:p>
          <a:p>
            <a:endParaRPr lang="es-CO" dirty="0"/>
          </a:p>
          <a:p>
            <a:r>
              <a:rPr lang="es-ES" dirty="0"/>
              <a:t>Es la </a:t>
            </a:r>
            <a:r>
              <a:rPr lang="es-ES" b="1" dirty="0"/>
              <a:t>máxima diferencia </a:t>
            </a:r>
            <a:r>
              <a:rPr lang="es-ES" dirty="0"/>
              <a:t>que se observa en los valores de</a:t>
            </a:r>
          </a:p>
          <a:p>
            <a:r>
              <a:rPr lang="es-ES" dirty="0"/>
              <a:t>salida de un instrumento para una misma entrada cuando esta recorre la escala en los dos sentidos, ascendente y descendente.</a:t>
            </a:r>
          </a:p>
          <a:p>
            <a:r>
              <a:rPr lang="es-ES" dirty="0"/>
              <a:t>La histéresis es el diferente comportamiento de un sensor cuando la variable medida aumenta y cuando disminuye.</a:t>
            </a:r>
          </a:p>
          <a:p>
            <a:endParaRPr lang="es-ES" dirty="0"/>
          </a:p>
          <a:p>
            <a:endParaRPr lang="es-ES" dirty="0"/>
          </a:p>
          <a:p>
            <a:endParaRPr lang="es-ES" dirty="0"/>
          </a:p>
          <a:p>
            <a:endParaRPr lang="es-CO" dirty="0"/>
          </a:p>
          <a:p>
            <a:endParaRPr lang="es-CO" dirty="0"/>
          </a:p>
          <a:p>
            <a:r>
              <a:rPr lang="es-CO" b="1" dirty="0"/>
              <a:t>Repetibilidad</a:t>
            </a:r>
          </a:p>
          <a:p>
            <a:endParaRPr lang="es-CO" dirty="0"/>
          </a:p>
          <a:p>
            <a:r>
              <a:rPr lang="es-ES" dirty="0"/>
              <a:t>La repetibilidad es la capacidad de un sensor o sistema para </a:t>
            </a:r>
            <a:r>
              <a:rPr lang="es-ES" b="1" dirty="0"/>
              <a:t>producir resultados iguales o muy similares </a:t>
            </a:r>
            <a:r>
              <a:rPr lang="es-ES" dirty="0"/>
              <a:t>cuando se repite la medición bajo las mismas condiciones.</a:t>
            </a:r>
            <a:endParaRPr lang="es-CO" dirty="0"/>
          </a:p>
        </p:txBody>
      </p:sp>
      <p:pic>
        <p:nvPicPr>
          <p:cNvPr id="4" name="Imagen 3">
            <a:extLst>
              <a:ext uri="{FF2B5EF4-FFF2-40B4-BE49-F238E27FC236}">
                <a16:creationId xmlns:a16="http://schemas.microsoft.com/office/drawing/2014/main" id="{25D3B526-8CEA-F30E-6563-3383B7F62055}"/>
              </a:ext>
            </a:extLst>
          </p:cNvPr>
          <p:cNvPicPr>
            <a:picLocks noChangeAspect="1"/>
          </p:cNvPicPr>
          <p:nvPr/>
        </p:nvPicPr>
        <p:blipFill>
          <a:blip r:embed="rId2"/>
          <a:stretch>
            <a:fillRect/>
          </a:stretch>
        </p:blipFill>
        <p:spPr>
          <a:xfrm>
            <a:off x="5300184" y="755826"/>
            <a:ext cx="3308496" cy="3233516"/>
          </a:xfrm>
          <a:prstGeom prst="rect">
            <a:avLst/>
          </a:prstGeom>
        </p:spPr>
      </p:pic>
      <p:pic>
        <p:nvPicPr>
          <p:cNvPr id="5" name="Imagen 4">
            <a:extLst>
              <a:ext uri="{FF2B5EF4-FFF2-40B4-BE49-F238E27FC236}">
                <a16:creationId xmlns:a16="http://schemas.microsoft.com/office/drawing/2014/main" id="{062E7458-D428-72CA-9D97-2D624E548366}"/>
              </a:ext>
            </a:extLst>
          </p:cNvPr>
          <p:cNvPicPr>
            <a:picLocks noChangeAspect="1"/>
          </p:cNvPicPr>
          <p:nvPr/>
        </p:nvPicPr>
        <p:blipFill>
          <a:blip r:embed="rId3"/>
          <a:stretch>
            <a:fillRect/>
          </a:stretch>
        </p:blipFill>
        <p:spPr>
          <a:xfrm>
            <a:off x="768647" y="3048973"/>
            <a:ext cx="3848170" cy="179306"/>
          </a:xfrm>
          <a:prstGeom prst="rect">
            <a:avLst/>
          </a:prstGeom>
        </p:spPr>
      </p:pic>
      <p:pic>
        <p:nvPicPr>
          <p:cNvPr id="6" name="Imagen 5">
            <a:extLst>
              <a:ext uri="{FF2B5EF4-FFF2-40B4-BE49-F238E27FC236}">
                <a16:creationId xmlns:a16="http://schemas.microsoft.com/office/drawing/2014/main" id="{FFFF7CC4-2EE2-B0C8-D78B-660585353432}"/>
              </a:ext>
            </a:extLst>
          </p:cNvPr>
          <p:cNvPicPr>
            <a:picLocks noChangeAspect="1"/>
          </p:cNvPicPr>
          <p:nvPr/>
        </p:nvPicPr>
        <p:blipFill>
          <a:blip r:embed="rId4"/>
          <a:stretch>
            <a:fillRect/>
          </a:stretch>
        </p:blipFill>
        <p:spPr>
          <a:xfrm>
            <a:off x="960902" y="5148287"/>
            <a:ext cx="3463660" cy="172493"/>
          </a:xfrm>
          <a:prstGeom prst="rect">
            <a:avLst/>
          </a:prstGeom>
        </p:spPr>
      </p:pic>
      <p:sp>
        <p:nvSpPr>
          <p:cNvPr id="7" name="CuadroTexto 6">
            <a:extLst>
              <a:ext uri="{FF2B5EF4-FFF2-40B4-BE49-F238E27FC236}">
                <a16:creationId xmlns:a16="http://schemas.microsoft.com/office/drawing/2014/main" id="{6E168233-A827-9747-5D71-A0BE707CE483}"/>
              </a:ext>
            </a:extLst>
          </p:cNvPr>
          <p:cNvSpPr txBox="1"/>
          <p:nvPr/>
        </p:nvSpPr>
        <p:spPr>
          <a:xfrm>
            <a:off x="261360" y="5464274"/>
            <a:ext cx="6094562" cy="307777"/>
          </a:xfrm>
          <a:prstGeom prst="rect">
            <a:avLst/>
          </a:prstGeom>
          <a:noFill/>
        </p:spPr>
        <p:txBody>
          <a:bodyPr wrap="square">
            <a:spAutoFit/>
          </a:bodyPr>
          <a:lstStyle/>
          <a:p>
            <a:r>
              <a:rPr lang="es-ES" sz="1400" dirty="0"/>
              <a:t>A veces se expresa como porcentaje del rango de medición:</a:t>
            </a:r>
            <a:endParaRPr lang="es-CO" sz="1400" dirty="0"/>
          </a:p>
        </p:txBody>
      </p:sp>
      <p:pic>
        <p:nvPicPr>
          <p:cNvPr id="8" name="Imagen 7">
            <a:extLst>
              <a:ext uri="{FF2B5EF4-FFF2-40B4-BE49-F238E27FC236}">
                <a16:creationId xmlns:a16="http://schemas.microsoft.com/office/drawing/2014/main" id="{82B2B978-392C-5EE7-3470-B188B324920F}"/>
              </a:ext>
            </a:extLst>
          </p:cNvPr>
          <p:cNvPicPr>
            <a:picLocks noChangeAspect="1"/>
          </p:cNvPicPr>
          <p:nvPr/>
        </p:nvPicPr>
        <p:blipFill>
          <a:blip r:embed="rId5"/>
          <a:stretch>
            <a:fillRect/>
          </a:stretch>
        </p:blipFill>
        <p:spPr>
          <a:xfrm>
            <a:off x="5382345" y="5465831"/>
            <a:ext cx="3464536" cy="346454"/>
          </a:xfrm>
          <a:prstGeom prst="rect">
            <a:avLst/>
          </a:prstGeom>
        </p:spPr>
      </p:pic>
    </p:spTree>
    <p:extLst>
      <p:ext uri="{BB962C8B-B14F-4D97-AF65-F5344CB8AC3E}">
        <p14:creationId xmlns:p14="http://schemas.microsoft.com/office/powerpoint/2010/main" val="133670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1594-1258-6C74-6F21-C304DB875D82}"/>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199BDED2-C692-300A-1C62-E916CBA4C957}"/>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90A5BA63-00E2-38BF-B394-2CF397641342}"/>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20F6454B-AFA3-03C8-2D76-B2AB3092A243}"/>
              </a:ext>
            </a:extLst>
          </p:cNvPr>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Incertidumbre de una medida</a:t>
            </a:r>
          </a:p>
        </p:txBody>
      </p:sp>
      <p:sp>
        <p:nvSpPr>
          <p:cNvPr id="127" name="Marcador de número de diapositiva 3">
            <a:extLst>
              <a:ext uri="{FF2B5EF4-FFF2-40B4-BE49-F238E27FC236}">
                <a16:creationId xmlns:a16="http://schemas.microsoft.com/office/drawing/2014/main" id="{F5A4898B-4713-07FA-538F-EAA7FEBAAC01}"/>
              </a:ext>
            </a:extLst>
          </p:cNvPr>
          <p:cNvSpPr/>
          <p:nvPr/>
        </p:nvSpPr>
        <p:spPr>
          <a:xfrm>
            <a:off x="8689051" y="5886000"/>
            <a:ext cx="403829"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26</a:t>
            </a:fld>
            <a:endParaRPr lang="es-CO" sz="1200" b="0" strike="noStrike" spc="-1">
              <a:latin typeface="Arial"/>
            </a:endParaRPr>
          </a:p>
        </p:txBody>
      </p:sp>
      <p:sp>
        <p:nvSpPr>
          <p:cNvPr id="2" name="CuadroTexto 1">
            <a:extLst>
              <a:ext uri="{FF2B5EF4-FFF2-40B4-BE49-F238E27FC236}">
                <a16:creationId xmlns:a16="http://schemas.microsoft.com/office/drawing/2014/main" id="{750DC4AC-1EF8-003D-2843-7C1290512EB2}"/>
              </a:ext>
            </a:extLst>
          </p:cNvPr>
          <p:cNvSpPr txBox="1"/>
          <p:nvPr/>
        </p:nvSpPr>
        <p:spPr>
          <a:xfrm>
            <a:off x="261359" y="847635"/>
            <a:ext cx="8164885" cy="2031325"/>
          </a:xfrm>
          <a:prstGeom prst="rect">
            <a:avLst/>
          </a:prstGeom>
          <a:noFill/>
        </p:spPr>
        <p:txBody>
          <a:bodyPr wrap="square">
            <a:spAutoFit/>
          </a:bodyPr>
          <a:lstStyle>
            <a:defPPr>
              <a:defRPr lang="es-CO"/>
            </a:defPPr>
            <a:lvl1pPr fontAlgn="ctr">
              <a:defRPr sz="1400" b="1"/>
            </a:lvl1pPr>
          </a:lstStyle>
          <a:p>
            <a:r>
              <a:rPr lang="es-CO" dirty="0"/>
              <a:t>Incertidumbre</a:t>
            </a:r>
          </a:p>
          <a:p>
            <a:endParaRPr lang="es-CO" b="0" dirty="0"/>
          </a:p>
          <a:p>
            <a:r>
              <a:rPr lang="es-ES" b="0" dirty="0"/>
              <a:t>La incertidumbre de una medida se refiere a la duda o dispersión de los valores que podrían atribuirse razonablemente a una medición. </a:t>
            </a:r>
          </a:p>
          <a:p>
            <a:endParaRPr lang="es-ES" b="0" dirty="0"/>
          </a:p>
          <a:p>
            <a:r>
              <a:rPr lang="es-ES" b="0" dirty="0"/>
              <a:t>La incertidumbre es una medida que refleja el grado de duda o variabilidad asociado al resultado de una medición. En otras palabras, la incertidumbre nos indica </a:t>
            </a:r>
            <a:r>
              <a:rPr lang="es-ES" dirty="0"/>
              <a:t>cuánto podría variar o desviarse </a:t>
            </a:r>
            <a:r>
              <a:rPr lang="es-ES" b="0" dirty="0"/>
              <a:t>un </a:t>
            </a:r>
            <a:r>
              <a:rPr lang="es-ES" dirty="0"/>
              <a:t>valor medido respecto al valor real</a:t>
            </a:r>
            <a:r>
              <a:rPr lang="es-ES" b="0" dirty="0"/>
              <a:t>, debido a limitaciones del </a:t>
            </a:r>
            <a:r>
              <a:rPr lang="es-ES" dirty="0"/>
              <a:t>instrumento</a:t>
            </a:r>
            <a:r>
              <a:rPr lang="es-ES" b="0" dirty="0"/>
              <a:t>, el </a:t>
            </a:r>
            <a:r>
              <a:rPr lang="es-ES" dirty="0"/>
              <a:t>método</a:t>
            </a:r>
            <a:r>
              <a:rPr lang="es-ES" b="0" dirty="0"/>
              <a:t> de medición o </a:t>
            </a:r>
            <a:r>
              <a:rPr lang="es-ES" dirty="0"/>
              <a:t>factores externos</a:t>
            </a:r>
            <a:r>
              <a:rPr lang="es-ES" b="0" dirty="0"/>
              <a:t>. </a:t>
            </a:r>
            <a:endParaRPr lang="es-CO" b="0" dirty="0"/>
          </a:p>
        </p:txBody>
      </p:sp>
      <p:sp>
        <p:nvSpPr>
          <p:cNvPr id="3" name="CuadroTexto 2">
            <a:extLst>
              <a:ext uri="{FF2B5EF4-FFF2-40B4-BE49-F238E27FC236}">
                <a16:creationId xmlns:a16="http://schemas.microsoft.com/office/drawing/2014/main" id="{F56F3E28-87D1-3975-9AC4-076CA698D2D5}"/>
              </a:ext>
            </a:extLst>
          </p:cNvPr>
          <p:cNvSpPr txBox="1"/>
          <p:nvPr/>
        </p:nvSpPr>
        <p:spPr>
          <a:xfrm>
            <a:off x="261359" y="2951946"/>
            <a:ext cx="4969402" cy="954107"/>
          </a:xfrm>
          <a:prstGeom prst="rect">
            <a:avLst/>
          </a:prstGeom>
          <a:noFill/>
        </p:spPr>
        <p:txBody>
          <a:bodyPr wrap="square">
            <a:spAutoFit/>
          </a:bodyPr>
          <a:lstStyle>
            <a:defPPr>
              <a:defRPr lang="es-CO"/>
            </a:defPPr>
            <a:lvl1pPr fontAlgn="ctr">
              <a:defRPr sz="1400" b="1"/>
            </a:lvl1pPr>
          </a:lstStyle>
          <a:p>
            <a:endParaRPr lang="es-ES" b="0" dirty="0"/>
          </a:p>
          <a:p>
            <a:r>
              <a:rPr lang="es-ES" dirty="0"/>
              <a:t>Incertidumbre absoluta</a:t>
            </a:r>
            <a:r>
              <a:rPr lang="es-ES" b="0" dirty="0"/>
              <a:t>: Expresada en las mismas unidades que la magnitud medida (por ejemplo: ±2 </a:t>
            </a:r>
            <a:r>
              <a:rPr lang="es-ES" b="0" dirty="0" err="1"/>
              <a:t>mmHg</a:t>
            </a:r>
            <a:r>
              <a:rPr lang="es-ES" b="0" dirty="0"/>
              <a:t>).</a:t>
            </a:r>
          </a:p>
          <a:p>
            <a:endParaRPr lang="es-ES" b="0" dirty="0"/>
          </a:p>
        </p:txBody>
      </p:sp>
      <p:sp>
        <p:nvSpPr>
          <p:cNvPr id="4" name="CuadroTexto 3">
            <a:extLst>
              <a:ext uri="{FF2B5EF4-FFF2-40B4-BE49-F238E27FC236}">
                <a16:creationId xmlns:a16="http://schemas.microsoft.com/office/drawing/2014/main" id="{18E0BA29-FD13-F11D-0ACD-DA4C2787343B}"/>
              </a:ext>
            </a:extLst>
          </p:cNvPr>
          <p:cNvSpPr txBox="1"/>
          <p:nvPr/>
        </p:nvSpPr>
        <p:spPr>
          <a:xfrm>
            <a:off x="5495437" y="3087270"/>
            <a:ext cx="3582351" cy="738664"/>
          </a:xfrm>
          <a:prstGeom prst="rect">
            <a:avLst/>
          </a:prstGeom>
          <a:noFill/>
        </p:spPr>
        <p:txBody>
          <a:bodyPr wrap="square">
            <a:spAutoFit/>
          </a:bodyPr>
          <a:lstStyle>
            <a:defPPr>
              <a:defRPr lang="es-CO"/>
            </a:defPPr>
            <a:lvl1pPr fontAlgn="ctr">
              <a:defRPr sz="1400" b="1"/>
            </a:lvl1pPr>
          </a:lstStyle>
          <a:p>
            <a:r>
              <a:rPr lang="es-ES" dirty="0"/>
              <a:t>Incertidumbre relativa</a:t>
            </a:r>
            <a:r>
              <a:rPr lang="es-ES" b="0" dirty="0"/>
              <a:t>: Es la incertidumbre absoluta dividida por el valor medido, expresada en porcentaje.</a:t>
            </a:r>
          </a:p>
        </p:txBody>
      </p:sp>
      <p:pic>
        <p:nvPicPr>
          <p:cNvPr id="5" name="Imagen 4">
            <a:extLst>
              <a:ext uri="{FF2B5EF4-FFF2-40B4-BE49-F238E27FC236}">
                <a16:creationId xmlns:a16="http://schemas.microsoft.com/office/drawing/2014/main" id="{F454E067-3F50-B724-D860-8B00A398FB45}"/>
              </a:ext>
            </a:extLst>
          </p:cNvPr>
          <p:cNvPicPr>
            <a:picLocks noChangeAspect="1"/>
          </p:cNvPicPr>
          <p:nvPr/>
        </p:nvPicPr>
        <p:blipFill>
          <a:blip r:embed="rId2"/>
          <a:stretch>
            <a:fillRect/>
          </a:stretch>
        </p:blipFill>
        <p:spPr>
          <a:xfrm>
            <a:off x="2136493" y="4016734"/>
            <a:ext cx="1252566" cy="316583"/>
          </a:xfrm>
          <a:prstGeom prst="rect">
            <a:avLst/>
          </a:prstGeom>
        </p:spPr>
      </p:pic>
      <p:sp>
        <p:nvSpPr>
          <p:cNvPr id="6" name="CuadroTexto 5">
            <a:extLst>
              <a:ext uri="{FF2B5EF4-FFF2-40B4-BE49-F238E27FC236}">
                <a16:creationId xmlns:a16="http://schemas.microsoft.com/office/drawing/2014/main" id="{11D4D5B0-52E1-FC93-3F26-DFE3800151A1}"/>
              </a:ext>
            </a:extLst>
          </p:cNvPr>
          <p:cNvSpPr txBox="1"/>
          <p:nvPr/>
        </p:nvSpPr>
        <p:spPr>
          <a:xfrm>
            <a:off x="455295" y="4660480"/>
            <a:ext cx="5412988" cy="954107"/>
          </a:xfrm>
          <a:prstGeom prst="rect">
            <a:avLst/>
          </a:prstGeom>
          <a:noFill/>
        </p:spPr>
        <p:txBody>
          <a:bodyPr wrap="square">
            <a:spAutoFit/>
          </a:bodyPr>
          <a:lstStyle>
            <a:defPPr>
              <a:defRPr lang="es-CO"/>
            </a:defPPr>
            <a:lvl1pPr fontAlgn="ctr">
              <a:defRPr sz="1400" b="0"/>
            </a:lvl1pPr>
          </a:lstStyle>
          <a:p>
            <a:r>
              <a:rPr lang="es-ES" dirty="0"/>
              <a:t>Donde:</a:t>
            </a:r>
          </a:p>
          <a:p>
            <a:r>
              <a:rPr lang="es-ES" b="1" dirty="0"/>
              <a:t>U</a:t>
            </a:r>
            <a:r>
              <a:rPr lang="es-ES" dirty="0"/>
              <a:t>: Incertidumbre absoluta.</a:t>
            </a:r>
          </a:p>
          <a:p>
            <a:r>
              <a:rPr lang="es-ES" b="1" dirty="0"/>
              <a:t>Δ</a:t>
            </a:r>
            <a:r>
              <a:rPr lang="es-ES" dirty="0"/>
              <a:t>: Error máximo permitido por el instrumento o variación observada.</a:t>
            </a:r>
          </a:p>
        </p:txBody>
      </p:sp>
      <p:pic>
        <p:nvPicPr>
          <p:cNvPr id="7" name="Imagen 6">
            <a:extLst>
              <a:ext uri="{FF2B5EF4-FFF2-40B4-BE49-F238E27FC236}">
                <a16:creationId xmlns:a16="http://schemas.microsoft.com/office/drawing/2014/main" id="{1A3A5976-426E-BB9D-C400-178C3C14E89D}"/>
              </a:ext>
            </a:extLst>
          </p:cNvPr>
          <p:cNvPicPr>
            <a:picLocks noChangeAspect="1"/>
          </p:cNvPicPr>
          <p:nvPr/>
        </p:nvPicPr>
        <p:blipFill>
          <a:blip r:embed="rId3"/>
          <a:stretch>
            <a:fillRect/>
          </a:stretch>
        </p:blipFill>
        <p:spPr>
          <a:xfrm>
            <a:off x="5754942" y="4016734"/>
            <a:ext cx="2934109" cy="581106"/>
          </a:xfrm>
          <a:prstGeom prst="rect">
            <a:avLst/>
          </a:prstGeom>
        </p:spPr>
      </p:pic>
      <p:sp>
        <p:nvSpPr>
          <p:cNvPr id="8" name="CuadroTexto 7">
            <a:extLst>
              <a:ext uri="{FF2B5EF4-FFF2-40B4-BE49-F238E27FC236}">
                <a16:creationId xmlns:a16="http://schemas.microsoft.com/office/drawing/2014/main" id="{57F6C8D4-7FDC-BE4B-3674-06FF0547B831}"/>
              </a:ext>
            </a:extLst>
          </p:cNvPr>
          <p:cNvSpPr txBox="1"/>
          <p:nvPr/>
        </p:nvSpPr>
        <p:spPr>
          <a:xfrm>
            <a:off x="5754942" y="4716449"/>
            <a:ext cx="4035006" cy="1169551"/>
          </a:xfrm>
          <a:prstGeom prst="rect">
            <a:avLst/>
          </a:prstGeom>
          <a:noFill/>
        </p:spPr>
        <p:txBody>
          <a:bodyPr wrap="square">
            <a:spAutoFit/>
          </a:bodyPr>
          <a:lstStyle>
            <a:defPPr>
              <a:defRPr lang="es-CO"/>
            </a:defPPr>
            <a:lvl1pPr fontAlgn="ctr">
              <a:defRPr sz="1400" b="0"/>
            </a:lvl1pPr>
          </a:lstStyle>
          <a:p>
            <a:r>
              <a:rPr lang="es-ES" dirty="0"/>
              <a:t>Donde:</a:t>
            </a:r>
          </a:p>
          <a:p>
            <a:endParaRPr lang="es-ES" dirty="0"/>
          </a:p>
          <a:p>
            <a:r>
              <a:rPr lang="es-ES" b="1" dirty="0" err="1"/>
              <a:t>Ur</a:t>
            </a:r>
            <a:r>
              <a:rPr lang="es-ES" dirty="0"/>
              <a:t>: Incertidumbre relativa (%)</a:t>
            </a:r>
          </a:p>
          <a:p>
            <a:r>
              <a:rPr lang="es-ES" b="1" dirty="0"/>
              <a:t>U</a:t>
            </a:r>
            <a:r>
              <a:rPr lang="es-ES" dirty="0"/>
              <a:t>: Incertidumbre absoluta.</a:t>
            </a:r>
          </a:p>
          <a:p>
            <a:r>
              <a:rPr lang="es-ES" b="1" dirty="0"/>
              <a:t>Valor medido</a:t>
            </a:r>
            <a:r>
              <a:rPr lang="es-ES" dirty="0"/>
              <a:t>: Valor de la medición.</a:t>
            </a:r>
          </a:p>
        </p:txBody>
      </p:sp>
    </p:spTree>
    <p:extLst>
      <p:ext uri="{BB962C8B-B14F-4D97-AF65-F5344CB8AC3E}">
        <p14:creationId xmlns:p14="http://schemas.microsoft.com/office/powerpoint/2010/main" val="1851819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B5CB-8112-AF5F-7000-A11CC0F7A366}"/>
            </a:ext>
          </a:extLst>
        </p:cNvPr>
        <p:cNvGrpSpPr/>
        <p:nvPr/>
      </p:nvGrpSpPr>
      <p:grpSpPr>
        <a:xfrm>
          <a:off x="0" y="0"/>
          <a:ext cx="0" cy="0"/>
          <a:chOff x="0" y="0"/>
          <a:chExt cx="0" cy="0"/>
        </a:xfrm>
      </p:grpSpPr>
      <p:sp>
        <p:nvSpPr>
          <p:cNvPr id="124" name="Rectángulo 3">
            <a:extLst>
              <a:ext uri="{FF2B5EF4-FFF2-40B4-BE49-F238E27FC236}">
                <a16:creationId xmlns:a16="http://schemas.microsoft.com/office/drawing/2014/main" id="{833151ED-F2A5-BA5A-AAF3-0DA67ECA1D91}"/>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a:extLst>
              <a:ext uri="{FF2B5EF4-FFF2-40B4-BE49-F238E27FC236}">
                <a16:creationId xmlns:a16="http://schemas.microsoft.com/office/drawing/2014/main" id="{E3E3B31C-E818-BBBB-99F4-872AF1700CE0}"/>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spc="-1" dirty="0">
                <a:solidFill>
                  <a:srgbClr val="FFFFFF"/>
                </a:solidFill>
                <a:latin typeface="Arial"/>
              </a:rPr>
              <a:t>Fundamentos señal DC/AC</a:t>
            </a:r>
            <a:endParaRPr lang="es-CO" sz="1600" b="0" strike="noStrike" spc="-1" dirty="0">
              <a:latin typeface="Arial"/>
            </a:endParaRPr>
          </a:p>
        </p:txBody>
      </p:sp>
      <p:sp>
        <p:nvSpPr>
          <p:cNvPr id="126" name="Rectángulo 6">
            <a:extLst>
              <a:ext uri="{FF2B5EF4-FFF2-40B4-BE49-F238E27FC236}">
                <a16:creationId xmlns:a16="http://schemas.microsoft.com/office/drawing/2014/main" id="{3DBC6743-F9CD-360A-22EA-0AA58A11BB5A}"/>
              </a:ext>
            </a:extLst>
          </p:cNvPr>
          <p:cNvSpPr/>
          <p:nvPr/>
        </p:nvSpPr>
        <p:spPr>
          <a:xfrm>
            <a:off x="1688988" y="1730036"/>
            <a:ext cx="6127657" cy="70643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s-ES" sz="4000" b="1" strike="noStrike" spc="-1" dirty="0">
                <a:solidFill>
                  <a:srgbClr val="2C5697"/>
                </a:solidFill>
                <a:latin typeface="Arial"/>
                <a:ea typeface="DejaVu Sans"/>
              </a:rPr>
              <a:t>Gracias por su atención</a:t>
            </a:r>
            <a:endParaRPr lang="es-CO" sz="4000" b="0" strike="noStrike" spc="-1" dirty="0">
              <a:latin typeface="Arial"/>
            </a:endParaRPr>
          </a:p>
        </p:txBody>
      </p:sp>
      <p:sp>
        <p:nvSpPr>
          <p:cNvPr id="127" name="Marcador de número de diapositiva 3">
            <a:extLst>
              <a:ext uri="{FF2B5EF4-FFF2-40B4-BE49-F238E27FC236}">
                <a16:creationId xmlns:a16="http://schemas.microsoft.com/office/drawing/2014/main" id="{40A8764D-D015-407D-21DE-7B76499F9C3E}"/>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27</a:t>
            </a:fld>
            <a:endParaRPr lang="es-CO" sz="1200" b="0" strike="noStrike" spc="-1">
              <a:latin typeface="Arial"/>
            </a:endParaRPr>
          </a:p>
        </p:txBody>
      </p:sp>
      <p:pic>
        <p:nvPicPr>
          <p:cNvPr id="3" name="Imagen 2">
            <a:extLst>
              <a:ext uri="{FF2B5EF4-FFF2-40B4-BE49-F238E27FC236}">
                <a16:creationId xmlns:a16="http://schemas.microsoft.com/office/drawing/2014/main" id="{5A99ACD9-6B21-F631-EDCA-4EF64D3EE383}"/>
              </a:ext>
            </a:extLst>
          </p:cNvPr>
          <p:cNvPicPr>
            <a:picLocks noChangeAspect="1"/>
          </p:cNvPicPr>
          <p:nvPr/>
        </p:nvPicPr>
        <p:blipFill>
          <a:blip r:embed="rId2"/>
          <a:stretch>
            <a:fillRect/>
          </a:stretch>
        </p:blipFill>
        <p:spPr>
          <a:xfrm>
            <a:off x="2199817" y="2608349"/>
            <a:ext cx="4977732" cy="2943354"/>
          </a:xfrm>
          <a:prstGeom prst="rect">
            <a:avLst/>
          </a:prstGeom>
        </p:spPr>
      </p:pic>
    </p:spTree>
    <p:extLst>
      <p:ext uri="{BB962C8B-B14F-4D97-AF65-F5344CB8AC3E}">
        <p14:creationId xmlns:p14="http://schemas.microsoft.com/office/powerpoint/2010/main" val="539964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3403</TotalTime>
  <Words>1462</Words>
  <Application>Microsoft Office PowerPoint</Application>
  <PresentationFormat>Presentación en pantalla (4:3)</PresentationFormat>
  <Paragraphs>210</Paragraphs>
  <Slides>27</Slides>
  <Notes>0</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27</vt:i4>
      </vt:variant>
    </vt:vector>
  </HeadingPairs>
  <TitlesOfParts>
    <vt:vector size="37" baseType="lpstr">
      <vt:lpstr>Aptos</vt:lpstr>
      <vt:lpstr>Arial</vt:lpstr>
      <vt:lpstr>Calibri</vt:lpstr>
      <vt:lpstr>Cambria Math</vt:lpstr>
      <vt:lpstr>Myriad Pro</vt:lpstr>
      <vt:lpstr>Symbol</vt:lpstr>
      <vt:lpstr>TimesNewRomanPS-BoldMT</vt:lpstr>
      <vt:lpstr>Wingdings</vt:lpstr>
      <vt:lpstr>Office Theme</vt:lpstr>
      <vt:lpstr>Office Theme</vt:lpstr>
      <vt:lpstr>Fundamentos de señales DC/AC Instrumentación biomédica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1_Fundamentos_señales</dc:title>
  <dc:subject/>
  <dc:creator>Jenny Rojas</dc:creator>
  <dc:description/>
  <cp:lastModifiedBy>Pedro Antonio Aya Parra</cp:lastModifiedBy>
  <cp:revision>1827</cp:revision>
  <dcterms:created xsi:type="dcterms:W3CDTF">2018-06-28T02:15:01Z</dcterms:created>
  <dcterms:modified xsi:type="dcterms:W3CDTF">2025-07-25T13:52:51Z</dcterms:modified>
  <dc:language>es-CO</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y fmtid="{D5CDD505-2E9C-101B-9397-08002B2CF9AE}" pid="3" name="Notes">
    <vt:i4>19</vt:i4>
  </property>
  <property fmtid="{D5CDD505-2E9C-101B-9397-08002B2CF9AE}" pid="4" name="PresentationFormat">
    <vt:lpwstr>Presentación en pantalla (4:3)</vt:lpwstr>
  </property>
  <property fmtid="{D5CDD505-2E9C-101B-9397-08002B2CF9AE}" pid="5" name="Slides">
    <vt:i4>21</vt:i4>
  </property>
</Properties>
</file>