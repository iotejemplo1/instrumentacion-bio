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tags/tag7.xml" ContentType="application/vnd.openxmlformats-officedocument.presentationml.tags+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tags/tag9.xml" ContentType="application/vnd.openxmlformats-officedocument.presentationml.tags+xml"/>
  <Override PartName="/ppt/notesSlides/notesSlide20.xml" ContentType="application/vnd.openxmlformats-officedocument.presentationml.notesSlide+xml"/>
  <Override PartName="/ppt/tags/tag10.xml" ContentType="application/vnd.openxmlformats-officedocument.presentationml.tags+xml"/>
  <Override PartName="/ppt/notesSlides/notesSlide21.xml" ContentType="application/vnd.openxmlformats-officedocument.presentationml.notesSlide+xml"/>
  <Override PartName="/ppt/tags/tag1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handoutMasterIdLst>
    <p:handoutMasterId r:id="rId37"/>
  </p:handoutMasterIdLst>
  <p:sldIdLst>
    <p:sldId id="256" r:id="rId5"/>
    <p:sldId id="327" r:id="rId6"/>
    <p:sldId id="328" r:id="rId7"/>
    <p:sldId id="266" r:id="rId8"/>
    <p:sldId id="305" r:id="rId9"/>
    <p:sldId id="268" r:id="rId10"/>
    <p:sldId id="269" r:id="rId11"/>
    <p:sldId id="329" r:id="rId12"/>
    <p:sldId id="270" r:id="rId13"/>
    <p:sldId id="271" r:id="rId14"/>
    <p:sldId id="272" r:id="rId15"/>
    <p:sldId id="330" r:id="rId16"/>
    <p:sldId id="273" r:id="rId17"/>
    <p:sldId id="331" r:id="rId18"/>
    <p:sldId id="274" r:id="rId19"/>
    <p:sldId id="295" r:id="rId20"/>
    <p:sldId id="321" r:id="rId21"/>
    <p:sldId id="332" r:id="rId22"/>
    <p:sldId id="300" r:id="rId23"/>
    <p:sldId id="323" r:id="rId24"/>
    <p:sldId id="322" r:id="rId25"/>
    <p:sldId id="324" r:id="rId26"/>
    <p:sldId id="285" r:id="rId27"/>
    <p:sldId id="334" r:id="rId28"/>
    <p:sldId id="335" r:id="rId29"/>
    <p:sldId id="336" r:id="rId30"/>
    <p:sldId id="326" r:id="rId31"/>
    <p:sldId id="333" r:id="rId32"/>
    <p:sldId id="283" r:id="rId33"/>
    <p:sldId id="284" r:id="rId34"/>
    <p:sldId id="286" r:id="rId35"/>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25" autoAdjust="0"/>
    <p:restoredTop sz="94660"/>
  </p:normalViewPr>
  <p:slideViewPr>
    <p:cSldViewPr snapToGrid="0" snapToObjects="1">
      <p:cViewPr varScale="1">
        <p:scale>
          <a:sx n="105" d="100"/>
          <a:sy n="105" d="100"/>
        </p:scale>
        <p:origin x="1956" y="10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Rodríguez Dueñas" userId="ba4d89e2-4f4b-4d11-bd59-56b1da6828aa" providerId="ADAL" clId="{D8EB93C7-A408-4B75-AA03-7B5E5F5F64AF}"/>
    <pc:docChg chg="modSld">
      <pc:chgData name="William Ricardo Rodríguez Dueñas" userId="ba4d89e2-4f4b-4d11-bd59-56b1da6828aa" providerId="ADAL" clId="{D8EB93C7-A408-4B75-AA03-7B5E5F5F64AF}" dt="2024-07-19T16:02:44.540" v="21" actId="20577"/>
      <pc:docMkLst>
        <pc:docMk/>
      </pc:docMkLst>
      <pc:sldChg chg="modSp">
        <pc:chgData name="William Ricardo Rodríguez Dueñas" userId="ba4d89e2-4f4b-4d11-bd59-56b1da6828aa" providerId="ADAL" clId="{D8EB93C7-A408-4B75-AA03-7B5E5F5F64AF}" dt="2024-07-19T16:02:44.540" v="21" actId="20577"/>
        <pc:sldMkLst>
          <pc:docMk/>
          <pc:sldMk cId="3908148806" sldId="256"/>
        </pc:sldMkLst>
        <pc:spChg chg="mod">
          <ac:chgData name="William Ricardo Rodríguez Dueñas" userId="ba4d89e2-4f4b-4d11-bd59-56b1da6828aa" providerId="ADAL" clId="{D8EB93C7-A408-4B75-AA03-7B5E5F5F64AF}" dt="2024-07-19T16:02:44.540" v="21" actId="20577"/>
          <ac:spMkLst>
            <pc:docMk/>
            <pc:sldMk cId="3908148806" sldId="256"/>
            <ac:spMk id="3"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6E3027-3C0D-43E8-933D-951589902794}" type="doc">
      <dgm:prSet loTypeId="urn:microsoft.com/office/officeart/2005/8/layout/vList3" loCatId="list" qsTypeId="urn:microsoft.com/office/officeart/2005/8/quickstyle/simple1" qsCatId="simple" csTypeId="urn:microsoft.com/office/officeart/2005/8/colors/accent1_2" csCatId="accent1" phldr="1"/>
      <dgm:spPr/>
    </dgm:pt>
    <dgm:pt modelId="{F8A555E5-3A12-49CB-A912-30D3BD987AFC}">
      <dgm:prSet phldrT="[Texto]"/>
      <dgm:spPr/>
      <dgm:t>
        <a:bodyPr/>
        <a:lstStyle/>
        <a:p>
          <a:r>
            <a:rPr lang="es-ES" dirty="0"/>
            <a:t>Fuente</a:t>
          </a:r>
          <a:endParaRPr lang="es-CO" dirty="0"/>
        </a:p>
      </dgm:t>
    </dgm:pt>
    <dgm:pt modelId="{AD5AD356-4361-42AA-83DC-4917F779E565}" type="parTrans" cxnId="{B950D50B-071F-4458-99D5-CFBA5C11E7B0}">
      <dgm:prSet/>
      <dgm:spPr/>
      <dgm:t>
        <a:bodyPr/>
        <a:lstStyle/>
        <a:p>
          <a:endParaRPr lang="es-CO"/>
        </a:p>
      </dgm:t>
    </dgm:pt>
    <dgm:pt modelId="{2B4FE6DA-67F5-4FFA-B431-DD9DC431FCCF}" type="sibTrans" cxnId="{B950D50B-071F-4458-99D5-CFBA5C11E7B0}">
      <dgm:prSet/>
      <dgm:spPr/>
      <dgm:t>
        <a:bodyPr/>
        <a:lstStyle/>
        <a:p>
          <a:endParaRPr lang="es-CO"/>
        </a:p>
      </dgm:t>
    </dgm:pt>
    <dgm:pt modelId="{615A9C4C-F963-4EA2-813E-49A955A18DFB}">
      <dgm:prSet phldrT="[Texto]"/>
      <dgm:spPr/>
      <dgm:t>
        <a:bodyPr/>
        <a:lstStyle/>
        <a:p>
          <a:r>
            <a:rPr lang="es-ES" dirty="0"/>
            <a:t>Aplicación biomédica</a:t>
          </a:r>
          <a:endParaRPr lang="es-CO" dirty="0"/>
        </a:p>
      </dgm:t>
    </dgm:pt>
    <dgm:pt modelId="{80A56439-10BF-43AA-A246-A57DEB07ABC3}" type="parTrans" cxnId="{D0560A82-0FEA-4B80-BEEF-2B03733A2079}">
      <dgm:prSet/>
      <dgm:spPr/>
      <dgm:t>
        <a:bodyPr/>
        <a:lstStyle/>
        <a:p>
          <a:endParaRPr lang="es-CO"/>
        </a:p>
      </dgm:t>
    </dgm:pt>
    <dgm:pt modelId="{32EB30AD-D1A9-47E7-886D-D0F8E4B6C454}" type="sibTrans" cxnId="{D0560A82-0FEA-4B80-BEEF-2B03733A2079}">
      <dgm:prSet/>
      <dgm:spPr/>
      <dgm:t>
        <a:bodyPr/>
        <a:lstStyle/>
        <a:p>
          <a:endParaRPr lang="es-CO"/>
        </a:p>
      </dgm:t>
    </dgm:pt>
    <dgm:pt modelId="{19F85FE1-37C8-4F7B-8BA8-6F0C0698A9F0}">
      <dgm:prSet phldrT="[Texto]"/>
      <dgm:spPr/>
      <dgm:t>
        <a:bodyPr/>
        <a:lstStyle/>
        <a:p>
          <a:r>
            <a:rPr lang="es-ES" dirty="0"/>
            <a:t>Característica de la señal</a:t>
          </a:r>
          <a:endParaRPr lang="es-CO" dirty="0"/>
        </a:p>
      </dgm:t>
    </dgm:pt>
    <dgm:pt modelId="{38184B89-F9BC-4C18-927F-DCA9EDF65351}" type="parTrans" cxnId="{F537C2A6-1DE5-47B3-9597-A6E4FAD64D55}">
      <dgm:prSet/>
      <dgm:spPr/>
      <dgm:t>
        <a:bodyPr/>
        <a:lstStyle/>
        <a:p>
          <a:endParaRPr lang="es-CO"/>
        </a:p>
      </dgm:t>
    </dgm:pt>
    <dgm:pt modelId="{30D3E6F2-BA23-4322-9FC9-8AC6F5127AF8}" type="sibTrans" cxnId="{F537C2A6-1DE5-47B3-9597-A6E4FAD64D55}">
      <dgm:prSet/>
      <dgm:spPr/>
      <dgm:t>
        <a:bodyPr/>
        <a:lstStyle/>
        <a:p>
          <a:endParaRPr lang="es-CO"/>
        </a:p>
      </dgm:t>
    </dgm:pt>
    <dgm:pt modelId="{0F98F282-329D-499C-915F-DBCED6B6C5F6}" type="pres">
      <dgm:prSet presAssocID="{6F6E3027-3C0D-43E8-933D-951589902794}" presName="linearFlow" presStyleCnt="0">
        <dgm:presLayoutVars>
          <dgm:dir/>
          <dgm:resizeHandles val="exact"/>
        </dgm:presLayoutVars>
      </dgm:prSet>
      <dgm:spPr/>
    </dgm:pt>
    <dgm:pt modelId="{D5C09D5F-59DC-46FE-8103-CCD0B4E3264F}" type="pres">
      <dgm:prSet presAssocID="{F8A555E5-3A12-49CB-A912-30D3BD987AFC}" presName="composite" presStyleCnt="0"/>
      <dgm:spPr/>
    </dgm:pt>
    <dgm:pt modelId="{0BEB5EEF-093F-4DEB-8F7B-5FAB81001E62}" type="pres">
      <dgm:prSet presAssocID="{F8A555E5-3A12-49CB-A912-30D3BD987AFC}" presName="imgShp"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tería en carga contorno"/>
        </a:ext>
      </dgm:extLst>
    </dgm:pt>
    <dgm:pt modelId="{07922A92-606D-4AA7-A3D4-B3E172C8EE78}" type="pres">
      <dgm:prSet presAssocID="{F8A555E5-3A12-49CB-A912-30D3BD987AFC}" presName="txShp" presStyleLbl="node1" presStyleIdx="0" presStyleCnt="3">
        <dgm:presLayoutVars>
          <dgm:bulletEnabled val="1"/>
        </dgm:presLayoutVars>
      </dgm:prSet>
      <dgm:spPr/>
    </dgm:pt>
    <dgm:pt modelId="{A4ED5F42-4B6E-4C0C-9E93-46AF6C629FE1}" type="pres">
      <dgm:prSet presAssocID="{2B4FE6DA-67F5-4FFA-B431-DD9DC431FCCF}" presName="spacing" presStyleCnt="0"/>
      <dgm:spPr/>
    </dgm:pt>
    <dgm:pt modelId="{0D9E4A6D-7BEB-4A64-BA5A-ACE844E0B8BA}" type="pres">
      <dgm:prSet presAssocID="{615A9C4C-F963-4EA2-813E-49A955A18DFB}" presName="composite" presStyleCnt="0"/>
      <dgm:spPr/>
    </dgm:pt>
    <dgm:pt modelId="{1E8D8E7B-3800-4F60-822E-6303CE54DB4C}" type="pres">
      <dgm:prSet presAssocID="{615A9C4C-F963-4EA2-813E-49A955A18DFB}" presName="imgShp"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erebro en la cabeza con relleno sólido"/>
        </a:ext>
      </dgm:extLst>
    </dgm:pt>
    <dgm:pt modelId="{9D8F65CA-48B0-4A84-8593-843D416F0A5E}" type="pres">
      <dgm:prSet presAssocID="{615A9C4C-F963-4EA2-813E-49A955A18DFB}" presName="txShp" presStyleLbl="node1" presStyleIdx="1" presStyleCnt="3">
        <dgm:presLayoutVars>
          <dgm:bulletEnabled val="1"/>
        </dgm:presLayoutVars>
      </dgm:prSet>
      <dgm:spPr/>
    </dgm:pt>
    <dgm:pt modelId="{6B7B603F-6E16-4B36-AC35-C1AD485C2DDE}" type="pres">
      <dgm:prSet presAssocID="{32EB30AD-D1A9-47E7-886D-D0F8E4B6C454}" presName="spacing" presStyleCnt="0"/>
      <dgm:spPr/>
    </dgm:pt>
    <dgm:pt modelId="{F951CEEA-8212-43E4-A61C-AFF915677C27}" type="pres">
      <dgm:prSet presAssocID="{19F85FE1-37C8-4F7B-8BA8-6F0C0698A9F0}" presName="composite" presStyleCnt="0"/>
      <dgm:spPr/>
    </dgm:pt>
    <dgm:pt modelId="{BBBE0A0F-AF87-4E7B-9E7C-80918A5F02C9}" type="pres">
      <dgm:prSet presAssocID="{19F85FE1-37C8-4F7B-8BA8-6F0C0698A9F0}" presName="imgShp"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Acuario con relleno sólido"/>
        </a:ext>
      </dgm:extLst>
    </dgm:pt>
    <dgm:pt modelId="{4F8DBC5B-54BE-4BB0-BF9C-7B849E8B8241}" type="pres">
      <dgm:prSet presAssocID="{19F85FE1-37C8-4F7B-8BA8-6F0C0698A9F0}" presName="txShp" presStyleLbl="node1" presStyleIdx="2" presStyleCnt="3">
        <dgm:presLayoutVars>
          <dgm:bulletEnabled val="1"/>
        </dgm:presLayoutVars>
      </dgm:prSet>
      <dgm:spPr/>
    </dgm:pt>
  </dgm:ptLst>
  <dgm:cxnLst>
    <dgm:cxn modelId="{B950D50B-071F-4458-99D5-CFBA5C11E7B0}" srcId="{6F6E3027-3C0D-43E8-933D-951589902794}" destId="{F8A555E5-3A12-49CB-A912-30D3BD987AFC}" srcOrd="0" destOrd="0" parTransId="{AD5AD356-4361-42AA-83DC-4917F779E565}" sibTransId="{2B4FE6DA-67F5-4FFA-B431-DD9DC431FCCF}"/>
    <dgm:cxn modelId="{80114F17-9B80-4F61-A9F0-2ABFE5580F54}" type="presOf" srcId="{615A9C4C-F963-4EA2-813E-49A955A18DFB}" destId="{9D8F65CA-48B0-4A84-8593-843D416F0A5E}" srcOrd="0" destOrd="0" presId="urn:microsoft.com/office/officeart/2005/8/layout/vList3"/>
    <dgm:cxn modelId="{FB506E4A-18E6-4321-A624-72C1E230A357}" type="presOf" srcId="{19F85FE1-37C8-4F7B-8BA8-6F0C0698A9F0}" destId="{4F8DBC5B-54BE-4BB0-BF9C-7B849E8B8241}" srcOrd="0" destOrd="0" presId="urn:microsoft.com/office/officeart/2005/8/layout/vList3"/>
    <dgm:cxn modelId="{8562C970-06B7-4A7E-8AFA-270A73A715A3}" type="presOf" srcId="{F8A555E5-3A12-49CB-A912-30D3BD987AFC}" destId="{07922A92-606D-4AA7-A3D4-B3E172C8EE78}" srcOrd="0" destOrd="0" presId="urn:microsoft.com/office/officeart/2005/8/layout/vList3"/>
    <dgm:cxn modelId="{D0560A82-0FEA-4B80-BEEF-2B03733A2079}" srcId="{6F6E3027-3C0D-43E8-933D-951589902794}" destId="{615A9C4C-F963-4EA2-813E-49A955A18DFB}" srcOrd="1" destOrd="0" parTransId="{80A56439-10BF-43AA-A246-A57DEB07ABC3}" sibTransId="{32EB30AD-D1A9-47E7-886D-D0F8E4B6C454}"/>
    <dgm:cxn modelId="{F537C2A6-1DE5-47B3-9597-A6E4FAD64D55}" srcId="{6F6E3027-3C0D-43E8-933D-951589902794}" destId="{19F85FE1-37C8-4F7B-8BA8-6F0C0698A9F0}" srcOrd="2" destOrd="0" parTransId="{38184B89-F9BC-4C18-927F-DCA9EDF65351}" sibTransId="{30D3E6F2-BA23-4322-9FC9-8AC6F5127AF8}"/>
    <dgm:cxn modelId="{DA7AB0D0-3EEB-4762-86BE-7A82B3195CC5}" type="presOf" srcId="{6F6E3027-3C0D-43E8-933D-951589902794}" destId="{0F98F282-329D-499C-915F-DBCED6B6C5F6}" srcOrd="0" destOrd="0" presId="urn:microsoft.com/office/officeart/2005/8/layout/vList3"/>
    <dgm:cxn modelId="{55E72ED6-5F40-4CBC-9231-99F23248B844}" type="presParOf" srcId="{0F98F282-329D-499C-915F-DBCED6B6C5F6}" destId="{D5C09D5F-59DC-46FE-8103-CCD0B4E3264F}" srcOrd="0" destOrd="0" presId="urn:microsoft.com/office/officeart/2005/8/layout/vList3"/>
    <dgm:cxn modelId="{400415F5-B4AA-4385-8556-4CCF983B16DA}" type="presParOf" srcId="{D5C09D5F-59DC-46FE-8103-CCD0B4E3264F}" destId="{0BEB5EEF-093F-4DEB-8F7B-5FAB81001E62}" srcOrd="0" destOrd="0" presId="urn:microsoft.com/office/officeart/2005/8/layout/vList3"/>
    <dgm:cxn modelId="{8985030A-602E-442F-AA29-6F49C8B623B2}" type="presParOf" srcId="{D5C09D5F-59DC-46FE-8103-CCD0B4E3264F}" destId="{07922A92-606D-4AA7-A3D4-B3E172C8EE78}" srcOrd="1" destOrd="0" presId="urn:microsoft.com/office/officeart/2005/8/layout/vList3"/>
    <dgm:cxn modelId="{C4EE7373-BD8A-458D-9A36-00BC10A57917}" type="presParOf" srcId="{0F98F282-329D-499C-915F-DBCED6B6C5F6}" destId="{A4ED5F42-4B6E-4C0C-9E93-46AF6C629FE1}" srcOrd="1" destOrd="0" presId="urn:microsoft.com/office/officeart/2005/8/layout/vList3"/>
    <dgm:cxn modelId="{AC343F96-ED4D-4394-B8A1-A92924D0462C}" type="presParOf" srcId="{0F98F282-329D-499C-915F-DBCED6B6C5F6}" destId="{0D9E4A6D-7BEB-4A64-BA5A-ACE844E0B8BA}" srcOrd="2" destOrd="0" presId="urn:microsoft.com/office/officeart/2005/8/layout/vList3"/>
    <dgm:cxn modelId="{24D152B2-FF4E-4C48-8FA8-AAD50813B16D}" type="presParOf" srcId="{0D9E4A6D-7BEB-4A64-BA5A-ACE844E0B8BA}" destId="{1E8D8E7B-3800-4F60-822E-6303CE54DB4C}" srcOrd="0" destOrd="0" presId="urn:microsoft.com/office/officeart/2005/8/layout/vList3"/>
    <dgm:cxn modelId="{1A5B3073-025C-4B72-854D-B7E8FAC8768B}" type="presParOf" srcId="{0D9E4A6D-7BEB-4A64-BA5A-ACE844E0B8BA}" destId="{9D8F65CA-48B0-4A84-8593-843D416F0A5E}" srcOrd="1" destOrd="0" presId="urn:microsoft.com/office/officeart/2005/8/layout/vList3"/>
    <dgm:cxn modelId="{DE729767-A331-4D50-B098-6F0EBEFC735C}" type="presParOf" srcId="{0F98F282-329D-499C-915F-DBCED6B6C5F6}" destId="{6B7B603F-6E16-4B36-AC35-C1AD485C2DDE}" srcOrd="3" destOrd="0" presId="urn:microsoft.com/office/officeart/2005/8/layout/vList3"/>
    <dgm:cxn modelId="{A3FEEC7B-4699-4D1A-BDCF-4A1BE622BE06}" type="presParOf" srcId="{0F98F282-329D-499C-915F-DBCED6B6C5F6}" destId="{F951CEEA-8212-43E4-A61C-AFF915677C27}" srcOrd="4" destOrd="0" presId="urn:microsoft.com/office/officeart/2005/8/layout/vList3"/>
    <dgm:cxn modelId="{B279AF11-A7CC-479A-92ED-88C2906112C9}" type="presParOf" srcId="{F951CEEA-8212-43E4-A61C-AFF915677C27}" destId="{BBBE0A0F-AF87-4E7B-9E7C-80918A5F02C9}" srcOrd="0" destOrd="0" presId="urn:microsoft.com/office/officeart/2005/8/layout/vList3"/>
    <dgm:cxn modelId="{5809AA16-9C67-4E40-93F7-0D6D78ECC2D2}" type="presParOf" srcId="{F951CEEA-8212-43E4-A61C-AFF915677C27}" destId="{4F8DBC5B-54BE-4BB0-BF9C-7B849E8B8241}"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22A92-606D-4AA7-A3D4-B3E172C8EE78}">
      <dsp:nvSpPr>
        <dsp:cNvPr id="0" name=""/>
        <dsp:cNvSpPr/>
      </dsp:nvSpPr>
      <dsp:spPr>
        <a:xfrm rot="10800000">
          <a:off x="1303273" y="1895"/>
          <a:ext cx="4053840" cy="112877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757" tIns="118110" rIns="220472" bIns="118110" numCol="1" spcCol="1270" anchor="ctr" anchorCtr="0">
          <a:noAutofit/>
        </a:bodyPr>
        <a:lstStyle/>
        <a:p>
          <a:pPr marL="0" lvl="0" indent="0" algn="ctr" defTabSz="1377950">
            <a:lnSpc>
              <a:spcPct val="90000"/>
            </a:lnSpc>
            <a:spcBef>
              <a:spcPct val="0"/>
            </a:spcBef>
            <a:spcAft>
              <a:spcPct val="35000"/>
            </a:spcAft>
            <a:buNone/>
          </a:pPr>
          <a:r>
            <a:rPr lang="es-ES" sz="3100" kern="1200" dirty="0"/>
            <a:t>Fuente</a:t>
          </a:r>
          <a:endParaRPr lang="es-CO" sz="3100" kern="1200" dirty="0"/>
        </a:p>
      </dsp:txBody>
      <dsp:txXfrm rot="10800000">
        <a:off x="1585466" y="1895"/>
        <a:ext cx="3771647" cy="1128772"/>
      </dsp:txXfrm>
    </dsp:sp>
    <dsp:sp modelId="{0BEB5EEF-093F-4DEB-8F7B-5FAB81001E62}">
      <dsp:nvSpPr>
        <dsp:cNvPr id="0" name=""/>
        <dsp:cNvSpPr/>
      </dsp:nvSpPr>
      <dsp:spPr>
        <a:xfrm>
          <a:off x="738886" y="1895"/>
          <a:ext cx="1128772" cy="1128772"/>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8F65CA-48B0-4A84-8593-843D416F0A5E}">
      <dsp:nvSpPr>
        <dsp:cNvPr id="0" name=""/>
        <dsp:cNvSpPr/>
      </dsp:nvSpPr>
      <dsp:spPr>
        <a:xfrm rot="10800000">
          <a:off x="1303273" y="1467613"/>
          <a:ext cx="4053840" cy="112877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757" tIns="118110" rIns="220472" bIns="118110" numCol="1" spcCol="1270" anchor="ctr" anchorCtr="0">
          <a:noAutofit/>
        </a:bodyPr>
        <a:lstStyle/>
        <a:p>
          <a:pPr marL="0" lvl="0" indent="0" algn="ctr" defTabSz="1377950">
            <a:lnSpc>
              <a:spcPct val="90000"/>
            </a:lnSpc>
            <a:spcBef>
              <a:spcPct val="0"/>
            </a:spcBef>
            <a:spcAft>
              <a:spcPct val="35000"/>
            </a:spcAft>
            <a:buNone/>
          </a:pPr>
          <a:r>
            <a:rPr lang="es-ES" sz="3100" kern="1200" dirty="0"/>
            <a:t>Aplicación biomédica</a:t>
          </a:r>
          <a:endParaRPr lang="es-CO" sz="3100" kern="1200" dirty="0"/>
        </a:p>
      </dsp:txBody>
      <dsp:txXfrm rot="10800000">
        <a:off x="1585466" y="1467613"/>
        <a:ext cx="3771647" cy="1128772"/>
      </dsp:txXfrm>
    </dsp:sp>
    <dsp:sp modelId="{1E8D8E7B-3800-4F60-822E-6303CE54DB4C}">
      <dsp:nvSpPr>
        <dsp:cNvPr id="0" name=""/>
        <dsp:cNvSpPr/>
      </dsp:nvSpPr>
      <dsp:spPr>
        <a:xfrm>
          <a:off x="738886" y="1467613"/>
          <a:ext cx="1128772" cy="1128772"/>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F8DBC5B-54BE-4BB0-BF9C-7B849E8B8241}">
      <dsp:nvSpPr>
        <dsp:cNvPr id="0" name=""/>
        <dsp:cNvSpPr/>
      </dsp:nvSpPr>
      <dsp:spPr>
        <a:xfrm rot="10800000">
          <a:off x="1303273" y="2933332"/>
          <a:ext cx="4053840" cy="112877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757" tIns="118110" rIns="220472" bIns="118110" numCol="1" spcCol="1270" anchor="ctr" anchorCtr="0">
          <a:noAutofit/>
        </a:bodyPr>
        <a:lstStyle/>
        <a:p>
          <a:pPr marL="0" lvl="0" indent="0" algn="ctr" defTabSz="1377950">
            <a:lnSpc>
              <a:spcPct val="90000"/>
            </a:lnSpc>
            <a:spcBef>
              <a:spcPct val="0"/>
            </a:spcBef>
            <a:spcAft>
              <a:spcPct val="35000"/>
            </a:spcAft>
            <a:buNone/>
          </a:pPr>
          <a:r>
            <a:rPr lang="es-ES" sz="3100" kern="1200" dirty="0"/>
            <a:t>Característica de la señal</a:t>
          </a:r>
          <a:endParaRPr lang="es-CO" sz="3100" kern="1200" dirty="0"/>
        </a:p>
      </dsp:txBody>
      <dsp:txXfrm rot="10800000">
        <a:off x="1585466" y="2933332"/>
        <a:ext cx="3771647" cy="1128772"/>
      </dsp:txXfrm>
    </dsp:sp>
    <dsp:sp modelId="{BBBE0A0F-AF87-4E7B-9E7C-80918A5F02C9}">
      <dsp:nvSpPr>
        <dsp:cNvPr id="0" name=""/>
        <dsp:cNvSpPr/>
      </dsp:nvSpPr>
      <dsp:spPr>
        <a:xfrm>
          <a:off x="738886" y="2933332"/>
          <a:ext cx="1128772" cy="1128772"/>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30/07/2025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30/07/2025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60213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C1ED-7902-D6AD-6BBD-54C168FA5C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E84C40-890E-410E-A331-255CF81EF4E0}"/>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A349BF5B-1E15-2AEC-293D-979C66F4E542}"/>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84116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60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65163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9240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382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E68F7C60-93CB-364E-7D50-B262EC7AD696}"/>
            </a:ext>
          </a:extLst>
        </p:cNvPr>
        <p:cNvGrpSpPr/>
        <p:nvPr/>
      </p:nvGrpSpPr>
      <p:grpSpPr>
        <a:xfrm>
          <a:off x="0" y="0"/>
          <a:ext cx="0" cy="0"/>
          <a:chOff x="0" y="0"/>
          <a:chExt cx="0" cy="0"/>
        </a:xfrm>
      </p:grpSpPr>
      <p:sp>
        <p:nvSpPr>
          <p:cNvPr id="211" name="Google Shape;211;gf06c4d71c1_2_116:notes">
            <a:extLst>
              <a:ext uri="{FF2B5EF4-FFF2-40B4-BE49-F238E27FC236}">
                <a16:creationId xmlns:a16="http://schemas.microsoft.com/office/drawing/2014/main" id="{8114DD92-0A6B-7712-783D-81829493D9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a:extLst>
              <a:ext uri="{FF2B5EF4-FFF2-40B4-BE49-F238E27FC236}">
                <a16:creationId xmlns:a16="http://schemas.microsoft.com/office/drawing/2014/main" id="{CD113E6A-B6F6-4A45-7BA8-97D76D9E8D2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799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73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399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580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2DA61608-1C17-71DF-FE70-FD353DBEFAE6}"/>
            </a:ext>
          </a:extLst>
        </p:cNvPr>
        <p:cNvGrpSpPr/>
        <p:nvPr/>
      </p:nvGrpSpPr>
      <p:grpSpPr>
        <a:xfrm>
          <a:off x="0" y="0"/>
          <a:ext cx="0" cy="0"/>
          <a:chOff x="0" y="0"/>
          <a:chExt cx="0" cy="0"/>
        </a:xfrm>
      </p:grpSpPr>
      <p:sp>
        <p:nvSpPr>
          <p:cNvPr id="211" name="Google Shape;211;gf06c4d71c1_2_116:notes">
            <a:extLst>
              <a:ext uri="{FF2B5EF4-FFF2-40B4-BE49-F238E27FC236}">
                <a16:creationId xmlns:a16="http://schemas.microsoft.com/office/drawing/2014/main" id="{B443F5F9-3F57-BD30-9656-449AF487F9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a:extLst>
              <a:ext uri="{FF2B5EF4-FFF2-40B4-BE49-F238E27FC236}">
                <a16:creationId xmlns:a16="http://schemas.microsoft.com/office/drawing/2014/main" id="{FBD656BF-3755-B61E-9E07-B4D69816B1A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5170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7668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25F09234-248F-92FB-979B-B5C312F82725}"/>
            </a:ext>
          </a:extLst>
        </p:cNvPr>
        <p:cNvGrpSpPr/>
        <p:nvPr/>
      </p:nvGrpSpPr>
      <p:grpSpPr>
        <a:xfrm>
          <a:off x="0" y="0"/>
          <a:ext cx="0" cy="0"/>
          <a:chOff x="0" y="0"/>
          <a:chExt cx="0" cy="0"/>
        </a:xfrm>
      </p:grpSpPr>
      <p:sp>
        <p:nvSpPr>
          <p:cNvPr id="211" name="Google Shape;211;gf06c4d71c1_2_116:notes">
            <a:extLst>
              <a:ext uri="{FF2B5EF4-FFF2-40B4-BE49-F238E27FC236}">
                <a16:creationId xmlns:a16="http://schemas.microsoft.com/office/drawing/2014/main" id="{44160698-E58A-3226-3375-9F5F9E2C5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a:extLst>
              <a:ext uri="{FF2B5EF4-FFF2-40B4-BE49-F238E27FC236}">
                <a16:creationId xmlns:a16="http://schemas.microsoft.com/office/drawing/2014/main" id="{1841A511-71F8-9467-400B-A8DD0052E7F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286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f06c4d71c1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f06c4d71c1_2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5232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0581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u="none" strike="noStrike" baseline="0" dirty="0" err="1">
                <a:solidFill>
                  <a:srgbClr val="000000"/>
                </a:solidFill>
                <a:latin typeface="Courier New" panose="02070309020205020404" pitchFamily="49" charset="0"/>
              </a:rPr>
              <a:t>SignalAnalyzer</a:t>
            </a:r>
            <a:endParaRPr lang="en-US" sz="1200" b="0" i="0" u="none" strike="noStrike" baseline="0" dirty="0">
              <a:solidFill>
                <a:srgbClr val="000000"/>
              </a:solidFill>
              <a:latin typeface="Courier New" panose="02070309020205020404" pitchFamily="49" charset="0"/>
            </a:endParaRPr>
          </a:p>
          <a:p>
            <a:r>
              <a:rPr lang="en-US" sz="1200" b="0" i="0" u="none" strike="noStrike" baseline="0" dirty="0">
                <a:solidFill>
                  <a:srgbClr val="000000"/>
                </a:solidFill>
                <a:latin typeface="Courier New" panose="02070309020205020404" pitchFamily="49" charset="0"/>
              </a:rPr>
              <a:t>t=0:0.01:2;</a:t>
            </a:r>
          </a:p>
          <a:p>
            <a:r>
              <a:rPr lang="es-ES" sz="1200" b="0" i="0" u="none" strike="noStrike" baseline="0" dirty="0">
                <a:solidFill>
                  <a:srgbClr val="000000"/>
                </a:solidFill>
                <a:latin typeface="Courier New" panose="02070309020205020404" pitchFamily="49" charset="0"/>
              </a:rPr>
              <a:t>y1=10*sin(10*pi*t);</a:t>
            </a:r>
          </a:p>
          <a:p>
            <a:r>
              <a:rPr lang="es-ES" sz="1200" b="0" i="0" u="none" strike="noStrike" baseline="0" dirty="0">
                <a:solidFill>
                  <a:srgbClr val="000000"/>
                </a:solidFill>
                <a:latin typeface="Courier New" panose="02070309020205020404" pitchFamily="49" charset="0"/>
              </a:rPr>
              <a:t>y2=5*cos(3*pi*t);</a:t>
            </a:r>
          </a:p>
          <a:p>
            <a:r>
              <a:rPr lang="en-US" sz="1200" b="0" i="0" u="none" strike="noStrike" baseline="0" dirty="0">
                <a:solidFill>
                  <a:srgbClr val="000000"/>
                </a:solidFill>
                <a:latin typeface="Courier New" panose="02070309020205020404" pitchFamily="49" charset="0"/>
              </a:rPr>
              <a:t>y=y1+y2;</a:t>
            </a:r>
          </a:p>
          <a:p>
            <a:endParaRPr lang="es-CO"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7413-103F-D8E4-DA41-4AD33FBB4A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855038-58B8-6D0C-0C08-74F31275AD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8AC438-45A3-8049-18ED-E99BE64B7DDB}"/>
              </a:ext>
            </a:extLst>
          </p:cNvPr>
          <p:cNvSpPr>
            <a:spLocks noGrp="1"/>
          </p:cNvSpPr>
          <p:nvPr>
            <p:ph type="body" idx="1"/>
          </p:nvPr>
        </p:nvSpPr>
        <p:spPr/>
        <p:txBody>
          <a:bodyPr/>
          <a:lstStyle/>
          <a:p>
            <a:r>
              <a:rPr lang="en-US" sz="1200" b="0" i="0" u="none" strike="noStrike" baseline="0" dirty="0" err="1">
                <a:solidFill>
                  <a:srgbClr val="000000"/>
                </a:solidFill>
                <a:latin typeface="Courier New" panose="02070309020205020404" pitchFamily="49" charset="0"/>
              </a:rPr>
              <a:t>SignalAnalyzer</a:t>
            </a:r>
            <a:endParaRPr lang="en-US" sz="1200" b="0" i="0" u="none" strike="noStrike" baseline="0" dirty="0">
              <a:solidFill>
                <a:srgbClr val="000000"/>
              </a:solidFill>
              <a:latin typeface="Courier New" panose="02070309020205020404" pitchFamily="49" charset="0"/>
            </a:endParaRPr>
          </a:p>
          <a:p>
            <a:r>
              <a:rPr lang="en-US" sz="1200" b="0" i="0" u="none" strike="noStrike" baseline="0" dirty="0">
                <a:solidFill>
                  <a:srgbClr val="000000"/>
                </a:solidFill>
                <a:latin typeface="Courier New" panose="02070309020205020404" pitchFamily="49" charset="0"/>
              </a:rPr>
              <a:t>t=0:0.01:2;</a:t>
            </a:r>
          </a:p>
          <a:p>
            <a:r>
              <a:rPr lang="es-ES" sz="1200" b="0" i="0" u="none" strike="noStrike" baseline="0" dirty="0">
                <a:solidFill>
                  <a:srgbClr val="000000"/>
                </a:solidFill>
                <a:latin typeface="Courier New" panose="02070309020205020404" pitchFamily="49" charset="0"/>
              </a:rPr>
              <a:t>y1=10*sin(10*pi*t);</a:t>
            </a:r>
          </a:p>
          <a:p>
            <a:r>
              <a:rPr lang="es-ES" sz="1200" b="0" i="0" u="none" strike="noStrike" baseline="0" dirty="0">
                <a:solidFill>
                  <a:srgbClr val="000000"/>
                </a:solidFill>
                <a:latin typeface="Courier New" panose="02070309020205020404" pitchFamily="49" charset="0"/>
              </a:rPr>
              <a:t>y2=5*cos(3*pi*t);</a:t>
            </a:r>
          </a:p>
          <a:p>
            <a:r>
              <a:rPr lang="en-US" sz="1200" b="0" i="0" u="none" strike="noStrike" baseline="0" dirty="0">
                <a:solidFill>
                  <a:srgbClr val="000000"/>
                </a:solidFill>
                <a:latin typeface="Courier New" panose="02070309020205020404" pitchFamily="49" charset="0"/>
              </a:rPr>
              <a:t>y=y1+y2;</a:t>
            </a:r>
          </a:p>
          <a:p>
            <a:endParaRPr lang="es-CO"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C6CC22F2-EBDC-6D6D-790D-299963C4E0B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9354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b="0" i="0" kern="1200" dirty="0">
                <a:solidFill>
                  <a:schemeClr val="tx1"/>
                </a:solidFill>
                <a:effectLst/>
                <a:latin typeface="+mn-lt"/>
                <a:ea typeface="+mn-ea"/>
                <a:cs typeface="+mn-cs"/>
              </a:rPr>
              <a:t>Actividad de estatura</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u="none" strike="noStrike" baseline="0" dirty="0">
                <a:solidFill>
                  <a:srgbClr val="000000"/>
                </a:solidFill>
                <a:latin typeface="Courier New" panose="02070309020205020404" pitchFamily="49" charset="0"/>
              </a:rPr>
              <a:t>t=0:0.001:2;</a:t>
            </a:r>
          </a:p>
          <a:p>
            <a:r>
              <a:rPr lang="es-ES" sz="1200" b="0" i="0" u="none" strike="noStrike" baseline="0" dirty="0">
                <a:solidFill>
                  <a:srgbClr val="000000"/>
                </a:solidFill>
                <a:latin typeface="Courier New" panose="02070309020205020404" pitchFamily="49" charset="0"/>
              </a:rPr>
              <a:t>y1=5*sin(50*2*pi*t);</a:t>
            </a:r>
          </a:p>
          <a:p>
            <a:r>
              <a:rPr lang="es-ES" sz="1200" b="0" i="0" u="none" strike="noStrike" baseline="0" dirty="0">
                <a:solidFill>
                  <a:srgbClr val="000000"/>
                </a:solidFill>
                <a:latin typeface="Courier New" panose="02070309020205020404" pitchFamily="49" charset="0"/>
              </a:rPr>
              <a:t>y2=cos(5*50*2*pi*t);</a:t>
            </a:r>
          </a:p>
          <a:p>
            <a:r>
              <a:rPr lang="es-ES" sz="1200" b="0" i="0" u="none" strike="noStrike" baseline="0" dirty="0">
                <a:solidFill>
                  <a:srgbClr val="000000"/>
                </a:solidFill>
                <a:latin typeface="Courier New" panose="02070309020205020404" pitchFamily="49" charset="0"/>
              </a:rPr>
              <a:t>y3=cos(7*50*2*pi*t);</a:t>
            </a:r>
          </a:p>
          <a:p>
            <a:r>
              <a:rPr lang="en-US" sz="1200" b="0" i="0" u="none" strike="noStrike" baseline="0" dirty="0">
                <a:solidFill>
                  <a:srgbClr val="000000"/>
                </a:solidFill>
                <a:latin typeface="Courier New" panose="02070309020205020404" pitchFamily="49" charset="0"/>
              </a:rPr>
              <a:t>y=y1+y2+y3;</a:t>
            </a:r>
          </a:p>
          <a:p>
            <a:endParaRPr lang="es-CO" sz="1200" b="0" i="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318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C2CA3795-EC6C-47BA-8C41-58F05EFE9B6F}" type="slidenum">
              <a:rPr lang="en-US" smtClean="0"/>
              <a:t>31</a:t>
            </a:fld>
            <a:endParaRPr lang="en-US"/>
          </a:p>
        </p:txBody>
      </p:sp>
    </p:spTree>
    <p:extLst>
      <p:ext uri="{BB962C8B-B14F-4D97-AF65-F5344CB8AC3E}">
        <p14:creationId xmlns:p14="http://schemas.microsoft.com/office/powerpoint/2010/main" val="1346020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4.xml"/><Relationship Id="rId7"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28.jpeg"/><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3.jpe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37.gif"/><Relationship Id="rId5" Type="http://schemas.openxmlformats.org/officeDocument/2006/relationships/image" Target="../media/image36.gif"/><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21.xml"/><Relationship Id="rId7" Type="http://schemas.openxmlformats.org/officeDocument/2006/relationships/image" Target="../media/image45.pn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hyperlink" Target="https://phet.colorado.edu/sims/html/fourier-making-waves/latest/fourier-making-waves_all.html" TargetMode="Externa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gi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37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hyperlink" Target="https://www.youtube.com/watch?v=spUNpyF58BY" TargetMode="External"/><Relationship Id="rId4" Type="http://schemas.openxmlformats.org/officeDocument/2006/relationships/image" Target="../media/image6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786057"/>
          </a:xfrm>
        </p:spPr>
        <p:txBody>
          <a:bodyPr>
            <a:normAutofit fontScale="90000"/>
          </a:bodyPr>
          <a:lstStyle/>
          <a:p>
            <a:pPr algn="ctr"/>
            <a:r>
              <a:rPr lang="es-ES_tradnl" sz="2800" dirty="0"/>
              <a:t>Señales en tiempo y frecuencia</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Clasificación de las bioseñales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5" name="CuadroTexto 4">
            <a:extLst>
              <a:ext uri="{FF2B5EF4-FFF2-40B4-BE49-F238E27FC236}">
                <a16:creationId xmlns:a16="http://schemas.microsoft.com/office/drawing/2014/main" id="{390B8003-181B-7F5C-8810-6DD818D99FDA}"/>
              </a:ext>
            </a:extLst>
          </p:cNvPr>
          <p:cNvSpPr txBox="1"/>
          <p:nvPr/>
        </p:nvSpPr>
        <p:spPr>
          <a:xfrm>
            <a:off x="4957408" y="930730"/>
            <a:ext cx="3842442" cy="954107"/>
          </a:xfrm>
          <a:prstGeom prst="rect">
            <a:avLst/>
          </a:prstGeom>
          <a:noFill/>
        </p:spPr>
        <p:txBody>
          <a:bodyPr wrap="square">
            <a:spAutoFit/>
          </a:bodyPr>
          <a:lstStyle/>
          <a:p>
            <a:pPr algn="just"/>
            <a:r>
              <a:rPr lang="es-ES" sz="1400" dirty="0"/>
              <a:t>Según su </a:t>
            </a:r>
            <a:r>
              <a:rPr lang="es-ES" sz="1400" b="1" dirty="0"/>
              <a:t>fuente o naturaleza física</a:t>
            </a:r>
            <a:r>
              <a:rPr lang="es-ES" sz="1400" dirty="0"/>
              <a:t>. Son características físicas básicas del proceso subyacente, por ejemplo, cuando se desea un modelo para la señal.</a:t>
            </a:r>
            <a:endParaRPr lang="es-CO" sz="1400" dirty="0"/>
          </a:p>
        </p:txBody>
      </p:sp>
      <p:sp>
        <p:nvSpPr>
          <p:cNvPr id="6" name="CuadroTexto 5">
            <a:extLst>
              <a:ext uri="{FF2B5EF4-FFF2-40B4-BE49-F238E27FC236}">
                <a16:creationId xmlns:a16="http://schemas.microsoft.com/office/drawing/2014/main" id="{2038589D-03A0-3F23-CA12-8956FA957D30}"/>
              </a:ext>
            </a:extLst>
          </p:cNvPr>
          <p:cNvSpPr txBox="1"/>
          <p:nvPr/>
        </p:nvSpPr>
        <p:spPr>
          <a:xfrm>
            <a:off x="4957408" y="2346872"/>
            <a:ext cx="3842442" cy="738664"/>
          </a:xfrm>
          <a:prstGeom prst="rect">
            <a:avLst/>
          </a:prstGeom>
          <a:noFill/>
        </p:spPr>
        <p:txBody>
          <a:bodyPr wrap="square">
            <a:spAutoFit/>
          </a:bodyPr>
          <a:lstStyle/>
          <a:p>
            <a:pPr algn="just"/>
            <a:r>
              <a:rPr lang="es-ES" sz="1400" dirty="0"/>
              <a:t>Parte de la adquisición y procesamiento con algún objetivo de diagnóstico, monitoreo u otro propósito específico.</a:t>
            </a:r>
            <a:endParaRPr lang="es-CO" sz="1400" dirty="0"/>
          </a:p>
        </p:txBody>
      </p:sp>
      <p:graphicFrame>
        <p:nvGraphicFramePr>
          <p:cNvPr id="8" name="Diagrama 7">
            <a:extLst>
              <a:ext uri="{FF2B5EF4-FFF2-40B4-BE49-F238E27FC236}">
                <a16:creationId xmlns:a16="http://schemas.microsoft.com/office/drawing/2014/main" id="{B867FC93-B943-D03B-B99F-AA6B2A9B4C22}"/>
              </a:ext>
            </a:extLst>
          </p:cNvPr>
          <p:cNvGraphicFramePr/>
          <p:nvPr>
            <p:extLst>
              <p:ext uri="{D42A27DB-BD31-4B8C-83A1-F6EECF244321}">
                <p14:modId xmlns:p14="http://schemas.microsoft.com/office/powerpoint/2010/main" val="3688423440"/>
              </p:ext>
            </p:extLst>
          </p:nvPr>
        </p:nvGraphicFramePr>
        <p:xfrm>
          <a:off x="-559155" y="716259"/>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CuadroTexto 8">
            <a:extLst>
              <a:ext uri="{FF2B5EF4-FFF2-40B4-BE49-F238E27FC236}">
                <a16:creationId xmlns:a16="http://schemas.microsoft.com/office/drawing/2014/main" id="{95697B58-7624-C5A4-94EE-CA24A8042C26}"/>
              </a:ext>
            </a:extLst>
          </p:cNvPr>
          <p:cNvSpPr txBox="1"/>
          <p:nvPr/>
        </p:nvSpPr>
        <p:spPr>
          <a:xfrm>
            <a:off x="4957408" y="3681925"/>
            <a:ext cx="3842442" cy="954107"/>
          </a:xfrm>
          <a:prstGeom prst="rect">
            <a:avLst/>
          </a:prstGeom>
          <a:noFill/>
        </p:spPr>
        <p:txBody>
          <a:bodyPr wrap="square">
            <a:spAutoFit/>
          </a:bodyPr>
          <a:lstStyle/>
          <a:p>
            <a:pPr algn="just"/>
            <a:r>
              <a:rPr lang="es-ES" sz="1400" dirty="0"/>
              <a:t>El objetivo principal es el procesamiento, no importa cuál es la fuente de la señal ni a qué sistema biomédico pertenece; lo que importa son las </a:t>
            </a:r>
            <a:r>
              <a:rPr lang="es-ES" sz="1400" b="1" dirty="0"/>
              <a:t>características propias de la señal</a:t>
            </a:r>
            <a:r>
              <a:rPr lang="es-ES" sz="1400" dirty="0"/>
              <a:t>.</a:t>
            </a:r>
            <a:endParaRPr lang="es-CO" sz="1400" dirty="0"/>
          </a:p>
        </p:txBody>
      </p:sp>
      <p:sp>
        <p:nvSpPr>
          <p:cNvPr id="11" name="CuadroTexto 10">
            <a:extLst>
              <a:ext uri="{FF2B5EF4-FFF2-40B4-BE49-F238E27FC236}">
                <a16:creationId xmlns:a16="http://schemas.microsoft.com/office/drawing/2014/main" id="{C744D81E-E828-6C61-C058-47E7BBACBB3F}"/>
              </a:ext>
            </a:extLst>
          </p:cNvPr>
          <p:cNvSpPr txBox="1"/>
          <p:nvPr/>
        </p:nvSpPr>
        <p:spPr>
          <a:xfrm>
            <a:off x="643572" y="5068259"/>
            <a:ext cx="2013017" cy="369332"/>
          </a:xfrm>
          <a:prstGeom prst="rect">
            <a:avLst/>
          </a:prstGeom>
          <a:noFill/>
        </p:spPr>
        <p:txBody>
          <a:bodyPr wrap="square">
            <a:spAutoFit/>
          </a:bodyPr>
          <a:lstStyle/>
          <a:p>
            <a:r>
              <a:rPr lang="es-ES" dirty="0"/>
              <a:t>Señales continuas</a:t>
            </a:r>
            <a:endParaRPr lang="es-CO" dirty="0"/>
          </a:p>
        </p:txBody>
      </p:sp>
      <p:sp>
        <p:nvSpPr>
          <p:cNvPr id="14" name="CuadroTexto 13">
            <a:extLst>
              <a:ext uri="{FF2B5EF4-FFF2-40B4-BE49-F238E27FC236}">
                <a16:creationId xmlns:a16="http://schemas.microsoft.com/office/drawing/2014/main" id="{3C938A73-7D4B-B385-7B34-A2A5AD30217C}"/>
              </a:ext>
            </a:extLst>
          </p:cNvPr>
          <p:cNvSpPr txBox="1"/>
          <p:nvPr/>
        </p:nvSpPr>
        <p:spPr>
          <a:xfrm>
            <a:off x="3892412" y="5082402"/>
            <a:ext cx="2129991" cy="369332"/>
          </a:xfrm>
          <a:prstGeom prst="rect">
            <a:avLst/>
          </a:prstGeom>
          <a:noFill/>
        </p:spPr>
        <p:txBody>
          <a:bodyPr wrap="square">
            <a:spAutoFit/>
          </a:bodyPr>
          <a:lstStyle/>
          <a:p>
            <a:r>
              <a:rPr lang="es-ES" dirty="0"/>
              <a:t>Señales discretas</a:t>
            </a:r>
            <a:endParaRPr lang="es-CO" dirty="0"/>
          </a:p>
        </p:txBody>
      </p:sp>
      <p:sp>
        <p:nvSpPr>
          <p:cNvPr id="15" name="Cerrar llave 14">
            <a:extLst>
              <a:ext uri="{FF2B5EF4-FFF2-40B4-BE49-F238E27FC236}">
                <a16:creationId xmlns:a16="http://schemas.microsoft.com/office/drawing/2014/main" id="{03D043DC-C2E3-7061-4961-34F99DD61F54}"/>
              </a:ext>
            </a:extLst>
          </p:cNvPr>
          <p:cNvSpPr/>
          <p:nvPr/>
        </p:nvSpPr>
        <p:spPr>
          <a:xfrm rot="16200000">
            <a:off x="2952433" y="3436251"/>
            <a:ext cx="146058" cy="311795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3131639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3B4014-1546-BAFB-4688-CEF90A6D73B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02302926-1EEE-3698-345A-77BA83E33808}"/>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BE305F0A-4F8D-3447-DEA4-40D07600D91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Rectángulo 6">
            <a:extLst>
              <a:ext uri="{FF2B5EF4-FFF2-40B4-BE49-F238E27FC236}">
                <a16:creationId xmlns:a16="http://schemas.microsoft.com/office/drawing/2014/main" id="{F5A90531-9880-3D7B-1A9E-82B91BC95D2B}"/>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Señal continua Vs discreta</a:t>
            </a:r>
            <a:endParaRPr lang="en-US" dirty="0"/>
          </a:p>
        </p:txBody>
      </p:sp>
      <p:sp>
        <p:nvSpPr>
          <p:cNvPr id="18" name="Marcador de número de diapositiva 3">
            <a:extLst>
              <a:ext uri="{FF2B5EF4-FFF2-40B4-BE49-F238E27FC236}">
                <a16:creationId xmlns:a16="http://schemas.microsoft.com/office/drawing/2014/main" id="{6EA7CE72-3EFC-1D8F-EE16-403481E79B81}"/>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pic>
        <p:nvPicPr>
          <p:cNvPr id="7" name="Picture 2" descr="Gráfico&#10;&#10;Descripción generada automáticamente">
            <a:extLst>
              <a:ext uri="{FF2B5EF4-FFF2-40B4-BE49-F238E27FC236}">
                <a16:creationId xmlns:a16="http://schemas.microsoft.com/office/drawing/2014/main" id="{F593FA40-54C1-684B-1D63-9ED4A124F6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39" t="13046" r="992"/>
          <a:stretch/>
        </p:blipFill>
        <p:spPr bwMode="auto">
          <a:xfrm>
            <a:off x="502393" y="1712144"/>
            <a:ext cx="8297457" cy="4142526"/>
          </a:xfrm>
          <a:prstGeom prst="rect">
            <a:avLst/>
          </a:prstGeom>
          <a:noFill/>
        </p:spPr>
      </p:pic>
      <p:sp>
        <p:nvSpPr>
          <p:cNvPr id="4" name="CuadroTexto 3">
            <a:extLst>
              <a:ext uri="{FF2B5EF4-FFF2-40B4-BE49-F238E27FC236}">
                <a16:creationId xmlns:a16="http://schemas.microsoft.com/office/drawing/2014/main" id="{14BF8915-71B8-0F2F-8FB1-F020C5C64F69}"/>
              </a:ext>
            </a:extLst>
          </p:cNvPr>
          <p:cNvSpPr txBox="1"/>
          <p:nvPr/>
        </p:nvSpPr>
        <p:spPr>
          <a:xfrm>
            <a:off x="261463" y="661252"/>
            <a:ext cx="3231245" cy="954107"/>
          </a:xfrm>
          <a:prstGeom prst="rect">
            <a:avLst/>
          </a:prstGeom>
          <a:noFill/>
        </p:spPr>
        <p:txBody>
          <a:bodyPr wrap="square">
            <a:spAutoFit/>
          </a:bodyPr>
          <a:lstStyle/>
          <a:p>
            <a:pPr algn="ctr"/>
            <a:r>
              <a:rPr lang="es-ES" sz="1400" dirty="0"/>
              <a:t>Las señales continuas se describen mediante una función continua s(t), que proporciona información sobre la señal en cualquier instante de tiempo dado.</a:t>
            </a:r>
            <a:endParaRPr lang="es-CO" sz="1400" dirty="0"/>
          </a:p>
        </p:txBody>
      </p:sp>
      <p:sp>
        <p:nvSpPr>
          <p:cNvPr id="6" name="CuadroTexto 5">
            <a:extLst>
              <a:ext uri="{FF2B5EF4-FFF2-40B4-BE49-F238E27FC236}">
                <a16:creationId xmlns:a16="http://schemas.microsoft.com/office/drawing/2014/main" id="{2852332E-B590-496C-46F2-ACE7FF90C895}"/>
              </a:ext>
            </a:extLst>
          </p:cNvPr>
          <p:cNvSpPr txBox="1"/>
          <p:nvPr/>
        </p:nvSpPr>
        <p:spPr>
          <a:xfrm>
            <a:off x="4879767" y="728946"/>
            <a:ext cx="3785015" cy="738664"/>
          </a:xfrm>
          <a:prstGeom prst="rect">
            <a:avLst/>
          </a:prstGeom>
          <a:noFill/>
        </p:spPr>
        <p:txBody>
          <a:bodyPr wrap="square">
            <a:spAutoFit/>
          </a:bodyPr>
          <a:lstStyle>
            <a:defPPr>
              <a:defRPr lang="es-ES"/>
            </a:defPPr>
            <a:lvl1pPr>
              <a:defRPr sz="1400"/>
            </a:lvl1pPr>
          </a:lstStyle>
          <a:p>
            <a:pPr algn="ctr"/>
            <a:r>
              <a:rPr lang="es-ES" dirty="0"/>
              <a:t>Las señales discretas se describen mediante una secuencia s(m), que proporciona información en un punto discreto del eje temporal.</a:t>
            </a:r>
            <a:endParaRPr lang="es-CO" dirty="0"/>
          </a:p>
        </p:txBody>
      </p:sp>
    </p:spTree>
    <p:custDataLst>
      <p:tags r:id="rId1"/>
    </p:custDataLst>
    <p:extLst>
      <p:ext uri="{BB962C8B-B14F-4D97-AF65-F5344CB8AC3E}">
        <p14:creationId xmlns:p14="http://schemas.microsoft.com/office/powerpoint/2010/main" val="354028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Diferencias entre AC y DC</a:t>
            </a:r>
            <a:endParaRPr lang="en-US" dirty="0">
              <a:solidFill>
                <a:srgbClr val="000000"/>
              </a:solidFill>
              <a:latin typeface="Calibri"/>
              <a:cs typeface="Calibri"/>
            </a:endParaRPr>
          </a:p>
          <a:p>
            <a:pPr algn="just"/>
            <a:endParaRPr lang="es-CO" sz="1600" dirty="0">
              <a:solidFill>
                <a:srgbClr val="000000"/>
              </a:solidFill>
              <a:latin typeface="Calibri"/>
              <a:cs typeface="Calibri"/>
            </a:endParaRPr>
          </a:p>
        </p:txBody>
      </p:sp>
      <p:sp>
        <p:nvSpPr>
          <p:cNvPr id="6" name="Rectángulo 3">
            <a:extLst>
              <a:ext uri="{FF2B5EF4-FFF2-40B4-BE49-F238E27FC236}">
                <a16:creationId xmlns:a16="http://schemas.microsoft.com/office/drawing/2014/main" id="{92E3CD14-E8B6-460B-8424-E5EB3DA66D5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Título 1">
            <a:extLst>
              <a:ext uri="{FF2B5EF4-FFF2-40B4-BE49-F238E27FC236}">
                <a16:creationId xmlns:a16="http://schemas.microsoft.com/office/drawing/2014/main" id="{3C31DA24-7C0C-42C0-9A80-8A62F92698D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0" name="Marcador de número de diapositiva 3">
            <a:extLst>
              <a:ext uri="{FF2B5EF4-FFF2-40B4-BE49-F238E27FC236}">
                <a16:creationId xmlns:a16="http://schemas.microsoft.com/office/drawing/2014/main" id="{56330482-D1F2-4D08-B27C-C1459E222A6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graphicFrame>
        <p:nvGraphicFramePr>
          <p:cNvPr id="2" name="Tabla 1">
            <a:extLst>
              <a:ext uri="{FF2B5EF4-FFF2-40B4-BE49-F238E27FC236}">
                <a16:creationId xmlns:a16="http://schemas.microsoft.com/office/drawing/2014/main" id="{0FE72D4D-4D42-A761-8465-B643DF1695EF}"/>
              </a:ext>
            </a:extLst>
          </p:cNvPr>
          <p:cNvGraphicFramePr>
            <a:graphicFrameLocks noGrp="1"/>
          </p:cNvGraphicFramePr>
          <p:nvPr>
            <p:extLst>
              <p:ext uri="{D42A27DB-BD31-4B8C-83A1-F6EECF244321}">
                <p14:modId xmlns:p14="http://schemas.microsoft.com/office/powerpoint/2010/main" val="1033018553"/>
              </p:ext>
            </p:extLst>
          </p:nvPr>
        </p:nvGraphicFramePr>
        <p:xfrm>
          <a:off x="1463040" y="1363314"/>
          <a:ext cx="5669280" cy="3967161"/>
        </p:xfrm>
        <a:graphic>
          <a:graphicData uri="http://schemas.openxmlformats.org/drawingml/2006/table">
            <a:tbl>
              <a:tblPr/>
              <a:tblGrid>
                <a:gridCol w="1889760">
                  <a:extLst>
                    <a:ext uri="{9D8B030D-6E8A-4147-A177-3AD203B41FA5}">
                      <a16:colId xmlns:a16="http://schemas.microsoft.com/office/drawing/2014/main" val="3093307727"/>
                    </a:ext>
                  </a:extLst>
                </a:gridCol>
                <a:gridCol w="1889760">
                  <a:extLst>
                    <a:ext uri="{9D8B030D-6E8A-4147-A177-3AD203B41FA5}">
                      <a16:colId xmlns:a16="http://schemas.microsoft.com/office/drawing/2014/main" val="1793135773"/>
                    </a:ext>
                  </a:extLst>
                </a:gridCol>
                <a:gridCol w="1889760">
                  <a:extLst>
                    <a:ext uri="{9D8B030D-6E8A-4147-A177-3AD203B41FA5}">
                      <a16:colId xmlns:a16="http://schemas.microsoft.com/office/drawing/2014/main" val="3138010225"/>
                    </a:ext>
                  </a:extLst>
                </a:gridCol>
              </a:tblGrid>
              <a:tr h="396716">
                <a:tc>
                  <a:txBody>
                    <a:bodyPr/>
                    <a:lstStyle/>
                    <a:p>
                      <a:pPr algn="ctr"/>
                      <a:r>
                        <a:rPr lang="es-CO" sz="1100" b="1" dirty="0"/>
                        <a:t>Característica</a:t>
                      </a:r>
                    </a:p>
                  </a:txBody>
                  <a:tcPr marL="56674" marR="56674" marT="28337" marB="28337" anchor="ctr">
                    <a:lnL>
                      <a:noFill/>
                    </a:lnL>
                    <a:lnR>
                      <a:noFill/>
                    </a:lnR>
                    <a:lnT>
                      <a:noFill/>
                    </a:lnT>
                    <a:lnB>
                      <a:noFill/>
                    </a:lnB>
                    <a:noFill/>
                  </a:tcPr>
                </a:tc>
                <a:tc>
                  <a:txBody>
                    <a:bodyPr/>
                    <a:lstStyle/>
                    <a:p>
                      <a:pPr algn="ctr"/>
                      <a:r>
                        <a:rPr lang="es-CO" sz="1100" b="1" dirty="0"/>
                        <a:t>Señal DC (Direct </a:t>
                      </a:r>
                      <a:r>
                        <a:rPr lang="es-CO" sz="1100" b="1" dirty="0" err="1"/>
                        <a:t>Current</a:t>
                      </a:r>
                      <a:r>
                        <a:rPr lang="es-CO" sz="1100" b="1" dirty="0"/>
                        <a:t>)</a:t>
                      </a:r>
                    </a:p>
                  </a:txBody>
                  <a:tcPr marL="56674" marR="56674" marT="28337" marB="28337" anchor="ctr">
                    <a:lnL>
                      <a:noFill/>
                    </a:lnL>
                    <a:lnR>
                      <a:noFill/>
                    </a:lnR>
                    <a:lnT>
                      <a:noFill/>
                    </a:lnT>
                    <a:lnB>
                      <a:noFill/>
                    </a:lnB>
                    <a:noFill/>
                  </a:tcPr>
                </a:tc>
                <a:tc>
                  <a:txBody>
                    <a:bodyPr/>
                    <a:lstStyle/>
                    <a:p>
                      <a:pPr algn="ctr"/>
                      <a:r>
                        <a:rPr lang="es-CO" sz="1100" b="1" dirty="0"/>
                        <a:t>Señal AC (</a:t>
                      </a:r>
                      <a:r>
                        <a:rPr lang="es-CO" sz="1100" b="1" dirty="0" err="1"/>
                        <a:t>Alternating</a:t>
                      </a:r>
                      <a:r>
                        <a:rPr lang="es-CO" sz="1100" b="1" dirty="0"/>
                        <a:t> </a:t>
                      </a:r>
                      <a:r>
                        <a:rPr lang="es-CO" sz="1100" b="1" dirty="0" err="1"/>
                        <a:t>Current</a:t>
                      </a:r>
                      <a:r>
                        <a:rPr lang="es-CO" sz="1100" b="1" dirty="0"/>
                        <a:t>)</a:t>
                      </a:r>
                    </a:p>
                  </a:txBody>
                  <a:tcPr marL="56674" marR="56674" marT="28337" marB="28337" anchor="ctr">
                    <a:lnL>
                      <a:noFill/>
                    </a:lnL>
                    <a:lnR>
                      <a:noFill/>
                    </a:lnR>
                    <a:lnT>
                      <a:noFill/>
                    </a:lnT>
                    <a:lnB>
                      <a:noFill/>
                    </a:lnB>
                    <a:noFill/>
                  </a:tcPr>
                </a:tc>
                <a:extLst>
                  <a:ext uri="{0D108BD9-81ED-4DB2-BD59-A6C34878D82A}">
                    <a16:rowId xmlns:a16="http://schemas.microsoft.com/office/drawing/2014/main" val="3514714175"/>
                  </a:ext>
                </a:extLst>
              </a:tr>
              <a:tr h="396716">
                <a:tc>
                  <a:txBody>
                    <a:bodyPr/>
                    <a:lstStyle/>
                    <a:p>
                      <a:r>
                        <a:rPr lang="es-CO" sz="1100" b="1"/>
                        <a:t>Dirección del flujo</a:t>
                      </a:r>
                      <a:endParaRPr lang="es-CO" sz="1100"/>
                    </a:p>
                  </a:txBody>
                  <a:tcPr marL="56674" marR="56674" marT="28337" marB="28337" anchor="ctr">
                    <a:lnL>
                      <a:noFill/>
                    </a:lnL>
                    <a:lnR>
                      <a:noFill/>
                    </a:lnR>
                    <a:lnT>
                      <a:noFill/>
                    </a:lnT>
                    <a:lnB>
                      <a:noFill/>
                    </a:lnB>
                    <a:noFill/>
                  </a:tcPr>
                </a:tc>
                <a:tc>
                  <a:txBody>
                    <a:bodyPr/>
                    <a:lstStyle/>
                    <a:p>
                      <a:r>
                        <a:rPr lang="es-ES" sz="1100"/>
                        <a:t>Constante, en una sola dirección</a:t>
                      </a:r>
                    </a:p>
                  </a:txBody>
                  <a:tcPr marL="56674" marR="56674" marT="28337" marB="28337" anchor="ctr">
                    <a:lnL>
                      <a:noFill/>
                    </a:lnL>
                    <a:lnR>
                      <a:noFill/>
                    </a:lnR>
                    <a:lnT>
                      <a:noFill/>
                    </a:lnT>
                    <a:lnB>
                      <a:noFill/>
                    </a:lnB>
                    <a:noFill/>
                  </a:tcPr>
                </a:tc>
                <a:tc>
                  <a:txBody>
                    <a:bodyPr/>
                    <a:lstStyle/>
                    <a:p>
                      <a:r>
                        <a:rPr lang="es-CO" sz="1100"/>
                        <a:t>Alterna periódicamente de dirección</a:t>
                      </a:r>
                    </a:p>
                  </a:txBody>
                  <a:tcPr marL="56674" marR="56674" marT="28337" marB="28337" anchor="ctr">
                    <a:lnL>
                      <a:noFill/>
                    </a:lnL>
                    <a:lnR>
                      <a:noFill/>
                    </a:lnR>
                    <a:lnT>
                      <a:noFill/>
                    </a:lnT>
                    <a:lnB>
                      <a:noFill/>
                    </a:lnB>
                    <a:noFill/>
                  </a:tcPr>
                </a:tc>
                <a:extLst>
                  <a:ext uri="{0D108BD9-81ED-4DB2-BD59-A6C34878D82A}">
                    <a16:rowId xmlns:a16="http://schemas.microsoft.com/office/drawing/2014/main" val="4088247188"/>
                  </a:ext>
                </a:extLst>
              </a:tr>
              <a:tr h="396716">
                <a:tc>
                  <a:txBody>
                    <a:bodyPr/>
                    <a:lstStyle/>
                    <a:p>
                      <a:r>
                        <a:rPr lang="es-CO" sz="1100" b="1"/>
                        <a:t>Forma de onda</a:t>
                      </a:r>
                      <a:endParaRPr lang="es-CO" sz="1100"/>
                    </a:p>
                  </a:txBody>
                  <a:tcPr marL="56674" marR="56674" marT="28337" marB="28337" anchor="ctr">
                    <a:lnL>
                      <a:noFill/>
                    </a:lnL>
                    <a:lnR>
                      <a:noFill/>
                    </a:lnR>
                    <a:lnT>
                      <a:noFill/>
                    </a:lnT>
                    <a:lnB>
                      <a:noFill/>
                    </a:lnB>
                    <a:noFill/>
                  </a:tcPr>
                </a:tc>
                <a:tc>
                  <a:txBody>
                    <a:bodyPr/>
                    <a:lstStyle/>
                    <a:p>
                      <a:r>
                        <a:rPr lang="es-CO" sz="1100"/>
                        <a:t>Línea recta (constante)</a:t>
                      </a:r>
                    </a:p>
                  </a:txBody>
                  <a:tcPr marL="56674" marR="56674" marT="28337" marB="28337" anchor="ctr">
                    <a:lnL>
                      <a:noFill/>
                    </a:lnL>
                    <a:lnR>
                      <a:noFill/>
                    </a:lnR>
                    <a:lnT>
                      <a:noFill/>
                    </a:lnT>
                    <a:lnB>
                      <a:noFill/>
                    </a:lnB>
                    <a:noFill/>
                  </a:tcPr>
                </a:tc>
                <a:tc>
                  <a:txBody>
                    <a:bodyPr/>
                    <a:lstStyle/>
                    <a:p>
                      <a:r>
                        <a:rPr lang="es-CO" sz="1100"/>
                        <a:t>Senoidal, cuadrada, triangular, etc.</a:t>
                      </a:r>
                    </a:p>
                  </a:txBody>
                  <a:tcPr marL="56674" marR="56674" marT="28337" marB="28337" anchor="ctr">
                    <a:lnL>
                      <a:noFill/>
                    </a:lnL>
                    <a:lnR>
                      <a:noFill/>
                    </a:lnR>
                    <a:lnT>
                      <a:noFill/>
                    </a:lnT>
                    <a:lnB>
                      <a:noFill/>
                    </a:lnB>
                    <a:noFill/>
                  </a:tcPr>
                </a:tc>
                <a:extLst>
                  <a:ext uri="{0D108BD9-81ED-4DB2-BD59-A6C34878D82A}">
                    <a16:rowId xmlns:a16="http://schemas.microsoft.com/office/drawing/2014/main" val="3753927006"/>
                  </a:ext>
                </a:extLst>
              </a:tr>
              <a:tr h="226695">
                <a:tc>
                  <a:txBody>
                    <a:bodyPr/>
                    <a:lstStyle/>
                    <a:p>
                      <a:r>
                        <a:rPr lang="es-CO" sz="1100" b="1" dirty="0"/>
                        <a:t>Valor</a:t>
                      </a:r>
                      <a:endParaRPr lang="es-CO" sz="1100" dirty="0"/>
                    </a:p>
                  </a:txBody>
                  <a:tcPr marL="56674" marR="56674" marT="28337" marB="28337" anchor="ctr">
                    <a:lnL>
                      <a:noFill/>
                    </a:lnL>
                    <a:lnR>
                      <a:noFill/>
                    </a:lnR>
                    <a:lnT>
                      <a:noFill/>
                    </a:lnT>
                    <a:lnB>
                      <a:noFill/>
                    </a:lnB>
                    <a:noFill/>
                  </a:tcPr>
                </a:tc>
                <a:tc>
                  <a:txBody>
                    <a:bodyPr/>
                    <a:lstStyle/>
                    <a:p>
                      <a:r>
                        <a:rPr lang="es-CO" sz="1100"/>
                        <a:t>Fijo en el tiempo</a:t>
                      </a:r>
                    </a:p>
                  </a:txBody>
                  <a:tcPr marL="56674" marR="56674" marT="28337" marB="28337" anchor="ctr">
                    <a:lnL>
                      <a:noFill/>
                    </a:lnL>
                    <a:lnR>
                      <a:noFill/>
                    </a:lnR>
                    <a:lnT>
                      <a:noFill/>
                    </a:lnT>
                    <a:lnB>
                      <a:noFill/>
                    </a:lnB>
                    <a:noFill/>
                  </a:tcPr>
                </a:tc>
                <a:tc>
                  <a:txBody>
                    <a:bodyPr/>
                    <a:lstStyle/>
                    <a:p>
                      <a:r>
                        <a:rPr lang="es-CO" sz="1100"/>
                        <a:t>Variable en el tiempo</a:t>
                      </a:r>
                    </a:p>
                  </a:txBody>
                  <a:tcPr marL="56674" marR="56674" marT="28337" marB="28337" anchor="ctr">
                    <a:lnL>
                      <a:noFill/>
                    </a:lnL>
                    <a:lnR>
                      <a:noFill/>
                    </a:lnR>
                    <a:lnT>
                      <a:noFill/>
                    </a:lnT>
                    <a:lnB>
                      <a:noFill/>
                    </a:lnB>
                    <a:noFill/>
                  </a:tcPr>
                </a:tc>
                <a:extLst>
                  <a:ext uri="{0D108BD9-81ED-4DB2-BD59-A6C34878D82A}">
                    <a16:rowId xmlns:a16="http://schemas.microsoft.com/office/drawing/2014/main" val="1607140506"/>
                  </a:ext>
                </a:extLst>
              </a:tr>
              <a:tr h="396716">
                <a:tc>
                  <a:txBody>
                    <a:bodyPr/>
                    <a:lstStyle/>
                    <a:p>
                      <a:r>
                        <a:rPr lang="es-CO" sz="1100" b="1"/>
                        <a:t>Frecuencia</a:t>
                      </a:r>
                      <a:endParaRPr lang="es-CO" sz="1100"/>
                    </a:p>
                  </a:txBody>
                  <a:tcPr marL="56674" marR="56674" marT="28337" marB="28337" anchor="ctr">
                    <a:lnL>
                      <a:noFill/>
                    </a:lnL>
                    <a:lnR>
                      <a:noFill/>
                    </a:lnR>
                    <a:lnT>
                      <a:noFill/>
                    </a:lnT>
                    <a:lnB>
                      <a:noFill/>
                    </a:lnB>
                    <a:noFill/>
                  </a:tcPr>
                </a:tc>
                <a:tc>
                  <a:txBody>
                    <a:bodyPr/>
                    <a:lstStyle/>
                    <a:p>
                      <a:r>
                        <a:rPr lang="es-CO" sz="1100"/>
                        <a:t>0 Hz</a:t>
                      </a:r>
                    </a:p>
                  </a:txBody>
                  <a:tcPr marL="56674" marR="56674" marT="28337" marB="28337" anchor="ctr">
                    <a:lnL>
                      <a:noFill/>
                    </a:lnL>
                    <a:lnR>
                      <a:noFill/>
                    </a:lnR>
                    <a:lnT>
                      <a:noFill/>
                    </a:lnT>
                    <a:lnB>
                      <a:noFill/>
                    </a:lnB>
                    <a:noFill/>
                  </a:tcPr>
                </a:tc>
                <a:tc>
                  <a:txBody>
                    <a:bodyPr/>
                    <a:lstStyle/>
                    <a:p>
                      <a:r>
                        <a:rPr lang="es-ES" sz="1100"/>
                        <a:t>Generalmente 50/60 Hz (red eléctrica)</a:t>
                      </a:r>
                    </a:p>
                  </a:txBody>
                  <a:tcPr marL="56674" marR="56674" marT="28337" marB="28337" anchor="ctr">
                    <a:lnL>
                      <a:noFill/>
                    </a:lnL>
                    <a:lnR>
                      <a:noFill/>
                    </a:lnR>
                    <a:lnT>
                      <a:noFill/>
                    </a:lnT>
                    <a:lnB>
                      <a:noFill/>
                    </a:lnB>
                    <a:noFill/>
                  </a:tcPr>
                </a:tc>
                <a:extLst>
                  <a:ext uri="{0D108BD9-81ED-4DB2-BD59-A6C34878D82A}">
                    <a16:rowId xmlns:a16="http://schemas.microsoft.com/office/drawing/2014/main" val="3203212339"/>
                  </a:ext>
                </a:extLst>
              </a:tr>
              <a:tr h="566738">
                <a:tc>
                  <a:txBody>
                    <a:bodyPr/>
                    <a:lstStyle/>
                    <a:p>
                      <a:r>
                        <a:rPr lang="es-CO" sz="1100" b="1"/>
                        <a:t>Ejemplo</a:t>
                      </a:r>
                      <a:endParaRPr lang="es-CO" sz="1100"/>
                    </a:p>
                  </a:txBody>
                  <a:tcPr marL="56674" marR="56674" marT="28337" marB="28337" anchor="ctr">
                    <a:lnL>
                      <a:noFill/>
                    </a:lnL>
                    <a:lnR>
                      <a:noFill/>
                    </a:lnR>
                    <a:lnT>
                      <a:noFill/>
                    </a:lnT>
                    <a:lnB>
                      <a:noFill/>
                    </a:lnB>
                    <a:noFill/>
                  </a:tcPr>
                </a:tc>
                <a:tc>
                  <a:txBody>
                    <a:bodyPr/>
                    <a:lstStyle/>
                    <a:p>
                      <a:r>
                        <a:rPr lang="es-CO" sz="1100"/>
                        <a:t>Baterías, pilas</a:t>
                      </a:r>
                    </a:p>
                  </a:txBody>
                  <a:tcPr marL="56674" marR="56674" marT="28337" marB="28337" anchor="ctr">
                    <a:lnL>
                      <a:noFill/>
                    </a:lnL>
                    <a:lnR>
                      <a:noFill/>
                    </a:lnR>
                    <a:lnT>
                      <a:noFill/>
                    </a:lnT>
                    <a:lnB>
                      <a:noFill/>
                    </a:lnB>
                    <a:noFill/>
                  </a:tcPr>
                </a:tc>
                <a:tc>
                  <a:txBody>
                    <a:bodyPr/>
                    <a:lstStyle/>
                    <a:p>
                      <a:r>
                        <a:rPr lang="es-CO" sz="1100"/>
                        <a:t>Red eléctrica, generadores, transformadores</a:t>
                      </a:r>
                    </a:p>
                  </a:txBody>
                  <a:tcPr marL="56674" marR="56674" marT="28337" marB="28337" anchor="ctr">
                    <a:lnL>
                      <a:noFill/>
                    </a:lnL>
                    <a:lnR>
                      <a:noFill/>
                    </a:lnR>
                    <a:lnT>
                      <a:noFill/>
                    </a:lnT>
                    <a:lnB>
                      <a:noFill/>
                    </a:lnB>
                    <a:noFill/>
                  </a:tcPr>
                </a:tc>
                <a:extLst>
                  <a:ext uri="{0D108BD9-81ED-4DB2-BD59-A6C34878D82A}">
                    <a16:rowId xmlns:a16="http://schemas.microsoft.com/office/drawing/2014/main" val="1432519489"/>
                  </a:ext>
                </a:extLst>
              </a:tr>
              <a:tr h="396716">
                <a:tc>
                  <a:txBody>
                    <a:bodyPr/>
                    <a:lstStyle/>
                    <a:p>
                      <a:r>
                        <a:rPr lang="es-CO" sz="1100" b="1"/>
                        <a:t>Medición</a:t>
                      </a:r>
                      <a:endParaRPr lang="es-CO" sz="1100"/>
                    </a:p>
                  </a:txBody>
                  <a:tcPr marL="56674" marR="56674" marT="28337" marB="28337" anchor="ctr">
                    <a:lnL>
                      <a:noFill/>
                    </a:lnL>
                    <a:lnR>
                      <a:noFill/>
                    </a:lnR>
                    <a:lnT>
                      <a:noFill/>
                    </a:lnT>
                    <a:lnB>
                      <a:noFill/>
                    </a:lnB>
                    <a:noFill/>
                  </a:tcPr>
                </a:tc>
                <a:tc>
                  <a:txBody>
                    <a:bodyPr/>
                    <a:lstStyle/>
                    <a:p>
                      <a:r>
                        <a:rPr lang="es-CO" sz="1100"/>
                        <a:t>Voltímetro en DC</a:t>
                      </a:r>
                    </a:p>
                  </a:txBody>
                  <a:tcPr marL="56674" marR="56674" marT="28337" marB="28337" anchor="ctr">
                    <a:lnL>
                      <a:noFill/>
                    </a:lnL>
                    <a:lnR>
                      <a:noFill/>
                    </a:lnR>
                    <a:lnT>
                      <a:noFill/>
                    </a:lnT>
                    <a:lnB>
                      <a:noFill/>
                    </a:lnB>
                    <a:noFill/>
                  </a:tcPr>
                </a:tc>
                <a:tc>
                  <a:txBody>
                    <a:bodyPr/>
                    <a:lstStyle/>
                    <a:p>
                      <a:r>
                        <a:rPr lang="es-ES" sz="1100"/>
                        <a:t>Osciloscopio o multímetro en AC</a:t>
                      </a:r>
                    </a:p>
                  </a:txBody>
                  <a:tcPr marL="56674" marR="56674" marT="28337" marB="28337" anchor="ctr">
                    <a:lnL>
                      <a:noFill/>
                    </a:lnL>
                    <a:lnR>
                      <a:noFill/>
                    </a:lnR>
                    <a:lnT>
                      <a:noFill/>
                    </a:lnT>
                    <a:lnB>
                      <a:noFill/>
                    </a:lnB>
                    <a:noFill/>
                  </a:tcPr>
                </a:tc>
                <a:extLst>
                  <a:ext uri="{0D108BD9-81ED-4DB2-BD59-A6C34878D82A}">
                    <a16:rowId xmlns:a16="http://schemas.microsoft.com/office/drawing/2014/main" val="2889911486"/>
                  </a:ext>
                </a:extLst>
              </a:tr>
              <a:tr h="396716">
                <a:tc>
                  <a:txBody>
                    <a:bodyPr/>
                    <a:lstStyle/>
                    <a:p>
                      <a:r>
                        <a:rPr lang="es-CO" sz="1100" b="1"/>
                        <a:t>Polaridad</a:t>
                      </a:r>
                      <a:endParaRPr lang="es-CO" sz="1100"/>
                    </a:p>
                  </a:txBody>
                  <a:tcPr marL="56674" marR="56674" marT="28337" marB="28337" anchor="ctr">
                    <a:lnL>
                      <a:noFill/>
                    </a:lnL>
                    <a:lnR>
                      <a:noFill/>
                    </a:lnR>
                    <a:lnT>
                      <a:noFill/>
                    </a:lnT>
                    <a:lnB>
                      <a:noFill/>
                    </a:lnB>
                    <a:noFill/>
                  </a:tcPr>
                </a:tc>
                <a:tc>
                  <a:txBody>
                    <a:bodyPr/>
                    <a:lstStyle/>
                    <a:p>
                      <a:r>
                        <a:rPr lang="es-CO" sz="1100"/>
                        <a:t>Tiene polaridad fija (+/-)</a:t>
                      </a:r>
                    </a:p>
                  </a:txBody>
                  <a:tcPr marL="56674" marR="56674" marT="28337" marB="28337" anchor="ctr">
                    <a:lnL>
                      <a:noFill/>
                    </a:lnL>
                    <a:lnR>
                      <a:noFill/>
                    </a:lnR>
                    <a:lnT>
                      <a:noFill/>
                    </a:lnT>
                    <a:lnB>
                      <a:noFill/>
                    </a:lnB>
                    <a:noFill/>
                  </a:tcPr>
                </a:tc>
                <a:tc>
                  <a:txBody>
                    <a:bodyPr/>
                    <a:lstStyle/>
                    <a:p>
                      <a:r>
                        <a:rPr lang="es-CO" sz="1100"/>
                        <a:t>Cambia de polaridad constantemente</a:t>
                      </a:r>
                    </a:p>
                  </a:txBody>
                  <a:tcPr marL="56674" marR="56674" marT="28337" marB="28337" anchor="ctr">
                    <a:lnL>
                      <a:noFill/>
                    </a:lnL>
                    <a:lnR>
                      <a:noFill/>
                    </a:lnR>
                    <a:lnT>
                      <a:noFill/>
                    </a:lnT>
                    <a:lnB>
                      <a:noFill/>
                    </a:lnB>
                    <a:noFill/>
                  </a:tcPr>
                </a:tc>
                <a:extLst>
                  <a:ext uri="{0D108BD9-81ED-4DB2-BD59-A6C34878D82A}">
                    <a16:rowId xmlns:a16="http://schemas.microsoft.com/office/drawing/2014/main" val="826168978"/>
                  </a:ext>
                </a:extLst>
              </a:tr>
              <a:tr h="396716">
                <a:tc>
                  <a:txBody>
                    <a:bodyPr/>
                    <a:lstStyle/>
                    <a:p>
                      <a:r>
                        <a:rPr lang="es-CO" sz="1100" b="1"/>
                        <a:t>Transporte de energía</a:t>
                      </a:r>
                      <a:endParaRPr lang="es-CO" sz="1100"/>
                    </a:p>
                  </a:txBody>
                  <a:tcPr marL="56674" marR="56674" marT="28337" marB="28337" anchor="ctr">
                    <a:lnL>
                      <a:noFill/>
                    </a:lnL>
                    <a:lnR>
                      <a:noFill/>
                    </a:lnR>
                    <a:lnT>
                      <a:noFill/>
                    </a:lnT>
                    <a:lnB>
                      <a:noFill/>
                    </a:lnB>
                    <a:noFill/>
                  </a:tcPr>
                </a:tc>
                <a:tc>
                  <a:txBody>
                    <a:bodyPr/>
                    <a:lstStyle/>
                    <a:p>
                      <a:r>
                        <a:rPr lang="es-CO" sz="1100"/>
                        <a:t>No apto para largas distancias</a:t>
                      </a:r>
                    </a:p>
                  </a:txBody>
                  <a:tcPr marL="56674" marR="56674" marT="28337" marB="28337" anchor="ctr">
                    <a:lnL>
                      <a:noFill/>
                    </a:lnL>
                    <a:lnR>
                      <a:noFill/>
                    </a:lnR>
                    <a:lnT>
                      <a:noFill/>
                    </a:lnT>
                    <a:lnB>
                      <a:noFill/>
                    </a:lnB>
                    <a:noFill/>
                  </a:tcPr>
                </a:tc>
                <a:tc>
                  <a:txBody>
                    <a:bodyPr/>
                    <a:lstStyle/>
                    <a:p>
                      <a:r>
                        <a:rPr lang="es-ES" sz="1100"/>
                        <a:t>Ideal para transmisión eficiente a distancia</a:t>
                      </a:r>
                    </a:p>
                  </a:txBody>
                  <a:tcPr marL="56674" marR="56674" marT="28337" marB="28337" anchor="ctr">
                    <a:lnL>
                      <a:noFill/>
                    </a:lnL>
                    <a:lnR>
                      <a:noFill/>
                    </a:lnR>
                    <a:lnT>
                      <a:noFill/>
                    </a:lnT>
                    <a:lnB>
                      <a:noFill/>
                    </a:lnB>
                    <a:noFill/>
                  </a:tcPr>
                </a:tc>
                <a:extLst>
                  <a:ext uri="{0D108BD9-81ED-4DB2-BD59-A6C34878D82A}">
                    <a16:rowId xmlns:a16="http://schemas.microsoft.com/office/drawing/2014/main" val="650663542"/>
                  </a:ext>
                </a:extLst>
              </a:tr>
              <a:tr h="396716">
                <a:tc>
                  <a:txBody>
                    <a:bodyPr/>
                    <a:lstStyle/>
                    <a:p>
                      <a:r>
                        <a:rPr lang="es-CO" sz="1100" b="1"/>
                        <a:t>Uso común</a:t>
                      </a:r>
                      <a:endParaRPr lang="es-CO" sz="1100"/>
                    </a:p>
                  </a:txBody>
                  <a:tcPr marL="56674" marR="56674" marT="28337" marB="28337" anchor="ctr">
                    <a:lnL>
                      <a:noFill/>
                    </a:lnL>
                    <a:lnR>
                      <a:noFill/>
                    </a:lnR>
                    <a:lnT>
                      <a:noFill/>
                    </a:lnT>
                    <a:lnB>
                      <a:noFill/>
                    </a:lnB>
                    <a:noFill/>
                  </a:tcPr>
                </a:tc>
                <a:tc>
                  <a:txBody>
                    <a:bodyPr/>
                    <a:lstStyle/>
                    <a:p>
                      <a:r>
                        <a:rPr lang="es-CO" sz="1100"/>
                        <a:t>Electrónica, dispositivos móviles</a:t>
                      </a:r>
                    </a:p>
                  </a:txBody>
                  <a:tcPr marL="56674" marR="56674" marT="28337" marB="28337" anchor="ctr">
                    <a:lnL>
                      <a:noFill/>
                    </a:lnL>
                    <a:lnR>
                      <a:noFill/>
                    </a:lnR>
                    <a:lnT>
                      <a:noFill/>
                    </a:lnT>
                    <a:lnB>
                      <a:noFill/>
                    </a:lnB>
                    <a:noFill/>
                  </a:tcPr>
                </a:tc>
                <a:tc>
                  <a:txBody>
                    <a:bodyPr/>
                    <a:lstStyle/>
                    <a:p>
                      <a:r>
                        <a:rPr lang="es-CO" sz="1100" dirty="0"/>
                        <a:t>Electrodomésticos, motores, iluminación</a:t>
                      </a:r>
                    </a:p>
                  </a:txBody>
                  <a:tcPr marL="56674" marR="56674" marT="28337" marB="28337" anchor="ctr">
                    <a:lnL>
                      <a:noFill/>
                    </a:lnL>
                    <a:lnR>
                      <a:noFill/>
                    </a:lnR>
                    <a:lnT>
                      <a:noFill/>
                    </a:lnT>
                    <a:lnB>
                      <a:noFill/>
                    </a:lnB>
                    <a:noFill/>
                  </a:tcPr>
                </a:tc>
                <a:extLst>
                  <a:ext uri="{0D108BD9-81ED-4DB2-BD59-A6C34878D82A}">
                    <a16:rowId xmlns:a16="http://schemas.microsoft.com/office/drawing/2014/main" val="3958313802"/>
                  </a:ext>
                </a:extLst>
              </a:tr>
            </a:tbl>
          </a:graphicData>
        </a:graphic>
      </p:graphicFrame>
    </p:spTree>
    <p:extLst>
      <p:ext uri="{BB962C8B-B14F-4D97-AF65-F5344CB8AC3E}">
        <p14:creationId xmlns:p14="http://schemas.microsoft.com/office/powerpoint/2010/main" val="25658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6F3FC52-8976-469D-8CB5-A83F141EC6CA}"/>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Tipos de señales</a:t>
            </a:r>
            <a:endParaRPr lang="en-US" dirty="0"/>
          </a:p>
          <a:p>
            <a:pPr algn="just"/>
            <a:endParaRPr lang="es-CO" sz="1600" dirty="0">
              <a:solidFill>
                <a:srgbClr val="000000"/>
              </a:solidFill>
              <a:latin typeface="Calibri"/>
              <a:cs typeface="Calibri"/>
            </a:endParaRPr>
          </a:p>
        </p:txBody>
      </p:sp>
      <p:sp>
        <p:nvSpPr>
          <p:cNvPr id="10" name="Rectángulo 3">
            <a:extLst>
              <a:ext uri="{FF2B5EF4-FFF2-40B4-BE49-F238E27FC236}">
                <a16:creationId xmlns:a16="http://schemas.microsoft.com/office/drawing/2014/main" id="{AC96C748-02C0-4F53-8A1D-44FC5B2AC7B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Título 1">
            <a:extLst>
              <a:ext uri="{FF2B5EF4-FFF2-40B4-BE49-F238E27FC236}">
                <a16:creationId xmlns:a16="http://schemas.microsoft.com/office/drawing/2014/main" id="{D042867F-C7FC-401B-B20A-35F4A668EA9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3" name="Marcador de número de diapositiva 3">
            <a:extLst>
              <a:ext uri="{FF2B5EF4-FFF2-40B4-BE49-F238E27FC236}">
                <a16:creationId xmlns:a16="http://schemas.microsoft.com/office/drawing/2014/main" id="{EF4358B3-8A46-4F6C-BDEC-8B5874CFA373}"/>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pic>
        <p:nvPicPr>
          <p:cNvPr id="3" name="Imagen 2">
            <a:extLst>
              <a:ext uri="{FF2B5EF4-FFF2-40B4-BE49-F238E27FC236}">
                <a16:creationId xmlns:a16="http://schemas.microsoft.com/office/drawing/2014/main" id="{15B5449A-B73F-E016-85A8-97B1D9DE0E87}"/>
              </a:ext>
            </a:extLst>
          </p:cNvPr>
          <p:cNvPicPr>
            <a:picLocks noChangeAspect="1"/>
          </p:cNvPicPr>
          <p:nvPr/>
        </p:nvPicPr>
        <p:blipFill>
          <a:blip r:embed="rId4"/>
          <a:stretch>
            <a:fillRect/>
          </a:stretch>
        </p:blipFill>
        <p:spPr>
          <a:xfrm>
            <a:off x="912237" y="1610317"/>
            <a:ext cx="2818515" cy="1166576"/>
          </a:xfrm>
          <a:prstGeom prst="rect">
            <a:avLst/>
          </a:prstGeom>
        </p:spPr>
      </p:pic>
      <p:sp>
        <p:nvSpPr>
          <p:cNvPr id="5" name="CuadroTexto 4">
            <a:extLst>
              <a:ext uri="{FF2B5EF4-FFF2-40B4-BE49-F238E27FC236}">
                <a16:creationId xmlns:a16="http://schemas.microsoft.com/office/drawing/2014/main" id="{A8C1C944-200E-BC27-8BFC-2B007CB21B36}"/>
              </a:ext>
            </a:extLst>
          </p:cNvPr>
          <p:cNvSpPr txBox="1"/>
          <p:nvPr/>
        </p:nvSpPr>
        <p:spPr>
          <a:xfrm>
            <a:off x="612246" y="1032702"/>
            <a:ext cx="3418496" cy="523220"/>
          </a:xfrm>
          <a:prstGeom prst="rect">
            <a:avLst/>
          </a:prstGeom>
          <a:noFill/>
        </p:spPr>
        <p:txBody>
          <a:bodyPr wrap="square">
            <a:spAutoFit/>
          </a:bodyPr>
          <a:lstStyle/>
          <a:p>
            <a:r>
              <a:rPr lang="es-CO" sz="1400" dirty="0"/>
              <a:t>Gráfico del voltaje de CA a lo largo del tiempo (la onda sinusoidal).</a:t>
            </a:r>
          </a:p>
        </p:txBody>
      </p:sp>
      <p:pic>
        <p:nvPicPr>
          <p:cNvPr id="7" name="Imagen 6">
            <a:extLst>
              <a:ext uri="{FF2B5EF4-FFF2-40B4-BE49-F238E27FC236}">
                <a16:creationId xmlns:a16="http://schemas.microsoft.com/office/drawing/2014/main" id="{D40102A6-2892-1966-CED9-6837D2024E7C}"/>
              </a:ext>
            </a:extLst>
          </p:cNvPr>
          <p:cNvPicPr>
            <a:picLocks noChangeAspect="1"/>
          </p:cNvPicPr>
          <p:nvPr/>
        </p:nvPicPr>
        <p:blipFill>
          <a:blip r:embed="rId5"/>
          <a:stretch>
            <a:fillRect/>
          </a:stretch>
        </p:blipFill>
        <p:spPr>
          <a:xfrm>
            <a:off x="4289061" y="1693236"/>
            <a:ext cx="4205715" cy="1000737"/>
          </a:xfrm>
          <a:prstGeom prst="rect">
            <a:avLst/>
          </a:prstGeom>
        </p:spPr>
      </p:pic>
      <p:sp>
        <p:nvSpPr>
          <p:cNvPr id="14" name="CuadroTexto 13">
            <a:extLst>
              <a:ext uri="{FF2B5EF4-FFF2-40B4-BE49-F238E27FC236}">
                <a16:creationId xmlns:a16="http://schemas.microsoft.com/office/drawing/2014/main" id="{64283550-5564-41D7-4E7A-F0E08DE27553}"/>
              </a:ext>
            </a:extLst>
          </p:cNvPr>
          <p:cNvSpPr txBox="1"/>
          <p:nvPr/>
        </p:nvSpPr>
        <p:spPr>
          <a:xfrm>
            <a:off x="5162931" y="1034149"/>
            <a:ext cx="3218688" cy="523220"/>
          </a:xfrm>
          <a:prstGeom prst="rect">
            <a:avLst/>
          </a:prstGeom>
          <a:noFill/>
        </p:spPr>
        <p:txBody>
          <a:bodyPr wrap="square">
            <a:spAutoFit/>
          </a:bodyPr>
          <a:lstStyle>
            <a:defPPr>
              <a:defRPr lang="es-ES"/>
            </a:defPPr>
            <a:lvl1pPr>
              <a:defRPr sz="1400"/>
            </a:lvl1pPr>
          </a:lstStyle>
          <a:p>
            <a:r>
              <a:rPr lang="es-CO" dirty="0"/>
              <a:t>Valor de la tensión en función de la posición del eje (tiempo).</a:t>
            </a:r>
          </a:p>
        </p:txBody>
      </p:sp>
      <p:pic>
        <p:nvPicPr>
          <p:cNvPr id="16" name="Imagen 15">
            <a:extLst>
              <a:ext uri="{FF2B5EF4-FFF2-40B4-BE49-F238E27FC236}">
                <a16:creationId xmlns:a16="http://schemas.microsoft.com/office/drawing/2014/main" id="{11F6D733-EE7E-341C-7940-5DD53A2A71A6}"/>
              </a:ext>
            </a:extLst>
          </p:cNvPr>
          <p:cNvPicPr>
            <a:picLocks noChangeAspect="1"/>
          </p:cNvPicPr>
          <p:nvPr/>
        </p:nvPicPr>
        <p:blipFill>
          <a:blip r:embed="rId6"/>
          <a:stretch>
            <a:fillRect/>
          </a:stretch>
        </p:blipFill>
        <p:spPr>
          <a:xfrm>
            <a:off x="261463" y="3232364"/>
            <a:ext cx="2686425" cy="1362265"/>
          </a:xfrm>
          <a:prstGeom prst="rect">
            <a:avLst/>
          </a:prstGeom>
        </p:spPr>
      </p:pic>
      <p:pic>
        <p:nvPicPr>
          <p:cNvPr id="18" name="Imagen 17">
            <a:extLst>
              <a:ext uri="{FF2B5EF4-FFF2-40B4-BE49-F238E27FC236}">
                <a16:creationId xmlns:a16="http://schemas.microsoft.com/office/drawing/2014/main" id="{6D5DEBDD-E872-CDA4-34FD-BCAE7849F4D9}"/>
              </a:ext>
            </a:extLst>
          </p:cNvPr>
          <p:cNvPicPr>
            <a:picLocks noChangeAspect="1"/>
          </p:cNvPicPr>
          <p:nvPr/>
        </p:nvPicPr>
        <p:blipFill>
          <a:blip r:embed="rId7"/>
          <a:stretch>
            <a:fillRect/>
          </a:stretch>
        </p:blipFill>
        <p:spPr>
          <a:xfrm>
            <a:off x="3262129" y="4594629"/>
            <a:ext cx="2619741" cy="1247949"/>
          </a:xfrm>
          <a:prstGeom prst="rect">
            <a:avLst/>
          </a:prstGeom>
        </p:spPr>
      </p:pic>
      <p:pic>
        <p:nvPicPr>
          <p:cNvPr id="20" name="Imagen 19">
            <a:extLst>
              <a:ext uri="{FF2B5EF4-FFF2-40B4-BE49-F238E27FC236}">
                <a16:creationId xmlns:a16="http://schemas.microsoft.com/office/drawing/2014/main" id="{30F2233E-26BF-8C49-CFBE-3BA13F2F58E9}"/>
              </a:ext>
            </a:extLst>
          </p:cNvPr>
          <p:cNvPicPr>
            <a:picLocks noChangeAspect="1"/>
          </p:cNvPicPr>
          <p:nvPr/>
        </p:nvPicPr>
        <p:blipFill>
          <a:blip r:embed="rId8"/>
          <a:stretch>
            <a:fillRect/>
          </a:stretch>
        </p:blipFill>
        <p:spPr>
          <a:xfrm>
            <a:off x="6180109" y="3334498"/>
            <a:ext cx="2619741" cy="1305107"/>
          </a:xfrm>
          <a:prstGeom prst="rect">
            <a:avLst/>
          </a:prstGeom>
        </p:spPr>
      </p:pic>
      <p:sp>
        <p:nvSpPr>
          <p:cNvPr id="21" name="CuadroTexto 20">
            <a:extLst>
              <a:ext uri="{FF2B5EF4-FFF2-40B4-BE49-F238E27FC236}">
                <a16:creationId xmlns:a16="http://schemas.microsoft.com/office/drawing/2014/main" id="{9FB486B6-6A0E-F3D3-7108-83C378031DEB}"/>
              </a:ext>
            </a:extLst>
          </p:cNvPr>
          <p:cNvSpPr txBox="1"/>
          <p:nvPr/>
        </p:nvSpPr>
        <p:spPr>
          <a:xfrm>
            <a:off x="921722" y="4548202"/>
            <a:ext cx="1365906" cy="307777"/>
          </a:xfrm>
          <a:prstGeom prst="rect">
            <a:avLst/>
          </a:prstGeom>
          <a:noFill/>
        </p:spPr>
        <p:txBody>
          <a:bodyPr wrap="square">
            <a:spAutoFit/>
          </a:bodyPr>
          <a:lstStyle/>
          <a:p>
            <a:r>
              <a:rPr lang="es-CO" sz="1400" dirty="0"/>
              <a:t>Señal cuadrada</a:t>
            </a:r>
          </a:p>
        </p:txBody>
      </p:sp>
      <p:sp>
        <p:nvSpPr>
          <p:cNvPr id="22" name="CuadroTexto 21">
            <a:extLst>
              <a:ext uri="{FF2B5EF4-FFF2-40B4-BE49-F238E27FC236}">
                <a16:creationId xmlns:a16="http://schemas.microsoft.com/office/drawing/2014/main" id="{91F95258-9C63-AB35-408A-55C9C226B567}"/>
              </a:ext>
            </a:extLst>
          </p:cNvPr>
          <p:cNvSpPr txBox="1"/>
          <p:nvPr/>
        </p:nvSpPr>
        <p:spPr>
          <a:xfrm>
            <a:off x="3790597" y="4160604"/>
            <a:ext cx="1365906" cy="307777"/>
          </a:xfrm>
          <a:prstGeom prst="rect">
            <a:avLst/>
          </a:prstGeom>
          <a:noFill/>
        </p:spPr>
        <p:txBody>
          <a:bodyPr wrap="square">
            <a:spAutoFit/>
          </a:bodyPr>
          <a:lstStyle/>
          <a:p>
            <a:r>
              <a:rPr lang="es-CO" sz="1400" dirty="0"/>
              <a:t>Señal triangular</a:t>
            </a:r>
          </a:p>
        </p:txBody>
      </p:sp>
      <p:sp>
        <p:nvSpPr>
          <p:cNvPr id="23" name="CuadroTexto 22">
            <a:extLst>
              <a:ext uri="{FF2B5EF4-FFF2-40B4-BE49-F238E27FC236}">
                <a16:creationId xmlns:a16="http://schemas.microsoft.com/office/drawing/2014/main" id="{AEF8A380-B470-3F88-8B37-2333564C7819}"/>
              </a:ext>
            </a:extLst>
          </p:cNvPr>
          <p:cNvSpPr txBox="1"/>
          <p:nvPr/>
        </p:nvSpPr>
        <p:spPr>
          <a:xfrm>
            <a:off x="6926282" y="4700602"/>
            <a:ext cx="1696510" cy="307777"/>
          </a:xfrm>
          <a:prstGeom prst="rect">
            <a:avLst/>
          </a:prstGeom>
          <a:noFill/>
        </p:spPr>
        <p:txBody>
          <a:bodyPr wrap="square">
            <a:spAutoFit/>
          </a:bodyPr>
          <a:lstStyle/>
          <a:p>
            <a:r>
              <a:rPr lang="es-CO" sz="1400" dirty="0"/>
              <a:t>Señal ¨diente sierra¨</a:t>
            </a:r>
          </a:p>
        </p:txBody>
      </p:sp>
    </p:spTree>
    <p:custDataLst>
      <p:tags r:id="rId1"/>
    </p:custDataLst>
    <p:extLst>
      <p:ext uri="{BB962C8B-B14F-4D97-AF65-F5344CB8AC3E}">
        <p14:creationId xmlns:p14="http://schemas.microsoft.com/office/powerpoint/2010/main" val="307690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Estructura onda senoidal</a:t>
            </a:r>
            <a:endParaRPr lang="en-US" dirty="0"/>
          </a:p>
          <a:p>
            <a:pPr algn="just"/>
            <a:endParaRPr lang="es-CO" sz="1600" dirty="0">
              <a:solidFill>
                <a:srgbClr val="000000"/>
              </a:solidFill>
              <a:latin typeface="Calibri"/>
              <a:cs typeface="Calibri"/>
            </a:endParaRPr>
          </a:p>
        </p:txBody>
      </p:sp>
      <p:sp>
        <p:nvSpPr>
          <p:cNvPr id="6" name="Rectángulo 3">
            <a:extLst>
              <a:ext uri="{FF2B5EF4-FFF2-40B4-BE49-F238E27FC236}">
                <a16:creationId xmlns:a16="http://schemas.microsoft.com/office/drawing/2014/main" id="{2829336F-9908-4746-A63E-1BD70FB4959C}"/>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2CB36246-CEE6-4B09-82E7-1232FB6C16C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1ADFC5CB-0ED1-41E6-90EA-3990176AB23B}"/>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pic>
        <p:nvPicPr>
          <p:cNvPr id="1026" name="Picture 2">
            <a:extLst>
              <a:ext uri="{FF2B5EF4-FFF2-40B4-BE49-F238E27FC236}">
                <a16:creationId xmlns:a16="http://schemas.microsoft.com/office/drawing/2014/main" id="{8C1FA142-13E3-EF59-A0F9-F8B31823A2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48"/>
          <a:stretch>
            <a:fillRect/>
          </a:stretch>
        </p:blipFill>
        <p:spPr bwMode="auto">
          <a:xfrm>
            <a:off x="528638" y="1060704"/>
            <a:ext cx="8086725" cy="458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103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sinusoidal</a:t>
            </a:r>
            <a:endParaRPr lang="en-US" dirty="0"/>
          </a:p>
          <a:p>
            <a:pPr algn="just"/>
            <a:endParaRPr lang="es-CO" sz="1600" dirty="0">
              <a:solidFill>
                <a:srgbClr val="000000"/>
              </a:solidFill>
              <a:latin typeface="Calibri"/>
              <a:cs typeface="Calibri"/>
            </a:endParaRPr>
          </a:p>
        </p:txBody>
      </p:sp>
      <p:pic>
        <p:nvPicPr>
          <p:cNvPr id="3" name="Picture 5" descr="Chart, line chart&#10;&#10;Description automatically generated">
            <a:extLst>
              <a:ext uri="{FF2B5EF4-FFF2-40B4-BE49-F238E27FC236}">
                <a16:creationId xmlns:a16="http://schemas.microsoft.com/office/drawing/2014/main" id="{329DD73F-ADD9-98EC-2029-338EEB6CB6CF}"/>
              </a:ext>
            </a:extLst>
          </p:cNvPr>
          <p:cNvPicPr>
            <a:picLocks noChangeAspect="1"/>
          </p:cNvPicPr>
          <p:nvPr/>
        </p:nvPicPr>
        <p:blipFill>
          <a:blip r:embed="rId3"/>
          <a:stretch>
            <a:fillRect/>
          </a:stretch>
        </p:blipFill>
        <p:spPr>
          <a:xfrm>
            <a:off x="1481400" y="914581"/>
            <a:ext cx="6190200" cy="3750838"/>
          </a:xfrm>
          <a:prstGeom prst="rect">
            <a:avLst/>
          </a:prstGeom>
        </p:spPr>
      </p:pic>
      <p:sp>
        <p:nvSpPr>
          <p:cNvPr id="6" name="Rectangle 5">
            <a:extLst>
              <a:ext uri="{FF2B5EF4-FFF2-40B4-BE49-F238E27FC236}">
                <a16:creationId xmlns:a16="http://schemas.microsoft.com/office/drawing/2014/main" id="{CC739EC5-98B7-9F6C-8594-C63DB99B7B8E}"/>
              </a:ext>
            </a:extLst>
          </p:cNvPr>
          <p:cNvSpPr/>
          <p:nvPr/>
        </p:nvSpPr>
        <p:spPr>
          <a:xfrm>
            <a:off x="1288800" y="4042800"/>
            <a:ext cx="22644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3FCF1A63-487F-FC12-DFAC-2F077F9ECDF4}"/>
              </a:ext>
            </a:extLst>
          </p:cNvPr>
          <p:cNvSpPr/>
          <p:nvPr/>
        </p:nvSpPr>
        <p:spPr>
          <a:xfrm>
            <a:off x="1477800" y="3151799"/>
            <a:ext cx="2264400" cy="914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ángulo 3">
            <a:extLst>
              <a:ext uri="{FF2B5EF4-FFF2-40B4-BE49-F238E27FC236}">
                <a16:creationId xmlns:a16="http://schemas.microsoft.com/office/drawing/2014/main" id="{E9B3B1F0-E92F-41EC-BB53-3A445F42FF0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Título 1">
            <a:extLst>
              <a:ext uri="{FF2B5EF4-FFF2-40B4-BE49-F238E27FC236}">
                <a16:creationId xmlns:a16="http://schemas.microsoft.com/office/drawing/2014/main" id="{159B7188-22B7-4191-94C9-CDFC42D2782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0" name="Marcador de número de diapositiva 3">
            <a:extLst>
              <a:ext uri="{FF2B5EF4-FFF2-40B4-BE49-F238E27FC236}">
                <a16:creationId xmlns:a16="http://schemas.microsoft.com/office/drawing/2014/main" id="{DB5BB20B-5BC5-433E-A9E3-197F96CE129A}"/>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Tree>
    <p:extLst>
      <p:ext uri="{BB962C8B-B14F-4D97-AF65-F5344CB8AC3E}">
        <p14:creationId xmlns:p14="http://schemas.microsoft.com/office/powerpoint/2010/main" val="3426320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4B029C97-CD5C-E0EF-6408-69A8491E6C3D}"/>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48FBC197-7456-0663-DCCB-2605531C6D89}"/>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Estructura onda cuadrada</a:t>
            </a:r>
            <a:endParaRPr lang="en-US" dirty="0"/>
          </a:p>
          <a:p>
            <a:pPr algn="just"/>
            <a:endParaRPr lang="es-CO" sz="1600" dirty="0">
              <a:solidFill>
                <a:srgbClr val="000000"/>
              </a:solidFill>
              <a:latin typeface="Calibri"/>
              <a:cs typeface="Calibri"/>
            </a:endParaRPr>
          </a:p>
        </p:txBody>
      </p:sp>
      <p:sp>
        <p:nvSpPr>
          <p:cNvPr id="6" name="Rectángulo 3">
            <a:extLst>
              <a:ext uri="{FF2B5EF4-FFF2-40B4-BE49-F238E27FC236}">
                <a16:creationId xmlns:a16="http://schemas.microsoft.com/office/drawing/2014/main" id="{258E0851-5A3D-3131-DE72-CAAB13A76638}"/>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B20ADE1F-EEDC-0037-E77E-E432A8911AAC}"/>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6AC9023B-1B55-843F-C6CF-2DD76838C9BD}"/>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pic>
        <p:nvPicPr>
          <p:cNvPr id="2050" name="Picture 2">
            <a:extLst>
              <a:ext uri="{FF2B5EF4-FFF2-40B4-BE49-F238E27FC236}">
                <a16:creationId xmlns:a16="http://schemas.microsoft.com/office/drawing/2014/main" id="{0ADF5C0A-9F56-DEE2-19E5-ECF7750724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40"/>
          <a:stretch>
            <a:fillRect/>
          </a:stretch>
        </p:blipFill>
        <p:spPr bwMode="auto">
          <a:xfrm>
            <a:off x="528638" y="2185416"/>
            <a:ext cx="8086725" cy="265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452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cuadrada</a:t>
            </a:r>
            <a:endParaRPr lang="en-US" dirty="0"/>
          </a:p>
          <a:p>
            <a:pPr algn="just"/>
            <a:endParaRPr lang="es-CO" sz="1600" dirty="0">
              <a:solidFill>
                <a:srgbClr val="000000"/>
              </a:solidFill>
              <a:latin typeface="Calibri"/>
              <a:cs typeface="Calibri"/>
            </a:endParaRPr>
          </a:p>
        </p:txBody>
      </p:sp>
      <p:pic>
        <p:nvPicPr>
          <p:cNvPr id="2" name="Picture 7" descr="A picture containing diagram&#10;&#10;Description automatically generated">
            <a:extLst>
              <a:ext uri="{FF2B5EF4-FFF2-40B4-BE49-F238E27FC236}">
                <a16:creationId xmlns:a16="http://schemas.microsoft.com/office/drawing/2014/main" id="{FC7A85C2-E456-ECBF-8733-F54564A517F3}"/>
              </a:ext>
            </a:extLst>
          </p:cNvPr>
          <p:cNvPicPr>
            <a:picLocks noChangeAspect="1"/>
          </p:cNvPicPr>
          <p:nvPr/>
        </p:nvPicPr>
        <p:blipFill>
          <a:blip r:embed="rId3"/>
          <a:stretch>
            <a:fillRect/>
          </a:stretch>
        </p:blipFill>
        <p:spPr>
          <a:xfrm>
            <a:off x="1004400" y="919927"/>
            <a:ext cx="7315200" cy="3794145"/>
          </a:xfrm>
          <a:prstGeom prst="rect">
            <a:avLst/>
          </a:prstGeom>
        </p:spPr>
      </p:pic>
      <p:sp>
        <p:nvSpPr>
          <p:cNvPr id="6" name="Rectangle 5">
            <a:extLst>
              <a:ext uri="{FF2B5EF4-FFF2-40B4-BE49-F238E27FC236}">
                <a16:creationId xmlns:a16="http://schemas.microsoft.com/office/drawing/2014/main" id="{CC739EC5-98B7-9F6C-8594-C63DB99B7B8E}"/>
              </a:ext>
            </a:extLst>
          </p:cNvPr>
          <p:cNvSpPr/>
          <p:nvPr/>
        </p:nvSpPr>
        <p:spPr>
          <a:xfrm>
            <a:off x="4573800" y="4177800"/>
            <a:ext cx="38124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CD3F7535-CB2C-1794-F89D-8760DBB2C1EA}"/>
              </a:ext>
            </a:extLst>
          </p:cNvPr>
          <p:cNvSpPr/>
          <p:nvPr/>
        </p:nvSpPr>
        <p:spPr>
          <a:xfrm>
            <a:off x="7138800" y="3385799"/>
            <a:ext cx="1175400" cy="914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ángulo 3">
            <a:extLst>
              <a:ext uri="{FF2B5EF4-FFF2-40B4-BE49-F238E27FC236}">
                <a16:creationId xmlns:a16="http://schemas.microsoft.com/office/drawing/2014/main" id="{DF5D190B-300D-4E1A-B7BF-7F99951AF05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ítulo 1">
            <a:extLst>
              <a:ext uri="{FF2B5EF4-FFF2-40B4-BE49-F238E27FC236}">
                <a16:creationId xmlns:a16="http://schemas.microsoft.com/office/drawing/2014/main" id="{C8954552-F0A4-44D9-A05C-AC446DAB915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1" name="Marcador de número de diapositiva 3">
            <a:extLst>
              <a:ext uri="{FF2B5EF4-FFF2-40B4-BE49-F238E27FC236}">
                <a16:creationId xmlns:a16="http://schemas.microsoft.com/office/drawing/2014/main" id="{A1031E66-D173-4B4B-9154-CE38F7BABBAC}"/>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Tree>
    <p:extLst>
      <p:ext uri="{BB962C8B-B14F-4D97-AF65-F5344CB8AC3E}">
        <p14:creationId xmlns:p14="http://schemas.microsoft.com/office/powerpoint/2010/main" val="3902543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PWM (Pulse-</a:t>
            </a:r>
            <a:r>
              <a:rPr lang="es-ES" b="1" dirty="0" err="1">
                <a:solidFill>
                  <a:srgbClr val="2C5697"/>
                </a:solidFill>
                <a:latin typeface="Arial"/>
                <a:ea typeface="+mn-lt"/>
                <a:cs typeface="Arial"/>
                <a:sym typeface="Times New Roman"/>
              </a:rPr>
              <a:t>Width</a:t>
            </a:r>
            <a:r>
              <a:rPr lang="es-ES" b="1" dirty="0">
                <a:solidFill>
                  <a:srgbClr val="2C5697"/>
                </a:solidFill>
                <a:latin typeface="Arial"/>
                <a:ea typeface="+mn-lt"/>
                <a:cs typeface="Arial"/>
                <a:sym typeface="Times New Roman"/>
              </a:rPr>
              <a:t> </a:t>
            </a:r>
            <a:r>
              <a:rPr lang="es-ES" b="1" dirty="0" err="1">
                <a:solidFill>
                  <a:srgbClr val="2C5697"/>
                </a:solidFill>
                <a:latin typeface="Arial"/>
                <a:ea typeface="+mn-lt"/>
                <a:cs typeface="Arial"/>
                <a:sym typeface="Times New Roman"/>
              </a:rPr>
              <a:t>Modulation</a:t>
            </a:r>
            <a:r>
              <a:rPr lang="es-ES" b="1" dirty="0">
                <a:solidFill>
                  <a:srgbClr val="2C5697"/>
                </a:solidFill>
                <a:latin typeface="Arial"/>
                <a:ea typeface="+mn-lt"/>
                <a:cs typeface="Arial"/>
                <a:sym typeface="Times New Roman"/>
              </a:rPr>
              <a:t>)</a:t>
            </a:r>
            <a:endParaRPr lang="en-US" dirty="0"/>
          </a:p>
          <a:p>
            <a:pPr algn="just"/>
            <a:endParaRPr lang="es-CO" sz="1600" dirty="0">
              <a:solidFill>
                <a:srgbClr val="000000"/>
              </a:solidFill>
              <a:latin typeface="Calibri"/>
              <a:cs typeface="Calibri"/>
            </a:endParaRPr>
          </a:p>
        </p:txBody>
      </p:sp>
      <p:pic>
        <p:nvPicPr>
          <p:cNvPr id="3" name="Picture 7" descr="Chart, diagram, box and whisker chart&#10;&#10;Description automatically generated">
            <a:extLst>
              <a:ext uri="{FF2B5EF4-FFF2-40B4-BE49-F238E27FC236}">
                <a16:creationId xmlns:a16="http://schemas.microsoft.com/office/drawing/2014/main" id="{9B9C44D8-DF1F-2FFE-79CA-4DA3E1FCA021}"/>
              </a:ext>
            </a:extLst>
          </p:cNvPr>
          <p:cNvPicPr>
            <a:picLocks noChangeAspect="1"/>
          </p:cNvPicPr>
          <p:nvPr/>
        </p:nvPicPr>
        <p:blipFill>
          <a:blip r:embed="rId3"/>
          <a:stretch>
            <a:fillRect/>
          </a:stretch>
        </p:blipFill>
        <p:spPr>
          <a:xfrm>
            <a:off x="1103400" y="1297927"/>
            <a:ext cx="6937200" cy="3596145"/>
          </a:xfrm>
          <a:prstGeom prst="rect">
            <a:avLst/>
          </a:prstGeom>
        </p:spPr>
      </p:pic>
      <p:sp>
        <p:nvSpPr>
          <p:cNvPr id="10" name="Rectángulo 3">
            <a:extLst>
              <a:ext uri="{FF2B5EF4-FFF2-40B4-BE49-F238E27FC236}">
                <a16:creationId xmlns:a16="http://schemas.microsoft.com/office/drawing/2014/main" id="{FBB92BA7-D39D-4B76-8294-D52A22282661}"/>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Título 1">
            <a:extLst>
              <a:ext uri="{FF2B5EF4-FFF2-40B4-BE49-F238E27FC236}">
                <a16:creationId xmlns:a16="http://schemas.microsoft.com/office/drawing/2014/main" id="{5C0A1070-A5FC-4E35-A79A-1DD4768E581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Marcador de número de diapositiva 3">
            <a:extLst>
              <a:ext uri="{FF2B5EF4-FFF2-40B4-BE49-F238E27FC236}">
                <a16:creationId xmlns:a16="http://schemas.microsoft.com/office/drawing/2014/main" id="{ADEC49D8-F67B-4B78-BCA1-B4C470961ACB}"/>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Tree>
    <p:extLst>
      <p:ext uri="{BB962C8B-B14F-4D97-AF65-F5344CB8AC3E}">
        <p14:creationId xmlns:p14="http://schemas.microsoft.com/office/powerpoint/2010/main" val="235028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PWM (Pulse-</a:t>
            </a:r>
            <a:r>
              <a:rPr lang="es-ES" b="1" dirty="0" err="1">
                <a:solidFill>
                  <a:srgbClr val="2C5697"/>
                </a:solidFill>
                <a:latin typeface="Arial"/>
                <a:ea typeface="+mn-lt"/>
                <a:cs typeface="Arial"/>
                <a:sym typeface="Times New Roman"/>
              </a:rPr>
              <a:t>Width</a:t>
            </a:r>
            <a:r>
              <a:rPr lang="es-ES" b="1" dirty="0">
                <a:solidFill>
                  <a:srgbClr val="2C5697"/>
                </a:solidFill>
                <a:latin typeface="Arial"/>
                <a:ea typeface="+mn-lt"/>
                <a:cs typeface="Arial"/>
                <a:sym typeface="Times New Roman"/>
              </a:rPr>
              <a:t> </a:t>
            </a:r>
            <a:r>
              <a:rPr lang="es-ES" b="1" dirty="0" err="1">
                <a:solidFill>
                  <a:srgbClr val="2C5697"/>
                </a:solidFill>
                <a:latin typeface="Arial"/>
                <a:ea typeface="+mn-lt"/>
                <a:cs typeface="Arial"/>
                <a:sym typeface="Times New Roman"/>
              </a:rPr>
              <a:t>Modulation</a:t>
            </a:r>
            <a:r>
              <a:rPr lang="es-ES" b="1" dirty="0">
                <a:solidFill>
                  <a:srgbClr val="2C5697"/>
                </a:solidFill>
                <a:latin typeface="Arial"/>
                <a:ea typeface="+mn-lt"/>
                <a:cs typeface="Arial"/>
                <a:sym typeface="Times New Roman"/>
              </a:rPr>
              <a:t>)</a:t>
            </a:r>
            <a:endParaRPr lang="en-US" dirty="0"/>
          </a:p>
          <a:p>
            <a:pPr algn="just"/>
            <a:endParaRPr lang="es-CO" sz="1600" dirty="0">
              <a:solidFill>
                <a:srgbClr val="000000"/>
              </a:solidFill>
              <a:latin typeface="Calibri"/>
              <a:cs typeface="Calibri"/>
            </a:endParaRPr>
          </a:p>
        </p:txBody>
      </p:sp>
      <p:pic>
        <p:nvPicPr>
          <p:cNvPr id="8" name="Picture 8" descr="Diagram&#10;&#10;Description automatically generated">
            <a:extLst>
              <a:ext uri="{FF2B5EF4-FFF2-40B4-BE49-F238E27FC236}">
                <a16:creationId xmlns:a16="http://schemas.microsoft.com/office/drawing/2014/main" id="{81491871-B128-39EE-A463-CB0057B63CC4}"/>
              </a:ext>
            </a:extLst>
          </p:cNvPr>
          <p:cNvPicPr>
            <a:picLocks noChangeAspect="1"/>
          </p:cNvPicPr>
          <p:nvPr/>
        </p:nvPicPr>
        <p:blipFill>
          <a:blip r:embed="rId3"/>
          <a:stretch>
            <a:fillRect/>
          </a:stretch>
        </p:blipFill>
        <p:spPr>
          <a:xfrm>
            <a:off x="869400" y="1457449"/>
            <a:ext cx="7414200" cy="3358102"/>
          </a:xfrm>
          <a:prstGeom prst="rect">
            <a:avLst/>
          </a:prstGeom>
        </p:spPr>
      </p:pic>
      <p:sp>
        <p:nvSpPr>
          <p:cNvPr id="10" name="Rectangle 9">
            <a:extLst>
              <a:ext uri="{FF2B5EF4-FFF2-40B4-BE49-F238E27FC236}">
                <a16:creationId xmlns:a16="http://schemas.microsoft.com/office/drawing/2014/main" id="{64BB93E2-395E-3273-A88D-E99CB3A1BEBA}"/>
              </a:ext>
            </a:extLst>
          </p:cNvPr>
          <p:cNvSpPr/>
          <p:nvPr/>
        </p:nvSpPr>
        <p:spPr>
          <a:xfrm>
            <a:off x="7210800" y="3853799"/>
            <a:ext cx="1130400" cy="914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ángulo 3">
            <a:extLst>
              <a:ext uri="{FF2B5EF4-FFF2-40B4-BE49-F238E27FC236}">
                <a16:creationId xmlns:a16="http://schemas.microsoft.com/office/drawing/2014/main" id="{7682D40B-FF91-40A8-AC97-8221FA54E80A}"/>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Título 1">
            <a:extLst>
              <a:ext uri="{FF2B5EF4-FFF2-40B4-BE49-F238E27FC236}">
                <a16:creationId xmlns:a16="http://schemas.microsoft.com/office/drawing/2014/main" id="{85DF4121-6CA3-4BE1-943A-1580D931205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Marcador de número de diapositiva 3">
            <a:extLst>
              <a:ext uri="{FF2B5EF4-FFF2-40B4-BE49-F238E27FC236}">
                <a16:creationId xmlns:a16="http://schemas.microsoft.com/office/drawing/2014/main" id="{24D63CE8-C44C-495A-A836-3A45CC77F470}"/>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Tree>
    <p:extLst>
      <p:ext uri="{BB962C8B-B14F-4D97-AF65-F5344CB8AC3E}">
        <p14:creationId xmlns:p14="http://schemas.microsoft.com/office/powerpoint/2010/main" val="2296656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BAB5A935-9CF5-476C-C82E-74310AC76E0D}"/>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14C1F1F8-B21E-9B50-9AE5-1168014E3E3C}"/>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Estructura onda triangular</a:t>
            </a:r>
            <a:endParaRPr lang="en-US" dirty="0"/>
          </a:p>
          <a:p>
            <a:pPr algn="just"/>
            <a:endParaRPr lang="es-CO" sz="1600" dirty="0">
              <a:solidFill>
                <a:srgbClr val="000000"/>
              </a:solidFill>
              <a:latin typeface="Calibri"/>
              <a:cs typeface="Calibri"/>
            </a:endParaRPr>
          </a:p>
        </p:txBody>
      </p:sp>
      <p:sp>
        <p:nvSpPr>
          <p:cNvPr id="6" name="Rectángulo 3">
            <a:extLst>
              <a:ext uri="{FF2B5EF4-FFF2-40B4-BE49-F238E27FC236}">
                <a16:creationId xmlns:a16="http://schemas.microsoft.com/office/drawing/2014/main" id="{4F2B696E-C249-DD00-0757-E3DF1D68D55A}"/>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67CF87C2-1624-92A2-78A7-D67D6D76275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975039B9-9C9E-6219-F8D1-D0F7EB30E576}"/>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pic>
        <p:nvPicPr>
          <p:cNvPr id="3074" name="Picture 2">
            <a:extLst>
              <a:ext uri="{FF2B5EF4-FFF2-40B4-BE49-F238E27FC236}">
                <a16:creationId xmlns:a16="http://schemas.microsoft.com/office/drawing/2014/main" id="{4D6F8549-1A78-C79A-26BC-641A5BD7AD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40"/>
          <a:stretch>
            <a:fillRect/>
          </a:stretch>
        </p:blipFill>
        <p:spPr bwMode="auto">
          <a:xfrm>
            <a:off x="523875" y="2185416"/>
            <a:ext cx="8096250" cy="265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114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triangular</a:t>
            </a:r>
            <a:endParaRPr lang="en-US" dirty="0"/>
          </a:p>
          <a:p>
            <a:pPr algn="just"/>
            <a:endParaRPr lang="es-CO" sz="1600" dirty="0">
              <a:solidFill>
                <a:srgbClr val="000000"/>
              </a:solidFill>
              <a:latin typeface="Calibri"/>
              <a:cs typeface="Calibri"/>
            </a:endParaRPr>
          </a:p>
        </p:txBody>
      </p:sp>
      <p:pic>
        <p:nvPicPr>
          <p:cNvPr id="2" name="Picture 2" descr="Chart, line chart&#10;&#10;Description automatically generated">
            <a:extLst>
              <a:ext uri="{FF2B5EF4-FFF2-40B4-BE49-F238E27FC236}">
                <a16:creationId xmlns:a16="http://schemas.microsoft.com/office/drawing/2014/main" id="{8B6EAEB3-6FB1-8AFD-7222-0C041BD353BB}"/>
              </a:ext>
            </a:extLst>
          </p:cNvPr>
          <p:cNvPicPr>
            <a:picLocks noChangeAspect="1"/>
          </p:cNvPicPr>
          <p:nvPr/>
        </p:nvPicPr>
        <p:blipFill>
          <a:blip r:embed="rId3"/>
          <a:stretch>
            <a:fillRect/>
          </a:stretch>
        </p:blipFill>
        <p:spPr>
          <a:xfrm>
            <a:off x="770400" y="1205449"/>
            <a:ext cx="7414200" cy="3358102"/>
          </a:xfrm>
          <a:prstGeom prst="rect">
            <a:avLst/>
          </a:prstGeom>
        </p:spPr>
      </p:pic>
      <p:sp>
        <p:nvSpPr>
          <p:cNvPr id="6" name="Rectangle 5">
            <a:extLst>
              <a:ext uri="{FF2B5EF4-FFF2-40B4-BE49-F238E27FC236}">
                <a16:creationId xmlns:a16="http://schemas.microsoft.com/office/drawing/2014/main" id="{CC739EC5-98B7-9F6C-8594-C63DB99B7B8E}"/>
              </a:ext>
            </a:extLst>
          </p:cNvPr>
          <p:cNvSpPr/>
          <p:nvPr/>
        </p:nvSpPr>
        <p:spPr>
          <a:xfrm>
            <a:off x="3835800" y="3952800"/>
            <a:ext cx="14634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D039F17F-4025-0C5D-4915-C5750C28CF4B}"/>
              </a:ext>
            </a:extLst>
          </p:cNvPr>
          <p:cNvSpPr/>
          <p:nvPr/>
        </p:nvSpPr>
        <p:spPr>
          <a:xfrm>
            <a:off x="7120800" y="3178799"/>
            <a:ext cx="1175400" cy="914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ángulo 3">
            <a:extLst>
              <a:ext uri="{FF2B5EF4-FFF2-40B4-BE49-F238E27FC236}">
                <a16:creationId xmlns:a16="http://schemas.microsoft.com/office/drawing/2014/main" id="{B263F989-6BCF-4A92-9938-5A3E6B1B3A33}"/>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ítulo 1">
            <a:extLst>
              <a:ext uri="{FF2B5EF4-FFF2-40B4-BE49-F238E27FC236}">
                <a16:creationId xmlns:a16="http://schemas.microsoft.com/office/drawing/2014/main" id="{0E167FD0-2526-4FCF-87EA-055670BE23A4}"/>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1" name="Marcador de número de diapositiva 3">
            <a:extLst>
              <a:ext uri="{FF2B5EF4-FFF2-40B4-BE49-F238E27FC236}">
                <a16:creationId xmlns:a16="http://schemas.microsoft.com/office/drawing/2014/main" id="{419A1EF6-D6EC-47EA-879C-2AA86B7201F3}"/>
              </a:ext>
            </a:extLst>
          </p:cNvPr>
          <p:cNvSpPr txBox="1">
            <a:spLocks/>
          </p:cNvSpPr>
          <p:nvPr/>
        </p:nvSpPr>
        <p:spPr>
          <a:xfrm>
            <a:off x="8703733" y="5885920"/>
            <a:ext cx="38994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Tree>
    <p:extLst>
      <p:ext uri="{BB962C8B-B14F-4D97-AF65-F5344CB8AC3E}">
        <p14:creationId xmlns:p14="http://schemas.microsoft.com/office/powerpoint/2010/main" val="603999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84DC1217-0533-6A45-3306-CBADDD325833}"/>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AFBEBEAE-F32A-232D-3F40-8133EEBE4F78}"/>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Estructura onda diente de sierra</a:t>
            </a:r>
            <a:endParaRPr lang="en-US" dirty="0"/>
          </a:p>
          <a:p>
            <a:pPr algn="just"/>
            <a:endParaRPr lang="es-CO" sz="1600" dirty="0">
              <a:solidFill>
                <a:srgbClr val="000000"/>
              </a:solidFill>
              <a:latin typeface="Calibri"/>
              <a:cs typeface="Calibri"/>
            </a:endParaRPr>
          </a:p>
        </p:txBody>
      </p:sp>
      <p:sp>
        <p:nvSpPr>
          <p:cNvPr id="6" name="Rectángulo 3">
            <a:extLst>
              <a:ext uri="{FF2B5EF4-FFF2-40B4-BE49-F238E27FC236}">
                <a16:creationId xmlns:a16="http://schemas.microsoft.com/office/drawing/2014/main" id="{8BECCFEF-C1C1-5E47-B7F9-2E79B488A9B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D0DE3DBD-6989-7C45-5107-0EAE3290852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D24CAC4E-5412-53C8-0F52-F550A237116A}"/>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pic>
        <p:nvPicPr>
          <p:cNvPr id="4098" name="Picture 2">
            <a:extLst>
              <a:ext uri="{FF2B5EF4-FFF2-40B4-BE49-F238E27FC236}">
                <a16:creationId xmlns:a16="http://schemas.microsoft.com/office/drawing/2014/main" id="{F9070782-0F63-1A99-D340-37A7ED95B9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40"/>
          <a:stretch>
            <a:fillRect/>
          </a:stretch>
        </p:blipFill>
        <p:spPr bwMode="auto">
          <a:xfrm>
            <a:off x="528638" y="2185416"/>
            <a:ext cx="8086725" cy="265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579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ángulo 6">
            <a:extLst>
              <a:ext uri="{FF2B5EF4-FFF2-40B4-BE49-F238E27FC236}">
                <a16:creationId xmlns:a16="http://schemas.microsoft.com/office/drawing/2014/main" id="{2988A8CF-39F0-407F-B75F-DA2DDB3F668D}"/>
              </a:ext>
            </a:extLst>
          </p:cNvPr>
          <p:cNvSpPr/>
          <p:nvPr/>
        </p:nvSpPr>
        <p:spPr>
          <a:xfrm>
            <a:off x="80380" y="228891"/>
            <a:ext cx="8786340" cy="615553"/>
          </a:xfrm>
          <a:prstGeom prst="rect">
            <a:avLst/>
          </a:prstGeom>
        </p:spPr>
        <p:txBody>
          <a:bodyPr wrap="square" lIns="91440" tIns="45720" rIns="91440" bIns="45720" anchor="t">
            <a:spAutoFit/>
          </a:bodyPr>
          <a:lstStyle/>
          <a:p>
            <a:r>
              <a:rPr lang="es-ES" b="1" dirty="0">
                <a:solidFill>
                  <a:srgbClr val="2C5697"/>
                </a:solidFill>
                <a:latin typeface="Arial"/>
                <a:ea typeface="+mn-lt"/>
                <a:cs typeface="Arial"/>
                <a:sym typeface="Times New Roman"/>
              </a:rPr>
              <a:t>Señal diente de sierra</a:t>
            </a:r>
            <a:endParaRPr lang="en-US" dirty="0"/>
          </a:p>
          <a:p>
            <a:pPr algn="just"/>
            <a:endParaRPr lang="es-CO" sz="1600" dirty="0">
              <a:solidFill>
                <a:srgbClr val="000000"/>
              </a:solidFill>
              <a:latin typeface="Calibri"/>
              <a:cs typeface="Calibri"/>
            </a:endParaRPr>
          </a:p>
        </p:txBody>
      </p:sp>
      <p:pic>
        <p:nvPicPr>
          <p:cNvPr id="2" name="Picture 2" descr="Chart, line chart&#10;&#10;Description automatically generated">
            <a:extLst>
              <a:ext uri="{FF2B5EF4-FFF2-40B4-BE49-F238E27FC236}">
                <a16:creationId xmlns:a16="http://schemas.microsoft.com/office/drawing/2014/main" id="{8B6EAEB3-6FB1-8AFD-7222-0C041BD353BB}"/>
              </a:ext>
            </a:extLst>
          </p:cNvPr>
          <p:cNvPicPr>
            <a:picLocks noChangeAspect="1"/>
          </p:cNvPicPr>
          <p:nvPr/>
        </p:nvPicPr>
        <p:blipFill>
          <a:blip r:embed="rId3"/>
          <a:stretch>
            <a:fillRect/>
          </a:stretch>
        </p:blipFill>
        <p:spPr>
          <a:xfrm>
            <a:off x="770400" y="1205449"/>
            <a:ext cx="7414200" cy="3358102"/>
          </a:xfrm>
          <a:prstGeom prst="rect">
            <a:avLst/>
          </a:prstGeom>
        </p:spPr>
      </p:pic>
      <p:sp>
        <p:nvSpPr>
          <p:cNvPr id="6" name="Rectangle 5">
            <a:extLst>
              <a:ext uri="{FF2B5EF4-FFF2-40B4-BE49-F238E27FC236}">
                <a16:creationId xmlns:a16="http://schemas.microsoft.com/office/drawing/2014/main" id="{CC739EC5-98B7-9F6C-8594-C63DB99B7B8E}"/>
              </a:ext>
            </a:extLst>
          </p:cNvPr>
          <p:cNvSpPr/>
          <p:nvPr/>
        </p:nvSpPr>
        <p:spPr>
          <a:xfrm>
            <a:off x="3835800" y="3952800"/>
            <a:ext cx="1463400" cy="9144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3" name="Picture 7" descr="A picture containing shape&#10;&#10;Description automatically generated">
            <a:extLst>
              <a:ext uri="{FF2B5EF4-FFF2-40B4-BE49-F238E27FC236}">
                <a16:creationId xmlns:a16="http://schemas.microsoft.com/office/drawing/2014/main" id="{E2EDEECC-D6D7-9497-D57B-ED702B6A7830}"/>
              </a:ext>
            </a:extLst>
          </p:cNvPr>
          <p:cNvPicPr>
            <a:picLocks noChangeAspect="1"/>
          </p:cNvPicPr>
          <p:nvPr/>
        </p:nvPicPr>
        <p:blipFill>
          <a:blip r:embed="rId4"/>
          <a:stretch>
            <a:fillRect/>
          </a:stretch>
        </p:blipFill>
        <p:spPr>
          <a:xfrm>
            <a:off x="770400" y="1049375"/>
            <a:ext cx="7414200" cy="1375250"/>
          </a:xfrm>
          <a:prstGeom prst="rect">
            <a:avLst/>
          </a:prstGeom>
        </p:spPr>
      </p:pic>
      <p:sp>
        <p:nvSpPr>
          <p:cNvPr id="9" name="Rectangle 8">
            <a:extLst>
              <a:ext uri="{FF2B5EF4-FFF2-40B4-BE49-F238E27FC236}">
                <a16:creationId xmlns:a16="http://schemas.microsoft.com/office/drawing/2014/main" id="{FC32A598-37EB-DF14-883D-131F841D5CDA}"/>
              </a:ext>
            </a:extLst>
          </p:cNvPr>
          <p:cNvSpPr/>
          <p:nvPr/>
        </p:nvSpPr>
        <p:spPr>
          <a:xfrm>
            <a:off x="7111800" y="3133799"/>
            <a:ext cx="1175400" cy="914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ángulo 3">
            <a:extLst>
              <a:ext uri="{FF2B5EF4-FFF2-40B4-BE49-F238E27FC236}">
                <a16:creationId xmlns:a16="http://schemas.microsoft.com/office/drawing/2014/main" id="{2B2AFA56-0EB0-43FF-A14A-BE5D53D0725C}"/>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Título 1">
            <a:extLst>
              <a:ext uri="{FF2B5EF4-FFF2-40B4-BE49-F238E27FC236}">
                <a16:creationId xmlns:a16="http://schemas.microsoft.com/office/drawing/2014/main" id="{8B6DF8F2-A895-4A36-AE93-09A64AEC477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Marcador de número de diapositiva 3">
            <a:extLst>
              <a:ext uri="{FF2B5EF4-FFF2-40B4-BE49-F238E27FC236}">
                <a16:creationId xmlns:a16="http://schemas.microsoft.com/office/drawing/2014/main" id="{8748CE23-81EF-41E5-BDA5-E9DB088540A6}"/>
              </a:ext>
            </a:extLst>
          </p:cNvPr>
          <p:cNvSpPr txBox="1">
            <a:spLocks/>
          </p:cNvSpPr>
          <p:nvPr/>
        </p:nvSpPr>
        <p:spPr>
          <a:xfrm>
            <a:off x="8737600" y="5885920"/>
            <a:ext cx="3560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Tree>
    <p:extLst>
      <p:ext uri="{BB962C8B-B14F-4D97-AF65-F5344CB8AC3E}">
        <p14:creationId xmlns:p14="http://schemas.microsoft.com/office/powerpoint/2010/main" val="825494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3B6748B4-A275-3CB0-3059-18FF9D2E06B7}"/>
              </a:ext>
            </a:extLst>
          </p:cNvPr>
          <p:cNvSpPr txBox="1">
            <a:spLocks/>
          </p:cNvSpPr>
          <p:nvPr/>
        </p:nvSpPr>
        <p:spPr>
          <a:xfrm>
            <a:off x="20283" y="40627"/>
            <a:ext cx="6527800" cy="375946"/>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800" dirty="0">
                <a:ea typeface="+mj-lt"/>
                <a:cs typeface="+mj-lt"/>
              </a:rPr>
              <a:t>Conversores análogo-digital y digital-análogo </a:t>
            </a:r>
            <a:endParaRPr lang="es-ES" sz="1800" dirty="0">
              <a:cs typeface="Calibri Light"/>
            </a:endParaRPr>
          </a:p>
        </p:txBody>
      </p:sp>
      <p:sp>
        <p:nvSpPr>
          <p:cNvPr id="8" name="Rectángulo 3">
            <a:extLst>
              <a:ext uri="{FF2B5EF4-FFF2-40B4-BE49-F238E27FC236}">
                <a16:creationId xmlns:a16="http://schemas.microsoft.com/office/drawing/2014/main" id="{B251BE74-B35B-4EC5-8328-53F73C7C21F5}"/>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ítulo 1">
            <a:extLst>
              <a:ext uri="{FF2B5EF4-FFF2-40B4-BE49-F238E27FC236}">
                <a16:creationId xmlns:a16="http://schemas.microsoft.com/office/drawing/2014/main" id="{D092DA5B-4E88-4961-985A-CE53BE0F828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2" name="Marcador de número de diapositiva 3">
            <a:extLst>
              <a:ext uri="{FF2B5EF4-FFF2-40B4-BE49-F238E27FC236}">
                <a16:creationId xmlns:a16="http://schemas.microsoft.com/office/drawing/2014/main" id="{3DB61254-74E1-4A15-B069-C94EEB6C0112}"/>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pic>
        <p:nvPicPr>
          <p:cNvPr id="5122" name="Picture 2" descr="2 vectores de stock y arte vectorial de Conversor digital ...">
            <a:extLst>
              <a:ext uri="{FF2B5EF4-FFF2-40B4-BE49-F238E27FC236}">
                <a16:creationId xmlns:a16="http://schemas.microsoft.com/office/drawing/2014/main" id="{B1E33D7F-5CBC-6CA8-BF06-94DF18CD7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0074" y="768096"/>
            <a:ext cx="6203852" cy="403250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C0E9F33-CFF4-FBBE-2DCB-7694183D150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8958" b="9543"/>
          <a:stretch>
            <a:fillRect/>
          </a:stretch>
        </p:blipFill>
        <p:spPr bwMode="auto">
          <a:xfrm>
            <a:off x="3301079" y="4863101"/>
            <a:ext cx="2541841" cy="9715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535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ángulo 6">
            <a:extLst>
              <a:ext uri="{FF2B5EF4-FFF2-40B4-BE49-F238E27FC236}">
                <a16:creationId xmlns:a16="http://schemas.microsoft.com/office/drawing/2014/main" id="{E13DF545-FCCC-4673-B966-9E084EF29C8C}"/>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Conversor ADC/DAC</a:t>
            </a:r>
            <a:endParaRPr lang="en-US" dirty="0"/>
          </a:p>
        </p:txBody>
      </p:sp>
      <p:sp>
        <p:nvSpPr>
          <p:cNvPr id="37" name="Rectángulo 3">
            <a:extLst>
              <a:ext uri="{FF2B5EF4-FFF2-40B4-BE49-F238E27FC236}">
                <a16:creationId xmlns:a16="http://schemas.microsoft.com/office/drawing/2014/main" id="{24D077F2-8884-42CB-BD65-63E6708C089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Título 1">
            <a:extLst>
              <a:ext uri="{FF2B5EF4-FFF2-40B4-BE49-F238E27FC236}">
                <a16:creationId xmlns:a16="http://schemas.microsoft.com/office/drawing/2014/main" id="{0498E9C4-E66C-4507-BF47-CF675C312B0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39" name="Marcador de número de diapositiva 3">
            <a:extLst>
              <a:ext uri="{FF2B5EF4-FFF2-40B4-BE49-F238E27FC236}">
                <a16:creationId xmlns:a16="http://schemas.microsoft.com/office/drawing/2014/main" id="{A9A82287-A479-4921-BCAB-8945AA6E8961}"/>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pic>
        <p:nvPicPr>
          <p:cNvPr id="3" name="Imagen 2" descr="Diagrama&#10;&#10;El contenido generado por IA puede ser incorrecto.">
            <a:extLst>
              <a:ext uri="{FF2B5EF4-FFF2-40B4-BE49-F238E27FC236}">
                <a16:creationId xmlns:a16="http://schemas.microsoft.com/office/drawing/2014/main" id="{DB112B1B-BDDC-4FBD-09E6-CDB1BEDA09ED}"/>
              </a:ext>
            </a:extLst>
          </p:cNvPr>
          <p:cNvPicPr>
            <a:picLocks noChangeAspect="1"/>
          </p:cNvPicPr>
          <p:nvPr/>
        </p:nvPicPr>
        <p:blipFill>
          <a:blip r:embed="rId4"/>
          <a:stretch>
            <a:fillRect/>
          </a:stretch>
        </p:blipFill>
        <p:spPr>
          <a:xfrm>
            <a:off x="1319212" y="1065410"/>
            <a:ext cx="6505575" cy="1771650"/>
          </a:xfrm>
          <a:prstGeom prst="rect">
            <a:avLst/>
          </a:prstGeom>
        </p:spPr>
      </p:pic>
      <p:pic>
        <p:nvPicPr>
          <p:cNvPr id="6148" name="Picture 4">
            <a:extLst>
              <a:ext uri="{FF2B5EF4-FFF2-40B4-BE49-F238E27FC236}">
                <a16:creationId xmlns:a16="http://schemas.microsoft.com/office/drawing/2014/main" id="{E97D6704-4160-11B3-3A5C-2A4A6C26AE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7355"/>
          <a:stretch>
            <a:fillRect/>
          </a:stretch>
        </p:blipFill>
        <p:spPr bwMode="auto">
          <a:xfrm>
            <a:off x="3622701" y="3733844"/>
            <a:ext cx="5173827" cy="173514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D2EA021E-15A6-088B-6D91-D45FE879732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702" t="5117" r="12809"/>
          <a:stretch>
            <a:fillRect/>
          </a:stretch>
        </p:blipFill>
        <p:spPr bwMode="auto">
          <a:xfrm>
            <a:off x="448056" y="3243140"/>
            <a:ext cx="2807208" cy="242773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94455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1CCF4-723A-FECA-4468-F23E5A781A5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0F07378-25CC-233B-95C0-ABEAF74B9391}"/>
              </a:ext>
            </a:extLst>
          </p:cNvPr>
          <p:cNvPicPr>
            <a:picLocks noChangeAspect="1"/>
          </p:cNvPicPr>
          <p:nvPr/>
        </p:nvPicPr>
        <p:blipFill>
          <a:blip r:embed="rId4"/>
          <a:stretch>
            <a:fillRect/>
          </a:stretch>
        </p:blipFill>
        <p:spPr>
          <a:xfrm>
            <a:off x="280368" y="2006522"/>
            <a:ext cx="2733110" cy="2049833"/>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6545CAE-4BEA-E21B-29EA-AD4608A6D507}"/>
                  </a:ext>
                </a:extLst>
              </p:cNvPr>
              <p:cNvSpPr txBox="1"/>
              <p:nvPr/>
            </p:nvSpPr>
            <p:spPr>
              <a:xfrm>
                <a:off x="594080" y="4289682"/>
                <a:ext cx="203148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𝐴𝑠𝑖𝑛</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rPr>
                        <m:t>)</m:t>
                      </m:r>
                    </m:oMath>
                  </m:oMathPara>
                </a14:m>
                <a:endParaRPr lang="en-US" dirty="0"/>
              </a:p>
            </p:txBody>
          </p:sp>
        </mc:Choice>
        <mc:Fallback xmlns="">
          <p:sp>
            <p:nvSpPr>
              <p:cNvPr id="8" name="CuadroTexto 7">
                <a:extLst>
                  <a:ext uri="{FF2B5EF4-FFF2-40B4-BE49-F238E27FC236}">
                    <a16:creationId xmlns:a16="http://schemas.microsoft.com/office/drawing/2014/main" id="{E6545CAE-4BEA-E21B-29EA-AD4608A6D507}"/>
                  </a:ext>
                </a:extLst>
              </p:cNvPr>
              <p:cNvSpPr txBox="1">
                <a:spLocks noRot="1" noChangeAspect="1" noMove="1" noResize="1" noEditPoints="1" noAdjustHandles="1" noChangeArrowheads="1" noChangeShapeType="1" noTextEdit="1"/>
              </p:cNvSpPr>
              <p:nvPr/>
            </p:nvSpPr>
            <p:spPr>
              <a:xfrm>
                <a:off x="594080" y="4289682"/>
                <a:ext cx="2031482" cy="276999"/>
              </a:xfrm>
              <a:prstGeom prst="rect">
                <a:avLst/>
              </a:prstGeom>
              <a:blipFill>
                <a:blip r:embed="rId5"/>
                <a:stretch>
                  <a:fillRect t="-4444" b="-3555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B9C18AAE-ECF7-91F8-31CC-6D7418F6BFB1}"/>
                  </a:ext>
                </a:extLst>
              </p:cNvPr>
              <p:cNvSpPr txBox="1"/>
              <p:nvPr/>
            </p:nvSpPr>
            <p:spPr>
              <a:xfrm>
                <a:off x="1411243" y="4721995"/>
                <a:ext cx="123279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𝑓</m:t>
                      </m:r>
                    </m:oMath>
                  </m:oMathPara>
                </a14:m>
                <a:endParaRPr lang="en-US" dirty="0"/>
              </a:p>
            </p:txBody>
          </p:sp>
        </mc:Choice>
        <mc:Fallback xmlns="">
          <p:sp>
            <p:nvSpPr>
              <p:cNvPr id="14" name="CuadroTexto 13">
                <a:extLst>
                  <a:ext uri="{FF2B5EF4-FFF2-40B4-BE49-F238E27FC236}">
                    <a16:creationId xmlns:a16="http://schemas.microsoft.com/office/drawing/2014/main" id="{B9C18AAE-ECF7-91F8-31CC-6D7418F6BFB1}"/>
                  </a:ext>
                </a:extLst>
              </p:cNvPr>
              <p:cNvSpPr txBox="1">
                <a:spLocks noRot="1" noChangeAspect="1" noMove="1" noResize="1" noEditPoints="1" noAdjustHandles="1" noChangeArrowheads="1" noChangeShapeType="1" noTextEdit="1"/>
              </p:cNvSpPr>
              <p:nvPr/>
            </p:nvSpPr>
            <p:spPr>
              <a:xfrm>
                <a:off x="1411243" y="4721995"/>
                <a:ext cx="1232790" cy="276999"/>
              </a:xfrm>
              <a:prstGeom prst="rect">
                <a:avLst/>
              </a:prstGeom>
              <a:blipFill>
                <a:blip r:embed="rId6"/>
                <a:stretch>
                  <a:fillRect t="-4444" b="-35556"/>
                </a:stretch>
              </a:blipFill>
            </p:spPr>
            <p:txBody>
              <a:bodyPr/>
              <a:lstStyle/>
              <a:p>
                <a:r>
                  <a:rPr lang="es-CO">
                    <a:noFill/>
                  </a:rPr>
                  <a:t> </a:t>
                </a:r>
              </a:p>
            </p:txBody>
          </p:sp>
        </mc:Fallback>
      </mc:AlternateContent>
      <p:sp>
        <p:nvSpPr>
          <p:cNvPr id="13" name="Marcador de contenido 6">
            <a:extLst>
              <a:ext uri="{FF2B5EF4-FFF2-40B4-BE49-F238E27FC236}">
                <a16:creationId xmlns:a16="http://schemas.microsoft.com/office/drawing/2014/main" id="{3704E056-B465-A5A9-C32F-3AA1B32057DE}"/>
              </a:ext>
            </a:extLst>
          </p:cNvPr>
          <p:cNvSpPr txBox="1">
            <a:spLocks/>
          </p:cNvSpPr>
          <p:nvPr/>
        </p:nvSpPr>
        <p:spPr>
          <a:xfrm>
            <a:off x="3715735" y="1041856"/>
            <a:ext cx="5252730" cy="269252"/>
          </a:xfrm>
          <a:prstGeom prst="rect">
            <a:avLst/>
          </a:prstGeom>
        </p:spPr>
        <p:txBody>
          <a:bodyPr vert="horz" lIns="68580" tIns="34290" rIns="68580" bIns="34290" rtlCol="0" anchor="t">
            <a:norm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200" b="1" dirty="0">
                <a:solidFill>
                  <a:schemeClr val="accent1">
                    <a:lumMod val="75000"/>
                  </a:schemeClr>
                </a:solidFill>
              </a:rPr>
              <a:t>Dominio del tiempo    </a:t>
            </a:r>
            <a:r>
              <a:rPr lang="es-ES" sz="1200" dirty="0"/>
              <a:t>          --&gt;            </a:t>
            </a:r>
            <a:r>
              <a:rPr lang="es-ES" sz="1200" b="1" dirty="0">
                <a:solidFill>
                  <a:schemeClr val="accent1">
                    <a:lumMod val="75000"/>
                  </a:schemeClr>
                </a:solidFill>
              </a:rPr>
              <a:t>Dominio de la frecuencia</a:t>
            </a:r>
            <a:endParaRPr lang="en-US" sz="1350" b="1" dirty="0">
              <a:solidFill>
                <a:schemeClr val="accent1">
                  <a:lumMod val="75000"/>
                </a:schemeClr>
              </a:solidFill>
              <a:cs typeface="Calibri" panose="020F0502020204030204"/>
            </a:endParaRPr>
          </a:p>
        </p:txBody>
      </p:sp>
      <p:sp>
        <p:nvSpPr>
          <p:cNvPr id="18" name="TextBox 17">
            <a:extLst>
              <a:ext uri="{FF2B5EF4-FFF2-40B4-BE49-F238E27FC236}">
                <a16:creationId xmlns:a16="http://schemas.microsoft.com/office/drawing/2014/main" id="{B77C5FD0-B667-C409-C3A1-2D7BC75C39AB}"/>
              </a:ext>
            </a:extLst>
          </p:cNvPr>
          <p:cNvSpPr txBox="1"/>
          <p:nvPr/>
        </p:nvSpPr>
        <p:spPr>
          <a:xfrm>
            <a:off x="696179" y="1141606"/>
            <a:ext cx="2662918" cy="25391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s-ES" sz="1200" dirty="0"/>
              <a:t>Señales en el dominio temporal</a:t>
            </a:r>
            <a:endParaRPr lang="en-US" sz="1350" dirty="0"/>
          </a:p>
        </p:txBody>
      </p:sp>
      <p:cxnSp>
        <p:nvCxnSpPr>
          <p:cNvPr id="19" name="Straight Arrow Connector 18">
            <a:extLst>
              <a:ext uri="{FF2B5EF4-FFF2-40B4-BE49-F238E27FC236}">
                <a16:creationId xmlns:a16="http://schemas.microsoft.com/office/drawing/2014/main" id="{E455845E-0164-2DBF-398A-B40720644102}"/>
              </a:ext>
            </a:extLst>
          </p:cNvPr>
          <p:cNvCxnSpPr>
            <a:cxnSpLocks/>
          </p:cNvCxnSpPr>
          <p:nvPr/>
        </p:nvCxnSpPr>
        <p:spPr>
          <a:xfrm>
            <a:off x="1775726" y="1433902"/>
            <a:ext cx="0" cy="57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ángulo 6">
            <a:extLst>
              <a:ext uri="{FF2B5EF4-FFF2-40B4-BE49-F238E27FC236}">
                <a16:creationId xmlns:a16="http://schemas.microsoft.com/office/drawing/2014/main" id="{00147418-FFC9-DA0F-72FF-6B26DED146A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Dominio de la frecuencia</a:t>
            </a:r>
            <a:endParaRPr lang="en-US" dirty="0"/>
          </a:p>
        </p:txBody>
      </p:sp>
      <p:sp>
        <p:nvSpPr>
          <p:cNvPr id="37" name="Rectángulo 3">
            <a:extLst>
              <a:ext uri="{FF2B5EF4-FFF2-40B4-BE49-F238E27FC236}">
                <a16:creationId xmlns:a16="http://schemas.microsoft.com/office/drawing/2014/main" id="{8CDE4F5F-E2E1-7BD7-6C15-17246639068E}"/>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Título 1">
            <a:extLst>
              <a:ext uri="{FF2B5EF4-FFF2-40B4-BE49-F238E27FC236}">
                <a16:creationId xmlns:a16="http://schemas.microsoft.com/office/drawing/2014/main" id="{ADA3D1F6-C043-0236-836B-43E81F1AB95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39" name="Marcador de número de diapositiva 3">
            <a:extLst>
              <a:ext uri="{FF2B5EF4-FFF2-40B4-BE49-F238E27FC236}">
                <a16:creationId xmlns:a16="http://schemas.microsoft.com/office/drawing/2014/main" id="{248BEB27-F90E-1DBC-7ACF-B72FE0E4B001}"/>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pic>
        <p:nvPicPr>
          <p:cNvPr id="3" name="Imagen 2" descr="Puede ser una imagen de texto que dice &quot;Time Domain Sine Wave Frequency Domain Time Damped Transient f=1/T Frequency Time Square Wave au Amplitude f=1/T Frequency Time mpltuo Amplitude 1/T 3/T 5/T 1/3/T5/T7/ 7/T Impulse Frequency Time Amplitude Offset Frequency 0 Time Random Frequency Time wwthmyywwl Frequency&quot;">
            <a:extLst>
              <a:ext uri="{FF2B5EF4-FFF2-40B4-BE49-F238E27FC236}">
                <a16:creationId xmlns:a16="http://schemas.microsoft.com/office/drawing/2014/main" id="{D892DBF2-66F6-E671-131D-30CBFB2AAADA}"/>
              </a:ext>
            </a:extLst>
          </p:cNvPr>
          <p:cNvPicPr>
            <a:picLocks noChangeAspect="1"/>
          </p:cNvPicPr>
          <p:nvPr/>
        </p:nvPicPr>
        <p:blipFill>
          <a:blip r:embed="rId7">
            <a:extLst>
              <a:ext uri="{28A0092B-C50C-407E-A947-70E740481C1C}">
                <a14:useLocalDpi xmlns:a14="http://schemas.microsoft.com/office/drawing/2010/main" val="0"/>
              </a:ext>
            </a:extLst>
          </a:blip>
          <a:srcRect t="5646"/>
          <a:stretch>
            <a:fillRect/>
          </a:stretch>
        </p:blipFill>
        <p:spPr bwMode="auto">
          <a:xfrm>
            <a:off x="4443984" y="1395522"/>
            <a:ext cx="3547872" cy="4243348"/>
          </a:xfrm>
          <a:prstGeom prst="rect">
            <a:avLst/>
          </a:prstGeom>
          <a:noFill/>
          <a:ln>
            <a:noFill/>
          </a:ln>
        </p:spPr>
      </p:pic>
    </p:spTree>
    <p:custDataLst>
      <p:tags r:id="rId1"/>
    </p:custDataLst>
    <p:extLst>
      <p:ext uri="{BB962C8B-B14F-4D97-AF65-F5344CB8AC3E}">
        <p14:creationId xmlns:p14="http://schemas.microsoft.com/office/powerpoint/2010/main" val="3596106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4">
            <a:extLst>
              <a:ext uri="{FF2B5EF4-FFF2-40B4-BE49-F238E27FC236}">
                <a16:creationId xmlns:a16="http://schemas.microsoft.com/office/drawing/2014/main" id="{A0423A9B-C0C4-4364-BAF4-C8D0A20B7993}"/>
              </a:ext>
            </a:extLst>
          </p:cNvPr>
          <p:cNvPicPr>
            <a:picLocks noChangeAspect="1"/>
          </p:cNvPicPr>
          <p:nvPr/>
        </p:nvPicPr>
        <p:blipFill rotWithShape="1">
          <a:blip r:embed="rId4"/>
          <a:srcRect r="4" b="4"/>
          <a:stretch/>
        </p:blipFill>
        <p:spPr>
          <a:xfrm>
            <a:off x="8218100" y="948080"/>
            <a:ext cx="804183" cy="80418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pic>
        <p:nvPicPr>
          <p:cNvPr id="8" name="Picture 2">
            <a:extLst>
              <a:ext uri="{FF2B5EF4-FFF2-40B4-BE49-F238E27FC236}">
                <a16:creationId xmlns:a16="http://schemas.microsoft.com/office/drawing/2014/main" id="{1CBFC673-A2F6-4675-903C-64A8E53CB14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21880" y="2675246"/>
            <a:ext cx="3355651" cy="2692684"/>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contenido 6">
            <a:extLst>
              <a:ext uri="{FF2B5EF4-FFF2-40B4-BE49-F238E27FC236}">
                <a16:creationId xmlns:a16="http://schemas.microsoft.com/office/drawing/2014/main" id="{DD0097C6-5438-4462-A050-2E6345755ABC}"/>
              </a:ext>
            </a:extLst>
          </p:cNvPr>
          <p:cNvSpPr txBox="1">
            <a:spLocks/>
          </p:cNvSpPr>
          <p:nvPr/>
        </p:nvSpPr>
        <p:spPr>
          <a:xfrm>
            <a:off x="96237" y="973078"/>
            <a:ext cx="7749642" cy="930647"/>
          </a:xfrm>
          <a:prstGeom prst="rect">
            <a:avLst/>
          </a:prstGeom>
        </p:spPr>
        <p:txBody>
          <a:bodyPr vert="horz" lIns="68580" tIns="34290" rIns="68580" bIns="3429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200" dirty="0">
                <a:ea typeface="+mn-lt"/>
                <a:cs typeface="+mn-lt"/>
              </a:rPr>
              <a:t>Análisis de funciones o señales matemáticas con respecto a la frecuencia, en lugar del tiempo. </a:t>
            </a:r>
          </a:p>
          <a:p>
            <a:r>
              <a:rPr lang="es-ES" sz="1200" dirty="0"/>
              <a:t>Un gráfico en el </a:t>
            </a:r>
            <a:r>
              <a:rPr lang="es-ES" sz="1200" b="1" dirty="0">
                <a:solidFill>
                  <a:schemeClr val="accent1">
                    <a:lumMod val="75000"/>
                  </a:schemeClr>
                </a:solidFill>
              </a:rPr>
              <a:t>dominio del tiempo</a:t>
            </a:r>
            <a:r>
              <a:rPr lang="es-ES" sz="1200" dirty="0"/>
              <a:t> muestra cómo cambia una señal con el tiempo. </a:t>
            </a:r>
            <a:endParaRPr lang="es-ES" sz="2100" dirty="0"/>
          </a:p>
          <a:p>
            <a:r>
              <a:rPr lang="es-ES" sz="1200" dirty="0"/>
              <a:t>Un gráfico en el </a:t>
            </a:r>
            <a:r>
              <a:rPr lang="es-ES" sz="1200" b="1" dirty="0">
                <a:solidFill>
                  <a:schemeClr val="accent1">
                    <a:lumMod val="75000"/>
                  </a:schemeClr>
                </a:solidFill>
              </a:rPr>
              <a:t>dominio de la frecuencia</a:t>
            </a:r>
            <a:r>
              <a:rPr lang="es-ES" sz="1200" dirty="0"/>
              <a:t> muestra qué parte de la señal se encuentra dentro de cada banda de frecuencia dada en un rango de frecuencias.</a:t>
            </a:r>
            <a:endParaRPr lang="es-CO" sz="1200" dirty="0"/>
          </a:p>
        </p:txBody>
      </p:sp>
      <p:pic>
        <p:nvPicPr>
          <p:cNvPr id="3" name="Picture 2" descr="Frequency Spectrum - an overview | ScienceDirect Topics">
            <a:extLst>
              <a:ext uri="{FF2B5EF4-FFF2-40B4-BE49-F238E27FC236}">
                <a16:creationId xmlns:a16="http://schemas.microsoft.com/office/drawing/2014/main" id="{2AF449C5-B3B6-0CE4-C71D-F75A6A4F84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3296" y="3297776"/>
            <a:ext cx="3683261" cy="1609555"/>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6">
            <a:extLst>
              <a:ext uri="{FF2B5EF4-FFF2-40B4-BE49-F238E27FC236}">
                <a16:creationId xmlns:a16="http://schemas.microsoft.com/office/drawing/2014/main" id="{E78BAE37-8454-A0EA-84BE-A606853E14ED}"/>
              </a:ext>
            </a:extLst>
          </p:cNvPr>
          <p:cNvSpPr txBox="1">
            <a:spLocks/>
          </p:cNvSpPr>
          <p:nvPr/>
        </p:nvSpPr>
        <p:spPr>
          <a:xfrm>
            <a:off x="4537983" y="2591836"/>
            <a:ext cx="4191374" cy="575413"/>
          </a:xfrm>
          <a:prstGeom prst="rect">
            <a:avLst/>
          </a:prstGeom>
        </p:spPr>
        <p:txBody>
          <a:bodyPr vert="horz" lIns="68580" tIns="34290" rIns="68580" bIns="34290" rtlCol="0" anchor="t">
            <a:norm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200" dirty="0"/>
              <a:t>El </a:t>
            </a:r>
            <a:r>
              <a:rPr lang="es-ES" sz="1200" b="1" dirty="0">
                <a:solidFill>
                  <a:schemeClr val="accent1">
                    <a:lumMod val="75000"/>
                  </a:schemeClr>
                </a:solidFill>
              </a:rPr>
              <a:t>espectro de frecuencia</a:t>
            </a:r>
            <a:r>
              <a:rPr lang="es-ES" sz="1200" dirty="0"/>
              <a:t> de una señal eléctrica </a:t>
            </a:r>
            <a:r>
              <a:rPr lang="es-ES" sz="1200" b="1" dirty="0">
                <a:solidFill>
                  <a:schemeClr val="accent1">
                    <a:lumMod val="75000"/>
                  </a:schemeClr>
                </a:solidFill>
              </a:rPr>
              <a:t>es la distribución de las amplitudes de cada componente frecuencial</a:t>
            </a:r>
            <a:r>
              <a:rPr lang="es-ES" sz="1200" dirty="0"/>
              <a:t>.</a:t>
            </a:r>
            <a:endParaRPr lang="es-ES" sz="1200" dirty="0">
              <a:cs typeface="Calibri" panose="020F0502020204030204"/>
            </a:endParaRPr>
          </a:p>
        </p:txBody>
      </p:sp>
      <p:sp>
        <p:nvSpPr>
          <p:cNvPr id="10" name="Rectángulo 3">
            <a:extLst>
              <a:ext uri="{FF2B5EF4-FFF2-40B4-BE49-F238E27FC236}">
                <a16:creationId xmlns:a16="http://schemas.microsoft.com/office/drawing/2014/main" id="{3D6B6326-1F74-4964-AF7A-3D1101DA5B7F}"/>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Título 1">
            <a:extLst>
              <a:ext uri="{FF2B5EF4-FFF2-40B4-BE49-F238E27FC236}">
                <a16:creationId xmlns:a16="http://schemas.microsoft.com/office/drawing/2014/main" id="{00F880FF-27D5-43BC-84B1-7F1E1F273C5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3" name="Marcador de número de diapositiva 3">
            <a:extLst>
              <a:ext uri="{FF2B5EF4-FFF2-40B4-BE49-F238E27FC236}">
                <a16:creationId xmlns:a16="http://schemas.microsoft.com/office/drawing/2014/main" id="{6A37C137-6D28-483A-B44F-E655E3D9E0CA}"/>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19</a:t>
            </a:fld>
            <a:endParaRPr lang="es-CO" sz="1200" dirty="0">
              <a:solidFill>
                <a:schemeClr val="bg1"/>
              </a:solidFill>
            </a:endParaRPr>
          </a:p>
        </p:txBody>
      </p:sp>
      <p:sp>
        <p:nvSpPr>
          <p:cNvPr id="14" name="Rectángulo 6">
            <a:extLst>
              <a:ext uri="{FF2B5EF4-FFF2-40B4-BE49-F238E27FC236}">
                <a16:creationId xmlns:a16="http://schemas.microsoft.com/office/drawing/2014/main" id="{9A1C195A-207E-4A8C-92A8-8A1460AAA602}"/>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Dominio de la frecuencia</a:t>
            </a:r>
            <a:endParaRPr lang="en-US" dirty="0"/>
          </a:p>
        </p:txBody>
      </p:sp>
    </p:spTree>
    <p:custDataLst>
      <p:tags r:id="rId1"/>
    </p:custDataLst>
    <p:extLst>
      <p:ext uri="{BB962C8B-B14F-4D97-AF65-F5344CB8AC3E}">
        <p14:creationId xmlns:p14="http://schemas.microsoft.com/office/powerpoint/2010/main" val="2000672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Marcador de contenido 2">
            <a:extLst>
              <a:ext uri="{FF2B5EF4-FFF2-40B4-BE49-F238E27FC236}">
                <a16:creationId xmlns:a16="http://schemas.microsoft.com/office/drawing/2014/main" id="{01A62BAA-C30C-45DF-87ED-40AAAFDFF538}"/>
              </a:ext>
            </a:extLst>
          </p:cNvPr>
          <p:cNvSpPr txBox="1">
            <a:spLocks/>
          </p:cNvSpPr>
          <p:nvPr/>
        </p:nvSpPr>
        <p:spPr>
          <a:xfrm>
            <a:off x="165987" y="775147"/>
            <a:ext cx="3467120" cy="504260"/>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solidFill>
                  <a:schemeClr val="accent1">
                    <a:lumMod val="75000"/>
                  </a:schemeClr>
                </a:solidFill>
                <a:cs typeface="Calibri"/>
              </a:rPr>
              <a:t>Fourier y la suma de señales  senoidales</a:t>
            </a:r>
          </a:p>
        </p:txBody>
      </p:sp>
      <p:sp>
        <p:nvSpPr>
          <p:cNvPr id="19" name="Marcador de contenido 6">
            <a:extLst>
              <a:ext uri="{FF2B5EF4-FFF2-40B4-BE49-F238E27FC236}">
                <a16:creationId xmlns:a16="http://schemas.microsoft.com/office/drawing/2014/main" id="{2538D393-C5A7-40A3-8806-860349691F0A}"/>
              </a:ext>
            </a:extLst>
          </p:cNvPr>
          <p:cNvSpPr txBox="1">
            <a:spLocks/>
          </p:cNvSpPr>
          <p:nvPr/>
        </p:nvSpPr>
        <p:spPr>
          <a:xfrm>
            <a:off x="264091" y="1258307"/>
            <a:ext cx="4991474" cy="1107836"/>
          </a:xfrm>
          <a:prstGeom prst="rect">
            <a:avLst/>
          </a:prstGeom>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t>El científico y matemático francés Jean </a:t>
            </a:r>
            <a:r>
              <a:rPr lang="es-ES" sz="1200" dirty="0" err="1"/>
              <a:t>Baptiste</a:t>
            </a:r>
            <a:r>
              <a:rPr lang="es-ES" sz="1200" dirty="0"/>
              <a:t> Fourier (1768-1830) demostró el hecho matemático de que cualquier forma de onda </a:t>
            </a:r>
            <a:r>
              <a:rPr lang="es-ES" sz="1200" b="1" dirty="0">
                <a:solidFill>
                  <a:schemeClr val="accent1">
                    <a:lumMod val="75000"/>
                  </a:schemeClr>
                </a:solidFill>
              </a:rPr>
              <a:t>periódica</a:t>
            </a:r>
            <a:r>
              <a:rPr lang="es-ES" sz="1200" dirty="0">
                <a:solidFill>
                  <a:schemeClr val="accent1">
                    <a:lumMod val="75000"/>
                  </a:schemeClr>
                </a:solidFill>
              </a:rPr>
              <a:t> </a:t>
            </a:r>
            <a:r>
              <a:rPr lang="es-ES" sz="1200" dirty="0"/>
              <a:t>puede expresarse como la suma de un conjunto infinito de ondas sinusoidales.</a:t>
            </a:r>
          </a:p>
          <a:p>
            <a:pPr marL="0" indent="0">
              <a:buNone/>
            </a:pPr>
            <a:r>
              <a:rPr lang="es-ES" sz="1200" dirty="0">
                <a:ea typeface="+mn-lt"/>
                <a:cs typeface="+mn-lt"/>
              </a:rPr>
              <a:t>Las frecuencias de estas ondas sinusoidales deben ser múltiplos enteros de alguna frecuencia fundamental</a:t>
            </a:r>
            <a:endParaRPr lang="es-ES" sz="2100" dirty="0"/>
          </a:p>
        </p:txBody>
      </p:sp>
      <p:pic>
        <p:nvPicPr>
          <p:cNvPr id="20" name="Picture 6" descr="Credit: Getty Images/Stock Montage">
            <a:extLst>
              <a:ext uri="{FF2B5EF4-FFF2-40B4-BE49-F238E27FC236}">
                <a16:creationId xmlns:a16="http://schemas.microsoft.com/office/drawing/2014/main" id="{646BC6A0-E8FE-4088-8FBA-381C8DBA91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4608" y="2484358"/>
            <a:ext cx="1750477" cy="221436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descr="Table&#10;&#10;Description automatically generated">
            <a:extLst>
              <a:ext uri="{FF2B5EF4-FFF2-40B4-BE49-F238E27FC236}">
                <a16:creationId xmlns:a16="http://schemas.microsoft.com/office/drawing/2014/main" id="{BD43BAFE-BF9C-E93D-4BA0-AD5E94DFAB64}"/>
              </a:ext>
            </a:extLst>
          </p:cNvPr>
          <p:cNvPicPr>
            <a:picLocks noChangeAspect="1"/>
          </p:cNvPicPr>
          <p:nvPr/>
        </p:nvPicPr>
        <p:blipFill>
          <a:blip r:embed="rId5"/>
          <a:stretch>
            <a:fillRect/>
          </a:stretch>
        </p:blipFill>
        <p:spPr>
          <a:xfrm>
            <a:off x="3633107" y="2366143"/>
            <a:ext cx="1303890" cy="2871505"/>
          </a:xfrm>
          <a:prstGeom prst="rect">
            <a:avLst/>
          </a:prstGeom>
        </p:spPr>
      </p:pic>
      <p:sp>
        <p:nvSpPr>
          <p:cNvPr id="10" name="CuadroTexto 8">
            <a:extLst>
              <a:ext uri="{FF2B5EF4-FFF2-40B4-BE49-F238E27FC236}">
                <a16:creationId xmlns:a16="http://schemas.microsoft.com/office/drawing/2014/main" id="{B77B3513-F708-32E0-6276-269E1C5009AB}"/>
              </a:ext>
            </a:extLst>
          </p:cNvPr>
          <p:cNvSpPr txBox="1"/>
          <p:nvPr/>
        </p:nvSpPr>
        <p:spPr>
          <a:xfrm>
            <a:off x="2145085" y="2622661"/>
            <a:ext cx="1691462" cy="276999"/>
          </a:xfrm>
          <a:prstGeom prst="rect">
            <a:avLst/>
          </a:prstGeom>
          <a:noFill/>
        </p:spPr>
        <p:txBody>
          <a:bodyPr wrap="square" lIns="68580" tIns="34290" rIns="68580" bIns="34290" anchor="t">
            <a:spAutoFit/>
          </a:bodyPr>
          <a:lstStyle/>
          <a:p>
            <a:pPr algn="ctr"/>
            <a:r>
              <a:rPr lang="es-ES" sz="1350" b="1" dirty="0">
                <a:solidFill>
                  <a:schemeClr val="accent1">
                    <a:lumMod val="75000"/>
                  </a:schemeClr>
                </a:solidFill>
              </a:rPr>
              <a:t>Armónicos </a:t>
            </a:r>
            <a:endParaRPr lang="en-US" sz="1350" b="1" dirty="0">
              <a:solidFill>
                <a:schemeClr val="accent1">
                  <a:lumMod val="75000"/>
                </a:schemeClr>
              </a:solidFill>
              <a:cs typeface="Calibri"/>
            </a:endParaRPr>
          </a:p>
        </p:txBody>
      </p:sp>
      <p:cxnSp>
        <p:nvCxnSpPr>
          <p:cNvPr id="13" name="Conector recto de flecha 9">
            <a:extLst>
              <a:ext uri="{FF2B5EF4-FFF2-40B4-BE49-F238E27FC236}">
                <a16:creationId xmlns:a16="http://schemas.microsoft.com/office/drawing/2014/main" id="{1FCCC076-2798-2359-26E5-96DC2A7B7C7A}"/>
              </a:ext>
            </a:extLst>
          </p:cNvPr>
          <p:cNvCxnSpPr>
            <a:cxnSpLocks/>
          </p:cNvCxnSpPr>
          <p:nvPr/>
        </p:nvCxnSpPr>
        <p:spPr>
          <a:xfrm>
            <a:off x="2604770" y="2151359"/>
            <a:ext cx="70188" cy="506275"/>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ángulo 3">
            <a:extLst>
              <a:ext uri="{FF2B5EF4-FFF2-40B4-BE49-F238E27FC236}">
                <a16:creationId xmlns:a16="http://schemas.microsoft.com/office/drawing/2014/main" id="{081CD010-82B8-4A66-A1E6-7D69AB604A65}"/>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Título 1">
            <a:extLst>
              <a:ext uri="{FF2B5EF4-FFF2-40B4-BE49-F238E27FC236}">
                <a16:creationId xmlns:a16="http://schemas.microsoft.com/office/drawing/2014/main" id="{75BEBCE2-BD16-4ED1-A627-2B8A80785CB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5" name="Marcador de número de diapositiva 3">
            <a:extLst>
              <a:ext uri="{FF2B5EF4-FFF2-40B4-BE49-F238E27FC236}">
                <a16:creationId xmlns:a16="http://schemas.microsoft.com/office/drawing/2014/main" id="{DF17CD26-D4CF-4C85-B2F6-D95A64A6ECD1}"/>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20</a:t>
            </a:fld>
            <a:endParaRPr lang="es-CO" sz="1200" dirty="0">
              <a:solidFill>
                <a:schemeClr val="bg1"/>
              </a:solidFill>
            </a:endParaRPr>
          </a:p>
        </p:txBody>
      </p:sp>
      <p:sp>
        <p:nvSpPr>
          <p:cNvPr id="2" name="Rectángulo 1">
            <a:extLst>
              <a:ext uri="{FF2B5EF4-FFF2-40B4-BE49-F238E27FC236}">
                <a16:creationId xmlns:a16="http://schemas.microsoft.com/office/drawing/2014/main" id="{F8F936EF-5DA5-4AA9-98F1-C8446DD26ADE}"/>
              </a:ext>
            </a:extLst>
          </p:cNvPr>
          <p:cNvSpPr/>
          <p:nvPr/>
        </p:nvSpPr>
        <p:spPr>
          <a:xfrm>
            <a:off x="20283" y="161797"/>
            <a:ext cx="2903424" cy="369332"/>
          </a:xfrm>
          <a:prstGeom prst="rect">
            <a:avLst/>
          </a:prstGeom>
        </p:spPr>
        <p:txBody>
          <a:bodyPr wrap="none">
            <a:spAutoFit/>
          </a:bodyPr>
          <a:lstStyle/>
          <a:p>
            <a:r>
              <a:rPr lang="es-ES" b="1" dirty="0">
                <a:solidFill>
                  <a:srgbClr val="2C5697"/>
                </a:solidFill>
                <a:latin typeface="Arial"/>
                <a:cs typeface="Arial"/>
              </a:rPr>
              <a:t>Transformada de Fourier</a:t>
            </a:r>
            <a:endParaRPr lang="es-CO" dirty="0"/>
          </a:p>
        </p:txBody>
      </p:sp>
      <p:pic>
        <p:nvPicPr>
          <p:cNvPr id="4" name="Imagen 3">
            <a:extLst>
              <a:ext uri="{FF2B5EF4-FFF2-40B4-BE49-F238E27FC236}">
                <a16:creationId xmlns:a16="http://schemas.microsoft.com/office/drawing/2014/main" id="{9F9B4074-FE86-4C93-92E5-F3D199A190C2}"/>
              </a:ext>
            </a:extLst>
          </p:cNvPr>
          <p:cNvPicPr>
            <a:picLocks noChangeAspect="1"/>
          </p:cNvPicPr>
          <p:nvPr/>
        </p:nvPicPr>
        <p:blipFill>
          <a:blip r:embed="rId6"/>
          <a:stretch>
            <a:fillRect/>
          </a:stretch>
        </p:blipFill>
        <p:spPr>
          <a:xfrm>
            <a:off x="5353669" y="346463"/>
            <a:ext cx="3569609" cy="1928080"/>
          </a:xfrm>
          <a:prstGeom prst="rect">
            <a:avLst/>
          </a:prstGeom>
        </p:spPr>
      </p:pic>
      <p:pic>
        <p:nvPicPr>
          <p:cNvPr id="5" name="Imagen 4">
            <a:extLst>
              <a:ext uri="{FF2B5EF4-FFF2-40B4-BE49-F238E27FC236}">
                <a16:creationId xmlns:a16="http://schemas.microsoft.com/office/drawing/2014/main" id="{110A6736-7994-4550-BB7B-23B13A889985}"/>
              </a:ext>
            </a:extLst>
          </p:cNvPr>
          <p:cNvPicPr>
            <a:picLocks noChangeAspect="1"/>
          </p:cNvPicPr>
          <p:nvPr/>
        </p:nvPicPr>
        <p:blipFill>
          <a:blip r:embed="rId7"/>
          <a:stretch>
            <a:fillRect/>
          </a:stretch>
        </p:blipFill>
        <p:spPr>
          <a:xfrm>
            <a:off x="5353669" y="2845105"/>
            <a:ext cx="3569609" cy="2081087"/>
          </a:xfrm>
          <a:prstGeom prst="rect">
            <a:avLst/>
          </a:prstGeom>
        </p:spPr>
      </p:pic>
      <p:sp>
        <p:nvSpPr>
          <p:cNvPr id="17" name="TextBox 8">
            <a:extLst>
              <a:ext uri="{FF2B5EF4-FFF2-40B4-BE49-F238E27FC236}">
                <a16:creationId xmlns:a16="http://schemas.microsoft.com/office/drawing/2014/main" id="{2628D39A-CC97-4808-A8FA-7D9425F7F352}"/>
              </a:ext>
            </a:extLst>
          </p:cNvPr>
          <p:cNvSpPr txBox="1"/>
          <p:nvPr/>
        </p:nvSpPr>
        <p:spPr>
          <a:xfrm>
            <a:off x="5825246" y="5187111"/>
            <a:ext cx="3268436" cy="17697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r"/>
            <a:r>
              <a:rPr lang="es-ES" sz="700" dirty="0"/>
              <a:t>Fuente: </a:t>
            </a:r>
            <a:r>
              <a:rPr lang="es-ES" sz="700" dirty="0">
                <a:ea typeface="+mn-lt"/>
                <a:cs typeface="+mn-lt"/>
              </a:rPr>
              <a:t>https://musiclab.chromeexperiments.com/spectrogram/</a:t>
            </a:r>
            <a:endParaRPr lang="en-US" sz="700" dirty="0">
              <a:cs typeface="Calibri"/>
            </a:endParaRPr>
          </a:p>
        </p:txBody>
      </p:sp>
    </p:spTree>
    <p:custDataLst>
      <p:tags r:id="rId1"/>
    </p:custDataLst>
    <p:extLst>
      <p:ext uri="{BB962C8B-B14F-4D97-AF65-F5344CB8AC3E}">
        <p14:creationId xmlns:p14="http://schemas.microsoft.com/office/powerpoint/2010/main" val="2660864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Marcador de contenido 2">
            <a:extLst>
              <a:ext uri="{FF2B5EF4-FFF2-40B4-BE49-F238E27FC236}">
                <a16:creationId xmlns:a16="http://schemas.microsoft.com/office/drawing/2014/main" id="{40C22B77-720B-4F08-AF24-9D7F27FF0028}"/>
              </a:ext>
            </a:extLst>
          </p:cNvPr>
          <p:cNvSpPr>
            <a:spLocks noGrp="1"/>
          </p:cNvSpPr>
          <p:nvPr>
            <p:ph idx="1"/>
          </p:nvPr>
        </p:nvSpPr>
        <p:spPr>
          <a:xfrm>
            <a:off x="130630" y="811412"/>
            <a:ext cx="4136570" cy="1544752"/>
          </a:xfrm>
        </p:spPr>
        <p:txBody>
          <a:bodyPr vert="horz" lIns="68580" tIns="34290" rIns="68580" bIns="34290" rtlCol="0" anchor="t">
            <a:normAutofit/>
          </a:bodyPr>
          <a:lstStyle/>
          <a:p>
            <a:r>
              <a:rPr lang="es-ES" sz="1050" dirty="0"/>
              <a:t>Unidad que se utiliza para expresar </a:t>
            </a:r>
            <a:r>
              <a:rPr lang="es-ES" sz="1050" b="1" dirty="0">
                <a:solidFill>
                  <a:schemeClr val="accent1">
                    <a:lumMod val="75000"/>
                  </a:schemeClr>
                </a:solidFill>
              </a:rPr>
              <a:t>la relación</a:t>
            </a:r>
            <a:r>
              <a:rPr lang="es-ES" sz="1050" b="1" dirty="0"/>
              <a:t> </a:t>
            </a:r>
            <a:r>
              <a:rPr lang="es-ES" sz="1050" dirty="0"/>
              <a:t>entre dos valores de presión sonora, o tensión o potencia eléctrica (</a:t>
            </a:r>
            <a:r>
              <a:rPr lang="es-ES" sz="1050" u="sng" dirty="0"/>
              <a:t>no es una unidad de medida</a:t>
            </a:r>
            <a:r>
              <a:rPr lang="es-ES" sz="1050" dirty="0"/>
              <a:t>).</a:t>
            </a:r>
            <a:endParaRPr lang="en-US" sz="1050" dirty="0">
              <a:cs typeface="Calibri" panose="020F0502020204030204"/>
            </a:endParaRPr>
          </a:p>
          <a:p>
            <a:r>
              <a:rPr lang="es-ES" sz="1050" dirty="0">
                <a:ea typeface="+mn-lt"/>
                <a:cs typeface="+mn-lt"/>
              </a:rPr>
              <a:t>Es una expresión que no es lineal, </a:t>
            </a:r>
            <a:r>
              <a:rPr lang="es-ES" sz="1050" b="1" dirty="0">
                <a:solidFill>
                  <a:schemeClr val="accent1">
                    <a:lumMod val="75000"/>
                  </a:schemeClr>
                </a:solidFill>
                <a:ea typeface="+mn-lt"/>
                <a:cs typeface="+mn-lt"/>
              </a:rPr>
              <a:t>es logarítmica</a:t>
            </a:r>
            <a:r>
              <a:rPr lang="es-ES" sz="1050" dirty="0">
                <a:ea typeface="+mn-lt"/>
                <a:cs typeface="+mn-lt"/>
              </a:rPr>
              <a:t>, y matemáticamente escalar. </a:t>
            </a:r>
          </a:p>
          <a:p>
            <a:r>
              <a:rPr lang="es-ES" sz="1050" dirty="0">
                <a:cs typeface="Calibri"/>
              </a:rPr>
              <a:t>Es la unidad con la que se suele medir la intensidad sonora, donde </a:t>
            </a:r>
            <a:r>
              <a:rPr lang="es-ES" sz="1050" dirty="0">
                <a:ea typeface="+mn-lt"/>
                <a:cs typeface="+mn-lt"/>
              </a:rPr>
              <a:t>el nivel de referencia </a:t>
            </a:r>
            <a:r>
              <a:rPr lang="es-ES" sz="1050" b="1" dirty="0">
                <a:solidFill>
                  <a:schemeClr val="accent1">
                    <a:lumMod val="75000"/>
                  </a:schemeClr>
                </a:solidFill>
                <a:ea typeface="+mn-lt"/>
                <a:cs typeface="+mn-lt"/>
              </a:rPr>
              <a:t>0 dB</a:t>
            </a:r>
            <a:r>
              <a:rPr lang="es-ES" sz="1050" dirty="0">
                <a:ea typeface="+mn-lt"/>
                <a:cs typeface="+mn-lt"/>
              </a:rPr>
              <a:t> corresponde al mínimo nivel de sonido que puede detectar un ser humano, y </a:t>
            </a:r>
            <a:r>
              <a:rPr lang="es-ES" sz="1050" b="1" dirty="0">
                <a:solidFill>
                  <a:schemeClr val="accent1">
                    <a:lumMod val="75000"/>
                  </a:schemeClr>
                </a:solidFill>
                <a:ea typeface="+mn-lt"/>
                <a:cs typeface="+mn-lt"/>
              </a:rPr>
              <a:t>120 dB</a:t>
            </a:r>
            <a:r>
              <a:rPr lang="es-ES" sz="1050" dirty="0">
                <a:ea typeface="+mn-lt"/>
                <a:cs typeface="+mn-lt"/>
              </a:rPr>
              <a:t> el máximo (nocivo).</a:t>
            </a:r>
            <a:endParaRPr lang="es-ES" sz="1050" dirty="0">
              <a:cs typeface="Calibri"/>
            </a:endParaRPr>
          </a:p>
        </p:txBody>
      </p:sp>
      <p:sp>
        <p:nvSpPr>
          <p:cNvPr id="9" name="TextBox 8">
            <a:extLst>
              <a:ext uri="{FF2B5EF4-FFF2-40B4-BE49-F238E27FC236}">
                <a16:creationId xmlns:a16="http://schemas.microsoft.com/office/drawing/2014/main" id="{EE6BE839-58EC-40E3-8F16-6E66C6C8ED46}"/>
              </a:ext>
            </a:extLst>
          </p:cNvPr>
          <p:cNvSpPr txBox="1"/>
          <p:nvPr/>
        </p:nvSpPr>
        <p:spPr>
          <a:xfrm>
            <a:off x="5875564" y="4642009"/>
            <a:ext cx="3268436" cy="17697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r"/>
            <a:r>
              <a:rPr lang="es-ES" sz="700" dirty="0"/>
              <a:t>https://grupo-microanalisis.com/evaluacion-de-la-exposicion-ocupacional-al-ruido/</a:t>
            </a:r>
            <a:endParaRPr lang="en-US" sz="700" dirty="0">
              <a:cs typeface="Calibri"/>
            </a:endParaRPr>
          </a:p>
        </p:txBody>
      </p:sp>
      <p:sp>
        <p:nvSpPr>
          <p:cNvPr id="17" name="TextBox 16">
            <a:extLst>
              <a:ext uri="{FF2B5EF4-FFF2-40B4-BE49-F238E27FC236}">
                <a16:creationId xmlns:a16="http://schemas.microsoft.com/office/drawing/2014/main" id="{C27F591C-0681-4044-13BC-B284FFBB15E1}"/>
              </a:ext>
            </a:extLst>
          </p:cNvPr>
          <p:cNvSpPr txBox="1"/>
          <p:nvPr/>
        </p:nvSpPr>
        <p:spPr>
          <a:xfrm>
            <a:off x="5152434" y="642348"/>
            <a:ext cx="3724275" cy="20774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900" b="1" cap="all" dirty="0">
                <a:solidFill>
                  <a:srgbClr val="853E42"/>
                </a:solidFill>
                <a:latin typeface="Rajdhani"/>
              </a:rPr>
              <a:t>INTENSIDAD DEL SONIDO PERCIBIDA POR EL OÍDO HUMANO</a:t>
            </a:r>
          </a:p>
        </p:txBody>
      </p:sp>
      <p:sp>
        <p:nvSpPr>
          <p:cNvPr id="22" name="TextBox 21">
            <a:extLst>
              <a:ext uri="{FF2B5EF4-FFF2-40B4-BE49-F238E27FC236}">
                <a16:creationId xmlns:a16="http://schemas.microsoft.com/office/drawing/2014/main" id="{9806D066-346F-E596-C4E7-5988407372DD}"/>
              </a:ext>
            </a:extLst>
          </p:cNvPr>
          <p:cNvSpPr txBox="1"/>
          <p:nvPr/>
        </p:nvSpPr>
        <p:spPr>
          <a:xfrm>
            <a:off x="981377" y="2422384"/>
            <a:ext cx="2057400" cy="20774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900" b="1" cap="all" dirty="0">
                <a:solidFill>
                  <a:srgbClr val="853E42"/>
                </a:solidFill>
                <a:latin typeface="Rajdhani"/>
              </a:rPr>
              <a:t>CURVAS DE AUDICIÓN HUMANAS</a:t>
            </a:r>
            <a:endParaRPr lang="en-US" sz="1350" dirty="0"/>
          </a:p>
        </p:txBody>
      </p:sp>
      <p:pic>
        <p:nvPicPr>
          <p:cNvPr id="30" name="Picture 30" descr="Diagram, schematic&#10;&#10;Description automatically generated">
            <a:extLst>
              <a:ext uri="{FF2B5EF4-FFF2-40B4-BE49-F238E27FC236}">
                <a16:creationId xmlns:a16="http://schemas.microsoft.com/office/drawing/2014/main" id="{313576B0-710C-2057-1958-60027981B1A5}"/>
              </a:ext>
            </a:extLst>
          </p:cNvPr>
          <p:cNvPicPr>
            <a:picLocks noChangeAspect="1"/>
          </p:cNvPicPr>
          <p:nvPr/>
        </p:nvPicPr>
        <p:blipFill>
          <a:blip r:embed="rId4"/>
          <a:stretch>
            <a:fillRect/>
          </a:stretch>
        </p:blipFill>
        <p:spPr>
          <a:xfrm>
            <a:off x="695628" y="2817398"/>
            <a:ext cx="2805793" cy="1859284"/>
          </a:xfrm>
          <a:prstGeom prst="rect">
            <a:avLst/>
          </a:prstGeom>
        </p:spPr>
      </p:pic>
      <p:sp>
        <p:nvSpPr>
          <p:cNvPr id="31" name="TextBox 30">
            <a:extLst>
              <a:ext uri="{FF2B5EF4-FFF2-40B4-BE49-F238E27FC236}">
                <a16:creationId xmlns:a16="http://schemas.microsoft.com/office/drawing/2014/main" id="{63E330BC-0096-1810-BF54-1950DD659C37}"/>
              </a:ext>
            </a:extLst>
          </p:cNvPr>
          <p:cNvSpPr txBox="1"/>
          <p:nvPr/>
        </p:nvSpPr>
        <p:spPr>
          <a:xfrm>
            <a:off x="152552" y="4907084"/>
            <a:ext cx="4853668" cy="23083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214313" indent="-214313">
              <a:buFont typeface="Arial"/>
              <a:buChar char="•"/>
            </a:pPr>
            <a:r>
              <a:rPr lang="es-ES" sz="1050" dirty="0"/>
              <a:t>El valor en dB se puede relacionar con el valor RMS de voltaje mediante:</a:t>
            </a:r>
            <a:endParaRPr lang="en-US" sz="1350" dirty="0">
              <a:cs typeface="Calibri" panose="020F0502020204030204"/>
            </a:endParaRPr>
          </a:p>
        </p:txBody>
      </p:sp>
      <p:pic>
        <p:nvPicPr>
          <p:cNvPr id="32" name="Picture 32" descr="Text, whiteboard&#10;&#10;Description automatically generated">
            <a:extLst>
              <a:ext uri="{FF2B5EF4-FFF2-40B4-BE49-F238E27FC236}">
                <a16:creationId xmlns:a16="http://schemas.microsoft.com/office/drawing/2014/main" id="{7F86EEF4-C1EB-8E8F-CC16-9EC7343BAC20}"/>
              </a:ext>
            </a:extLst>
          </p:cNvPr>
          <p:cNvPicPr>
            <a:picLocks noChangeAspect="1"/>
          </p:cNvPicPr>
          <p:nvPr/>
        </p:nvPicPr>
        <p:blipFill>
          <a:blip r:embed="rId5"/>
          <a:stretch>
            <a:fillRect/>
          </a:stretch>
        </p:blipFill>
        <p:spPr>
          <a:xfrm>
            <a:off x="377523" y="5204365"/>
            <a:ext cx="3989613" cy="571500"/>
          </a:xfrm>
          <a:prstGeom prst="rect">
            <a:avLst/>
          </a:prstGeom>
        </p:spPr>
      </p:pic>
      <p:sp>
        <p:nvSpPr>
          <p:cNvPr id="11" name="Rectángulo 3">
            <a:extLst>
              <a:ext uri="{FF2B5EF4-FFF2-40B4-BE49-F238E27FC236}">
                <a16:creationId xmlns:a16="http://schemas.microsoft.com/office/drawing/2014/main" id="{7DA4C1A0-C3B5-4BAD-A493-7A4FA7FC6C1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Título 1">
            <a:extLst>
              <a:ext uri="{FF2B5EF4-FFF2-40B4-BE49-F238E27FC236}">
                <a16:creationId xmlns:a16="http://schemas.microsoft.com/office/drawing/2014/main" id="{F162039C-A326-4CBE-A174-EA6A5F75F53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3" name="Marcador de número de diapositiva 3">
            <a:extLst>
              <a:ext uri="{FF2B5EF4-FFF2-40B4-BE49-F238E27FC236}">
                <a16:creationId xmlns:a16="http://schemas.microsoft.com/office/drawing/2014/main" id="{518F45B7-12DD-49FB-B977-21C0516B5EA9}"/>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21</a:t>
            </a:fld>
            <a:endParaRPr lang="es-CO" sz="1200" dirty="0">
              <a:solidFill>
                <a:schemeClr val="bg1"/>
              </a:solidFill>
            </a:endParaRPr>
          </a:p>
        </p:txBody>
      </p:sp>
      <p:sp>
        <p:nvSpPr>
          <p:cNvPr id="14" name="Rectángulo 6">
            <a:extLst>
              <a:ext uri="{FF2B5EF4-FFF2-40B4-BE49-F238E27FC236}">
                <a16:creationId xmlns:a16="http://schemas.microsoft.com/office/drawing/2014/main" id="{3CF4C8CC-681B-49BE-87B8-924D5E988C43}"/>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rPr>
              <a:t>Decibelios y</a:t>
            </a:r>
            <a:r>
              <a:rPr lang="es-ES" b="1" dirty="0">
                <a:solidFill>
                  <a:srgbClr val="2C5697"/>
                </a:solidFill>
                <a:latin typeface="Arial"/>
                <a:ea typeface="+mj-lt"/>
                <a:cs typeface="Arial"/>
              </a:rPr>
              <a:t> su relación con el V</a:t>
            </a:r>
            <a:r>
              <a:rPr lang="es-ES" b="1" baseline="-25000" dirty="0">
                <a:solidFill>
                  <a:srgbClr val="2C5697"/>
                </a:solidFill>
                <a:latin typeface="Arial"/>
                <a:ea typeface="+mj-lt"/>
                <a:cs typeface="Arial"/>
              </a:rPr>
              <a:t>RMS</a:t>
            </a:r>
            <a:endParaRPr lang="en-US" dirty="0"/>
          </a:p>
        </p:txBody>
      </p:sp>
      <p:pic>
        <p:nvPicPr>
          <p:cNvPr id="7170" name="Picture 2" descr="Evaluación de la Exposición Ocupacional al Ruido">
            <a:extLst>
              <a:ext uri="{FF2B5EF4-FFF2-40B4-BE49-F238E27FC236}">
                <a16:creationId xmlns:a16="http://schemas.microsoft.com/office/drawing/2014/main" id="{4B8DF6E2-21B1-8246-32CE-96A6EBACB1A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726" r="5844"/>
          <a:stretch>
            <a:fillRect/>
          </a:stretch>
        </p:blipFill>
        <p:spPr bwMode="auto">
          <a:xfrm>
            <a:off x="4751024" y="1010538"/>
            <a:ext cx="4136570" cy="356502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43203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4">
            <a:extLst>
              <a:ext uri="{FF2B5EF4-FFF2-40B4-BE49-F238E27FC236}">
                <a16:creationId xmlns:a16="http://schemas.microsoft.com/office/drawing/2014/main" id="{A0423A9B-C0C4-4364-BAF4-C8D0A20B7993}"/>
              </a:ext>
            </a:extLst>
          </p:cNvPr>
          <p:cNvPicPr>
            <a:picLocks noChangeAspect="1"/>
          </p:cNvPicPr>
          <p:nvPr/>
        </p:nvPicPr>
        <p:blipFill rotWithShape="1">
          <a:blip r:embed="rId4"/>
          <a:srcRect r="4" b="4"/>
          <a:stretch/>
        </p:blipFill>
        <p:spPr>
          <a:xfrm>
            <a:off x="7542745" y="531129"/>
            <a:ext cx="1246415" cy="1246415"/>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9373E1B2-04A6-4F30-AD7A-9A2216D0D817}"/>
                  </a:ext>
                </a:extLst>
              </p:cNvPr>
              <p:cNvSpPr txBox="1"/>
              <p:nvPr/>
            </p:nvSpPr>
            <p:spPr>
              <a:xfrm>
                <a:off x="1722159" y="1313671"/>
                <a:ext cx="2403094"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𝑛</m:t>
                              </m:r>
                            </m:sub>
                          </m:sSub>
                          <m:r>
                            <a:rPr lang="en-US" i="1">
                              <a:latin typeface="Cambria Math" panose="02040503050406030204" pitchFamily="18" charset="0"/>
                            </a:rPr>
                            <m:t>𝑠𝑖𝑛</m:t>
                          </m:r>
                          <m:r>
                            <a:rPr lang="en-US" i="1">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rPr>
                            <m:t>)</m:t>
                          </m:r>
                        </m:e>
                      </m:nary>
                    </m:oMath>
                  </m:oMathPara>
                </a14:m>
                <a:endParaRPr lang="en-US" dirty="0"/>
              </a:p>
            </p:txBody>
          </p:sp>
        </mc:Choice>
        <mc:Fallback xmlns="">
          <p:sp>
            <p:nvSpPr>
              <p:cNvPr id="8" name="CuadroTexto 7">
                <a:extLst>
                  <a:ext uri="{FF2B5EF4-FFF2-40B4-BE49-F238E27FC236}">
                    <a16:creationId xmlns:a16="http://schemas.microsoft.com/office/drawing/2014/main" id="{9373E1B2-04A6-4F30-AD7A-9A2216D0D817}"/>
                  </a:ext>
                </a:extLst>
              </p:cNvPr>
              <p:cNvSpPr txBox="1">
                <a:spLocks noRot="1" noChangeAspect="1" noMove="1" noResize="1" noEditPoints="1" noAdjustHandles="1" noChangeArrowheads="1" noChangeShapeType="1" noTextEdit="1"/>
              </p:cNvSpPr>
              <p:nvPr/>
            </p:nvSpPr>
            <p:spPr>
              <a:xfrm>
                <a:off x="1722159" y="1313671"/>
                <a:ext cx="2403094" cy="670761"/>
              </a:xfrm>
              <a:prstGeom prst="rect">
                <a:avLst/>
              </a:prstGeom>
              <a:blipFill>
                <a:blip r:embed="rId5"/>
                <a:stretch>
                  <a:fillRect/>
                </a:stretch>
              </a:blipFill>
            </p:spPr>
            <p:txBody>
              <a:bodyPr/>
              <a:lstStyle/>
              <a:p>
                <a:r>
                  <a:rPr lang="es-CO">
                    <a:noFill/>
                  </a:rPr>
                  <a:t> </a:t>
                </a:r>
              </a:p>
            </p:txBody>
          </p:sp>
        </mc:Fallback>
      </mc:AlternateContent>
      <p:sp>
        <p:nvSpPr>
          <p:cNvPr id="10" name="Marcador de contenido 2">
            <a:extLst>
              <a:ext uri="{FF2B5EF4-FFF2-40B4-BE49-F238E27FC236}">
                <a16:creationId xmlns:a16="http://schemas.microsoft.com/office/drawing/2014/main" id="{6656F5B1-5564-1731-DE60-79F53550C6F8}"/>
              </a:ext>
            </a:extLst>
          </p:cNvPr>
          <p:cNvSpPr txBox="1">
            <a:spLocks/>
          </p:cNvSpPr>
          <p:nvPr/>
        </p:nvSpPr>
        <p:spPr>
          <a:xfrm>
            <a:off x="99716" y="780825"/>
            <a:ext cx="3467120" cy="504260"/>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solidFill>
                  <a:schemeClr val="accent1">
                    <a:lumMod val="75000"/>
                  </a:schemeClr>
                </a:solidFill>
                <a:cs typeface="Calibri"/>
              </a:rPr>
              <a:t>Fourier y la suma de señales  senoidales</a:t>
            </a:r>
          </a:p>
        </p:txBody>
      </p:sp>
      <mc:AlternateContent xmlns:mc="http://schemas.openxmlformats.org/markup-compatibility/2006" xmlns:a14="http://schemas.microsoft.com/office/drawing/2010/main">
        <mc:Choice Requires="a14">
          <p:sp>
            <p:nvSpPr>
              <p:cNvPr id="13" name="CuadroTexto 14">
                <a:extLst>
                  <a:ext uri="{FF2B5EF4-FFF2-40B4-BE49-F238E27FC236}">
                    <a16:creationId xmlns:a16="http://schemas.microsoft.com/office/drawing/2014/main" id="{F48D7FCE-6111-E0D5-0F45-96118BD527F1}"/>
                  </a:ext>
                </a:extLst>
              </p:cNvPr>
              <p:cNvSpPr txBox="1"/>
              <p:nvPr/>
            </p:nvSpPr>
            <p:spPr>
              <a:xfrm>
                <a:off x="488013" y="2071604"/>
                <a:ext cx="4871387" cy="3759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𝑛</m:t>
                          </m:r>
                        </m:sub>
                      </m:sSub>
                      <m:d>
                        <m:dPr>
                          <m:ctrlPr>
                            <a:rPr lang="en-US" sz="1600" i="1">
                              <a:solidFill>
                                <a:srgbClr val="836967"/>
                              </a:solidFill>
                              <a:latin typeface="Cambria Math" panose="02040503050406030204" pitchFamily="18" charset="0"/>
                            </a:rPr>
                          </m:ctrlPr>
                        </m:dPr>
                        <m:e>
                          <m:r>
                            <a:rPr lang="en-US" sz="1600" i="1">
                              <a:latin typeface="Cambria Math" panose="02040503050406030204" pitchFamily="18" charset="0"/>
                            </a:rPr>
                            <m:t>𝑡</m:t>
                          </m:r>
                        </m:e>
                      </m:d>
                      <m:r>
                        <a:rPr lang="en-US" sz="1600">
                          <a:latin typeface="Cambria Math" panose="02040503050406030204" pitchFamily="18" charset="0"/>
                        </a:rPr>
                        <m:t>=</m:t>
                      </m:r>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𝑛</m:t>
                          </m:r>
                          <m:r>
                            <a:rPr lang="en-US" sz="1600">
                              <a:latin typeface="Cambria Math" panose="02040503050406030204" pitchFamily="18" charset="0"/>
                            </a:rPr>
                            <m:t> </m:t>
                          </m:r>
                          <m:r>
                            <a:rPr lang="en-US" sz="1600" i="1">
                              <a:latin typeface="Cambria Math" panose="02040503050406030204" pitchFamily="18" charset="0"/>
                            </a:rPr>
                            <m:t>𝑝𝑖𝑐𝑜</m:t>
                          </m:r>
                          <m:r>
                            <a:rPr lang="en-US" sz="1600">
                              <a:latin typeface="Cambria Math" panose="02040503050406030204" pitchFamily="18" charset="0"/>
                            </a:rPr>
                            <m:t> </m:t>
                          </m:r>
                        </m:sub>
                      </m:sSub>
                      <m:r>
                        <a:rPr lang="en-US" sz="1600">
                          <a:latin typeface="Cambria Math" panose="02040503050406030204" pitchFamily="18" charset="0"/>
                        </a:rPr>
                        <m:t>∙</m:t>
                      </m:r>
                      <m:r>
                        <a:rPr lang="en-US" sz="1600" i="1">
                          <a:latin typeface="Cambria Math" panose="02040503050406030204" pitchFamily="18" charset="0"/>
                        </a:rPr>
                        <m:t>𝑠𝑒𝑛𝑜</m:t>
                      </m:r>
                      <m:d>
                        <m:dPr>
                          <m:ctrlPr>
                            <a:rPr lang="en-US" sz="1600" i="1">
                              <a:latin typeface="Cambria Math" panose="02040503050406030204" pitchFamily="18" charset="0"/>
                            </a:rPr>
                          </m:ctrlPr>
                        </m:dPr>
                        <m:e>
                          <m:r>
                            <a:rPr lang="en-US" sz="1600">
                              <a:latin typeface="Cambria Math" panose="02040503050406030204" pitchFamily="18" charset="0"/>
                            </a:rPr>
                            <m:t>2</m:t>
                          </m:r>
                          <m:r>
                            <a:rPr lang="en-US" sz="1600" i="1">
                              <a:latin typeface="Cambria Math" panose="02040503050406030204" pitchFamily="18" charset="0"/>
                            </a:rPr>
                            <m:t>𝜋</m:t>
                          </m:r>
                          <m:r>
                            <a:rPr lang="en-US" sz="1600">
                              <a:latin typeface="Cambria Math" panose="02040503050406030204" pitchFamily="18" charset="0"/>
                            </a:rPr>
                            <m:t>∙</m:t>
                          </m:r>
                          <m:r>
                            <a:rPr lang="en-US" sz="1600" i="1">
                              <a:latin typeface="Cambria Math" panose="02040503050406030204" pitchFamily="18" charset="0"/>
                            </a:rPr>
                            <m:t>𝑛</m:t>
                          </m:r>
                          <m:r>
                            <a:rPr lang="en-US" sz="1600">
                              <a:latin typeface="Cambria Math" panose="02040503050406030204" pitchFamily="18" charset="0"/>
                            </a:rPr>
                            <m:t>∙</m:t>
                          </m:r>
                          <m:sSub>
                            <m:sSubPr>
                              <m:ctrlPr>
                                <a:rPr lang="en-US" sz="1600" i="1">
                                  <a:solidFill>
                                    <a:srgbClr val="836967"/>
                                  </a:solidFill>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𝑓𝑢𝑛𝑑𝑎𝑚𝑒𝑛𝑡𝑎𝑙</m:t>
                              </m:r>
                            </m:sub>
                          </m:sSub>
                          <m:r>
                            <a:rPr lang="en-US" sz="1600">
                              <a:latin typeface="Cambria Math" panose="02040503050406030204" pitchFamily="18" charset="0"/>
                            </a:rPr>
                            <m:t>∙</m:t>
                          </m:r>
                          <m:r>
                            <a:rPr lang="en-US" sz="1600" i="1">
                              <a:latin typeface="Cambria Math" panose="02040503050406030204" pitchFamily="18" charset="0"/>
                            </a:rPr>
                            <m:t>𝑡</m:t>
                          </m:r>
                        </m:e>
                      </m:d>
                    </m:oMath>
                  </m:oMathPara>
                </a14:m>
                <a:endParaRPr lang="en-US" sz="1200" dirty="0"/>
              </a:p>
            </p:txBody>
          </p:sp>
        </mc:Choice>
        <mc:Fallback xmlns="">
          <p:sp>
            <p:nvSpPr>
              <p:cNvPr id="13" name="CuadroTexto 14">
                <a:extLst>
                  <a:ext uri="{FF2B5EF4-FFF2-40B4-BE49-F238E27FC236}">
                    <a16:creationId xmlns:a16="http://schemas.microsoft.com/office/drawing/2014/main" id="{F48D7FCE-6111-E0D5-0F45-96118BD527F1}"/>
                  </a:ext>
                </a:extLst>
              </p:cNvPr>
              <p:cNvSpPr txBox="1">
                <a:spLocks noRot="1" noChangeAspect="1" noMove="1" noResize="1" noEditPoints="1" noAdjustHandles="1" noChangeArrowheads="1" noChangeShapeType="1" noTextEdit="1"/>
              </p:cNvSpPr>
              <p:nvPr/>
            </p:nvSpPr>
            <p:spPr>
              <a:xfrm>
                <a:off x="488013" y="2071604"/>
                <a:ext cx="4871387" cy="375937"/>
              </a:xfrm>
              <a:prstGeom prst="rect">
                <a:avLst/>
              </a:prstGeom>
              <a:blipFill>
                <a:blip r:embed="rId6"/>
                <a:stretch>
                  <a:fillRect b="-8197"/>
                </a:stretch>
              </a:blipFill>
            </p:spPr>
            <p:txBody>
              <a:bodyPr/>
              <a:lstStyle/>
              <a:p>
                <a:r>
                  <a:rPr lang="es-CO">
                    <a:noFill/>
                  </a:rPr>
                  <a:t> </a:t>
                </a:r>
              </a:p>
            </p:txBody>
          </p:sp>
        </mc:Fallback>
      </mc:AlternateContent>
      <p:sp>
        <p:nvSpPr>
          <p:cNvPr id="9" name="Rectángulo 3">
            <a:extLst>
              <a:ext uri="{FF2B5EF4-FFF2-40B4-BE49-F238E27FC236}">
                <a16:creationId xmlns:a16="http://schemas.microsoft.com/office/drawing/2014/main" id="{745F8CDE-27CC-464A-BB69-AF59009F572F}"/>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Título 1">
            <a:extLst>
              <a:ext uri="{FF2B5EF4-FFF2-40B4-BE49-F238E27FC236}">
                <a16:creationId xmlns:a16="http://schemas.microsoft.com/office/drawing/2014/main" id="{3BA83543-4D12-48DD-937E-A2B1154E6FE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4" name="Marcador de número de diapositiva 3">
            <a:extLst>
              <a:ext uri="{FF2B5EF4-FFF2-40B4-BE49-F238E27FC236}">
                <a16:creationId xmlns:a16="http://schemas.microsoft.com/office/drawing/2014/main" id="{5D9D5060-58DD-436C-8372-143E53542F2A}"/>
              </a:ext>
            </a:extLst>
          </p:cNvPr>
          <p:cNvSpPr txBox="1">
            <a:spLocks/>
          </p:cNvSpPr>
          <p:nvPr/>
        </p:nvSpPr>
        <p:spPr>
          <a:xfrm>
            <a:off x="8712200" y="5894387"/>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22</a:t>
            </a:fld>
            <a:endParaRPr lang="es-CO" sz="1200" dirty="0">
              <a:solidFill>
                <a:schemeClr val="bg1"/>
              </a:solidFill>
            </a:endParaRPr>
          </a:p>
        </p:txBody>
      </p:sp>
      <p:sp>
        <p:nvSpPr>
          <p:cNvPr id="15" name="Rectángulo 14">
            <a:extLst>
              <a:ext uri="{FF2B5EF4-FFF2-40B4-BE49-F238E27FC236}">
                <a16:creationId xmlns:a16="http://schemas.microsoft.com/office/drawing/2014/main" id="{563AC906-2D91-4B61-B41E-74246846ED69}"/>
              </a:ext>
            </a:extLst>
          </p:cNvPr>
          <p:cNvSpPr/>
          <p:nvPr/>
        </p:nvSpPr>
        <p:spPr>
          <a:xfrm>
            <a:off x="20283" y="161797"/>
            <a:ext cx="2903424" cy="369332"/>
          </a:xfrm>
          <a:prstGeom prst="rect">
            <a:avLst/>
          </a:prstGeom>
        </p:spPr>
        <p:txBody>
          <a:bodyPr wrap="none">
            <a:spAutoFit/>
          </a:bodyPr>
          <a:lstStyle/>
          <a:p>
            <a:r>
              <a:rPr lang="es-ES" b="1" dirty="0">
                <a:solidFill>
                  <a:srgbClr val="2C5697"/>
                </a:solidFill>
                <a:latin typeface="Arial"/>
                <a:cs typeface="Arial"/>
              </a:rPr>
              <a:t>Transformada de Fourier</a:t>
            </a:r>
            <a:endParaRPr lang="es-CO" dirty="0"/>
          </a:p>
        </p:txBody>
      </p:sp>
      <p:pic>
        <p:nvPicPr>
          <p:cNvPr id="8194" name="Picture 2">
            <a:extLst>
              <a:ext uri="{FF2B5EF4-FFF2-40B4-BE49-F238E27FC236}">
                <a16:creationId xmlns:a16="http://schemas.microsoft.com/office/drawing/2014/main" id="{DEECC30A-70B6-AD3D-B82D-1A63AD3148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7090" y="3827303"/>
            <a:ext cx="4773168" cy="201450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6286C983-FBE8-469B-87C6-987F470F7E94}"/>
              </a:ext>
            </a:extLst>
          </p:cNvPr>
          <p:cNvPicPr>
            <a:picLocks noChangeAspect="1"/>
          </p:cNvPicPr>
          <p:nvPr/>
        </p:nvPicPr>
        <p:blipFill>
          <a:blip r:embed="rId8"/>
          <a:stretch>
            <a:fillRect/>
          </a:stretch>
        </p:blipFill>
        <p:spPr>
          <a:xfrm>
            <a:off x="1" y="2766974"/>
            <a:ext cx="5852160" cy="1392258"/>
          </a:xfrm>
          <a:prstGeom prst="rect">
            <a:avLst/>
          </a:prstGeom>
        </p:spPr>
      </p:pic>
    </p:spTree>
    <p:custDataLst>
      <p:tags r:id="rId1"/>
    </p:custDataLst>
    <p:extLst>
      <p:ext uri="{BB962C8B-B14F-4D97-AF65-F5344CB8AC3E}">
        <p14:creationId xmlns:p14="http://schemas.microsoft.com/office/powerpoint/2010/main" val="2930666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3">
            <a:extLst>
              <a:ext uri="{FF2B5EF4-FFF2-40B4-BE49-F238E27FC236}">
                <a16:creationId xmlns:a16="http://schemas.microsoft.com/office/drawing/2014/main" id="{09E12F2F-82A1-46DE-A938-37E3338B8888}"/>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1B4D32E5-1021-43CE-B306-FC33BFE13BA4}"/>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D6470B72-FD04-4BE6-AE8F-5358C968E8A0}"/>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23</a:t>
            </a:fld>
            <a:endParaRPr lang="es-CO" sz="1200" dirty="0">
              <a:solidFill>
                <a:schemeClr val="bg1"/>
              </a:solidFill>
            </a:endParaRPr>
          </a:p>
        </p:txBody>
      </p:sp>
      <p:sp>
        <p:nvSpPr>
          <p:cNvPr id="11" name="Rectángulo 10">
            <a:extLst>
              <a:ext uri="{FF2B5EF4-FFF2-40B4-BE49-F238E27FC236}">
                <a16:creationId xmlns:a16="http://schemas.microsoft.com/office/drawing/2014/main" id="{6AA4979A-09E3-4D25-B9AF-02C271E08EFB}"/>
              </a:ext>
            </a:extLst>
          </p:cNvPr>
          <p:cNvSpPr/>
          <p:nvPr/>
        </p:nvSpPr>
        <p:spPr>
          <a:xfrm>
            <a:off x="20283" y="161797"/>
            <a:ext cx="5096267" cy="369332"/>
          </a:xfrm>
          <a:prstGeom prst="rect">
            <a:avLst/>
          </a:prstGeom>
        </p:spPr>
        <p:txBody>
          <a:bodyPr wrap="none">
            <a:spAutoFit/>
          </a:bodyPr>
          <a:lstStyle/>
          <a:p>
            <a:r>
              <a:rPr lang="es-ES" b="1" dirty="0">
                <a:solidFill>
                  <a:srgbClr val="2C5697"/>
                </a:solidFill>
                <a:latin typeface="Arial"/>
                <a:cs typeface="Arial"/>
              </a:rPr>
              <a:t>Espectro de señales conocidas - sinusoidal</a:t>
            </a:r>
            <a:endParaRPr lang="es-CO" dirty="0"/>
          </a:p>
        </p:txBody>
      </p:sp>
      <p:pic>
        <p:nvPicPr>
          <p:cNvPr id="3" name="Imagen 2">
            <a:extLst>
              <a:ext uri="{FF2B5EF4-FFF2-40B4-BE49-F238E27FC236}">
                <a16:creationId xmlns:a16="http://schemas.microsoft.com/office/drawing/2014/main" id="{93709BD3-FA44-D7B7-63F8-3F5CFF657882}"/>
              </a:ext>
            </a:extLst>
          </p:cNvPr>
          <p:cNvPicPr>
            <a:picLocks noChangeAspect="1"/>
          </p:cNvPicPr>
          <p:nvPr/>
        </p:nvPicPr>
        <p:blipFill>
          <a:blip r:embed="rId2"/>
          <a:stretch>
            <a:fillRect/>
          </a:stretch>
        </p:blipFill>
        <p:spPr>
          <a:xfrm>
            <a:off x="261463" y="1216688"/>
            <a:ext cx="4124423" cy="3219341"/>
          </a:xfrm>
          <a:prstGeom prst="rect">
            <a:avLst/>
          </a:prstGeom>
        </p:spPr>
      </p:pic>
      <p:pic>
        <p:nvPicPr>
          <p:cNvPr id="10" name="Imagen 9">
            <a:extLst>
              <a:ext uri="{FF2B5EF4-FFF2-40B4-BE49-F238E27FC236}">
                <a16:creationId xmlns:a16="http://schemas.microsoft.com/office/drawing/2014/main" id="{559CFA90-3CE8-97ED-86C7-6BC2A47885C3}"/>
              </a:ext>
            </a:extLst>
          </p:cNvPr>
          <p:cNvPicPr>
            <a:picLocks noChangeAspect="1"/>
          </p:cNvPicPr>
          <p:nvPr/>
        </p:nvPicPr>
        <p:blipFill>
          <a:blip r:embed="rId3"/>
          <a:stretch>
            <a:fillRect/>
          </a:stretch>
        </p:blipFill>
        <p:spPr>
          <a:xfrm>
            <a:off x="5031223" y="1863835"/>
            <a:ext cx="3335538" cy="2656710"/>
          </a:xfrm>
          <a:prstGeom prst="rect">
            <a:avLst/>
          </a:prstGeom>
        </p:spPr>
      </p:pic>
    </p:spTree>
    <p:extLst>
      <p:ext uri="{BB962C8B-B14F-4D97-AF65-F5344CB8AC3E}">
        <p14:creationId xmlns:p14="http://schemas.microsoft.com/office/powerpoint/2010/main" val="1276199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1D2D4-D1C8-E5D2-A5DB-0ACE50F0D1D4}"/>
            </a:ext>
          </a:extLst>
        </p:cNvPr>
        <p:cNvGrpSpPr/>
        <p:nvPr/>
      </p:nvGrpSpPr>
      <p:grpSpPr>
        <a:xfrm>
          <a:off x="0" y="0"/>
          <a:ext cx="0" cy="0"/>
          <a:chOff x="0" y="0"/>
          <a:chExt cx="0" cy="0"/>
        </a:xfrm>
      </p:grpSpPr>
      <p:sp>
        <p:nvSpPr>
          <p:cNvPr id="5" name="Rectángulo 3">
            <a:extLst>
              <a:ext uri="{FF2B5EF4-FFF2-40B4-BE49-F238E27FC236}">
                <a16:creationId xmlns:a16="http://schemas.microsoft.com/office/drawing/2014/main" id="{46E35740-1015-9A41-9A4A-BAD91E5EF251}"/>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2F99F944-4719-4C9F-A87B-4D2BDD678CA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5593919D-B6F7-43B0-715B-857AE41BFAE0}"/>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24</a:t>
            </a:fld>
            <a:endParaRPr lang="es-CO" sz="1200" dirty="0">
              <a:solidFill>
                <a:schemeClr val="bg1"/>
              </a:solidFill>
            </a:endParaRPr>
          </a:p>
        </p:txBody>
      </p:sp>
      <p:sp>
        <p:nvSpPr>
          <p:cNvPr id="11" name="Rectángulo 10">
            <a:extLst>
              <a:ext uri="{FF2B5EF4-FFF2-40B4-BE49-F238E27FC236}">
                <a16:creationId xmlns:a16="http://schemas.microsoft.com/office/drawing/2014/main" id="{0E4B8A24-51C4-F662-780B-4BA8F12A05D0}"/>
              </a:ext>
            </a:extLst>
          </p:cNvPr>
          <p:cNvSpPr/>
          <p:nvPr/>
        </p:nvSpPr>
        <p:spPr>
          <a:xfrm>
            <a:off x="20283" y="161797"/>
            <a:ext cx="5096267" cy="369332"/>
          </a:xfrm>
          <a:prstGeom prst="rect">
            <a:avLst/>
          </a:prstGeom>
        </p:spPr>
        <p:txBody>
          <a:bodyPr wrap="none">
            <a:spAutoFit/>
          </a:bodyPr>
          <a:lstStyle/>
          <a:p>
            <a:r>
              <a:rPr lang="es-ES" b="1" dirty="0">
                <a:solidFill>
                  <a:srgbClr val="2C5697"/>
                </a:solidFill>
                <a:latin typeface="Arial"/>
                <a:cs typeface="Arial"/>
              </a:rPr>
              <a:t>Espectro de señales conocidas - sinusoidal</a:t>
            </a:r>
            <a:endParaRPr lang="es-CO" dirty="0"/>
          </a:p>
        </p:txBody>
      </p:sp>
      <p:pic>
        <p:nvPicPr>
          <p:cNvPr id="3" name="Imagen 2">
            <a:extLst>
              <a:ext uri="{FF2B5EF4-FFF2-40B4-BE49-F238E27FC236}">
                <a16:creationId xmlns:a16="http://schemas.microsoft.com/office/drawing/2014/main" id="{02F2CCE1-D60B-D183-80B2-5BF4A2245E93}"/>
              </a:ext>
            </a:extLst>
          </p:cNvPr>
          <p:cNvPicPr>
            <a:picLocks noChangeAspect="1"/>
          </p:cNvPicPr>
          <p:nvPr/>
        </p:nvPicPr>
        <p:blipFill>
          <a:blip r:embed="rId2"/>
          <a:stretch>
            <a:fillRect/>
          </a:stretch>
        </p:blipFill>
        <p:spPr>
          <a:xfrm>
            <a:off x="261463" y="856453"/>
            <a:ext cx="3965567" cy="3303696"/>
          </a:xfrm>
          <a:prstGeom prst="rect">
            <a:avLst/>
          </a:prstGeom>
        </p:spPr>
      </p:pic>
      <p:grpSp>
        <p:nvGrpSpPr>
          <p:cNvPr id="10" name="Grupo 9">
            <a:extLst>
              <a:ext uri="{FF2B5EF4-FFF2-40B4-BE49-F238E27FC236}">
                <a16:creationId xmlns:a16="http://schemas.microsoft.com/office/drawing/2014/main" id="{6E99D8BD-0C78-73EF-24AF-3DAAA9DAB9BA}"/>
              </a:ext>
            </a:extLst>
          </p:cNvPr>
          <p:cNvGrpSpPr/>
          <p:nvPr/>
        </p:nvGrpSpPr>
        <p:grpSpPr>
          <a:xfrm>
            <a:off x="3283185" y="3172968"/>
            <a:ext cx="5810497" cy="2545298"/>
            <a:chOff x="3283185" y="3172968"/>
            <a:chExt cx="5810497" cy="2545298"/>
          </a:xfrm>
        </p:grpSpPr>
        <p:pic>
          <p:nvPicPr>
            <p:cNvPr id="6" name="Imagen 5">
              <a:extLst>
                <a:ext uri="{FF2B5EF4-FFF2-40B4-BE49-F238E27FC236}">
                  <a16:creationId xmlns:a16="http://schemas.microsoft.com/office/drawing/2014/main" id="{47FE6CDA-DA9C-2FED-E074-A5B75A3EF0B8}"/>
                </a:ext>
              </a:extLst>
            </p:cNvPr>
            <p:cNvPicPr>
              <a:picLocks noChangeAspect="1"/>
            </p:cNvPicPr>
            <p:nvPr/>
          </p:nvPicPr>
          <p:blipFill>
            <a:blip r:embed="rId3"/>
            <a:stretch>
              <a:fillRect/>
            </a:stretch>
          </p:blipFill>
          <p:spPr>
            <a:xfrm>
              <a:off x="3283185" y="3429000"/>
              <a:ext cx="5619756" cy="2289266"/>
            </a:xfrm>
            <a:prstGeom prst="rect">
              <a:avLst/>
            </a:prstGeom>
          </p:spPr>
        </p:pic>
        <p:sp>
          <p:nvSpPr>
            <p:cNvPr id="7" name="Rectángulo 6">
              <a:extLst>
                <a:ext uri="{FF2B5EF4-FFF2-40B4-BE49-F238E27FC236}">
                  <a16:creationId xmlns:a16="http://schemas.microsoft.com/office/drawing/2014/main" id="{0D368765-50E7-39E4-E8E7-A2F4E6F42E59}"/>
                </a:ext>
              </a:extLst>
            </p:cNvPr>
            <p:cNvSpPr/>
            <p:nvPr/>
          </p:nvSpPr>
          <p:spPr>
            <a:xfrm>
              <a:off x="7781544" y="3172968"/>
              <a:ext cx="1312138" cy="55778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2289666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9305B-56CD-FE42-CBB0-99FA85F2AD2C}"/>
            </a:ext>
          </a:extLst>
        </p:cNvPr>
        <p:cNvGrpSpPr/>
        <p:nvPr/>
      </p:nvGrpSpPr>
      <p:grpSpPr>
        <a:xfrm>
          <a:off x="0" y="0"/>
          <a:ext cx="0" cy="0"/>
          <a:chOff x="0" y="0"/>
          <a:chExt cx="0" cy="0"/>
        </a:xfrm>
      </p:grpSpPr>
      <p:sp>
        <p:nvSpPr>
          <p:cNvPr id="5" name="Rectángulo 3">
            <a:extLst>
              <a:ext uri="{FF2B5EF4-FFF2-40B4-BE49-F238E27FC236}">
                <a16:creationId xmlns:a16="http://schemas.microsoft.com/office/drawing/2014/main" id="{B65FCDC3-58D1-7213-D061-3A8BBF30C061}"/>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42C1F45E-5217-0E33-7963-778D16F396D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77E42D2F-85A3-DAF5-356A-4DCA27CF7845}"/>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25</a:t>
            </a:fld>
            <a:endParaRPr lang="es-CO" sz="1200" dirty="0">
              <a:solidFill>
                <a:schemeClr val="bg1"/>
              </a:solidFill>
            </a:endParaRPr>
          </a:p>
        </p:txBody>
      </p:sp>
      <p:sp>
        <p:nvSpPr>
          <p:cNvPr id="11" name="Rectángulo 10">
            <a:extLst>
              <a:ext uri="{FF2B5EF4-FFF2-40B4-BE49-F238E27FC236}">
                <a16:creationId xmlns:a16="http://schemas.microsoft.com/office/drawing/2014/main" id="{95823F45-8F92-8193-2273-8E4A65EDA9C7}"/>
              </a:ext>
            </a:extLst>
          </p:cNvPr>
          <p:cNvSpPr/>
          <p:nvPr/>
        </p:nvSpPr>
        <p:spPr>
          <a:xfrm>
            <a:off x="20283" y="161797"/>
            <a:ext cx="5096267" cy="369332"/>
          </a:xfrm>
          <a:prstGeom prst="rect">
            <a:avLst/>
          </a:prstGeom>
        </p:spPr>
        <p:txBody>
          <a:bodyPr wrap="none">
            <a:spAutoFit/>
          </a:bodyPr>
          <a:lstStyle/>
          <a:p>
            <a:r>
              <a:rPr lang="es-ES" b="1" dirty="0">
                <a:solidFill>
                  <a:srgbClr val="2C5697"/>
                </a:solidFill>
                <a:latin typeface="Arial"/>
                <a:cs typeface="Arial"/>
              </a:rPr>
              <a:t>Espectro de señales conocidas - sinusoidal</a:t>
            </a:r>
            <a:endParaRPr lang="es-CO" dirty="0"/>
          </a:p>
        </p:txBody>
      </p:sp>
      <p:grpSp>
        <p:nvGrpSpPr>
          <p:cNvPr id="14" name="Grupo 13">
            <a:extLst>
              <a:ext uri="{FF2B5EF4-FFF2-40B4-BE49-F238E27FC236}">
                <a16:creationId xmlns:a16="http://schemas.microsoft.com/office/drawing/2014/main" id="{FDCCA076-4EF7-D5CE-1945-C5EF3B9B828D}"/>
              </a:ext>
            </a:extLst>
          </p:cNvPr>
          <p:cNvGrpSpPr/>
          <p:nvPr/>
        </p:nvGrpSpPr>
        <p:grpSpPr>
          <a:xfrm>
            <a:off x="1222109" y="1368116"/>
            <a:ext cx="6433666" cy="4302662"/>
            <a:chOff x="1222109" y="1368116"/>
            <a:chExt cx="6433666" cy="4302662"/>
          </a:xfrm>
        </p:grpSpPr>
        <p:pic>
          <p:nvPicPr>
            <p:cNvPr id="13" name="Imagen 12">
              <a:extLst>
                <a:ext uri="{FF2B5EF4-FFF2-40B4-BE49-F238E27FC236}">
                  <a16:creationId xmlns:a16="http://schemas.microsoft.com/office/drawing/2014/main" id="{22C6DDA6-C4B1-AFE6-BD5A-C756B33E740E}"/>
                </a:ext>
              </a:extLst>
            </p:cNvPr>
            <p:cNvPicPr>
              <a:picLocks noChangeAspect="1"/>
            </p:cNvPicPr>
            <p:nvPr/>
          </p:nvPicPr>
          <p:blipFill>
            <a:blip r:embed="rId2"/>
            <a:stretch>
              <a:fillRect/>
            </a:stretch>
          </p:blipFill>
          <p:spPr>
            <a:xfrm>
              <a:off x="1222109" y="1447582"/>
              <a:ext cx="6184531" cy="4223196"/>
            </a:xfrm>
            <a:prstGeom prst="rect">
              <a:avLst/>
            </a:prstGeom>
          </p:spPr>
        </p:pic>
        <p:sp>
          <p:nvSpPr>
            <p:cNvPr id="7" name="Rectángulo 6">
              <a:extLst>
                <a:ext uri="{FF2B5EF4-FFF2-40B4-BE49-F238E27FC236}">
                  <a16:creationId xmlns:a16="http://schemas.microsoft.com/office/drawing/2014/main" id="{35E0EA8E-C750-FC03-6684-FEDCEA098451}"/>
                </a:ext>
              </a:extLst>
            </p:cNvPr>
            <p:cNvSpPr/>
            <p:nvPr/>
          </p:nvSpPr>
          <p:spPr>
            <a:xfrm>
              <a:off x="6343637" y="1368116"/>
              <a:ext cx="1312138" cy="78986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3374357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663E8-DDFD-1811-8C8E-FE7BA16DF0F3}"/>
            </a:ext>
          </a:extLst>
        </p:cNvPr>
        <p:cNvGrpSpPr/>
        <p:nvPr/>
      </p:nvGrpSpPr>
      <p:grpSpPr>
        <a:xfrm>
          <a:off x="0" y="0"/>
          <a:ext cx="0" cy="0"/>
          <a:chOff x="0" y="0"/>
          <a:chExt cx="0" cy="0"/>
        </a:xfrm>
      </p:grpSpPr>
      <p:sp>
        <p:nvSpPr>
          <p:cNvPr id="5" name="Rectángulo 3">
            <a:extLst>
              <a:ext uri="{FF2B5EF4-FFF2-40B4-BE49-F238E27FC236}">
                <a16:creationId xmlns:a16="http://schemas.microsoft.com/office/drawing/2014/main" id="{5C05C319-3021-E0CE-5980-2AE664A9667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EA83C5EC-744A-CF42-9141-5D86DF6FC69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65AD3434-AF5E-E15F-C9E7-0AD260502043}"/>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26</a:t>
            </a:fld>
            <a:endParaRPr lang="es-CO" sz="1200" dirty="0">
              <a:solidFill>
                <a:schemeClr val="bg1"/>
              </a:solidFill>
            </a:endParaRPr>
          </a:p>
        </p:txBody>
      </p:sp>
      <p:sp>
        <p:nvSpPr>
          <p:cNvPr id="11" name="Rectángulo 10">
            <a:extLst>
              <a:ext uri="{FF2B5EF4-FFF2-40B4-BE49-F238E27FC236}">
                <a16:creationId xmlns:a16="http://schemas.microsoft.com/office/drawing/2014/main" id="{2EEE8157-012C-EA5A-5142-19FDDD47DF55}"/>
              </a:ext>
            </a:extLst>
          </p:cNvPr>
          <p:cNvSpPr/>
          <p:nvPr/>
        </p:nvSpPr>
        <p:spPr>
          <a:xfrm>
            <a:off x="20283" y="161797"/>
            <a:ext cx="5096267" cy="369332"/>
          </a:xfrm>
          <a:prstGeom prst="rect">
            <a:avLst/>
          </a:prstGeom>
        </p:spPr>
        <p:txBody>
          <a:bodyPr wrap="none">
            <a:spAutoFit/>
          </a:bodyPr>
          <a:lstStyle/>
          <a:p>
            <a:r>
              <a:rPr lang="es-ES" b="1" dirty="0">
                <a:solidFill>
                  <a:srgbClr val="2C5697"/>
                </a:solidFill>
                <a:latin typeface="Arial"/>
                <a:cs typeface="Arial"/>
              </a:rPr>
              <a:t>Espectro de señales conocidas - sinusoidal</a:t>
            </a:r>
            <a:endParaRPr lang="es-CO" dirty="0"/>
          </a:p>
        </p:txBody>
      </p:sp>
      <p:grpSp>
        <p:nvGrpSpPr>
          <p:cNvPr id="3" name="Grupo 2">
            <a:extLst>
              <a:ext uri="{FF2B5EF4-FFF2-40B4-BE49-F238E27FC236}">
                <a16:creationId xmlns:a16="http://schemas.microsoft.com/office/drawing/2014/main" id="{AA0C576B-74BF-C2C7-AC79-44B68B267B41}"/>
              </a:ext>
            </a:extLst>
          </p:cNvPr>
          <p:cNvGrpSpPr/>
          <p:nvPr/>
        </p:nvGrpSpPr>
        <p:grpSpPr>
          <a:xfrm>
            <a:off x="2052506" y="1572768"/>
            <a:ext cx="5514128" cy="3426789"/>
            <a:chOff x="2052506" y="1572768"/>
            <a:chExt cx="5514128" cy="3426789"/>
          </a:xfrm>
        </p:grpSpPr>
        <p:pic>
          <p:nvPicPr>
            <p:cNvPr id="6" name="Imagen 5">
              <a:extLst>
                <a:ext uri="{FF2B5EF4-FFF2-40B4-BE49-F238E27FC236}">
                  <a16:creationId xmlns:a16="http://schemas.microsoft.com/office/drawing/2014/main" id="{6C9701E3-5084-6B24-8614-058F73973077}"/>
                </a:ext>
              </a:extLst>
            </p:cNvPr>
            <p:cNvPicPr>
              <a:picLocks noChangeAspect="1"/>
            </p:cNvPicPr>
            <p:nvPr/>
          </p:nvPicPr>
          <p:blipFill>
            <a:blip r:embed="rId2"/>
            <a:stretch>
              <a:fillRect/>
            </a:stretch>
          </p:blipFill>
          <p:spPr>
            <a:xfrm>
              <a:off x="2052506" y="1709928"/>
              <a:ext cx="5038988" cy="3289629"/>
            </a:xfrm>
            <a:prstGeom prst="rect">
              <a:avLst/>
            </a:prstGeom>
          </p:spPr>
        </p:pic>
        <p:sp>
          <p:nvSpPr>
            <p:cNvPr id="2" name="Rectángulo 1">
              <a:extLst>
                <a:ext uri="{FF2B5EF4-FFF2-40B4-BE49-F238E27FC236}">
                  <a16:creationId xmlns:a16="http://schemas.microsoft.com/office/drawing/2014/main" id="{A53D35AC-A710-BA93-36BF-20301C374040}"/>
                </a:ext>
              </a:extLst>
            </p:cNvPr>
            <p:cNvSpPr/>
            <p:nvPr/>
          </p:nvSpPr>
          <p:spPr>
            <a:xfrm>
              <a:off x="6254496" y="1572768"/>
              <a:ext cx="1312138" cy="145238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028656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4">
            <a:extLst>
              <a:ext uri="{FF2B5EF4-FFF2-40B4-BE49-F238E27FC236}">
                <a16:creationId xmlns:a16="http://schemas.microsoft.com/office/drawing/2014/main" id="{A0423A9B-C0C4-4364-BAF4-C8D0A20B7993}"/>
              </a:ext>
            </a:extLst>
          </p:cNvPr>
          <p:cNvPicPr>
            <a:picLocks noChangeAspect="1"/>
          </p:cNvPicPr>
          <p:nvPr/>
        </p:nvPicPr>
        <p:blipFill rotWithShape="1">
          <a:blip r:embed="rId4"/>
          <a:srcRect r="4" b="4"/>
          <a:stretch/>
        </p:blipFill>
        <p:spPr>
          <a:xfrm>
            <a:off x="8231708" y="948080"/>
            <a:ext cx="790576" cy="790576"/>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pic>
        <p:nvPicPr>
          <p:cNvPr id="9" name="Imagen 8">
            <a:extLst>
              <a:ext uri="{FF2B5EF4-FFF2-40B4-BE49-F238E27FC236}">
                <a16:creationId xmlns:a16="http://schemas.microsoft.com/office/drawing/2014/main" id="{5E6A78E4-BFD9-4269-9784-EBB947A51066}"/>
              </a:ext>
            </a:extLst>
          </p:cNvPr>
          <p:cNvPicPr>
            <a:picLocks noChangeAspect="1"/>
          </p:cNvPicPr>
          <p:nvPr/>
        </p:nvPicPr>
        <p:blipFill rotWithShape="1">
          <a:blip r:embed="rId5"/>
          <a:srcRect t="47829"/>
          <a:stretch/>
        </p:blipFill>
        <p:spPr>
          <a:xfrm>
            <a:off x="5129061" y="2181285"/>
            <a:ext cx="3604004" cy="2496724"/>
          </a:xfrm>
          <a:prstGeom prst="rect">
            <a:avLst/>
          </a:prstGeom>
        </p:spPr>
      </p:pic>
      <p:sp>
        <p:nvSpPr>
          <p:cNvPr id="3" name="CuadroTexto 2">
            <a:extLst>
              <a:ext uri="{FF2B5EF4-FFF2-40B4-BE49-F238E27FC236}">
                <a16:creationId xmlns:a16="http://schemas.microsoft.com/office/drawing/2014/main" id="{315C8F94-F530-4049-AA2C-8414CE9062CD}"/>
              </a:ext>
            </a:extLst>
          </p:cNvPr>
          <p:cNvSpPr txBox="1"/>
          <p:nvPr/>
        </p:nvSpPr>
        <p:spPr>
          <a:xfrm>
            <a:off x="5744543" y="2554642"/>
            <a:ext cx="538930" cy="300082"/>
          </a:xfrm>
          <a:prstGeom prst="rect">
            <a:avLst/>
          </a:prstGeom>
          <a:noFill/>
        </p:spPr>
        <p:txBody>
          <a:bodyPr wrap="none" rtlCol="0">
            <a:spAutoFit/>
          </a:bodyPr>
          <a:lstStyle/>
          <a:p>
            <a:r>
              <a:rPr lang="en-US" sz="1350" b="1" dirty="0"/>
              <a:t>50Hz</a:t>
            </a:r>
          </a:p>
        </p:txBody>
      </p:sp>
      <p:sp>
        <p:nvSpPr>
          <p:cNvPr id="12" name="CuadroTexto 11">
            <a:extLst>
              <a:ext uri="{FF2B5EF4-FFF2-40B4-BE49-F238E27FC236}">
                <a16:creationId xmlns:a16="http://schemas.microsoft.com/office/drawing/2014/main" id="{FBDEA9C3-69FF-48D9-90DB-50BA30CCD6B7}"/>
              </a:ext>
            </a:extLst>
          </p:cNvPr>
          <p:cNvSpPr txBox="1"/>
          <p:nvPr/>
        </p:nvSpPr>
        <p:spPr>
          <a:xfrm>
            <a:off x="7040789" y="2789545"/>
            <a:ext cx="627095" cy="300082"/>
          </a:xfrm>
          <a:prstGeom prst="rect">
            <a:avLst/>
          </a:prstGeom>
          <a:noFill/>
        </p:spPr>
        <p:txBody>
          <a:bodyPr wrap="none" rtlCol="0">
            <a:spAutoFit/>
          </a:bodyPr>
          <a:lstStyle/>
          <a:p>
            <a:r>
              <a:rPr lang="en-US" sz="1350" b="1" dirty="0"/>
              <a:t>250Hz</a:t>
            </a:r>
          </a:p>
        </p:txBody>
      </p:sp>
      <p:sp>
        <p:nvSpPr>
          <p:cNvPr id="13" name="CuadroTexto 12">
            <a:extLst>
              <a:ext uri="{FF2B5EF4-FFF2-40B4-BE49-F238E27FC236}">
                <a16:creationId xmlns:a16="http://schemas.microsoft.com/office/drawing/2014/main" id="{9020B307-9A15-4EE9-A45B-A68C4C2EFBFD}"/>
              </a:ext>
            </a:extLst>
          </p:cNvPr>
          <p:cNvSpPr txBox="1"/>
          <p:nvPr/>
        </p:nvSpPr>
        <p:spPr>
          <a:xfrm>
            <a:off x="7699117" y="3291901"/>
            <a:ext cx="627095" cy="300082"/>
          </a:xfrm>
          <a:prstGeom prst="rect">
            <a:avLst/>
          </a:prstGeom>
          <a:noFill/>
        </p:spPr>
        <p:txBody>
          <a:bodyPr wrap="none" rtlCol="0">
            <a:spAutoFit/>
          </a:bodyPr>
          <a:lstStyle/>
          <a:p>
            <a:r>
              <a:rPr lang="en-US" sz="1350" b="1" dirty="0"/>
              <a:t>350Hz</a:t>
            </a:r>
          </a:p>
        </p:txBody>
      </p:sp>
      <p:sp>
        <p:nvSpPr>
          <p:cNvPr id="10" name="Marcador de contenido 2">
            <a:extLst>
              <a:ext uri="{FF2B5EF4-FFF2-40B4-BE49-F238E27FC236}">
                <a16:creationId xmlns:a16="http://schemas.microsoft.com/office/drawing/2014/main" id="{FC0FCC3A-1ED3-931C-E495-5A04F3ED453C}"/>
              </a:ext>
            </a:extLst>
          </p:cNvPr>
          <p:cNvSpPr txBox="1">
            <a:spLocks/>
          </p:cNvSpPr>
          <p:nvPr/>
        </p:nvSpPr>
        <p:spPr>
          <a:xfrm>
            <a:off x="165987" y="1384471"/>
            <a:ext cx="3467120" cy="504260"/>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solidFill>
                  <a:schemeClr val="accent1">
                    <a:lumMod val="75000"/>
                  </a:schemeClr>
                </a:solidFill>
                <a:cs typeface="Calibri"/>
              </a:rPr>
              <a:t>Fourier y la suma de señales  senoidales</a:t>
            </a:r>
          </a:p>
        </p:txBody>
      </p:sp>
      <p:pic>
        <p:nvPicPr>
          <p:cNvPr id="18" name="Imagen 9" descr="Chart, line chart&#10;&#10;Description automatically generated">
            <a:extLst>
              <a:ext uri="{FF2B5EF4-FFF2-40B4-BE49-F238E27FC236}">
                <a16:creationId xmlns:a16="http://schemas.microsoft.com/office/drawing/2014/main" id="{074ABA4A-634E-6AC4-8ECF-478A3948592E}"/>
              </a:ext>
            </a:extLst>
          </p:cNvPr>
          <p:cNvPicPr>
            <a:picLocks noChangeAspect="1"/>
          </p:cNvPicPr>
          <p:nvPr/>
        </p:nvPicPr>
        <p:blipFill rotWithShape="1">
          <a:blip r:embed="rId6"/>
          <a:srcRect b="50401"/>
          <a:stretch/>
        </p:blipFill>
        <p:spPr>
          <a:xfrm>
            <a:off x="186399" y="2181991"/>
            <a:ext cx="3647732" cy="2400643"/>
          </a:xfrm>
          <a:prstGeom prst="rect">
            <a:avLst/>
          </a:prstGeom>
        </p:spPr>
      </p:pic>
      <p:sp>
        <p:nvSpPr>
          <p:cNvPr id="20" name="Arrow: Right 19">
            <a:extLst>
              <a:ext uri="{FF2B5EF4-FFF2-40B4-BE49-F238E27FC236}">
                <a16:creationId xmlns:a16="http://schemas.microsoft.com/office/drawing/2014/main" id="{88CF338A-4AE7-14F4-DB00-E44D7A70D8F3}"/>
              </a:ext>
            </a:extLst>
          </p:cNvPr>
          <p:cNvSpPr/>
          <p:nvPr/>
        </p:nvSpPr>
        <p:spPr>
          <a:xfrm>
            <a:off x="4135211" y="3233057"/>
            <a:ext cx="625928" cy="394607"/>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ángulo 3">
            <a:extLst>
              <a:ext uri="{FF2B5EF4-FFF2-40B4-BE49-F238E27FC236}">
                <a16:creationId xmlns:a16="http://schemas.microsoft.com/office/drawing/2014/main" id="{0BB1CB2E-249B-40C4-BD90-F69993AEB46B}"/>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Título 1">
            <a:extLst>
              <a:ext uri="{FF2B5EF4-FFF2-40B4-BE49-F238E27FC236}">
                <a16:creationId xmlns:a16="http://schemas.microsoft.com/office/drawing/2014/main" id="{849129A1-186A-4EB3-B203-CDB9452DC0B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6" name="Marcador de número de diapositiva 3">
            <a:extLst>
              <a:ext uri="{FF2B5EF4-FFF2-40B4-BE49-F238E27FC236}">
                <a16:creationId xmlns:a16="http://schemas.microsoft.com/office/drawing/2014/main" id="{A1D2B78C-E0AF-4126-896C-ADCC748FDD81}"/>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27</a:t>
            </a:fld>
            <a:endParaRPr lang="es-CO" sz="1200" dirty="0">
              <a:solidFill>
                <a:schemeClr val="bg1"/>
              </a:solidFill>
            </a:endParaRPr>
          </a:p>
        </p:txBody>
      </p:sp>
      <p:sp>
        <p:nvSpPr>
          <p:cNvPr id="17" name="Rectángulo 16">
            <a:extLst>
              <a:ext uri="{FF2B5EF4-FFF2-40B4-BE49-F238E27FC236}">
                <a16:creationId xmlns:a16="http://schemas.microsoft.com/office/drawing/2014/main" id="{BAFABFC0-7016-461A-9DD4-F263934BF73C}"/>
              </a:ext>
            </a:extLst>
          </p:cNvPr>
          <p:cNvSpPr/>
          <p:nvPr/>
        </p:nvSpPr>
        <p:spPr>
          <a:xfrm>
            <a:off x="20283" y="161797"/>
            <a:ext cx="2903424" cy="369332"/>
          </a:xfrm>
          <a:prstGeom prst="rect">
            <a:avLst/>
          </a:prstGeom>
        </p:spPr>
        <p:txBody>
          <a:bodyPr wrap="none">
            <a:spAutoFit/>
          </a:bodyPr>
          <a:lstStyle/>
          <a:p>
            <a:r>
              <a:rPr lang="es-ES" b="1" dirty="0">
                <a:solidFill>
                  <a:srgbClr val="2C5697"/>
                </a:solidFill>
                <a:latin typeface="Arial"/>
                <a:cs typeface="Arial"/>
              </a:rPr>
              <a:t>Transformada de Fourier</a:t>
            </a:r>
            <a:endParaRPr lang="es-CO" dirty="0"/>
          </a:p>
        </p:txBody>
      </p:sp>
      <p:sp>
        <p:nvSpPr>
          <p:cNvPr id="2" name="Globo: flecha cuádruple 1">
            <a:hlinkClick r:id="rId7"/>
            <a:extLst>
              <a:ext uri="{FF2B5EF4-FFF2-40B4-BE49-F238E27FC236}">
                <a16:creationId xmlns:a16="http://schemas.microsoft.com/office/drawing/2014/main" id="{DDCE09D4-DBBE-6025-2826-92BCF5CD9AD4}"/>
              </a:ext>
            </a:extLst>
          </p:cNvPr>
          <p:cNvSpPr/>
          <p:nvPr/>
        </p:nvSpPr>
        <p:spPr>
          <a:xfrm>
            <a:off x="2997823" y="118961"/>
            <a:ext cx="339737" cy="369333"/>
          </a:xfrm>
          <a:prstGeom prst="quad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1531861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40ED8-6ACF-B4CD-A475-61D2913DEDB1}"/>
            </a:ext>
          </a:extLst>
        </p:cNvPr>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149B6029-977B-6A6F-FD3D-BB1D9770E4F1}"/>
              </a:ext>
            </a:extLst>
          </p:cNvPr>
          <p:cNvSpPr txBox="1">
            <a:spLocks/>
          </p:cNvSpPr>
          <p:nvPr/>
        </p:nvSpPr>
        <p:spPr>
          <a:xfrm>
            <a:off x="221611" y="1129897"/>
            <a:ext cx="5466175" cy="245715"/>
          </a:xfrm>
          <a:prstGeom prst="rect">
            <a:avLst/>
          </a:prstGeom>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t>Una onda senoidal con una frecuencia única tiene su espectro es un punto único.</a:t>
            </a:r>
            <a:endParaRPr lang="en-US" sz="2100" dirty="0"/>
          </a:p>
        </p:txBody>
      </p:sp>
      <p:pic>
        <p:nvPicPr>
          <p:cNvPr id="4" name="Imagen 3">
            <a:extLst>
              <a:ext uri="{FF2B5EF4-FFF2-40B4-BE49-F238E27FC236}">
                <a16:creationId xmlns:a16="http://schemas.microsoft.com/office/drawing/2014/main" id="{B856F554-7336-D126-8BE4-DBFFE6F79C85}"/>
              </a:ext>
            </a:extLst>
          </p:cNvPr>
          <p:cNvPicPr>
            <a:picLocks noChangeAspect="1"/>
          </p:cNvPicPr>
          <p:nvPr/>
        </p:nvPicPr>
        <p:blipFill>
          <a:blip r:embed="rId2"/>
          <a:stretch>
            <a:fillRect/>
          </a:stretch>
        </p:blipFill>
        <p:spPr>
          <a:xfrm>
            <a:off x="2462893" y="2057230"/>
            <a:ext cx="4395107" cy="3299732"/>
          </a:xfrm>
          <a:prstGeom prst="rect">
            <a:avLst/>
          </a:prstGeom>
        </p:spPr>
      </p:pic>
      <p:sp>
        <p:nvSpPr>
          <p:cNvPr id="5" name="Rectángulo 3">
            <a:extLst>
              <a:ext uri="{FF2B5EF4-FFF2-40B4-BE49-F238E27FC236}">
                <a16:creationId xmlns:a16="http://schemas.microsoft.com/office/drawing/2014/main" id="{B6EBB86B-8078-6CDC-3A20-C1ABCAF2D281}"/>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D1421AC2-76F3-369F-E73F-FBC223B8BE1A}"/>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D2349C27-3CF7-DA9A-2A78-5F2F92EB8C74}"/>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28</a:t>
            </a:fld>
            <a:endParaRPr lang="es-CO" sz="1200" dirty="0">
              <a:solidFill>
                <a:schemeClr val="bg1"/>
              </a:solidFill>
            </a:endParaRPr>
          </a:p>
        </p:txBody>
      </p:sp>
      <p:sp>
        <p:nvSpPr>
          <p:cNvPr id="11" name="Rectángulo 10">
            <a:extLst>
              <a:ext uri="{FF2B5EF4-FFF2-40B4-BE49-F238E27FC236}">
                <a16:creationId xmlns:a16="http://schemas.microsoft.com/office/drawing/2014/main" id="{7B6E301C-D348-BE73-8F5B-088F9C3DDEE6}"/>
              </a:ext>
            </a:extLst>
          </p:cNvPr>
          <p:cNvSpPr/>
          <p:nvPr/>
        </p:nvSpPr>
        <p:spPr>
          <a:xfrm>
            <a:off x="20283" y="161797"/>
            <a:ext cx="5096267" cy="369332"/>
          </a:xfrm>
          <a:prstGeom prst="rect">
            <a:avLst/>
          </a:prstGeom>
        </p:spPr>
        <p:txBody>
          <a:bodyPr wrap="none">
            <a:spAutoFit/>
          </a:bodyPr>
          <a:lstStyle/>
          <a:p>
            <a:r>
              <a:rPr lang="es-ES" b="1" dirty="0">
                <a:solidFill>
                  <a:srgbClr val="2C5697"/>
                </a:solidFill>
                <a:latin typeface="Arial"/>
                <a:cs typeface="Arial"/>
              </a:rPr>
              <a:t>Espectro de señales conocidas - sinusoidal</a:t>
            </a:r>
            <a:endParaRPr lang="es-CO" dirty="0"/>
          </a:p>
        </p:txBody>
      </p:sp>
    </p:spTree>
    <p:extLst>
      <p:ext uri="{BB962C8B-B14F-4D97-AF65-F5344CB8AC3E}">
        <p14:creationId xmlns:p14="http://schemas.microsoft.com/office/powerpoint/2010/main" val="623028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BBD06146-42A1-4EE7-B71A-66A7C9AE8639}"/>
              </a:ext>
            </a:extLst>
          </p:cNvPr>
          <p:cNvSpPr txBox="1">
            <a:spLocks/>
          </p:cNvSpPr>
          <p:nvPr/>
        </p:nvSpPr>
        <p:spPr>
          <a:xfrm>
            <a:off x="212086" y="960821"/>
            <a:ext cx="8752300" cy="583749"/>
          </a:xfrm>
          <a:prstGeom prst="rect">
            <a:avLst/>
          </a:prstGeom>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200" dirty="0"/>
              <a:t>Una onda cuadrada ideal con una amplitud de 1 se puede representar como una suma infinita de ondas sinusoidales.</a:t>
            </a:r>
            <a:endParaRPr lang="es-ES" sz="1200" dirty="0">
              <a:cs typeface="Calibri"/>
            </a:endParaRPr>
          </a:p>
          <a:p>
            <a:r>
              <a:rPr lang="es-ES" sz="1200" dirty="0"/>
              <a:t>La onda cuadrada ideal contiene solo componentes de frecuencias armónicas enteras impares.</a:t>
            </a:r>
            <a:endParaRPr lang="es-CO" sz="1200" dirty="0">
              <a:cs typeface="Calibri"/>
            </a:endParaRPr>
          </a:p>
        </p:txBody>
      </p:sp>
      <p:pic>
        <p:nvPicPr>
          <p:cNvPr id="14338" name="Picture 2">
            <a:extLst>
              <a:ext uri="{FF2B5EF4-FFF2-40B4-BE49-F238E27FC236}">
                <a16:creationId xmlns:a16="http://schemas.microsoft.com/office/drawing/2014/main" id="{113DA286-7A71-4EE9-9751-7CE432B5EA21}"/>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238937" y="2465756"/>
            <a:ext cx="3029669" cy="227225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D82D0E1B-4890-4843-8024-C933E3220BCF}"/>
              </a:ext>
            </a:extLst>
          </p:cNvPr>
          <p:cNvPicPr>
            <a:picLocks noChangeAspect="1"/>
          </p:cNvPicPr>
          <p:nvPr/>
        </p:nvPicPr>
        <p:blipFill>
          <a:blip r:embed="rId3"/>
          <a:stretch>
            <a:fillRect/>
          </a:stretch>
        </p:blipFill>
        <p:spPr>
          <a:xfrm>
            <a:off x="172811" y="2264532"/>
            <a:ext cx="4000500" cy="3000375"/>
          </a:xfrm>
          <a:prstGeom prst="rect">
            <a:avLst/>
          </a:prstGeom>
        </p:spPr>
      </p:pic>
      <p:sp>
        <p:nvSpPr>
          <p:cNvPr id="6" name="Rectángulo 3">
            <a:extLst>
              <a:ext uri="{FF2B5EF4-FFF2-40B4-BE49-F238E27FC236}">
                <a16:creationId xmlns:a16="http://schemas.microsoft.com/office/drawing/2014/main" id="{FE5050EC-AF91-4321-88FD-FCBA56E5936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EDC75183-B629-4447-BB0C-F98742E0D73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9" name="Marcador de número de diapositiva 3">
            <a:extLst>
              <a:ext uri="{FF2B5EF4-FFF2-40B4-BE49-F238E27FC236}">
                <a16:creationId xmlns:a16="http://schemas.microsoft.com/office/drawing/2014/main" id="{FC00B6DF-3644-454B-8D6D-B3335214B970}"/>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29</a:t>
            </a:fld>
            <a:endParaRPr lang="es-CO" sz="1200" dirty="0">
              <a:solidFill>
                <a:schemeClr val="bg1"/>
              </a:solidFill>
            </a:endParaRPr>
          </a:p>
        </p:txBody>
      </p:sp>
      <p:sp>
        <p:nvSpPr>
          <p:cNvPr id="11" name="Rectángulo 10">
            <a:extLst>
              <a:ext uri="{FF2B5EF4-FFF2-40B4-BE49-F238E27FC236}">
                <a16:creationId xmlns:a16="http://schemas.microsoft.com/office/drawing/2014/main" id="{F8710054-C99F-4E56-A3C5-E49E99F6D837}"/>
              </a:ext>
            </a:extLst>
          </p:cNvPr>
          <p:cNvSpPr/>
          <p:nvPr/>
        </p:nvSpPr>
        <p:spPr>
          <a:xfrm>
            <a:off x="20283" y="161797"/>
            <a:ext cx="4852610" cy="369332"/>
          </a:xfrm>
          <a:prstGeom prst="rect">
            <a:avLst/>
          </a:prstGeom>
        </p:spPr>
        <p:txBody>
          <a:bodyPr wrap="none">
            <a:spAutoFit/>
          </a:bodyPr>
          <a:lstStyle/>
          <a:p>
            <a:r>
              <a:rPr lang="es-ES" b="1" dirty="0">
                <a:solidFill>
                  <a:srgbClr val="2C5697"/>
                </a:solidFill>
                <a:latin typeface="Arial"/>
                <a:cs typeface="Arial"/>
              </a:rPr>
              <a:t>Espectro de señales conocidas - cuadrada</a:t>
            </a:r>
            <a:endParaRPr lang="es-CO" dirty="0"/>
          </a:p>
        </p:txBody>
      </p:sp>
    </p:spTree>
    <p:extLst>
      <p:ext uri="{BB962C8B-B14F-4D97-AF65-F5344CB8AC3E}">
        <p14:creationId xmlns:p14="http://schemas.microsoft.com/office/powerpoint/2010/main" val="789737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Marcador de contenido 6">
                <a:extLst>
                  <a:ext uri="{FF2B5EF4-FFF2-40B4-BE49-F238E27FC236}">
                    <a16:creationId xmlns:a16="http://schemas.microsoft.com/office/drawing/2014/main" id="{BBD06146-42A1-4EE7-B71A-66A7C9AE8639}"/>
                  </a:ext>
                </a:extLst>
              </p:cNvPr>
              <p:cNvSpPr txBox="1">
                <a:spLocks/>
              </p:cNvSpPr>
              <p:nvPr/>
            </p:nvSpPr>
            <p:spPr>
              <a:xfrm>
                <a:off x="4532354" y="1581572"/>
                <a:ext cx="4241532" cy="2495247"/>
              </a:xfrm>
              <a:prstGeom prst="rect">
                <a:avLst/>
              </a:prstGeom>
            </p:spPr>
            <p:txBody>
              <a:bodyPr vert="horz" lIns="68580" tIns="34290" rIns="68580" bIns="3429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100" dirty="0"/>
                  <a:t>Es posible aproximar la señal onda triangular con síntesis aditiva sumando los armónicos impares de la fundamental mientras se multiplican cada otros armónicos singulares por -1. </a:t>
                </a:r>
              </a:p>
              <a:p>
                <a:endParaRPr lang="es-ES" sz="2100" dirty="0"/>
              </a:p>
              <a:p>
                <a:pPr marL="0" indent="0">
                  <a:buNone/>
                </a:pPr>
                <a14:m>
                  <m:oMathPara xmlns:m="http://schemas.openxmlformats.org/officeDocument/2006/math">
                    <m:oMathParaPr>
                      <m:jc m:val="centerGroup"/>
                    </m:oMathParaPr>
                    <m:oMath xmlns:m="http://schemas.openxmlformats.org/officeDocument/2006/math">
                      <m:r>
                        <a:rPr lang="en-US" sz="1700" i="1">
                          <a:latin typeface="Cambria Math" panose="02040503050406030204" pitchFamily="18" charset="0"/>
                        </a:rPr>
                        <m:t>𝑦</m:t>
                      </m:r>
                      <m:d>
                        <m:dPr>
                          <m:ctrlPr>
                            <a:rPr lang="en-US" sz="1700" i="1">
                              <a:latin typeface="Cambria Math" panose="02040503050406030204" pitchFamily="18" charset="0"/>
                            </a:rPr>
                          </m:ctrlPr>
                        </m:dPr>
                        <m:e>
                          <m:r>
                            <a:rPr lang="en-US" sz="1700" i="1">
                              <a:latin typeface="Cambria Math" panose="02040503050406030204" pitchFamily="18" charset="0"/>
                            </a:rPr>
                            <m:t>𝑡</m:t>
                          </m:r>
                        </m:e>
                      </m:d>
                      <m:r>
                        <a:rPr lang="en-US" sz="1700" i="1">
                          <a:latin typeface="Cambria Math" panose="02040503050406030204" pitchFamily="18" charset="0"/>
                        </a:rPr>
                        <m:t>=</m:t>
                      </m:r>
                      <m:nary>
                        <m:naryPr>
                          <m:chr m:val="∑"/>
                          <m:ctrlPr>
                            <a:rPr lang="en-US" sz="1700" i="1">
                              <a:latin typeface="Cambria Math" panose="02040503050406030204" pitchFamily="18" charset="0"/>
                            </a:rPr>
                          </m:ctrlPr>
                        </m:naryPr>
                        <m:sub>
                          <m:r>
                            <m:rPr>
                              <m:brk m:alnAt="23"/>
                            </m:rPr>
                            <a:rPr lang="en-US" sz="1700" i="1">
                              <a:latin typeface="Cambria Math" panose="02040503050406030204" pitchFamily="18" charset="0"/>
                            </a:rPr>
                            <m:t>𝑖</m:t>
                          </m:r>
                          <m:r>
                            <a:rPr lang="en-US" sz="1700" i="1">
                              <a:latin typeface="Cambria Math" panose="02040503050406030204" pitchFamily="18" charset="0"/>
                            </a:rPr>
                            <m:t>=0</m:t>
                          </m:r>
                        </m:sub>
                        <m:sup>
                          <m:r>
                            <a:rPr lang="en-US" sz="1700" i="1">
                              <a:latin typeface="Cambria Math" panose="02040503050406030204" pitchFamily="18" charset="0"/>
                            </a:rPr>
                            <m:t>𝑁</m:t>
                          </m:r>
                        </m:sup>
                        <m:e>
                          <m:r>
                            <a:rPr lang="en-US" sz="1700" i="1">
                              <a:latin typeface="Cambria Math" panose="02040503050406030204" pitchFamily="18" charset="0"/>
                            </a:rPr>
                            <m:t>(−</m:t>
                          </m:r>
                          <m:sSup>
                            <m:sSupPr>
                              <m:ctrlPr>
                                <a:rPr lang="en-US" sz="1700" i="1">
                                  <a:latin typeface="Cambria Math" panose="02040503050406030204" pitchFamily="18" charset="0"/>
                                </a:rPr>
                              </m:ctrlPr>
                            </m:sSupPr>
                            <m:e>
                              <m:r>
                                <a:rPr lang="en-US" sz="1700" i="1">
                                  <a:latin typeface="Cambria Math" panose="02040503050406030204" pitchFamily="18" charset="0"/>
                                </a:rPr>
                                <m:t>1)</m:t>
                              </m:r>
                            </m:e>
                            <m:sup>
                              <m:r>
                                <a:rPr lang="en-US" sz="1700" i="1">
                                  <a:latin typeface="Cambria Math" panose="02040503050406030204" pitchFamily="18" charset="0"/>
                                </a:rPr>
                                <m:t>𝑖</m:t>
                              </m:r>
                            </m:sup>
                          </m:sSup>
                          <m:sSub>
                            <m:sSubPr>
                              <m:ctrlPr>
                                <a:rPr lang="en-US" sz="1700" i="1">
                                  <a:latin typeface="Cambria Math" panose="02040503050406030204" pitchFamily="18" charset="0"/>
                                </a:rPr>
                              </m:ctrlPr>
                            </m:sSubPr>
                            <m:e>
                              <m:r>
                                <a:rPr lang="en-US" sz="1700" i="1">
                                  <a:latin typeface="Cambria Math" panose="02040503050406030204" pitchFamily="18" charset="0"/>
                                </a:rPr>
                                <m:t>𝐴</m:t>
                              </m:r>
                            </m:e>
                            <m:sub>
                              <m:r>
                                <a:rPr lang="en-US" sz="1700" i="1">
                                  <a:latin typeface="Cambria Math" panose="02040503050406030204" pitchFamily="18" charset="0"/>
                                </a:rPr>
                                <m:t>𝑛</m:t>
                              </m:r>
                            </m:sub>
                          </m:sSub>
                          <m:r>
                            <m:rPr>
                              <m:sty m:val="p"/>
                            </m:rPr>
                            <a:rPr lang="en-US" sz="1700">
                              <a:latin typeface="Cambria Math" panose="02040503050406030204" pitchFamily="18" charset="0"/>
                            </a:rPr>
                            <m:t>sin</m:t>
                          </m:r>
                          <m:r>
                            <a:rPr lang="en-US" sz="1700" i="1">
                              <a:latin typeface="Cambria Math" panose="02040503050406030204" pitchFamily="18" charset="0"/>
                            </a:rPr>
                            <m:t>⁡(</m:t>
                          </m:r>
                          <m:r>
                            <a:rPr lang="en-US" sz="1700" i="1">
                              <a:latin typeface="Cambria Math" panose="02040503050406030204" pitchFamily="18" charset="0"/>
                            </a:rPr>
                            <m:t>𝑛</m:t>
                          </m:r>
                          <m:sSub>
                            <m:sSubPr>
                              <m:ctrlPr>
                                <a:rPr lang="en-US" sz="1700" i="1">
                                  <a:latin typeface="Cambria Math" panose="02040503050406030204" pitchFamily="18" charset="0"/>
                                  <a:ea typeface="Cambria Math" panose="02040503050406030204" pitchFamily="18" charset="0"/>
                                </a:rPr>
                              </m:ctrlPr>
                            </m:sSubPr>
                            <m:e>
                              <m:r>
                                <a:rPr lang="en-US" sz="1700" i="1">
                                  <a:latin typeface="Cambria Math" panose="02040503050406030204" pitchFamily="18" charset="0"/>
                                  <a:ea typeface="Cambria Math" panose="02040503050406030204" pitchFamily="18" charset="0"/>
                                </a:rPr>
                                <m:t>𝜔</m:t>
                              </m:r>
                            </m:e>
                            <m:sub>
                              <m:r>
                                <a:rPr lang="en-US" sz="1700" i="1">
                                  <a:latin typeface="Cambria Math" panose="02040503050406030204" pitchFamily="18" charset="0"/>
                                  <a:ea typeface="Cambria Math" panose="02040503050406030204" pitchFamily="18" charset="0"/>
                                </a:rPr>
                                <m:t>0</m:t>
                              </m:r>
                            </m:sub>
                          </m:sSub>
                          <m:r>
                            <a:rPr lang="en-US" sz="1700" i="1">
                              <a:latin typeface="Cambria Math" panose="02040503050406030204" pitchFamily="18" charset="0"/>
                              <a:ea typeface="Cambria Math" panose="02040503050406030204" pitchFamily="18" charset="0"/>
                            </a:rPr>
                            <m:t>𝑡</m:t>
                          </m:r>
                          <m:r>
                            <a:rPr lang="en-US" sz="1700" i="1">
                              <a:latin typeface="Cambria Math" panose="02040503050406030204" pitchFamily="18" charset="0"/>
                              <a:ea typeface="Cambria Math" panose="02040503050406030204" pitchFamily="18" charset="0"/>
                            </a:rPr>
                            <m:t>)</m:t>
                          </m:r>
                        </m:e>
                      </m:nary>
                    </m:oMath>
                  </m:oMathPara>
                </a14:m>
                <a:endParaRPr lang="es-ES" sz="2100" dirty="0"/>
              </a:p>
              <a:p>
                <a:pPr marL="0" indent="0">
                  <a:buNone/>
                </a:pPr>
                <a14:m>
                  <m:oMathPara xmlns:m="http://schemas.openxmlformats.org/officeDocument/2006/math">
                    <m:oMathParaPr>
                      <m:jc m:val="centerGroup"/>
                    </m:oMathParaPr>
                    <m:oMath xmlns:m="http://schemas.openxmlformats.org/officeDocument/2006/math">
                      <m:r>
                        <a:rPr lang="en-US" sz="1700" i="1">
                          <a:latin typeface="Cambria Math" panose="02040503050406030204" pitchFamily="18" charset="0"/>
                        </a:rPr>
                        <m:t>𝑛</m:t>
                      </m:r>
                      <m:r>
                        <a:rPr lang="en-US" sz="1700" i="1">
                          <a:latin typeface="Cambria Math" panose="02040503050406030204" pitchFamily="18" charset="0"/>
                        </a:rPr>
                        <m:t>=2</m:t>
                      </m:r>
                      <m:r>
                        <a:rPr lang="en-US" sz="1700" i="1">
                          <a:latin typeface="Cambria Math" panose="02040503050406030204" pitchFamily="18" charset="0"/>
                        </a:rPr>
                        <m:t>𝑖</m:t>
                      </m:r>
                      <m:r>
                        <a:rPr lang="en-US" sz="1700" i="1">
                          <a:latin typeface="Cambria Math" panose="02040503050406030204" pitchFamily="18" charset="0"/>
                        </a:rPr>
                        <m:t>+1</m:t>
                      </m:r>
                    </m:oMath>
                  </m:oMathPara>
                </a14:m>
                <a:endParaRPr lang="es-ES" sz="1700" dirty="0"/>
              </a:p>
            </p:txBody>
          </p:sp>
        </mc:Choice>
        <mc:Fallback xmlns="">
          <p:sp>
            <p:nvSpPr>
              <p:cNvPr id="7" name="Marcador de contenido 6">
                <a:extLst>
                  <a:ext uri="{FF2B5EF4-FFF2-40B4-BE49-F238E27FC236}">
                    <a16:creationId xmlns:a16="http://schemas.microsoft.com/office/drawing/2014/main" id="{BBD06146-42A1-4EE7-B71A-66A7C9AE8639}"/>
                  </a:ext>
                </a:extLst>
              </p:cNvPr>
              <p:cNvSpPr txBox="1">
                <a:spLocks noRot="1" noChangeAspect="1" noMove="1" noResize="1" noEditPoints="1" noAdjustHandles="1" noChangeArrowheads="1" noChangeShapeType="1" noTextEdit="1"/>
              </p:cNvSpPr>
              <p:nvPr/>
            </p:nvSpPr>
            <p:spPr>
              <a:xfrm>
                <a:off x="4532354" y="1581572"/>
                <a:ext cx="4241532" cy="2495247"/>
              </a:xfrm>
              <a:prstGeom prst="rect">
                <a:avLst/>
              </a:prstGeom>
              <a:blipFill>
                <a:blip r:embed="rId2"/>
                <a:stretch>
                  <a:fillRect l="-1580" t="-3415" r="-2443"/>
                </a:stretch>
              </a:blipFill>
            </p:spPr>
            <p:txBody>
              <a:bodyPr/>
              <a:lstStyle/>
              <a:p>
                <a:r>
                  <a:rPr lang="es-CO">
                    <a:noFill/>
                  </a:rPr>
                  <a:t> </a:t>
                </a:r>
              </a:p>
            </p:txBody>
          </p:sp>
        </mc:Fallback>
      </mc:AlternateContent>
      <p:pic>
        <p:nvPicPr>
          <p:cNvPr id="3" name="Imagen 2">
            <a:extLst>
              <a:ext uri="{FF2B5EF4-FFF2-40B4-BE49-F238E27FC236}">
                <a16:creationId xmlns:a16="http://schemas.microsoft.com/office/drawing/2014/main" id="{199C7CF0-EB99-4A00-B376-6E7189E3B267}"/>
              </a:ext>
            </a:extLst>
          </p:cNvPr>
          <p:cNvPicPr>
            <a:picLocks noChangeAspect="1"/>
          </p:cNvPicPr>
          <p:nvPr/>
        </p:nvPicPr>
        <p:blipFill>
          <a:blip r:embed="rId3"/>
          <a:stretch>
            <a:fillRect/>
          </a:stretch>
        </p:blipFill>
        <p:spPr>
          <a:xfrm>
            <a:off x="251732" y="1171013"/>
            <a:ext cx="4000500" cy="3000375"/>
          </a:xfrm>
          <a:prstGeom prst="rect">
            <a:avLst/>
          </a:prstGeom>
        </p:spPr>
      </p:pic>
      <p:sp>
        <p:nvSpPr>
          <p:cNvPr id="5" name="Rectángulo 3">
            <a:extLst>
              <a:ext uri="{FF2B5EF4-FFF2-40B4-BE49-F238E27FC236}">
                <a16:creationId xmlns:a16="http://schemas.microsoft.com/office/drawing/2014/main" id="{404DCFB3-3D01-4972-A3F0-3D6C9A6B4F08}"/>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Título 1">
            <a:extLst>
              <a:ext uri="{FF2B5EF4-FFF2-40B4-BE49-F238E27FC236}">
                <a16:creationId xmlns:a16="http://schemas.microsoft.com/office/drawing/2014/main" id="{7C92AEE5-F75E-4C7A-8485-6BEFF407193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8" name="Marcador de número de diapositiva 3">
            <a:extLst>
              <a:ext uri="{FF2B5EF4-FFF2-40B4-BE49-F238E27FC236}">
                <a16:creationId xmlns:a16="http://schemas.microsoft.com/office/drawing/2014/main" id="{D1AB2776-F165-4B08-BFEC-895046402537}"/>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30</a:t>
            </a:fld>
            <a:endParaRPr lang="es-CO" sz="1200" dirty="0">
              <a:solidFill>
                <a:schemeClr val="bg1"/>
              </a:solidFill>
            </a:endParaRPr>
          </a:p>
        </p:txBody>
      </p:sp>
      <p:sp>
        <p:nvSpPr>
          <p:cNvPr id="9" name="Rectángulo 8">
            <a:extLst>
              <a:ext uri="{FF2B5EF4-FFF2-40B4-BE49-F238E27FC236}">
                <a16:creationId xmlns:a16="http://schemas.microsoft.com/office/drawing/2014/main" id="{400474C7-8AAB-436C-92E9-C1EFFC4FC4D1}"/>
              </a:ext>
            </a:extLst>
          </p:cNvPr>
          <p:cNvSpPr/>
          <p:nvPr/>
        </p:nvSpPr>
        <p:spPr>
          <a:xfrm>
            <a:off x="20283" y="161797"/>
            <a:ext cx="4891083" cy="369332"/>
          </a:xfrm>
          <a:prstGeom prst="rect">
            <a:avLst/>
          </a:prstGeom>
        </p:spPr>
        <p:txBody>
          <a:bodyPr wrap="none">
            <a:spAutoFit/>
          </a:bodyPr>
          <a:lstStyle/>
          <a:p>
            <a:r>
              <a:rPr lang="es-ES" b="1" dirty="0">
                <a:solidFill>
                  <a:srgbClr val="2C5697"/>
                </a:solidFill>
                <a:latin typeface="Arial"/>
                <a:cs typeface="Arial"/>
              </a:rPr>
              <a:t>Espectro de señales conocidas - triangular</a:t>
            </a:r>
            <a:endParaRPr lang="es-CO" dirty="0"/>
          </a:p>
        </p:txBody>
      </p:sp>
    </p:spTree>
    <p:extLst>
      <p:ext uri="{BB962C8B-B14F-4D97-AF65-F5344CB8AC3E}">
        <p14:creationId xmlns:p14="http://schemas.microsoft.com/office/powerpoint/2010/main" val="2750776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BBD06146-42A1-4EE7-B71A-66A7C9AE8639}"/>
              </a:ext>
            </a:extLst>
          </p:cNvPr>
          <p:cNvSpPr txBox="1">
            <a:spLocks/>
          </p:cNvSpPr>
          <p:nvPr/>
        </p:nvSpPr>
        <p:spPr>
          <a:xfrm>
            <a:off x="148318" y="1126255"/>
            <a:ext cx="5301343" cy="266870"/>
          </a:xfrm>
          <a:prstGeom prst="rect">
            <a:avLst/>
          </a:prstGeom>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dirty="0"/>
              <a:t>Su espectro contiene armónicos pares e impares de la frecuencia fundamental .</a:t>
            </a:r>
            <a:endParaRPr lang="en-US" sz="1200">
              <a:cs typeface="Calibri"/>
            </a:endParaRPr>
          </a:p>
        </p:txBody>
      </p:sp>
      <p:pic>
        <p:nvPicPr>
          <p:cNvPr id="3" name="Imagen 2">
            <a:extLst>
              <a:ext uri="{FF2B5EF4-FFF2-40B4-BE49-F238E27FC236}">
                <a16:creationId xmlns:a16="http://schemas.microsoft.com/office/drawing/2014/main" id="{76957516-95BB-4E62-BE8A-80F578F8E3A4}"/>
              </a:ext>
            </a:extLst>
          </p:cNvPr>
          <p:cNvPicPr>
            <a:picLocks noChangeAspect="1"/>
          </p:cNvPicPr>
          <p:nvPr/>
        </p:nvPicPr>
        <p:blipFill>
          <a:blip r:embed="rId3"/>
          <a:stretch>
            <a:fillRect/>
          </a:stretch>
        </p:blipFill>
        <p:spPr>
          <a:xfrm>
            <a:off x="125186" y="1535320"/>
            <a:ext cx="4252232" cy="3190874"/>
          </a:xfrm>
          <a:prstGeom prst="rect">
            <a:avLst/>
          </a:prstGeom>
        </p:spPr>
      </p:pic>
      <p:pic>
        <p:nvPicPr>
          <p:cNvPr id="16386" name="Picture 2">
            <a:extLst>
              <a:ext uri="{FF2B5EF4-FFF2-40B4-BE49-F238E27FC236}">
                <a16:creationId xmlns:a16="http://schemas.microsoft.com/office/drawing/2014/main" id="{BD13FFB2-033B-4635-81D1-31E642158B80}"/>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699228" y="2004767"/>
            <a:ext cx="4097108" cy="204855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3">
            <a:extLst>
              <a:ext uri="{FF2B5EF4-FFF2-40B4-BE49-F238E27FC236}">
                <a16:creationId xmlns:a16="http://schemas.microsoft.com/office/drawing/2014/main" id="{E205E9B9-F859-44F7-A60E-813982D076B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Título 1">
            <a:extLst>
              <a:ext uri="{FF2B5EF4-FFF2-40B4-BE49-F238E27FC236}">
                <a16:creationId xmlns:a16="http://schemas.microsoft.com/office/drawing/2014/main" id="{9B45B35E-C796-4857-AE6F-76190EFC380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Señales en tiempo y frecuencia</a:t>
            </a:r>
            <a:endParaRPr lang="en-US" dirty="0">
              <a:solidFill>
                <a:schemeClr val="bg1"/>
              </a:solidFill>
            </a:endParaRPr>
          </a:p>
        </p:txBody>
      </p:sp>
      <p:sp>
        <p:nvSpPr>
          <p:cNvPr id="10" name="Marcador de número de diapositiva 3">
            <a:extLst>
              <a:ext uri="{FF2B5EF4-FFF2-40B4-BE49-F238E27FC236}">
                <a16:creationId xmlns:a16="http://schemas.microsoft.com/office/drawing/2014/main" id="{C5561238-5E28-40BD-B697-F56E90911A62}"/>
              </a:ext>
            </a:extLst>
          </p:cNvPr>
          <p:cNvSpPr txBox="1">
            <a:spLocks/>
          </p:cNvSpPr>
          <p:nvPr/>
        </p:nvSpPr>
        <p:spPr>
          <a:xfrm>
            <a:off x="8712200" y="5885920"/>
            <a:ext cx="3814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31</a:t>
            </a:fld>
            <a:endParaRPr lang="es-CO" sz="1200" dirty="0">
              <a:solidFill>
                <a:schemeClr val="bg1"/>
              </a:solidFill>
            </a:endParaRPr>
          </a:p>
        </p:txBody>
      </p:sp>
      <p:sp>
        <p:nvSpPr>
          <p:cNvPr id="11" name="Rectángulo 10">
            <a:extLst>
              <a:ext uri="{FF2B5EF4-FFF2-40B4-BE49-F238E27FC236}">
                <a16:creationId xmlns:a16="http://schemas.microsoft.com/office/drawing/2014/main" id="{F2A3DBC8-0790-485E-BCC3-A0AC67875741}"/>
              </a:ext>
            </a:extLst>
          </p:cNvPr>
          <p:cNvSpPr/>
          <p:nvPr/>
        </p:nvSpPr>
        <p:spPr>
          <a:xfrm>
            <a:off x="20283" y="161797"/>
            <a:ext cx="5583580" cy="369332"/>
          </a:xfrm>
          <a:prstGeom prst="rect">
            <a:avLst/>
          </a:prstGeom>
        </p:spPr>
        <p:txBody>
          <a:bodyPr wrap="none">
            <a:spAutoFit/>
          </a:bodyPr>
          <a:lstStyle/>
          <a:p>
            <a:r>
              <a:rPr lang="es-ES" b="1" dirty="0">
                <a:solidFill>
                  <a:srgbClr val="2C5697"/>
                </a:solidFill>
                <a:latin typeface="Arial"/>
                <a:cs typeface="Arial"/>
              </a:rPr>
              <a:t>Espectro de señales conocidas – diente de sierra</a:t>
            </a:r>
            <a:endParaRPr lang="es-CO" dirty="0"/>
          </a:p>
        </p:txBody>
      </p:sp>
      <p:sp>
        <p:nvSpPr>
          <p:cNvPr id="4" name="Globo: flecha cuádruple 3">
            <a:hlinkClick r:id="rId5"/>
            <a:extLst>
              <a:ext uri="{FF2B5EF4-FFF2-40B4-BE49-F238E27FC236}">
                <a16:creationId xmlns:a16="http://schemas.microsoft.com/office/drawing/2014/main" id="{1309C2A6-D40F-CB6A-AADC-BD421F322CB1}"/>
              </a:ext>
            </a:extLst>
          </p:cNvPr>
          <p:cNvSpPr/>
          <p:nvPr/>
        </p:nvSpPr>
        <p:spPr>
          <a:xfrm>
            <a:off x="5603863" y="172168"/>
            <a:ext cx="339737" cy="369333"/>
          </a:xfrm>
          <a:prstGeom prst="quad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566083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F68008-267B-42B0-9C9F-2DD9B1D5EE7A}">
  <ds:schemaRefs>
    <ds:schemaRef ds:uri="http://schemas.microsoft.com/office/2006/metadata/properties"/>
    <ds:schemaRef ds:uri="http://schemas.microsoft.com/office/infopath/2007/PartnerControls"/>
    <ds:schemaRef ds:uri="c0c46fdd-2a6c-49f1-bb4d-a6e06b52ee64"/>
    <ds:schemaRef ds:uri="http://purl.org/dc/dcmitype/"/>
    <ds:schemaRef ds:uri="http://schemas.microsoft.com/office/2006/documentManagement/types"/>
    <ds:schemaRef ds:uri="http://purl.org/dc/elements/1.1/"/>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EB7352B7-29C2-4831-B08B-DA9095F029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4078</TotalTime>
  <Words>1153</Words>
  <Application>Microsoft Office PowerPoint</Application>
  <PresentationFormat>Presentación en pantalla (4:3)</PresentationFormat>
  <Paragraphs>198</Paragraphs>
  <Slides>31</Slides>
  <Notes>23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31</vt:i4>
      </vt:variant>
    </vt:vector>
  </HeadingPairs>
  <TitlesOfParts>
    <vt:vector size="39" baseType="lpstr">
      <vt:lpstr>Arial</vt:lpstr>
      <vt:lpstr>Calibri</vt:lpstr>
      <vt:lpstr>Calibri Light</vt:lpstr>
      <vt:lpstr>Cambria Math</vt:lpstr>
      <vt:lpstr>Courier New</vt:lpstr>
      <vt:lpstr>Rajdhani</vt:lpstr>
      <vt:lpstr>Wingdings</vt:lpstr>
      <vt:lpstr>Tema de Office</vt:lpstr>
      <vt:lpstr>Señales en tiempo y frecuencia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Señales t y f</dc:title>
  <dc:creator>Jenny Rojas</dc:creator>
  <cp:lastModifiedBy>Pedro Antonio Aya Parra</cp:lastModifiedBy>
  <cp:revision>1814</cp:revision>
  <dcterms:created xsi:type="dcterms:W3CDTF">2018-06-28T02:15:01Z</dcterms:created>
  <dcterms:modified xsi:type="dcterms:W3CDTF">2025-07-31T02:51:29Z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