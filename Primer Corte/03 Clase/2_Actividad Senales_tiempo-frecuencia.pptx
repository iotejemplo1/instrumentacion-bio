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88163" cy="100203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D6B69-82B4-9E94-F7AF-03AC1D9B7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0BD47F-8983-D64D-7EBA-48D7E2ABD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6934EA-65EA-1DD0-2D79-578C9D51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2F8CD9-A241-F8C2-EFBE-707686F2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F396F2-627A-0CB5-ADC6-B2E708ED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446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7A758-8BD6-5B1B-224E-8B78FD5B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DFD821-B775-D508-455F-9CC6376D2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99BE5-CAA4-A61E-ED2F-8431DDF3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B323B3-BE09-F3CC-CBB2-EA4C05CD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7F9DA4-469E-751D-9C66-B1BF1383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821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6CB00-64C3-C1DF-75FA-A387010EE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2F50FA-02F3-CB43-81CF-1B88E514C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AF4832-AB14-D38E-A0FB-FC7A5A13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9A145-2970-DC41-3AF4-A151D736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207AF4-A1C6-24E0-ED0D-D64401E8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040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D1B97-8132-3DCE-3192-8E7E34A32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119AD6-203F-86F0-A9D6-BBD5827BC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2910C2-B364-BBB0-DA0B-D8895CE43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9B55EB-732A-A187-741D-162F17A8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D7CCBC-7933-89D8-22FB-52F19734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7A868A-9657-C23D-A189-172EEC91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296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AFCB7-614E-27F7-416A-F8C8875E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68C871-C317-4C90-E749-F38FEA1F5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0C9EB3-19DF-F746-DA02-ACF763998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2611C2-69DC-708E-5F08-42F9889C3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04AFF5-D47C-4502-EC5C-3B9EF5F4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70C43D-7CE5-224B-5957-D09D8C09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EC6BAD-6670-8F52-24CF-1126076F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9B84B3-E1AB-7AB5-25CE-940002CA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791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10B92-154A-1585-75D8-672ACE8A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7DCC07-B403-8447-1344-6ED1B94A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9BF1BB-7822-9A84-BB48-91B530DD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16236F-0E14-ECB9-762B-4C88DE2D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4827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EC11AA-2FF2-F07D-E39F-2D6F2E20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E1D9D3-20B5-04F2-7E79-BD1E349C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59AB70-9A57-AA9C-5717-A99D1E67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727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7E9A5-8052-0F90-2568-02ED88F9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704D0A-CE01-425A-DF0C-66EC593BC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B31D12-2CEB-7C05-B1EF-6F4CDA54B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5DD9EE-BB89-A0CC-A258-A251CED8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6B6182-79F8-544E-E1EC-0F916A84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A2DA8D-38AB-2817-2DEC-7F98A1F5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204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37E01-6AE4-074B-F032-CE8AD7C8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0EA3ED-8679-87D3-C0A1-B5352AE9D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CB702D-1D28-0A26-B5AB-A75679CD4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6DC86B-729B-ACB1-B838-ECC5D14E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1C3885-3B7B-47CC-EFEB-17A4CB49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B4E7B8-0865-60FD-79E9-AE9858BA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590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637C1-C472-555D-9A82-C959859F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B1DA70-6840-6A18-59FE-9E8C4381C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10A1FA-07CA-E162-8A1D-256F0401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9C62C2-D04A-499C-A387-B09B2C9B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2FA308-334D-7709-5D4C-B6BBF457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131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FA5654-B6A1-170D-57EA-FDA045B3E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2B65F9-8512-6079-9D5D-2CE20B807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020439-D3DB-7EC8-3886-7FB1990E5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8B7F77-ED5E-6EEF-BA23-AE9F1927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DEB3D1-E8A7-5598-7406-E2EC88F0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636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D9FAD9-5C89-E535-715B-89E719CD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D4474B-71D3-FF27-F107-FF42E1258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3DDDB1-A025-B846-1593-74EDDCF2A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89AD6-527D-4926-AB50-CFB372831038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5DB6DC-7EEF-F423-1251-0705E14C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1A5BA4-5928-76FD-383F-00E29E8D1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4CB59-1D5C-476C-BBD9-82DEABE383F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81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06CD06C-46D5-0D7B-F607-38EACE3651AA}"/>
              </a:ext>
            </a:extLst>
          </p:cNvPr>
          <p:cNvSpPr/>
          <p:nvPr/>
        </p:nvSpPr>
        <p:spPr>
          <a:xfrm>
            <a:off x="914400" y="401344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E37B1F-79D6-91B1-6896-CF8A5D0B2637}"/>
              </a:ext>
            </a:extLst>
          </p:cNvPr>
          <p:cNvSpPr/>
          <p:nvPr/>
        </p:nvSpPr>
        <p:spPr>
          <a:xfrm>
            <a:off x="4669536" y="401343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4E71A81-EC90-09B6-2C53-14E2A41C8846}"/>
              </a:ext>
            </a:extLst>
          </p:cNvPr>
          <p:cNvSpPr/>
          <p:nvPr/>
        </p:nvSpPr>
        <p:spPr>
          <a:xfrm>
            <a:off x="914400" y="4069082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4E018DB-D532-3EE9-3215-D9FAFE4CFD63}"/>
              </a:ext>
            </a:extLst>
          </p:cNvPr>
          <p:cNvSpPr/>
          <p:nvPr/>
        </p:nvSpPr>
        <p:spPr>
          <a:xfrm>
            <a:off x="8446008" y="401343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033A26-7C5F-D242-55F7-B1066C3C2FA0}"/>
              </a:ext>
            </a:extLst>
          </p:cNvPr>
          <p:cNvSpPr/>
          <p:nvPr/>
        </p:nvSpPr>
        <p:spPr>
          <a:xfrm>
            <a:off x="8446008" y="4069081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A10CDB5-3927-2EBF-4AA8-D4194C49B47F}"/>
              </a:ext>
            </a:extLst>
          </p:cNvPr>
          <p:cNvSpPr/>
          <p:nvPr/>
        </p:nvSpPr>
        <p:spPr>
          <a:xfrm>
            <a:off x="4669536" y="4069081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79A8F12-0964-2B27-AF6D-E2AA0F547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064" y="44652"/>
            <a:ext cx="597103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Señal periódica	                                                                  Señal no periódica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D513322-67DE-7DD1-F8E5-5E22E2D6F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645" y="-472308"/>
            <a:ext cx="118173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Señal continua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FA1B3F6F-4ABB-0A2A-59DB-3D9AFCBAF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560" y="2918430"/>
            <a:ext cx="578205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Señal analógica                                                                                            Señal digital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304F88-A904-2F74-741B-01492CE1F134}"/>
              </a:ext>
            </a:extLst>
          </p:cNvPr>
          <p:cNvSpPr txBox="1"/>
          <p:nvPr/>
        </p:nvSpPr>
        <p:spPr>
          <a:xfrm>
            <a:off x="9087165" y="3726054"/>
            <a:ext cx="115608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s-CO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s-CO" altLang="es-CO" sz="1200" dirty="0">
                <a:latin typeface="Aptos" panose="020B0004020202020204" pitchFamily="34" charset="0"/>
                <a:cs typeface="Times New Roman" panose="02020603050405020304" pitchFamily="18" charset="0"/>
              </a:rPr>
              <a:t>Señal discreta</a:t>
            </a:r>
            <a:endParaRPr lang="es-CO" sz="12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164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09C2D97-EC85-E1F2-30F8-9F095FDA82DD}"/>
              </a:ext>
            </a:extLst>
          </p:cNvPr>
          <p:cNvSpPr/>
          <p:nvPr/>
        </p:nvSpPr>
        <p:spPr>
          <a:xfrm>
            <a:off x="266392" y="267498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E6BE9A3-B7A8-064C-E67A-E0B4272FF50F}"/>
              </a:ext>
            </a:extLst>
          </p:cNvPr>
          <p:cNvSpPr/>
          <p:nvPr/>
        </p:nvSpPr>
        <p:spPr>
          <a:xfrm>
            <a:off x="5889779" y="267498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A12DEB7-462C-FDD0-AB4D-E200DA2FB546}"/>
              </a:ext>
            </a:extLst>
          </p:cNvPr>
          <p:cNvSpPr/>
          <p:nvPr/>
        </p:nvSpPr>
        <p:spPr>
          <a:xfrm>
            <a:off x="3082664" y="267498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D20F8B-0F4E-32D8-641A-06C87F03CA1F}"/>
              </a:ext>
            </a:extLst>
          </p:cNvPr>
          <p:cNvSpPr/>
          <p:nvPr/>
        </p:nvSpPr>
        <p:spPr>
          <a:xfrm>
            <a:off x="8718133" y="267498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0A910A-FE5C-1FFE-DDCD-FED9E9998DCF}"/>
              </a:ext>
            </a:extLst>
          </p:cNvPr>
          <p:cNvSpPr/>
          <p:nvPr/>
        </p:nvSpPr>
        <p:spPr>
          <a:xfrm>
            <a:off x="255872" y="2436877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8ECA4E6-B573-0E67-D3C8-90B920F8945A}"/>
              </a:ext>
            </a:extLst>
          </p:cNvPr>
          <p:cNvSpPr/>
          <p:nvPr/>
        </p:nvSpPr>
        <p:spPr>
          <a:xfrm>
            <a:off x="3065747" y="2436877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4ED121-2E60-14F7-7845-0B639EC7A43D}"/>
              </a:ext>
            </a:extLst>
          </p:cNvPr>
          <p:cNvSpPr txBox="1"/>
          <p:nvPr/>
        </p:nvSpPr>
        <p:spPr>
          <a:xfrm>
            <a:off x="310687" y="433412"/>
            <a:ext cx="23498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b="1" dirty="0"/>
              <a:t>Definición:</a:t>
            </a:r>
            <a:r>
              <a:rPr lang="es-CO" sz="1200" dirty="0"/>
              <a:t> </a:t>
            </a:r>
          </a:p>
          <a:p>
            <a:r>
              <a:rPr lang="es-CO" sz="1200" dirty="0"/>
              <a:t>No tiene un patrón repetitivo fijo.</a:t>
            </a:r>
          </a:p>
          <a:p>
            <a:br>
              <a:rPr lang="es-CO" sz="1200" dirty="0"/>
            </a:br>
            <a:r>
              <a:rPr lang="es-CO" sz="1200" b="1" dirty="0"/>
              <a:t>Ejemplo:</a:t>
            </a:r>
            <a:r>
              <a:rPr lang="es-CO" sz="1200" dirty="0"/>
              <a:t> </a:t>
            </a:r>
          </a:p>
          <a:p>
            <a:r>
              <a:rPr lang="es-CO" sz="1200" dirty="0"/>
              <a:t>Voz humana al hablar.</a:t>
            </a:r>
          </a:p>
          <a:p>
            <a:br>
              <a:rPr lang="es-CO" sz="1200" dirty="0"/>
            </a:br>
            <a:r>
              <a:rPr lang="es-CO" sz="1200" b="1" dirty="0"/>
              <a:t>Aplicación:</a:t>
            </a:r>
            <a:r>
              <a:rPr lang="es-CO" sz="1200" dirty="0"/>
              <a:t> </a:t>
            </a:r>
          </a:p>
          <a:p>
            <a:r>
              <a:rPr lang="es-CO" sz="1200" dirty="0"/>
              <a:t>Reconocimiento de voz.</a:t>
            </a:r>
          </a:p>
          <a:p>
            <a:endParaRPr lang="es-CO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23EC10B-A875-5C1D-D803-ABD59F87FD8B}"/>
              </a:ext>
            </a:extLst>
          </p:cNvPr>
          <p:cNvSpPr txBox="1"/>
          <p:nvPr/>
        </p:nvSpPr>
        <p:spPr>
          <a:xfrm>
            <a:off x="3082664" y="433412"/>
            <a:ext cx="25362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CO" dirty="0"/>
              <a:t>Definición: 	</a:t>
            </a:r>
          </a:p>
          <a:p>
            <a:r>
              <a:rPr lang="es-CO" b="0" dirty="0"/>
              <a:t>Se repite en intervalos regulares.</a:t>
            </a:r>
          </a:p>
          <a:p>
            <a:br>
              <a:rPr lang="es-CO" dirty="0"/>
            </a:br>
            <a:r>
              <a:rPr lang="es-CO" dirty="0"/>
              <a:t>Ejemplo: </a:t>
            </a:r>
          </a:p>
          <a:p>
            <a:r>
              <a:rPr lang="es-CO" b="0" dirty="0"/>
              <a:t>Onda senoidal (corriente eléctrica).</a:t>
            </a:r>
          </a:p>
          <a:p>
            <a:br>
              <a:rPr lang="es-CO" dirty="0"/>
            </a:br>
            <a:r>
              <a:rPr lang="es-CO" dirty="0"/>
              <a:t>Aplicación: </a:t>
            </a:r>
          </a:p>
          <a:p>
            <a:r>
              <a:rPr lang="es-CO" b="0" dirty="0"/>
              <a:t>Sincronización en relojes digitales.</a:t>
            </a:r>
          </a:p>
          <a:p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A78A881-9804-A1BC-9F8F-58DCD858B756}"/>
              </a:ext>
            </a:extLst>
          </p:cNvPr>
          <p:cNvSpPr txBox="1"/>
          <p:nvPr/>
        </p:nvSpPr>
        <p:spPr>
          <a:xfrm>
            <a:off x="5825959" y="384317"/>
            <a:ext cx="26717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CO" dirty="0"/>
              <a:t>Definición: 	</a:t>
            </a:r>
          </a:p>
          <a:p>
            <a:r>
              <a:rPr lang="es-CO" b="0" dirty="0"/>
              <a:t>Tiene valores para todos los </a:t>
            </a:r>
          </a:p>
          <a:p>
            <a:r>
              <a:rPr lang="es-CO" b="0" dirty="0"/>
              <a:t>instantes del tiempo.</a:t>
            </a:r>
          </a:p>
          <a:p>
            <a:br>
              <a:rPr lang="es-CO" dirty="0"/>
            </a:br>
            <a:r>
              <a:rPr lang="es-CO" dirty="0"/>
              <a:t>Ejemplo: </a:t>
            </a:r>
          </a:p>
          <a:p>
            <a:r>
              <a:rPr lang="es-CO" b="0" dirty="0"/>
              <a:t>Temperatura ambiente durante el día</a:t>
            </a:r>
            <a:r>
              <a:rPr lang="es-CO" dirty="0"/>
              <a:t>.</a:t>
            </a:r>
          </a:p>
          <a:p>
            <a:br>
              <a:rPr lang="es-CO" dirty="0"/>
            </a:br>
            <a:r>
              <a:rPr lang="es-CO" dirty="0"/>
              <a:t>Aplicación: </a:t>
            </a:r>
          </a:p>
          <a:p>
            <a:r>
              <a:rPr lang="es-CO" b="0" dirty="0"/>
              <a:t>Sensores meteorológicos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7FB3266-E77A-E39C-98A5-1D012795DCB4}"/>
              </a:ext>
            </a:extLst>
          </p:cNvPr>
          <p:cNvSpPr txBox="1"/>
          <p:nvPr/>
        </p:nvSpPr>
        <p:spPr>
          <a:xfrm>
            <a:off x="8762428" y="340650"/>
            <a:ext cx="24798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ES" dirty="0"/>
              <a:t>Definición: </a:t>
            </a:r>
          </a:p>
          <a:p>
            <a:r>
              <a:rPr lang="es-ES" b="0" dirty="0"/>
              <a:t>Varía de forma continua en tiempo y amplitud.</a:t>
            </a:r>
            <a:br>
              <a:rPr lang="es-ES" dirty="0"/>
            </a:br>
            <a:endParaRPr lang="es-ES" dirty="0"/>
          </a:p>
          <a:p>
            <a:r>
              <a:rPr lang="es-ES" dirty="0"/>
              <a:t>Ejemplo: </a:t>
            </a:r>
          </a:p>
          <a:p>
            <a:r>
              <a:rPr lang="es-ES" b="0" dirty="0"/>
              <a:t>Sonido captado por un micrófono.</a:t>
            </a:r>
            <a:br>
              <a:rPr lang="es-ES" b="0" dirty="0"/>
            </a:br>
            <a:endParaRPr lang="es-ES" b="0" dirty="0"/>
          </a:p>
          <a:p>
            <a:r>
              <a:rPr lang="es-ES" dirty="0"/>
              <a:t>Aplicación: </a:t>
            </a:r>
          </a:p>
          <a:p>
            <a:r>
              <a:rPr lang="es-ES" b="0" dirty="0"/>
              <a:t>Reproducción de audio.</a:t>
            </a:r>
          </a:p>
          <a:p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EBADED-8001-9AB0-470A-EB6C9D97458F}"/>
              </a:ext>
            </a:extLst>
          </p:cNvPr>
          <p:cNvSpPr txBox="1"/>
          <p:nvPr/>
        </p:nvSpPr>
        <p:spPr>
          <a:xfrm>
            <a:off x="307688" y="2510029"/>
            <a:ext cx="23347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ES" dirty="0"/>
              <a:t>Definición: </a:t>
            </a:r>
          </a:p>
          <a:p>
            <a:r>
              <a:rPr lang="es-ES" b="0" dirty="0"/>
              <a:t>Toma valores discretos, comúnmente binarios (0 y 1).</a:t>
            </a:r>
          </a:p>
          <a:p>
            <a:br>
              <a:rPr lang="es-ES" dirty="0"/>
            </a:br>
            <a:r>
              <a:rPr lang="es-ES" dirty="0"/>
              <a:t>Ejemplo: </a:t>
            </a:r>
          </a:p>
          <a:p>
            <a:r>
              <a:rPr lang="es-ES" b="0" dirty="0"/>
              <a:t>Imagen en formato JPEG.</a:t>
            </a:r>
          </a:p>
          <a:p>
            <a:br>
              <a:rPr lang="es-ES" dirty="0"/>
            </a:br>
            <a:r>
              <a:rPr lang="es-ES" dirty="0"/>
              <a:t>Aplicación: </a:t>
            </a:r>
          </a:p>
          <a:p>
            <a:r>
              <a:rPr lang="es-ES" b="0" dirty="0"/>
              <a:t>Computadoras y redes de comunicación.</a:t>
            </a:r>
          </a:p>
          <a:p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C3779F7-4C96-7417-E8CB-FC23CCFE9B4B}"/>
              </a:ext>
            </a:extLst>
          </p:cNvPr>
          <p:cNvSpPr txBox="1"/>
          <p:nvPr/>
        </p:nvSpPr>
        <p:spPr>
          <a:xfrm>
            <a:off x="3065747" y="2602791"/>
            <a:ext cx="2632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ES" dirty="0"/>
              <a:t>Definición: </a:t>
            </a:r>
          </a:p>
          <a:p>
            <a:r>
              <a:rPr lang="es-ES" b="0" dirty="0"/>
              <a:t>Solo se define en ciertos instantes.</a:t>
            </a:r>
            <a:br>
              <a:rPr lang="es-ES" b="0" dirty="0"/>
            </a:br>
            <a:endParaRPr lang="es-ES" b="0" dirty="0"/>
          </a:p>
          <a:p>
            <a:r>
              <a:rPr lang="es-ES" dirty="0"/>
              <a:t>Ejemplo: </a:t>
            </a:r>
          </a:p>
          <a:p>
            <a:r>
              <a:rPr lang="es-ES" b="0" dirty="0"/>
              <a:t>Lectura diaria de temperatura.</a:t>
            </a:r>
            <a:br>
              <a:rPr lang="es-ES" b="0" dirty="0"/>
            </a:br>
            <a:endParaRPr lang="es-ES" b="0" dirty="0"/>
          </a:p>
          <a:p>
            <a:r>
              <a:rPr lang="es-ES" dirty="0"/>
              <a:t>Aplicación: </a:t>
            </a:r>
          </a:p>
          <a:p>
            <a:r>
              <a:rPr lang="es-ES" b="0" dirty="0"/>
              <a:t>Bases de datos científicas</a:t>
            </a:r>
          </a:p>
          <a:p>
            <a:endParaRPr lang="es-CO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3517ACC-F9F5-A83F-1331-DBF40DAFB65F}"/>
              </a:ext>
            </a:extLst>
          </p:cNvPr>
          <p:cNvSpPr/>
          <p:nvPr/>
        </p:nvSpPr>
        <p:spPr>
          <a:xfrm>
            <a:off x="5866828" y="2439663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3DC5F7E-F7CA-6A77-F7B2-EEAC423AF8D4}"/>
              </a:ext>
            </a:extLst>
          </p:cNvPr>
          <p:cNvSpPr/>
          <p:nvPr/>
        </p:nvSpPr>
        <p:spPr>
          <a:xfrm>
            <a:off x="8762428" y="2440985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2443DE8-026F-70F8-591F-1DB6CED95455}"/>
              </a:ext>
            </a:extLst>
          </p:cNvPr>
          <p:cNvSpPr txBox="1"/>
          <p:nvPr/>
        </p:nvSpPr>
        <p:spPr>
          <a:xfrm>
            <a:off x="5911123" y="2605577"/>
            <a:ext cx="23498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b="1" dirty="0"/>
              <a:t>Definición:</a:t>
            </a:r>
            <a:r>
              <a:rPr lang="es-CO" sz="1200" dirty="0"/>
              <a:t> </a:t>
            </a:r>
          </a:p>
          <a:p>
            <a:r>
              <a:rPr lang="es-CO" sz="1200" dirty="0"/>
              <a:t>No tiene un patrón repetitivo fijo.</a:t>
            </a:r>
          </a:p>
          <a:p>
            <a:br>
              <a:rPr lang="es-CO" sz="1200" dirty="0"/>
            </a:br>
            <a:r>
              <a:rPr lang="es-CO" sz="1200" b="1" dirty="0"/>
              <a:t>Ejemplo:</a:t>
            </a:r>
            <a:r>
              <a:rPr lang="es-CO" sz="1200" dirty="0"/>
              <a:t> </a:t>
            </a:r>
          </a:p>
          <a:p>
            <a:r>
              <a:rPr lang="es-CO" sz="1200" dirty="0"/>
              <a:t>Voz humana al hablar.</a:t>
            </a:r>
          </a:p>
          <a:p>
            <a:br>
              <a:rPr lang="es-CO" sz="1200" dirty="0"/>
            </a:br>
            <a:r>
              <a:rPr lang="es-CO" sz="1200" b="1" dirty="0"/>
              <a:t>Aplicación:</a:t>
            </a:r>
            <a:r>
              <a:rPr lang="es-CO" sz="1200" dirty="0"/>
              <a:t> </a:t>
            </a:r>
          </a:p>
          <a:p>
            <a:r>
              <a:rPr lang="es-CO" sz="1200" dirty="0"/>
              <a:t>Reconocimiento de voz.</a:t>
            </a:r>
          </a:p>
          <a:p>
            <a:endParaRPr lang="es-CO" sz="1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D995F57-7FCA-ABF2-5438-61307451D445}"/>
              </a:ext>
            </a:extLst>
          </p:cNvPr>
          <p:cNvSpPr txBox="1"/>
          <p:nvPr/>
        </p:nvSpPr>
        <p:spPr>
          <a:xfrm>
            <a:off x="8762428" y="2606899"/>
            <a:ext cx="253620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CO" dirty="0"/>
              <a:t>Definición: 	</a:t>
            </a:r>
          </a:p>
          <a:p>
            <a:r>
              <a:rPr lang="es-CO" b="0" dirty="0"/>
              <a:t>Se repite en intervalos regulares.</a:t>
            </a:r>
          </a:p>
          <a:p>
            <a:br>
              <a:rPr lang="es-CO" dirty="0"/>
            </a:br>
            <a:r>
              <a:rPr lang="es-CO" dirty="0"/>
              <a:t>Ejemplo: </a:t>
            </a:r>
          </a:p>
          <a:p>
            <a:r>
              <a:rPr lang="es-CO" b="0" dirty="0"/>
              <a:t>Onda senoidal (corriente eléctrica).</a:t>
            </a:r>
          </a:p>
          <a:p>
            <a:br>
              <a:rPr lang="es-CO" dirty="0"/>
            </a:br>
            <a:r>
              <a:rPr lang="es-CO" dirty="0"/>
              <a:t>Aplicación: </a:t>
            </a:r>
          </a:p>
          <a:p>
            <a:r>
              <a:rPr lang="es-CO" b="0" dirty="0"/>
              <a:t>Sincronización en relojes digitales.</a:t>
            </a:r>
          </a:p>
          <a:p>
            <a:endParaRPr lang="es-CO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6EBF5EA-375D-43F7-B35A-6B700C15FED6}"/>
              </a:ext>
            </a:extLst>
          </p:cNvPr>
          <p:cNvSpPr/>
          <p:nvPr/>
        </p:nvSpPr>
        <p:spPr>
          <a:xfrm>
            <a:off x="266392" y="4606256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45A1914-E96E-DB92-B162-CF5B3CAD07B6}"/>
              </a:ext>
            </a:extLst>
          </p:cNvPr>
          <p:cNvSpPr/>
          <p:nvPr/>
        </p:nvSpPr>
        <p:spPr>
          <a:xfrm>
            <a:off x="3094746" y="4606256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3654B1-0A0F-AC64-33E7-65D4BAB8197E}"/>
              </a:ext>
            </a:extLst>
          </p:cNvPr>
          <p:cNvSpPr txBox="1"/>
          <p:nvPr/>
        </p:nvSpPr>
        <p:spPr>
          <a:xfrm>
            <a:off x="214818" y="4705842"/>
            <a:ext cx="26717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CO" dirty="0"/>
              <a:t>Definición: 	</a:t>
            </a:r>
          </a:p>
          <a:p>
            <a:r>
              <a:rPr lang="es-CO" b="0" dirty="0"/>
              <a:t>Tiene valores para todos los </a:t>
            </a:r>
          </a:p>
          <a:p>
            <a:r>
              <a:rPr lang="es-CO" b="0" dirty="0"/>
              <a:t>instantes del tiempo.</a:t>
            </a:r>
          </a:p>
          <a:p>
            <a:br>
              <a:rPr lang="es-CO" dirty="0"/>
            </a:br>
            <a:r>
              <a:rPr lang="es-CO" dirty="0"/>
              <a:t>Ejemplo: </a:t>
            </a:r>
          </a:p>
          <a:p>
            <a:r>
              <a:rPr lang="es-CO" b="0" dirty="0"/>
              <a:t>Temperatura ambiente durante el día</a:t>
            </a:r>
            <a:r>
              <a:rPr lang="es-CO" dirty="0"/>
              <a:t>.</a:t>
            </a:r>
          </a:p>
          <a:p>
            <a:br>
              <a:rPr lang="es-CO" dirty="0"/>
            </a:br>
            <a:r>
              <a:rPr lang="es-CO" dirty="0"/>
              <a:t>Aplicación: </a:t>
            </a:r>
          </a:p>
          <a:p>
            <a:r>
              <a:rPr lang="es-CO" b="0" dirty="0"/>
              <a:t>Sensores meteorológicos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589B929-886B-EF76-B843-7E051114DD33}"/>
              </a:ext>
            </a:extLst>
          </p:cNvPr>
          <p:cNvSpPr txBox="1"/>
          <p:nvPr/>
        </p:nvSpPr>
        <p:spPr>
          <a:xfrm>
            <a:off x="3139041" y="4679408"/>
            <a:ext cx="24798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ES" dirty="0"/>
              <a:t>Definición: </a:t>
            </a:r>
          </a:p>
          <a:p>
            <a:r>
              <a:rPr lang="es-ES" b="0" dirty="0"/>
              <a:t>Varía de forma continua en tiempo y amplitud.</a:t>
            </a:r>
            <a:br>
              <a:rPr lang="es-ES" dirty="0"/>
            </a:br>
            <a:endParaRPr lang="es-ES" dirty="0"/>
          </a:p>
          <a:p>
            <a:r>
              <a:rPr lang="es-ES" dirty="0"/>
              <a:t>Ejemplo: </a:t>
            </a:r>
          </a:p>
          <a:p>
            <a:r>
              <a:rPr lang="es-ES" b="0" dirty="0"/>
              <a:t>Sonido captado por un micrófono.</a:t>
            </a:r>
            <a:br>
              <a:rPr lang="es-ES" b="0" dirty="0"/>
            </a:br>
            <a:endParaRPr lang="es-ES" b="0" dirty="0"/>
          </a:p>
          <a:p>
            <a:r>
              <a:rPr lang="es-ES" dirty="0"/>
              <a:t>Aplicación: </a:t>
            </a:r>
          </a:p>
          <a:p>
            <a:r>
              <a:rPr lang="es-ES" b="0" dirty="0"/>
              <a:t>Reproducción de audio.</a:t>
            </a:r>
          </a:p>
          <a:p>
            <a:endParaRPr lang="es-CO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907EC0C-D63B-0565-0A84-2B2A59F441E3}"/>
              </a:ext>
            </a:extLst>
          </p:cNvPr>
          <p:cNvSpPr/>
          <p:nvPr/>
        </p:nvSpPr>
        <p:spPr>
          <a:xfrm>
            <a:off x="5867400" y="4606256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4B087C0-48B5-9550-880D-0836464F5450}"/>
              </a:ext>
            </a:extLst>
          </p:cNvPr>
          <p:cNvSpPr/>
          <p:nvPr/>
        </p:nvSpPr>
        <p:spPr>
          <a:xfrm>
            <a:off x="8762428" y="4606256"/>
            <a:ext cx="2438400" cy="1920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1102996-9DB0-CE92-6BD8-467BC22EAAB6}"/>
              </a:ext>
            </a:extLst>
          </p:cNvPr>
          <p:cNvSpPr txBox="1"/>
          <p:nvPr/>
        </p:nvSpPr>
        <p:spPr>
          <a:xfrm>
            <a:off x="8762428" y="4772170"/>
            <a:ext cx="2632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ES" dirty="0"/>
              <a:t>Definición: </a:t>
            </a:r>
          </a:p>
          <a:p>
            <a:r>
              <a:rPr lang="es-ES" b="0" dirty="0"/>
              <a:t>Solo se define en ciertos instantes.</a:t>
            </a:r>
            <a:br>
              <a:rPr lang="es-ES" b="0" dirty="0"/>
            </a:br>
            <a:endParaRPr lang="es-ES" b="0" dirty="0"/>
          </a:p>
          <a:p>
            <a:r>
              <a:rPr lang="es-ES" dirty="0"/>
              <a:t>Ejemplo: </a:t>
            </a:r>
          </a:p>
          <a:p>
            <a:r>
              <a:rPr lang="es-ES" b="0" dirty="0"/>
              <a:t>Lectura diaria de temperatura.</a:t>
            </a:r>
            <a:br>
              <a:rPr lang="es-ES" b="0" dirty="0"/>
            </a:br>
            <a:endParaRPr lang="es-ES" b="0" dirty="0"/>
          </a:p>
          <a:p>
            <a:r>
              <a:rPr lang="es-ES" dirty="0"/>
              <a:t>Aplicación: </a:t>
            </a:r>
          </a:p>
          <a:p>
            <a:r>
              <a:rPr lang="es-ES" b="0" dirty="0"/>
              <a:t>Bases de datos científicas</a:t>
            </a:r>
          </a:p>
          <a:p>
            <a:endParaRPr lang="es-CO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9BACDE7-DBC6-28BB-4AF6-356DB1A0D0AF}"/>
              </a:ext>
            </a:extLst>
          </p:cNvPr>
          <p:cNvSpPr txBox="1"/>
          <p:nvPr/>
        </p:nvSpPr>
        <p:spPr>
          <a:xfrm>
            <a:off x="5971032" y="4633687"/>
            <a:ext cx="23347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200" b="1"/>
            </a:lvl1pPr>
          </a:lstStyle>
          <a:p>
            <a:r>
              <a:rPr lang="es-ES" dirty="0"/>
              <a:t>Definición: </a:t>
            </a:r>
          </a:p>
          <a:p>
            <a:r>
              <a:rPr lang="es-ES" b="0" dirty="0"/>
              <a:t>Toma valores discretos, comúnmente binarios (0 y 1).</a:t>
            </a:r>
          </a:p>
          <a:p>
            <a:br>
              <a:rPr lang="es-ES" dirty="0"/>
            </a:br>
            <a:r>
              <a:rPr lang="es-ES" dirty="0"/>
              <a:t>Ejemplo: </a:t>
            </a:r>
          </a:p>
          <a:p>
            <a:r>
              <a:rPr lang="es-ES" b="0" dirty="0"/>
              <a:t>Imagen en formato JPEG.</a:t>
            </a:r>
          </a:p>
          <a:p>
            <a:br>
              <a:rPr lang="es-ES" dirty="0"/>
            </a:br>
            <a:r>
              <a:rPr lang="es-ES" dirty="0"/>
              <a:t>Aplicación: </a:t>
            </a:r>
          </a:p>
          <a:p>
            <a:r>
              <a:rPr lang="es-ES" b="0" dirty="0"/>
              <a:t>Computadoras y redes de comunicación.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5625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494E346-7BE1-63BB-7A98-4DDA98F04CD4}"/>
              </a:ext>
            </a:extLst>
          </p:cNvPr>
          <p:cNvSpPr txBox="1"/>
          <p:nvPr/>
        </p:nvSpPr>
        <p:spPr>
          <a:xfrm>
            <a:off x="815802" y="2546858"/>
            <a:ext cx="60944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/>
              <a:t>🔁 Señal Periódica</a:t>
            </a:r>
          </a:p>
          <a:p>
            <a:r>
              <a:rPr lang="es-ES" sz="1400" b="1" dirty="0"/>
              <a:t>Definición:</a:t>
            </a:r>
            <a:r>
              <a:rPr lang="es-ES" sz="1400" dirty="0"/>
              <a:t> Se repite en intervalos regulares.</a:t>
            </a:r>
            <a:br>
              <a:rPr lang="es-ES" sz="1400" dirty="0"/>
            </a:br>
            <a:r>
              <a:rPr lang="es-ES" sz="1400" b="1" dirty="0"/>
              <a:t>Ejemplo:</a:t>
            </a:r>
            <a:r>
              <a:rPr lang="es-ES" sz="1400" dirty="0"/>
              <a:t> Onda senoidal (como la corriente eléctrica).</a:t>
            </a:r>
            <a:br>
              <a:rPr lang="es-ES" sz="1400" dirty="0"/>
            </a:br>
            <a:r>
              <a:rPr lang="es-ES" sz="1400" b="1" dirty="0"/>
              <a:t>Aplicación:</a:t>
            </a:r>
            <a:r>
              <a:rPr lang="es-ES" sz="1400" dirty="0"/>
              <a:t> Sincronización en relojes digitales.</a:t>
            </a:r>
          </a:p>
          <a:p>
            <a:endParaRPr lang="es-ES" sz="1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D17B66-DFBE-45B6-D645-9ACEBD15B1D1}"/>
              </a:ext>
            </a:extLst>
          </p:cNvPr>
          <p:cNvSpPr txBox="1"/>
          <p:nvPr/>
        </p:nvSpPr>
        <p:spPr>
          <a:xfrm>
            <a:off x="875763" y="4249218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/>
              <a:t>🔄 Señal No Periódica</a:t>
            </a:r>
          </a:p>
          <a:p>
            <a:r>
              <a:rPr lang="es-ES" sz="1400" b="1" dirty="0"/>
              <a:t>Definición:</a:t>
            </a:r>
            <a:r>
              <a:rPr lang="es-ES" sz="1400" dirty="0"/>
              <a:t> No tiene un patrón repetitivo fijo.</a:t>
            </a:r>
            <a:br>
              <a:rPr lang="es-ES" sz="1400" dirty="0"/>
            </a:br>
            <a:r>
              <a:rPr lang="es-ES" sz="1400" b="1" dirty="0"/>
              <a:t>Ejemplo:</a:t>
            </a:r>
            <a:r>
              <a:rPr lang="es-ES" sz="1400" dirty="0"/>
              <a:t> Voz humana al hablar.</a:t>
            </a:r>
            <a:br>
              <a:rPr lang="es-ES" sz="1400" dirty="0"/>
            </a:br>
            <a:r>
              <a:rPr lang="es-ES" sz="1400" b="1" dirty="0"/>
              <a:t>Aplicación:</a:t>
            </a:r>
            <a:r>
              <a:rPr lang="es-ES" sz="1400" dirty="0"/>
              <a:t> Reconocimiento de voz.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D28029-E94B-8CC0-2584-08DEEB65D37F}"/>
              </a:ext>
            </a:extLst>
          </p:cNvPr>
          <p:cNvSpPr txBox="1"/>
          <p:nvPr/>
        </p:nvSpPr>
        <p:spPr>
          <a:xfrm>
            <a:off x="935724" y="876663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/>
              <a:t>📈 Señal Continua</a:t>
            </a:r>
          </a:p>
          <a:p>
            <a:r>
              <a:rPr lang="es-ES" sz="1400" b="1" dirty="0"/>
              <a:t>Definición:</a:t>
            </a:r>
            <a:r>
              <a:rPr lang="es-ES" sz="1400" dirty="0"/>
              <a:t> Tiene valores para todos los instantes del tiempo.</a:t>
            </a:r>
            <a:br>
              <a:rPr lang="es-ES" sz="1400" dirty="0"/>
            </a:br>
            <a:r>
              <a:rPr lang="es-ES" sz="1400" b="1" dirty="0"/>
              <a:t>Ejemplo:</a:t>
            </a:r>
            <a:r>
              <a:rPr lang="es-ES" sz="1400" dirty="0"/>
              <a:t> Temperatura ambiente durante el día.</a:t>
            </a:r>
            <a:br>
              <a:rPr lang="es-ES" sz="1400" dirty="0"/>
            </a:br>
            <a:r>
              <a:rPr lang="es-ES" sz="1400" b="1" dirty="0"/>
              <a:t>Aplicación:</a:t>
            </a:r>
            <a:r>
              <a:rPr lang="es-ES" sz="1400" dirty="0"/>
              <a:t> Sensores meteorológicos.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310E39E-C8BD-2CE6-5E2F-40F6D6BC5651}"/>
              </a:ext>
            </a:extLst>
          </p:cNvPr>
          <p:cNvSpPr txBox="1"/>
          <p:nvPr/>
        </p:nvSpPr>
        <p:spPr>
          <a:xfrm>
            <a:off x="6540246" y="4550174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/>
              <a:t>📊 Señal Discreta</a:t>
            </a:r>
          </a:p>
          <a:p>
            <a:r>
              <a:rPr lang="es-ES" sz="1400" b="1" dirty="0"/>
              <a:t>Definición:</a:t>
            </a:r>
            <a:r>
              <a:rPr lang="es-ES" sz="1400" dirty="0"/>
              <a:t> Solo se define en ciertos instantes.</a:t>
            </a:r>
            <a:br>
              <a:rPr lang="es-ES" sz="1400" dirty="0"/>
            </a:br>
            <a:r>
              <a:rPr lang="es-ES" sz="1400" b="1" dirty="0"/>
              <a:t>Ejemplo:</a:t>
            </a:r>
            <a:r>
              <a:rPr lang="es-ES" sz="1400" dirty="0"/>
              <a:t> Lectura diaria de temperatura.</a:t>
            </a:r>
            <a:br>
              <a:rPr lang="es-ES" sz="1400" dirty="0"/>
            </a:br>
            <a:r>
              <a:rPr lang="es-ES" sz="1400" b="1" dirty="0"/>
              <a:t>Aplicación:</a:t>
            </a:r>
            <a:r>
              <a:rPr lang="es-ES" sz="1400" dirty="0"/>
              <a:t> Bases de datos científicas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69A022-0C9D-B24F-4DCA-F0DF19CA294D}"/>
              </a:ext>
            </a:extLst>
          </p:cNvPr>
          <p:cNvSpPr txBox="1"/>
          <p:nvPr/>
        </p:nvSpPr>
        <p:spPr>
          <a:xfrm>
            <a:off x="6540246" y="1027142"/>
            <a:ext cx="6332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/>
              <a:t>🎵 Señal Analógica</a:t>
            </a:r>
          </a:p>
          <a:p>
            <a:r>
              <a:rPr lang="es-ES" sz="1400" b="1" dirty="0"/>
              <a:t>Definición:</a:t>
            </a:r>
            <a:r>
              <a:rPr lang="es-ES" sz="1400" dirty="0"/>
              <a:t> Varía de forma continua en tiempo y amplitud.</a:t>
            </a:r>
            <a:br>
              <a:rPr lang="es-ES" sz="1400" dirty="0"/>
            </a:br>
            <a:r>
              <a:rPr lang="es-ES" sz="1400" b="1" dirty="0"/>
              <a:t>Ejemplo:</a:t>
            </a:r>
            <a:r>
              <a:rPr lang="es-ES" sz="1400" dirty="0"/>
              <a:t> Sonido captado por un micrófono.</a:t>
            </a:r>
            <a:br>
              <a:rPr lang="es-ES" sz="1400" dirty="0"/>
            </a:br>
            <a:r>
              <a:rPr lang="es-ES" sz="1400" b="1" dirty="0"/>
              <a:t>Aplicación:</a:t>
            </a:r>
            <a:r>
              <a:rPr lang="es-ES" sz="1400" dirty="0"/>
              <a:t> Reproducción de audio.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D56EAF1-6E59-360B-3F5D-0AD79DE90397}"/>
              </a:ext>
            </a:extLst>
          </p:cNvPr>
          <p:cNvSpPr txBox="1"/>
          <p:nvPr/>
        </p:nvSpPr>
        <p:spPr>
          <a:xfrm>
            <a:off x="6421374" y="2788658"/>
            <a:ext cx="6332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dirty="0"/>
              <a:t>💻 Señal Digital</a:t>
            </a:r>
          </a:p>
          <a:p>
            <a:r>
              <a:rPr lang="es-ES" sz="1400" b="1" dirty="0"/>
              <a:t>Definición:</a:t>
            </a:r>
            <a:r>
              <a:rPr lang="es-ES" sz="1400" dirty="0"/>
              <a:t> Toma valores discretos, comúnmente binarios (0 y 1).</a:t>
            </a:r>
            <a:br>
              <a:rPr lang="es-ES" sz="1400" dirty="0"/>
            </a:br>
            <a:r>
              <a:rPr lang="es-ES" sz="1400" b="1" dirty="0"/>
              <a:t>Ejemplo:</a:t>
            </a:r>
            <a:r>
              <a:rPr lang="es-ES" sz="1400" dirty="0"/>
              <a:t> Imagen en formato JPEG.</a:t>
            </a:r>
            <a:br>
              <a:rPr lang="es-ES" sz="1400" dirty="0"/>
            </a:br>
            <a:r>
              <a:rPr lang="es-ES" sz="1400" b="1" dirty="0"/>
              <a:t>Aplicación:</a:t>
            </a:r>
            <a:r>
              <a:rPr lang="es-ES" sz="1400" dirty="0"/>
              <a:t> Computadoras y redes de comunicación.</a:t>
            </a:r>
          </a:p>
        </p:txBody>
      </p:sp>
      <p:pic>
        <p:nvPicPr>
          <p:cNvPr id="4" name="Imagen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C000FC46-BF45-8E62-7618-D28225D9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845" y="1830770"/>
            <a:ext cx="1081963" cy="1169551"/>
          </a:xfrm>
          <a:prstGeom prst="rect">
            <a:avLst/>
          </a:prstGeom>
        </p:spPr>
      </p:pic>
      <p:pic>
        <p:nvPicPr>
          <p:cNvPr id="8" name="Imagen 7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98BC32E4-6CF3-FF96-3305-54E0102B0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962" y="4884112"/>
            <a:ext cx="1187104" cy="1240338"/>
          </a:xfrm>
          <a:prstGeom prst="rect">
            <a:avLst/>
          </a:prstGeom>
        </p:spPr>
      </p:pic>
      <p:pic>
        <p:nvPicPr>
          <p:cNvPr id="10" name="Imagen 9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3AA2E480-9427-A074-5F44-29566BDE8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091" y="5476659"/>
            <a:ext cx="4315427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08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509</Words>
  <Application>Microsoft Office PowerPoint</Application>
  <PresentationFormat>Panorámica</PresentationFormat>
  <Paragraphs>93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Antonio Aya Parra</dc:creator>
  <cp:lastModifiedBy>Pedro Antonio Aya Parra</cp:lastModifiedBy>
  <cp:revision>5</cp:revision>
  <cp:lastPrinted>2026-02-02T22:38:32Z</cp:lastPrinted>
  <dcterms:created xsi:type="dcterms:W3CDTF">2025-07-31T00:18:02Z</dcterms:created>
  <dcterms:modified xsi:type="dcterms:W3CDTF">2026-02-03T00:27:54Z</dcterms:modified>
</cp:coreProperties>
</file>