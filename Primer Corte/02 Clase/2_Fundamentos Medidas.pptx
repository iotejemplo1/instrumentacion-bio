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61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78" r:id="rId15"/>
    <p:sldId id="289" r:id="rId16"/>
    <p:sldId id="290" r:id="rId17"/>
    <p:sldId id="291" r:id="rId18"/>
    <p:sldId id="292" r:id="rId19"/>
    <p:sldId id="277" r:id="rId20"/>
  </p:sldIdLst>
  <p:sldSz cx="9144000" cy="6858000" type="screen4x3"/>
  <p:notesSz cx="7772400" cy="100584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60FEEE-AE25-4F26-8859-3151CE5383DF}" type="doc">
      <dgm:prSet loTypeId="urn:microsoft.com/office/officeart/2005/8/layout/pyramid1" loCatId="pyramid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D9F4E7E-311E-49F0-B634-C2BBD55B8AC6}">
      <dgm:prSet phldrT="[Texto]"/>
      <dgm:spPr>
        <a:solidFill>
          <a:srgbClr val="002060"/>
        </a:solidFill>
      </dgm:spPr>
      <dgm:t>
        <a:bodyPr/>
        <a:lstStyle/>
        <a:p>
          <a:r>
            <a:rPr lang="es-CO" dirty="0">
              <a:solidFill>
                <a:schemeClr val="bg1"/>
              </a:solidFill>
            </a:rPr>
            <a:t>SI</a:t>
          </a:r>
        </a:p>
      </dgm:t>
    </dgm:pt>
    <dgm:pt modelId="{8D7B8E1C-5600-4E44-B5CE-10903F44042F}" type="parTrans" cxnId="{3774372C-C7B9-44BF-866A-21D4E08C5B40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68B93FC8-898F-4F5A-9F00-893A077F59F0}" type="sibTrans" cxnId="{3774372C-C7B9-44BF-866A-21D4E08C5B40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93D1DFD3-85E2-4522-94A7-4E8B76817A4A}">
      <dgm:prSet phldrT="[Texto]"/>
      <dgm:spPr/>
      <dgm:t>
        <a:bodyPr/>
        <a:lstStyle/>
        <a:p>
          <a:r>
            <a:rPr lang="es-CO" dirty="0">
              <a:solidFill>
                <a:schemeClr val="bg1"/>
              </a:solidFill>
            </a:rPr>
            <a:t>Instituto Nacional </a:t>
          </a:r>
        </a:p>
      </dgm:t>
    </dgm:pt>
    <dgm:pt modelId="{579263D5-65F6-4CAD-8DA9-28363DC730F6}" type="parTrans" cxnId="{47E2DE60-B5B2-4995-A68F-E8F950459859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7A499694-7CC4-40A5-B326-F2A2E08928D2}" type="sibTrans" cxnId="{47E2DE60-B5B2-4995-A68F-E8F950459859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8338EF6B-0A64-4155-BA86-0322AB73D8CE}">
      <dgm:prSet phldrT="[Texto]"/>
      <dgm:spPr>
        <a:solidFill>
          <a:srgbClr val="92D050"/>
        </a:solidFill>
      </dgm:spPr>
      <dgm:t>
        <a:bodyPr/>
        <a:lstStyle/>
        <a:p>
          <a:r>
            <a:rPr lang="es-CO" dirty="0">
              <a:solidFill>
                <a:schemeClr val="bg1"/>
              </a:solidFill>
            </a:rPr>
            <a:t>Laboratorio Acreditado</a:t>
          </a:r>
        </a:p>
      </dgm:t>
    </dgm:pt>
    <dgm:pt modelId="{2ED1A1CA-8259-4A36-9199-A3126998B345}" type="parTrans" cxnId="{638EA6E2-248D-4243-8621-F8AEF8C51CC8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9D8FEF78-468E-4EE1-95E9-66F3B80FD7C0}" type="sibTrans" cxnId="{638EA6E2-248D-4243-8621-F8AEF8C51CC8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6339EB8E-E905-4469-888E-A38F7B0DAD33}">
      <dgm:prSet phldrT="[Texto]"/>
      <dgm:spPr>
        <a:solidFill>
          <a:srgbClr val="00B050"/>
        </a:solidFill>
      </dgm:spPr>
      <dgm:t>
        <a:bodyPr/>
        <a:lstStyle/>
        <a:p>
          <a:r>
            <a:rPr lang="es-CO" dirty="0">
              <a:solidFill>
                <a:schemeClr val="bg1"/>
              </a:solidFill>
            </a:rPr>
            <a:t>Instrumento de Medición </a:t>
          </a:r>
        </a:p>
        <a:p>
          <a:r>
            <a:rPr lang="es-CO" dirty="0">
              <a:solidFill>
                <a:schemeClr val="bg1"/>
              </a:solidFill>
            </a:rPr>
            <a:t>del Usuario Final</a:t>
          </a:r>
        </a:p>
      </dgm:t>
    </dgm:pt>
    <dgm:pt modelId="{191CF24D-36C4-4773-A761-2ED22ED27DE8}" type="parTrans" cxnId="{747A60C0-969D-4651-9AAC-3A3ED09E668B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CE40AC76-562E-4589-9E98-88E4FC06FA83}" type="sibTrans" cxnId="{747A60C0-969D-4651-9AAC-3A3ED09E668B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F8CA34B6-39C2-4812-9580-515C172D72D1}">
      <dgm:prSet phldrT="[Texto]"/>
      <dgm:spPr>
        <a:solidFill>
          <a:srgbClr val="0070C0"/>
        </a:solidFill>
      </dgm:spPr>
      <dgm:t>
        <a:bodyPr/>
        <a:lstStyle/>
        <a:p>
          <a:r>
            <a:rPr lang="es-CO" dirty="0">
              <a:solidFill>
                <a:schemeClr val="bg1"/>
              </a:solidFill>
            </a:rPr>
            <a:t>BIPM</a:t>
          </a:r>
        </a:p>
      </dgm:t>
    </dgm:pt>
    <dgm:pt modelId="{57EB06A4-270B-476E-941D-7151814AD927}" type="parTrans" cxnId="{1E3CDF3E-17A1-4C1F-B52B-09F894427989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6CE36BD4-2478-4033-AD96-E6F74A3377C6}" type="sibTrans" cxnId="{1E3CDF3E-17A1-4C1F-B52B-09F894427989}">
      <dgm:prSet/>
      <dgm:spPr/>
      <dgm:t>
        <a:bodyPr/>
        <a:lstStyle/>
        <a:p>
          <a:endParaRPr lang="es-CO">
            <a:solidFill>
              <a:schemeClr val="bg1"/>
            </a:solidFill>
          </a:endParaRPr>
        </a:p>
      </dgm:t>
    </dgm:pt>
    <dgm:pt modelId="{C806AC69-DAF3-43EF-B4A2-7906839C6CDD}" type="pres">
      <dgm:prSet presAssocID="{0760FEEE-AE25-4F26-8859-3151CE5383DF}" presName="Name0" presStyleCnt="0">
        <dgm:presLayoutVars>
          <dgm:dir/>
          <dgm:animLvl val="lvl"/>
          <dgm:resizeHandles val="exact"/>
        </dgm:presLayoutVars>
      </dgm:prSet>
      <dgm:spPr/>
    </dgm:pt>
    <dgm:pt modelId="{F81E803F-DF5A-4234-98C1-FF1306EB2EC7}" type="pres">
      <dgm:prSet presAssocID="{ED9F4E7E-311E-49F0-B634-C2BBD55B8AC6}" presName="Name8" presStyleCnt="0"/>
      <dgm:spPr/>
    </dgm:pt>
    <dgm:pt modelId="{FBDEEB68-9B14-4AC7-9F8F-71F73DC77AEA}" type="pres">
      <dgm:prSet presAssocID="{ED9F4E7E-311E-49F0-B634-C2BBD55B8AC6}" presName="level" presStyleLbl="node1" presStyleIdx="0" presStyleCnt="5">
        <dgm:presLayoutVars>
          <dgm:chMax val="1"/>
          <dgm:bulletEnabled val="1"/>
        </dgm:presLayoutVars>
      </dgm:prSet>
      <dgm:spPr/>
    </dgm:pt>
    <dgm:pt modelId="{649D44C0-90CD-49AE-A1E4-2306888FB0BE}" type="pres">
      <dgm:prSet presAssocID="{ED9F4E7E-311E-49F0-B634-C2BBD55B8AC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2DC48FD-4EAA-4B6F-B172-832FEE9CB8F4}" type="pres">
      <dgm:prSet presAssocID="{F8CA34B6-39C2-4812-9580-515C172D72D1}" presName="Name8" presStyleCnt="0"/>
      <dgm:spPr/>
    </dgm:pt>
    <dgm:pt modelId="{B3765A7E-7068-4061-B156-BEF587624B1A}" type="pres">
      <dgm:prSet presAssocID="{F8CA34B6-39C2-4812-9580-515C172D72D1}" presName="level" presStyleLbl="node1" presStyleIdx="1" presStyleCnt="5">
        <dgm:presLayoutVars>
          <dgm:chMax val="1"/>
          <dgm:bulletEnabled val="1"/>
        </dgm:presLayoutVars>
      </dgm:prSet>
      <dgm:spPr/>
    </dgm:pt>
    <dgm:pt modelId="{00990E70-A9EE-4565-9853-CDECA9DF381E}" type="pres">
      <dgm:prSet presAssocID="{F8CA34B6-39C2-4812-9580-515C172D72D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E39A42E-F59C-4691-A833-CBD95A0CE203}" type="pres">
      <dgm:prSet presAssocID="{93D1DFD3-85E2-4522-94A7-4E8B76817A4A}" presName="Name8" presStyleCnt="0"/>
      <dgm:spPr/>
    </dgm:pt>
    <dgm:pt modelId="{BA3ECD3A-1F72-4E0C-811A-E6061B6DF543}" type="pres">
      <dgm:prSet presAssocID="{93D1DFD3-85E2-4522-94A7-4E8B76817A4A}" presName="level" presStyleLbl="node1" presStyleIdx="2" presStyleCnt="5">
        <dgm:presLayoutVars>
          <dgm:chMax val="1"/>
          <dgm:bulletEnabled val="1"/>
        </dgm:presLayoutVars>
      </dgm:prSet>
      <dgm:spPr/>
    </dgm:pt>
    <dgm:pt modelId="{9FFB0051-5495-40B4-BDBD-601944ED6217}" type="pres">
      <dgm:prSet presAssocID="{93D1DFD3-85E2-4522-94A7-4E8B76817A4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6DE728D-F89B-4FE8-91E7-A4A1C02B9AB9}" type="pres">
      <dgm:prSet presAssocID="{8338EF6B-0A64-4155-BA86-0322AB73D8CE}" presName="Name8" presStyleCnt="0"/>
      <dgm:spPr/>
    </dgm:pt>
    <dgm:pt modelId="{2CDE9437-9EDF-456E-B842-E7432A867955}" type="pres">
      <dgm:prSet presAssocID="{8338EF6B-0A64-4155-BA86-0322AB73D8CE}" presName="level" presStyleLbl="node1" presStyleIdx="3" presStyleCnt="5">
        <dgm:presLayoutVars>
          <dgm:chMax val="1"/>
          <dgm:bulletEnabled val="1"/>
        </dgm:presLayoutVars>
      </dgm:prSet>
      <dgm:spPr/>
    </dgm:pt>
    <dgm:pt modelId="{416EB6BB-DC1D-4661-BCB5-136328C67E99}" type="pres">
      <dgm:prSet presAssocID="{8338EF6B-0A64-4155-BA86-0322AB73D8C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A772E69-2C57-45D1-BF43-A64742BA219C}" type="pres">
      <dgm:prSet presAssocID="{6339EB8E-E905-4469-888E-A38F7B0DAD33}" presName="Name8" presStyleCnt="0"/>
      <dgm:spPr/>
    </dgm:pt>
    <dgm:pt modelId="{AB7CC4D5-6DD6-46C3-B271-E1E05A2F8803}" type="pres">
      <dgm:prSet presAssocID="{6339EB8E-E905-4469-888E-A38F7B0DAD33}" presName="level" presStyleLbl="node1" presStyleIdx="4" presStyleCnt="5">
        <dgm:presLayoutVars>
          <dgm:chMax val="1"/>
          <dgm:bulletEnabled val="1"/>
        </dgm:presLayoutVars>
      </dgm:prSet>
      <dgm:spPr/>
    </dgm:pt>
    <dgm:pt modelId="{C277ED1D-C05B-4E9C-9AFE-7B506CE6484E}" type="pres">
      <dgm:prSet presAssocID="{6339EB8E-E905-4469-888E-A38F7B0DAD3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1EDDC14-ECC2-4DE8-ADD7-86FFED37168E}" type="presOf" srcId="{F8CA34B6-39C2-4812-9580-515C172D72D1}" destId="{B3765A7E-7068-4061-B156-BEF587624B1A}" srcOrd="0" destOrd="0" presId="urn:microsoft.com/office/officeart/2005/8/layout/pyramid1"/>
    <dgm:cxn modelId="{25662D1A-479A-496E-BD6D-E3423A3B7D58}" type="presOf" srcId="{F8CA34B6-39C2-4812-9580-515C172D72D1}" destId="{00990E70-A9EE-4565-9853-CDECA9DF381E}" srcOrd="1" destOrd="0" presId="urn:microsoft.com/office/officeart/2005/8/layout/pyramid1"/>
    <dgm:cxn modelId="{A463861F-B3C5-4594-AB90-984F82064587}" type="presOf" srcId="{93D1DFD3-85E2-4522-94A7-4E8B76817A4A}" destId="{BA3ECD3A-1F72-4E0C-811A-E6061B6DF543}" srcOrd="0" destOrd="0" presId="urn:microsoft.com/office/officeart/2005/8/layout/pyramid1"/>
    <dgm:cxn modelId="{3774372C-C7B9-44BF-866A-21D4E08C5B40}" srcId="{0760FEEE-AE25-4F26-8859-3151CE5383DF}" destId="{ED9F4E7E-311E-49F0-B634-C2BBD55B8AC6}" srcOrd="0" destOrd="0" parTransId="{8D7B8E1C-5600-4E44-B5CE-10903F44042F}" sibTransId="{68B93FC8-898F-4F5A-9F00-893A077F59F0}"/>
    <dgm:cxn modelId="{1E3CDF3E-17A1-4C1F-B52B-09F894427989}" srcId="{0760FEEE-AE25-4F26-8859-3151CE5383DF}" destId="{F8CA34B6-39C2-4812-9580-515C172D72D1}" srcOrd="1" destOrd="0" parTransId="{57EB06A4-270B-476E-941D-7151814AD927}" sibTransId="{6CE36BD4-2478-4033-AD96-E6F74A3377C6}"/>
    <dgm:cxn modelId="{47E2DE60-B5B2-4995-A68F-E8F950459859}" srcId="{0760FEEE-AE25-4F26-8859-3151CE5383DF}" destId="{93D1DFD3-85E2-4522-94A7-4E8B76817A4A}" srcOrd="2" destOrd="0" parTransId="{579263D5-65F6-4CAD-8DA9-28363DC730F6}" sibTransId="{7A499694-7CC4-40A5-B326-F2A2E08928D2}"/>
    <dgm:cxn modelId="{D090D742-C6C2-4CBA-97C4-2E9D68591533}" type="presOf" srcId="{6339EB8E-E905-4469-888E-A38F7B0DAD33}" destId="{AB7CC4D5-6DD6-46C3-B271-E1E05A2F8803}" srcOrd="0" destOrd="0" presId="urn:microsoft.com/office/officeart/2005/8/layout/pyramid1"/>
    <dgm:cxn modelId="{2BEBF954-6FA7-4494-94DE-751F5EE8012E}" type="presOf" srcId="{0760FEEE-AE25-4F26-8859-3151CE5383DF}" destId="{C806AC69-DAF3-43EF-B4A2-7906839C6CDD}" srcOrd="0" destOrd="0" presId="urn:microsoft.com/office/officeart/2005/8/layout/pyramid1"/>
    <dgm:cxn modelId="{5627595A-ACC0-478A-90A3-DB5BEAFAD5E2}" type="presOf" srcId="{8338EF6B-0A64-4155-BA86-0322AB73D8CE}" destId="{416EB6BB-DC1D-4661-BCB5-136328C67E99}" srcOrd="1" destOrd="0" presId="urn:microsoft.com/office/officeart/2005/8/layout/pyramid1"/>
    <dgm:cxn modelId="{0887039A-9D02-47AB-9DBD-E29587B7A7E5}" type="presOf" srcId="{6339EB8E-E905-4469-888E-A38F7B0DAD33}" destId="{C277ED1D-C05B-4E9C-9AFE-7B506CE6484E}" srcOrd="1" destOrd="0" presId="urn:microsoft.com/office/officeart/2005/8/layout/pyramid1"/>
    <dgm:cxn modelId="{50F4559C-4A15-4B77-B365-30D05E5DCEAD}" type="presOf" srcId="{ED9F4E7E-311E-49F0-B634-C2BBD55B8AC6}" destId="{649D44C0-90CD-49AE-A1E4-2306888FB0BE}" srcOrd="1" destOrd="0" presId="urn:microsoft.com/office/officeart/2005/8/layout/pyramid1"/>
    <dgm:cxn modelId="{747A60C0-969D-4651-9AAC-3A3ED09E668B}" srcId="{0760FEEE-AE25-4F26-8859-3151CE5383DF}" destId="{6339EB8E-E905-4469-888E-A38F7B0DAD33}" srcOrd="4" destOrd="0" parTransId="{191CF24D-36C4-4773-A761-2ED22ED27DE8}" sibTransId="{CE40AC76-562E-4589-9E98-88E4FC06FA83}"/>
    <dgm:cxn modelId="{638EA6E2-248D-4243-8621-F8AEF8C51CC8}" srcId="{0760FEEE-AE25-4F26-8859-3151CE5383DF}" destId="{8338EF6B-0A64-4155-BA86-0322AB73D8CE}" srcOrd="3" destOrd="0" parTransId="{2ED1A1CA-8259-4A36-9199-A3126998B345}" sibTransId="{9D8FEF78-468E-4EE1-95E9-66F3B80FD7C0}"/>
    <dgm:cxn modelId="{D95299E4-137B-4038-88BF-BBF24FE29935}" type="presOf" srcId="{ED9F4E7E-311E-49F0-B634-C2BBD55B8AC6}" destId="{FBDEEB68-9B14-4AC7-9F8F-71F73DC77AEA}" srcOrd="0" destOrd="0" presId="urn:microsoft.com/office/officeart/2005/8/layout/pyramid1"/>
    <dgm:cxn modelId="{E7E4C3F2-3465-44C3-92F2-DFE444D61B47}" type="presOf" srcId="{8338EF6B-0A64-4155-BA86-0322AB73D8CE}" destId="{2CDE9437-9EDF-456E-B842-E7432A867955}" srcOrd="0" destOrd="0" presId="urn:microsoft.com/office/officeart/2005/8/layout/pyramid1"/>
    <dgm:cxn modelId="{980484FA-3CF7-4DD4-B891-4D0980E9CB99}" type="presOf" srcId="{93D1DFD3-85E2-4522-94A7-4E8B76817A4A}" destId="{9FFB0051-5495-40B4-BDBD-601944ED6217}" srcOrd="1" destOrd="0" presId="urn:microsoft.com/office/officeart/2005/8/layout/pyramid1"/>
    <dgm:cxn modelId="{5EB461F9-CC6B-4A8D-83D4-2BB71442A6D2}" type="presParOf" srcId="{C806AC69-DAF3-43EF-B4A2-7906839C6CDD}" destId="{F81E803F-DF5A-4234-98C1-FF1306EB2EC7}" srcOrd="0" destOrd="0" presId="urn:microsoft.com/office/officeart/2005/8/layout/pyramid1"/>
    <dgm:cxn modelId="{60C25256-0677-4241-AFA3-B334FF03971E}" type="presParOf" srcId="{F81E803F-DF5A-4234-98C1-FF1306EB2EC7}" destId="{FBDEEB68-9B14-4AC7-9F8F-71F73DC77AEA}" srcOrd="0" destOrd="0" presId="urn:microsoft.com/office/officeart/2005/8/layout/pyramid1"/>
    <dgm:cxn modelId="{34109560-9827-4C01-B8A9-0B597D2551A9}" type="presParOf" srcId="{F81E803F-DF5A-4234-98C1-FF1306EB2EC7}" destId="{649D44C0-90CD-49AE-A1E4-2306888FB0BE}" srcOrd="1" destOrd="0" presId="urn:microsoft.com/office/officeart/2005/8/layout/pyramid1"/>
    <dgm:cxn modelId="{69F902FF-9AD4-435D-AA0A-09C9DDD4D226}" type="presParOf" srcId="{C806AC69-DAF3-43EF-B4A2-7906839C6CDD}" destId="{72DC48FD-4EAA-4B6F-B172-832FEE9CB8F4}" srcOrd="1" destOrd="0" presId="urn:microsoft.com/office/officeart/2005/8/layout/pyramid1"/>
    <dgm:cxn modelId="{C69E6AA9-D605-4A41-A28B-1DA3C843610D}" type="presParOf" srcId="{72DC48FD-4EAA-4B6F-B172-832FEE9CB8F4}" destId="{B3765A7E-7068-4061-B156-BEF587624B1A}" srcOrd="0" destOrd="0" presId="urn:microsoft.com/office/officeart/2005/8/layout/pyramid1"/>
    <dgm:cxn modelId="{3CB7001F-1984-4E16-90B6-6E8202044C39}" type="presParOf" srcId="{72DC48FD-4EAA-4B6F-B172-832FEE9CB8F4}" destId="{00990E70-A9EE-4565-9853-CDECA9DF381E}" srcOrd="1" destOrd="0" presId="urn:microsoft.com/office/officeart/2005/8/layout/pyramid1"/>
    <dgm:cxn modelId="{94AE965D-BBD7-494F-862D-0DB88C3A9236}" type="presParOf" srcId="{C806AC69-DAF3-43EF-B4A2-7906839C6CDD}" destId="{FE39A42E-F59C-4691-A833-CBD95A0CE203}" srcOrd="2" destOrd="0" presId="urn:microsoft.com/office/officeart/2005/8/layout/pyramid1"/>
    <dgm:cxn modelId="{4D464CD9-3116-4FA1-A05B-A57BDD941215}" type="presParOf" srcId="{FE39A42E-F59C-4691-A833-CBD95A0CE203}" destId="{BA3ECD3A-1F72-4E0C-811A-E6061B6DF543}" srcOrd="0" destOrd="0" presId="urn:microsoft.com/office/officeart/2005/8/layout/pyramid1"/>
    <dgm:cxn modelId="{732BAD83-0DA9-4378-8019-B7B371BEC097}" type="presParOf" srcId="{FE39A42E-F59C-4691-A833-CBD95A0CE203}" destId="{9FFB0051-5495-40B4-BDBD-601944ED6217}" srcOrd="1" destOrd="0" presId="urn:microsoft.com/office/officeart/2005/8/layout/pyramid1"/>
    <dgm:cxn modelId="{86BD2B65-4A40-4FEA-8BAF-1F74D52B9B4F}" type="presParOf" srcId="{C806AC69-DAF3-43EF-B4A2-7906839C6CDD}" destId="{16DE728D-F89B-4FE8-91E7-A4A1C02B9AB9}" srcOrd="3" destOrd="0" presId="urn:microsoft.com/office/officeart/2005/8/layout/pyramid1"/>
    <dgm:cxn modelId="{4DD8016B-CF28-46C8-B7F0-F2167C7EEEE0}" type="presParOf" srcId="{16DE728D-F89B-4FE8-91E7-A4A1C02B9AB9}" destId="{2CDE9437-9EDF-456E-B842-E7432A867955}" srcOrd="0" destOrd="0" presId="urn:microsoft.com/office/officeart/2005/8/layout/pyramid1"/>
    <dgm:cxn modelId="{CA21BC4C-6177-4935-B775-305827D0586A}" type="presParOf" srcId="{16DE728D-F89B-4FE8-91E7-A4A1C02B9AB9}" destId="{416EB6BB-DC1D-4661-BCB5-136328C67E99}" srcOrd="1" destOrd="0" presId="urn:microsoft.com/office/officeart/2005/8/layout/pyramid1"/>
    <dgm:cxn modelId="{8078095B-7342-4DA4-98B3-0FFA1BDE1426}" type="presParOf" srcId="{C806AC69-DAF3-43EF-B4A2-7906839C6CDD}" destId="{5A772E69-2C57-45D1-BF43-A64742BA219C}" srcOrd="4" destOrd="0" presId="urn:microsoft.com/office/officeart/2005/8/layout/pyramid1"/>
    <dgm:cxn modelId="{50D95A41-A900-4E8E-A714-44A93E4174B9}" type="presParOf" srcId="{5A772E69-2C57-45D1-BF43-A64742BA219C}" destId="{AB7CC4D5-6DD6-46C3-B271-E1E05A2F8803}" srcOrd="0" destOrd="0" presId="urn:microsoft.com/office/officeart/2005/8/layout/pyramid1"/>
    <dgm:cxn modelId="{48A28510-9843-4F81-A68C-AD771DC0FCC7}" type="presParOf" srcId="{5A772E69-2C57-45D1-BF43-A64742BA219C}" destId="{C277ED1D-C05B-4E9C-9AFE-7B506CE6484E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EEB68-9B14-4AC7-9F8F-71F73DC77AEA}">
      <dsp:nvSpPr>
        <dsp:cNvPr id="0" name=""/>
        <dsp:cNvSpPr/>
      </dsp:nvSpPr>
      <dsp:spPr>
        <a:xfrm>
          <a:off x="2467554" y="0"/>
          <a:ext cx="1233776" cy="873309"/>
        </a:xfrm>
        <a:prstGeom prst="trapezoid">
          <a:avLst>
            <a:gd name="adj" fmla="val 70638"/>
          </a:avLst>
        </a:prstGeom>
        <a:solidFill>
          <a:srgbClr val="00206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>
              <a:solidFill>
                <a:schemeClr val="bg1"/>
              </a:solidFill>
            </a:rPr>
            <a:t>SI</a:t>
          </a:r>
        </a:p>
      </dsp:txBody>
      <dsp:txXfrm>
        <a:off x="2467554" y="0"/>
        <a:ext cx="1233776" cy="873309"/>
      </dsp:txXfrm>
    </dsp:sp>
    <dsp:sp modelId="{B3765A7E-7068-4061-B156-BEF587624B1A}">
      <dsp:nvSpPr>
        <dsp:cNvPr id="0" name=""/>
        <dsp:cNvSpPr/>
      </dsp:nvSpPr>
      <dsp:spPr>
        <a:xfrm>
          <a:off x="1850665" y="873309"/>
          <a:ext cx="2467553" cy="873309"/>
        </a:xfrm>
        <a:prstGeom prst="trapezoid">
          <a:avLst>
            <a:gd name="adj" fmla="val 70638"/>
          </a:avLst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>
              <a:solidFill>
                <a:schemeClr val="bg1"/>
              </a:solidFill>
            </a:rPr>
            <a:t>BIPM</a:t>
          </a:r>
        </a:p>
      </dsp:txBody>
      <dsp:txXfrm>
        <a:off x="2282487" y="873309"/>
        <a:ext cx="1603910" cy="873309"/>
      </dsp:txXfrm>
    </dsp:sp>
    <dsp:sp modelId="{BA3ECD3A-1F72-4E0C-811A-E6061B6DF543}">
      <dsp:nvSpPr>
        <dsp:cNvPr id="0" name=""/>
        <dsp:cNvSpPr/>
      </dsp:nvSpPr>
      <dsp:spPr>
        <a:xfrm>
          <a:off x="1233777" y="1746619"/>
          <a:ext cx="3701330" cy="873309"/>
        </a:xfrm>
        <a:prstGeom prst="trapezoid">
          <a:avLst>
            <a:gd name="adj" fmla="val 7063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>
              <a:solidFill>
                <a:schemeClr val="bg1"/>
              </a:solidFill>
            </a:rPr>
            <a:t>Instituto Nacional </a:t>
          </a:r>
        </a:p>
      </dsp:txBody>
      <dsp:txXfrm>
        <a:off x="1881509" y="1746619"/>
        <a:ext cx="2405865" cy="873309"/>
      </dsp:txXfrm>
    </dsp:sp>
    <dsp:sp modelId="{2CDE9437-9EDF-456E-B842-E7432A867955}">
      <dsp:nvSpPr>
        <dsp:cNvPr id="0" name=""/>
        <dsp:cNvSpPr/>
      </dsp:nvSpPr>
      <dsp:spPr>
        <a:xfrm>
          <a:off x="616888" y="2619929"/>
          <a:ext cx="4935107" cy="873309"/>
        </a:xfrm>
        <a:prstGeom prst="trapezoid">
          <a:avLst>
            <a:gd name="adj" fmla="val 70638"/>
          </a:avLst>
        </a:prstGeom>
        <a:solidFill>
          <a:srgbClr val="92D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>
              <a:solidFill>
                <a:schemeClr val="bg1"/>
              </a:solidFill>
            </a:rPr>
            <a:t>Laboratorio Acreditado</a:t>
          </a:r>
        </a:p>
      </dsp:txBody>
      <dsp:txXfrm>
        <a:off x="1480532" y="2619929"/>
        <a:ext cx="3207820" cy="873309"/>
      </dsp:txXfrm>
    </dsp:sp>
    <dsp:sp modelId="{AB7CC4D5-6DD6-46C3-B271-E1E05A2F8803}">
      <dsp:nvSpPr>
        <dsp:cNvPr id="0" name=""/>
        <dsp:cNvSpPr/>
      </dsp:nvSpPr>
      <dsp:spPr>
        <a:xfrm>
          <a:off x="0" y="3493239"/>
          <a:ext cx="6168884" cy="873309"/>
        </a:xfrm>
        <a:prstGeom prst="trapezoid">
          <a:avLst>
            <a:gd name="adj" fmla="val 70638"/>
          </a:avLst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>
              <a:solidFill>
                <a:schemeClr val="bg1"/>
              </a:solidFill>
            </a:rPr>
            <a:t>Instrumento de Medición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>
              <a:solidFill>
                <a:schemeClr val="bg1"/>
              </a:solidFill>
            </a:rPr>
            <a:t>del Usuario Final</a:t>
          </a:r>
        </a:p>
      </dsp:txBody>
      <dsp:txXfrm>
        <a:off x="1079554" y="3493239"/>
        <a:ext cx="4009775" cy="873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CO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11" descr="cuadrado_azul.png"/>
          <p:cNvPicPr/>
          <p:nvPr/>
        </p:nvPicPr>
        <p:blipFill>
          <a:blip r:embed="rId14"/>
          <a:stretch/>
        </p:blipFill>
        <p:spPr>
          <a:xfrm>
            <a:off x="-18000" y="5860440"/>
            <a:ext cx="9179280" cy="1007280"/>
          </a:xfrm>
          <a:prstGeom prst="rect">
            <a:avLst/>
          </a:prstGeom>
          <a:ln w="0">
            <a:noFill/>
          </a:ln>
        </p:spPr>
      </p:pic>
      <p:pic>
        <p:nvPicPr>
          <p:cNvPr id="7" name="Imagen 12" descr="escudoPUJ_lateral.eps"/>
          <p:cNvPicPr/>
          <p:nvPr/>
        </p:nvPicPr>
        <p:blipFill>
          <a:blip r:embed="rId15"/>
          <a:stretch/>
        </p:blipFill>
        <p:spPr>
          <a:xfrm>
            <a:off x="6993720" y="5914440"/>
            <a:ext cx="1917720" cy="899280"/>
          </a:xfrm>
          <a:prstGeom prst="rect">
            <a:avLst/>
          </a:prstGeom>
          <a:ln w="0">
            <a:noFill/>
          </a:ln>
        </p:spPr>
      </p:pic>
      <p:sp>
        <p:nvSpPr>
          <p:cNvPr id="2" name="Subtítulo 2" hidden="1"/>
          <p:cNvSpPr/>
          <p:nvPr/>
        </p:nvSpPr>
        <p:spPr>
          <a:xfrm>
            <a:off x="5247000" y="6126120"/>
            <a:ext cx="1604520" cy="52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rgbClr val="FFFFFF"/>
                </a:solidFill>
                <a:latin typeface="Arial"/>
                <a:ea typeface="DejaVu Sans"/>
              </a:rPr>
              <a:t>Nombre o logo</a:t>
            </a:r>
            <a:endParaRPr lang="es-CO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rgbClr val="FFFFFF"/>
                </a:solidFill>
                <a:latin typeface="Arial"/>
                <a:ea typeface="DejaVu Sans"/>
              </a:rPr>
              <a:t>de la dependencia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3" name="Título 1" hidden="1"/>
          <p:cNvSpPr/>
          <p:nvPr/>
        </p:nvSpPr>
        <p:spPr>
          <a:xfrm>
            <a:off x="300960" y="6178320"/>
            <a:ext cx="433080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300" b="1" strike="noStrike" spc="-1">
                <a:solidFill>
                  <a:srgbClr val="FFFFFF"/>
                </a:solidFill>
                <a:latin typeface="Arial"/>
                <a:ea typeface="DejaVu Sans"/>
              </a:rPr>
              <a:t>Título de la presentación</a:t>
            </a:r>
            <a:endParaRPr lang="es-CO" sz="1300" b="0" strike="noStrike" spc="-1"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s-CO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n 11" descr="cuadrado_azul.png"/>
          <p:cNvPicPr/>
          <p:nvPr/>
        </p:nvPicPr>
        <p:blipFill>
          <a:blip r:embed="rId14"/>
          <a:stretch/>
        </p:blipFill>
        <p:spPr>
          <a:xfrm>
            <a:off x="-18000" y="5860440"/>
            <a:ext cx="9179280" cy="1007280"/>
          </a:xfrm>
          <a:prstGeom prst="rect">
            <a:avLst/>
          </a:prstGeom>
          <a:ln w="0">
            <a:noFill/>
          </a:ln>
        </p:spPr>
      </p:pic>
      <p:pic>
        <p:nvPicPr>
          <p:cNvPr id="43" name="Imagen 12" descr="escudoPUJ_lateral.eps"/>
          <p:cNvPicPr/>
          <p:nvPr/>
        </p:nvPicPr>
        <p:blipFill>
          <a:blip r:embed="rId15"/>
          <a:stretch/>
        </p:blipFill>
        <p:spPr>
          <a:xfrm>
            <a:off x="6993720" y="5914440"/>
            <a:ext cx="1917720" cy="899280"/>
          </a:xfrm>
          <a:prstGeom prst="rect">
            <a:avLst/>
          </a:prstGeom>
          <a:ln w="0">
            <a:noFill/>
          </a:ln>
        </p:spPr>
      </p:pic>
      <p:sp>
        <p:nvSpPr>
          <p:cNvPr id="44" name="Subtítulo 2"/>
          <p:cNvSpPr/>
          <p:nvPr/>
        </p:nvSpPr>
        <p:spPr>
          <a:xfrm>
            <a:off x="5247000" y="6126120"/>
            <a:ext cx="1604520" cy="52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rgbClr val="FFFFFF"/>
                </a:solidFill>
                <a:latin typeface="Arial"/>
                <a:ea typeface="DejaVu Sans"/>
              </a:rPr>
              <a:t>Nombre o logo</a:t>
            </a:r>
            <a:endParaRPr lang="es-CO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rgbClr val="FFFFFF"/>
                </a:solidFill>
                <a:latin typeface="Arial"/>
                <a:ea typeface="DejaVu Sans"/>
              </a:rPr>
              <a:t>de la dependencia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45" name="Título 1"/>
          <p:cNvSpPr/>
          <p:nvPr/>
        </p:nvSpPr>
        <p:spPr>
          <a:xfrm>
            <a:off x="300960" y="6178320"/>
            <a:ext cx="433080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300" b="1" strike="noStrike" spc="-1">
                <a:solidFill>
                  <a:srgbClr val="FFFFFF"/>
                </a:solidFill>
                <a:latin typeface="Arial"/>
                <a:ea typeface="DejaVu Sans"/>
              </a:rPr>
              <a:t>Título de la presentación</a:t>
            </a:r>
            <a:endParaRPr lang="es-CO" sz="1300" b="0" strike="noStrike" spc="-1"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s-CO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es.wikipedia.org/wiki/Millon%C3%A9simo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0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ángulo 3"/>
          <p:cNvSpPr/>
          <p:nvPr/>
        </p:nvSpPr>
        <p:spPr>
          <a:xfrm>
            <a:off x="720" y="12364"/>
            <a:ext cx="9143280" cy="6857280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rgbClr val="EDEDED"/>
              </a:gs>
            </a:gsLst>
            <a:lin ang="16200000"/>
          </a:gradFill>
          <a:ln>
            <a:noFill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s-CO" dirty="0"/>
          </a:p>
        </p:txBody>
      </p:sp>
      <p:sp>
        <p:nvSpPr>
          <p:cNvPr id="85" name="Rectángulo 9"/>
          <p:cNvSpPr/>
          <p:nvPr/>
        </p:nvSpPr>
        <p:spPr>
          <a:xfrm>
            <a:off x="1920240" y="3731400"/>
            <a:ext cx="5302800" cy="159228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920240" y="3709800"/>
            <a:ext cx="5302800" cy="78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s-CO" sz="2800" b="1" spc="-1" dirty="0">
                <a:solidFill>
                  <a:srgbClr val="2C5697"/>
                </a:solidFill>
                <a:latin typeface="Arial"/>
              </a:rPr>
              <a:t>Introducción a instrumentación biomédica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2103480" y="4625280"/>
            <a:ext cx="4936320" cy="67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s-ES" sz="1600" b="0" strike="noStrike" spc="-1" dirty="0">
                <a:solidFill>
                  <a:srgbClr val="2C5697"/>
                </a:solidFill>
                <a:latin typeface="Arial"/>
              </a:rPr>
              <a:t>Pedro Antonio Aya Parra</a:t>
            </a:r>
            <a:endParaRPr lang="es-CO" sz="1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pt-BR" sz="1600" b="0" strike="noStrike" spc="-1" dirty="0" err="1">
                <a:solidFill>
                  <a:srgbClr val="2C5697"/>
                </a:solidFill>
                <a:latin typeface="Arial"/>
              </a:rPr>
              <a:t>Facultad</a:t>
            </a:r>
            <a:r>
              <a:rPr lang="pt-BR" sz="1600" b="0" strike="noStrike" spc="-1" dirty="0">
                <a:solidFill>
                  <a:srgbClr val="2C5697"/>
                </a:solidFill>
                <a:latin typeface="Arial"/>
              </a:rPr>
              <a:t> de </a:t>
            </a:r>
            <a:r>
              <a:rPr lang="pt-BR" sz="1600" spc="-1" dirty="0" err="1">
                <a:solidFill>
                  <a:srgbClr val="2C5697"/>
                </a:solidFill>
                <a:latin typeface="Arial"/>
              </a:rPr>
              <a:t>I</a:t>
            </a:r>
            <a:r>
              <a:rPr lang="pt-BR" sz="1600" b="0" strike="noStrike" spc="-1" dirty="0" err="1">
                <a:solidFill>
                  <a:srgbClr val="2C5697"/>
                </a:solidFill>
                <a:latin typeface="Arial"/>
              </a:rPr>
              <a:t>ngeniería</a:t>
            </a:r>
            <a:endParaRPr lang="es-CO" sz="1600" b="0" strike="noStrike" spc="-1" dirty="0">
              <a:latin typeface="Arial"/>
            </a:endParaRPr>
          </a:p>
        </p:txBody>
      </p:sp>
      <p:grpSp>
        <p:nvGrpSpPr>
          <p:cNvPr id="88" name="Agrupar 16"/>
          <p:cNvGrpSpPr/>
          <p:nvPr/>
        </p:nvGrpSpPr>
        <p:grpSpPr>
          <a:xfrm>
            <a:off x="3494880" y="0"/>
            <a:ext cx="2153160" cy="2590200"/>
            <a:chOff x="3494880" y="0"/>
            <a:chExt cx="2153160" cy="2590200"/>
          </a:xfrm>
        </p:grpSpPr>
        <p:pic>
          <p:nvPicPr>
            <p:cNvPr id="89" name="Imagen 8" descr="cuadrado_azul.png"/>
            <p:cNvPicPr/>
            <p:nvPr/>
          </p:nvPicPr>
          <p:blipFill>
            <a:blip r:embed="rId2"/>
            <a:stretch/>
          </p:blipFill>
          <p:spPr>
            <a:xfrm>
              <a:off x="3494880" y="0"/>
              <a:ext cx="2153160" cy="2590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0" name="Imagen 12" descr="escudoPUJ_central.eps"/>
            <p:cNvPicPr/>
            <p:nvPr/>
          </p:nvPicPr>
          <p:blipFill>
            <a:blip r:embed="rId3"/>
            <a:stretch/>
          </p:blipFill>
          <p:spPr>
            <a:xfrm>
              <a:off x="3582000" y="200880"/>
              <a:ext cx="1979280" cy="2117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1" name="Imagen 15" descr="texto_vigilada_mineducacion_rgb-negativo.eps"/>
            <p:cNvPicPr/>
            <p:nvPr/>
          </p:nvPicPr>
          <p:blipFill>
            <a:blip r:embed="rId4"/>
            <a:stretch/>
          </p:blipFill>
          <p:spPr>
            <a:xfrm>
              <a:off x="4014000" y="2382840"/>
              <a:ext cx="1115280" cy="83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2" name="CuadroTexto 4"/>
          <p:cNvSpPr/>
          <p:nvPr/>
        </p:nvSpPr>
        <p:spPr>
          <a:xfrm>
            <a:off x="6040800" y="6258600"/>
            <a:ext cx="1839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93" name="CuadroTexto 6"/>
          <p:cNvSpPr/>
          <p:nvPr/>
        </p:nvSpPr>
        <p:spPr>
          <a:xfrm>
            <a:off x="1498680" y="6052680"/>
            <a:ext cx="1839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2A1B824-89B2-A35F-CBB0-193ECA33075A}"/>
              </a:ext>
            </a:extLst>
          </p:cNvPr>
          <p:cNvSpPr txBox="1"/>
          <p:nvPr/>
        </p:nvSpPr>
        <p:spPr>
          <a:xfrm>
            <a:off x="323463" y="6155823"/>
            <a:ext cx="6517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/>
              <a:t>"Medir es entender; sin datos, solo estamos adivinando"</a:t>
            </a:r>
            <a:endParaRPr lang="es-CO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/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/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>
                <a:solidFill>
                  <a:srgbClr val="2C5697"/>
                </a:solidFill>
                <a:latin typeface="Arial"/>
                <a:ea typeface="DejaVu Sans"/>
              </a:rPr>
              <a:t>Índice de Contenido</a:t>
            </a:r>
            <a:endParaRPr lang="es-ES" sz="1800" b="1" strike="noStrike" spc="-1" dirty="0">
              <a:solidFill>
                <a:srgbClr val="2C5697"/>
              </a:solidFill>
              <a:latin typeface="Arial"/>
              <a:ea typeface="DejaVu Sans"/>
            </a:endParaRPr>
          </a:p>
        </p:txBody>
      </p:sp>
      <p:sp>
        <p:nvSpPr>
          <p:cNvPr id="127" name="Marcador de número de diapositiva 3"/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2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A4F68718-D427-A962-8952-1976B6481098}"/>
              </a:ext>
            </a:extLst>
          </p:cNvPr>
          <p:cNvSpPr txBox="1">
            <a:spLocks/>
          </p:cNvSpPr>
          <p:nvPr/>
        </p:nvSpPr>
        <p:spPr>
          <a:xfrm>
            <a:off x="806805" y="1406077"/>
            <a:ext cx="7692618" cy="4479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 de medidas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Magnitudes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Uso de magnitudes de medida en biomédica / medicina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Metrología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BD0F92B0-3B6B-3A05-2E6D-12FD37854625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C6D3-9B15-8032-57CE-FA3258B0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40CA17BC-A67E-1DEB-E53C-4053271FB6F0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7881D641-15F0-6B3F-3277-B57A54083335}"/>
              </a:ext>
            </a:extLst>
          </p:cNvPr>
          <p:cNvSpPr/>
          <p:nvPr/>
        </p:nvSpPr>
        <p:spPr>
          <a:xfrm>
            <a:off x="-2160" y="74520"/>
            <a:ext cx="86108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¿Por qué medimos? </a:t>
            </a:r>
          </a:p>
          <a:p>
            <a:pPr>
              <a:lnSpc>
                <a:spcPct val="100000"/>
              </a:lnSpc>
              <a:buNone/>
            </a:pPr>
            <a:endParaRPr lang="es-CO" sz="1800" b="0" strike="noStrike" spc="-1" dirty="0">
              <a:latin typeface="Arial"/>
            </a:endParaRP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A68544FF-2CD6-022A-1BFA-A1F3700CE6C5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3</a:t>
            </a:fld>
            <a:endParaRPr lang="es-CO" sz="1200" b="0" strike="noStrike" spc="-1">
              <a:latin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B4F541F-27D9-C8E9-856A-995DA355E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242" y="972000"/>
            <a:ext cx="5983515" cy="4162446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9E53B6F-3A72-2B15-F746-7A23A4594C23}"/>
              </a:ext>
            </a:extLst>
          </p:cNvPr>
          <p:cNvSpPr/>
          <p:nvPr/>
        </p:nvSpPr>
        <p:spPr>
          <a:xfrm>
            <a:off x="20160" y="5491482"/>
            <a:ext cx="7166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¡Se empieza a conocer un concepto cuando se cuantifica!</a:t>
            </a: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0E63CB2-7782-3C71-C721-71815D4C4A54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560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D7DD3-53F8-BD57-E625-65C47188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D4BCD31B-1F3C-1F75-8587-02AE6926672B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856B790D-7BF8-1F00-BA98-D9CFF02C4BB2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Ciencia de la Medición 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43A4B37B-009F-2DB4-A565-B6CA975FE6C9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4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AB6C54C7-CC0A-1353-7551-2F8EFDC2C86A}"/>
              </a:ext>
            </a:extLst>
          </p:cNvPr>
          <p:cNvSpPr txBox="1">
            <a:spLocks/>
          </p:cNvSpPr>
          <p:nvPr/>
        </p:nvSpPr>
        <p:spPr>
          <a:xfrm>
            <a:off x="570240" y="1295489"/>
            <a:ext cx="8229600" cy="128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2000" dirty="0"/>
              <a:t>Es el proceso de obtener experimentalmente la </a:t>
            </a:r>
            <a:r>
              <a:rPr lang="es-CO" sz="2000" b="1" dirty="0"/>
              <a:t>magnitud física </a:t>
            </a:r>
            <a:r>
              <a:rPr lang="es-CO" sz="2000" dirty="0"/>
              <a:t>de un objeto o fenómeno (mesurando) al compáralo con una unidad de referencia. Por otro lado, el dispositivo que utilizamos para realizar la comparación se llama </a:t>
            </a:r>
            <a:r>
              <a:rPr lang="es-CO" sz="2000" b="1" dirty="0"/>
              <a:t>instrumento de medición</a:t>
            </a:r>
            <a:r>
              <a:rPr lang="es-CO" sz="2000" dirty="0"/>
              <a:t>. </a:t>
            </a:r>
          </a:p>
          <a:p>
            <a:pPr algn="just"/>
            <a:endParaRPr lang="es-CO" dirty="0"/>
          </a:p>
        </p:txBody>
      </p:sp>
      <p:pic>
        <p:nvPicPr>
          <p:cNvPr id="3" name="Imagen 2" descr="Imagen que contiene firmar, reloj, parada&#10;&#10;Descripción generada automáticamente">
            <a:extLst>
              <a:ext uri="{FF2B5EF4-FFF2-40B4-BE49-F238E27FC236}">
                <a16:creationId xmlns:a16="http://schemas.microsoft.com/office/drawing/2014/main" id="{65154D69-87C1-CC5F-DC19-BDA2D5621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19" y="2657027"/>
            <a:ext cx="3346762" cy="334676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A4600DF-1F36-0DD4-5742-57A1C472C188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25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6476-EAD6-97B7-381C-CBA12EDF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BFE9D057-FEDE-8BC4-E67E-F131052CA6D2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9D5A8E3F-B483-6340-1E5D-17E1A78C3E7B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Sistema Internacional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FE6E373D-27DE-23CA-B405-E0B4FF0410FD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5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72E7C0-C03D-5E13-A946-395B43511F4D}"/>
              </a:ext>
            </a:extLst>
          </p:cNvPr>
          <p:cNvSpPr/>
          <p:nvPr/>
        </p:nvSpPr>
        <p:spPr>
          <a:xfrm>
            <a:off x="8172096" y="5678966"/>
            <a:ext cx="231642" cy="2070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16B37F-23CF-6355-3C34-6F92F14DF6F5}"/>
              </a:ext>
            </a:extLst>
          </p:cNvPr>
          <p:cNvSpPr txBox="1">
            <a:spLocks/>
          </p:cNvSpPr>
          <p:nvPr/>
        </p:nvSpPr>
        <p:spPr>
          <a:xfrm>
            <a:off x="379080" y="1049220"/>
            <a:ext cx="8229600" cy="700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1800" dirty="0"/>
              <a:t>El famoso </a:t>
            </a:r>
            <a:r>
              <a:rPr lang="es-CO" sz="1800" b="1" dirty="0"/>
              <a:t>SI</a:t>
            </a:r>
            <a:r>
              <a:rPr lang="es-CO" sz="1800" dirty="0"/>
              <a:t> que es justamente donde se definen las </a:t>
            </a:r>
            <a:r>
              <a:rPr lang="es-CO" sz="1800" b="1" dirty="0"/>
              <a:t>7 magnitudes físicas fundamentales</a:t>
            </a:r>
            <a:r>
              <a:rPr lang="es-CO" sz="1800" dirty="0"/>
              <a:t> y sus unidades de base correspondientes:</a:t>
            </a:r>
          </a:p>
          <a:p>
            <a:pPr algn="just"/>
            <a:endParaRPr lang="es-CO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08F6AED-B6AB-8BFC-1533-CDCE00B2193B}"/>
              </a:ext>
            </a:extLst>
          </p:cNvPr>
          <p:cNvGrpSpPr/>
          <p:nvPr/>
        </p:nvGrpSpPr>
        <p:grpSpPr>
          <a:xfrm>
            <a:off x="1161809" y="2278951"/>
            <a:ext cx="7241929" cy="3368695"/>
            <a:chOff x="2488890" y="2705919"/>
            <a:chExt cx="7241929" cy="336869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27EB562-DC98-64FE-D257-5928B80FD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8890" y="2826327"/>
              <a:ext cx="7214219" cy="3248287"/>
            </a:xfrm>
            <a:prstGeom prst="rect">
              <a:avLst/>
            </a:prstGeom>
          </p:spPr>
        </p:pic>
        <p:sp>
          <p:nvSpPr>
            <p:cNvPr id="6" name="Pergamino: vertical 5">
              <a:extLst>
                <a:ext uri="{FF2B5EF4-FFF2-40B4-BE49-F238E27FC236}">
                  <a16:creationId xmlns:a16="http://schemas.microsoft.com/office/drawing/2014/main" id="{6FD003FE-101E-EAC4-4BBE-E11A427A1C7D}"/>
                </a:ext>
              </a:extLst>
            </p:cNvPr>
            <p:cNvSpPr/>
            <p:nvPr/>
          </p:nvSpPr>
          <p:spPr>
            <a:xfrm>
              <a:off x="9225297" y="2705919"/>
              <a:ext cx="505522" cy="526605"/>
            </a:xfrm>
            <a:prstGeom prst="verticalScroll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SI</a:t>
              </a:r>
            </a:p>
          </p:txBody>
        </p:sp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116F586F-307F-85E9-1F4A-1188C49049FF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52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D90C-049A-574D-6A24-776D172E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F81986D2-809E-908D-6ABD-A500EA29DF8A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4F3D7C61-27A8-38C2-ED08-2305F790F6EB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Sistema Internacional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0CD7F1EA-8AB6-3C51-DDF2-1C5B978CE0D2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6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C29A8D06-15CC-B951-32D6-14195D4FD7C0}"/>
              </a:ext>
            </a:extLst>
          </p:cNvPr>
          <p:cNvSpPr txBox="1">
            <a:spLocks/>
          </p:cNvSpPr>
          <p:nvPr/>
        </p:nvSpPr>
        <p:spPr>
          <a:xfrm>
            <a:off x="261360" y="582287"/>
            <a:ext cx="8229600" cy="779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800" dirty="0"/>
              <a:t>Las </a:t>
            </a:r>
            <a:r>
              <a:rPr lang="es-CO" sz="1800" b="1" dirty="0"/>
              <a:t>magnitudes derivadas </a:t>
            </a:r>
            <a:r>
              <a:rPr lang="es-CO" sz="1800" dirty="0"/>
              <a:t>se expresan en función de las magnitudes físicas fundamentales: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3C007B-EB22-2138-CFE5-7B4F62265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26" y="1262845"/>
            <a:ext cx="7396148" cy="460441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5819AF3-B1D1-66F6-40B6-F8AE2A7D5557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410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AB7C-9C1E-7931-2808-3016DEB27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165CED0A-9AD4-14A1-36E0-2103EE5B9A4C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6AFD152F-CB60-7D7E-9FFC-9B6627D4127D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Unidades Sistema Internacional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E1FC840F-09C6-DAF2-0BEF-2565D76FA96B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7</a:t>
            </a:fld>
            <a:endParaRPr lang="es-CO" sz="1200" b="0" strike="noStrike" spc="-1">
              <a:latin typeface="Arial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6FCD2B44-00AA-1D54-580C-5508B52BC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539" y="1910012"/>
            <a:ext cx="3575023" cy="357502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CF4F8B5-8C0A-42DE-F0F6-3868A2D7752E}"/>
              </a:ext>
            </a:extLst>
          </p:cNvPr>
          <p:cNvSpPr txBox="1"/>
          <p:nvPr/>
        </p:nvSpPr>
        <p:spPr>
          <a:xfrm>
            <a:off x="712459" y="1059499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rPr>
              <a:t>Unidades de base</a:t>
            </a:r>
          </a:p>
        </p:txBody>
      </p:sp>
      <p:sp>
        <p:nvSpPr>
          <p:cNvPr id="4" name="Es igual a 3">
            <a:extLst>
              <a:ext uri="{FF2B5EF4-FFF2-40B4-BE49-F238E27FC236}">
                <a16:creationId xmlns:a16="http://schemas.microsoft.com/office/drawing/2014/main" id="{779A6D4E-CB58-0C16-47A3-5AB60A2AA062}"/>
              </a:ext>
            </a:extLst>
          </p:cNvPr>
          <p:cNvSpPr/>
          <p:nvPr/>
        </p:nvSpPr>
        <p:spPr>
          <a:xfrm>
            <a:off x="3435484" y="3429000"/>
            <a:ext cx="581974" cy="570961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3AE1C8-557D-3FA4-44DC-1520C027F8D7}"/>
              </a:ext>
            </a:extLst>
          </p:cNvPr>
          <p:cNvSpPr txBox="1"/>
          <p:nvPr/>
        </p:nvSpPr>
        <p:spPr>
          <a:xfrm>
            <a:off x="5518582" y="1059499"/>
            <a:ext cx="2059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US"/>
            </a:defPPr>
            <a:lvl1pPr>
              <a:defRPr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1pPr>
          </a:lstStyle>
          <a:p>
            <a:r>
              <a:rPr lang="es-CO" dirty="0"/>
              <a:t>Unidades derivadas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D40464-42A0-3091-4810-CC6C7268F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345" y="2061878"/>
            <a:ext cx="4618463" cy="2734243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4EB0FC1F-7481-94EB-0A25-05CADCE2172D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846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09A7-7BD8-1275-C6A2-4FFA8908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0C6D9539-3BA9-D871-8504-347BD6DD7D09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849990B9-4A9D-DE78-CDBA-539CC15A01FD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Prefijos y Sufijos 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890B196E-1795-C044-2158-74F0CA3DE2FF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8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240833-8F81-CEDF-BD3F-0C6E5476F83C}"/>
              </a:ext>
            </a:extLst>
          </p:cNvPr>
          <p:cNvSpPr txBox="1"/>
          <p:nvPr/>
        </p:nvSpPr>
        <p:spPr>
          <a:xfrm>
            <a:off x="5699311" y="1222140"/>
            <a:ext cx="3247049" cy="123110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Un millón (1 000 000) es igual a mil millares, o </a:t>
            </a:r>
            <a:r>
              <a:rPr lang="es-ES" b="1" dirty="0"/>
              <a:t>10</a:t>
            </a:r>
            <a:r>
              <a:rPr lang="es-ES" b="1" baseline="30000" dirty="0"/>
              <a:t>6</a:t>
            </a:r>
            <a:r>
              <a:rPr lang="es-ES" sz="1400" dirty="0"/>
              <a:t>. El concepto de millón también se puede expresar mediante el prefijo </a:t>
            </a:r>
            <a:r>
              <a:rPr lang="es-ES" sz="1400" b="1" dirty="0"/>
              <a:t>mega</a:t>
            </a:r>
            <a:r>
              <a:rPr lang="es-ES" sz="1400" dirty="0"/>
              <a:t> antepuesto a unidades del SI. </a:t>
            </a:r>
            <a:endParaRPr lang="es-CO" sz="11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5A818-4C20-ACA8-6BF8-1F9B659E7B6A}"/>
              </a:ext>
            </a:extLst>
          </p:cNvPr>
          <p:cNvSpPr txBox="1"/>
          <p:nvPr/>
        </p:nvSpPr>
        <p:spPr>
          <a:xfrm>
            <a:off x="5699310" y="3572525"/>
            <a:ext cx="3247049" cy="13849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Un </a:t>
            </a:r>
            <a:r>
              <a:rPr lang="es-ES" sz="1400" b="1" dirty="0"/>
              <a:t>millonésimo</a:t>
            </a:r>
            <a:r>
              <a:rPr lang="es-ES" sz="1400" dirty="0"/>
              <a:t> (0.000001) es igual a la repartición de una unidad en un millón de partes iguales. Es expresado como el factor </a:t>
            </a:r>
            <a:r>
              <a:rPr lang="es-ES" sz="1400" b="1" dirty="0"/>
              <a:t>10</a:t>
            </a:r>
            <a:r>
              <a:rPr lang="es-ES" sz="1400" b="1" baseline="30000" dirty="0"/>
              <a:t>-6</a:t>
            </a:r>
            <a:r>
              <a:rPr lang="es-ES" sz="1400" dirty="0"/>
              <a:t> y con la fracción 1/1 000 000. </a:t>
            </a:r>
            <a:endParaRPr lang="es-ES" sz="1400" dirty="0">
              <a:hlinkClick r:id="rId2"/>
            </a:endParaRPr>
          </a:p>
          <a:p>
            <a:pPr algn="just"/>
            <a:endParaRPr lang="es-CO" sz="1400" dirty="0"/>
          </a:p>
        </p:txBody>
      </p:sp>
      <p:pic>
        <p:nvPicPr>
          <p:cNvPr id="5" name="Marcador de contenido 3">
            <a:extLst>
              <a:ext uri="{FF2B5EF4-FFF2-40B4-BE49-F238E27FC236}">
                <a16:creationId xmlns:a16="http://schemas.microsoft.com/office/drawing/2014/main" id="{6C351AEC-E9D4-8491-2F40-7333613BC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0" y="967541"/>
            <a:ext cx="5468049" cy="423581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927FEE8-B4C3-6853-1E48-0A172515BDC1}"/>
              </a:ext>
            </a:extLst>
          </p:cNvPr>
          <p:cNvSpPr/>
          <p:nvPr/>
        </p:nvSpPr>
        <p:spPr>
          <a:xfrm>
            <a:off x="1380219" y="4153633"/>
            <a:ext cx="1063083" cy="25276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19D22A-1848-A373-A87F-A66F1AF3280E}"/>
              </a:ext>
            </a:extLst>
          </p:cNvPr>
          <p:cNvSpPr/>
          <p:nvPr/>
        </p:nvSpPr>
        <p:spPr>
          <a:xfrm>
            <a:off x="1380220" y="1681332"/>
            <a:ext cx="1063083" cy="25276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355C5A6-58CF-32A7-412D-2429CD86995E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9227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15B33-96A3-0D64-B9DE-A84AA1AB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93CFC2E9-7981-7471-0077-E5CD37E349E7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5" name="Título 1">
            <a:extLst>
              <a:ext uri="{FF2B5EF4-FFF2-40B4-BE49-F238E27FC236}">
                <a16:creationId xmlns:a16="http://schemas.microsoft.com/office/drawing/2014/main" id="{2E94923B-1750-8BF4-1E92-8918316852B7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s-CO" sz="1600" b="0" strike="noStrike" spc="-1" dirty="0">
              <a:latin typeface="Arial"/>
            </a:endParaRPr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CD6D8516-8173-A7DA-2BA1-C2B3601FA4C1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Biometría</a:t>
            </a:r>
            <a:endParaRPr lang="es-CO" sz="1800" b="0" strike="noStrike" spc="-1" dirty="0">
              <a:latin typeface="Arial"/>
            </a:endParaRP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87B06109-4F01-0677-BB88-EAF2A5C10C88}"/>
              </a:ext>
            </a:extLst>
          </p:cNvPr>
          <p:cNvSpPr/>
          <p:nvPr/>
        </p:nvSpPr>
        <p:spPr>
          <a:xfrm>
            <a:off x="7524785" y="571248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9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A3234045-CB82-7B23-B9AC-C37F11325176}"/>
              </a:ext>
            </a:extLst>
          </p:cNvPr>
          <p:cNvSpPr txBox="1">
            <a:spLocks/>
          </p:cNvSpPr>
          <p:nvPr/>
        </p:nvSpPr>
        <p:spPr>
          <a:xfrm>
            <a:off x="261360" y="736877"/>
            <a:ext cx="8229600" cy="65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800" dirty="0"/>
              <a:t>La </a:t>
            </a:r>
            <a:r>
              <a:rPr lang="es-CO" sz="1800" b="1" dirty="0"/>
              <a:t>biometría</a:t>
            </a:r>
            <a:r>
              <a:rPr lang="es-CO" sz="1800" dirty="0"/>
              <a:t> (del griego </a:t>
            </a:r>
            <a:r>
              <a:rPr lang="es-CO" sz="1800" i="1" dirty="0" err="1"/>
              <a:t>bios</a:t>
            </a:r>
            <a:r>
              <a:rPr lang="es-CO" sz="1800" dirty="0"/>
              <a:t> vida y </a:t>
            </a:r>
            <a:r>
              <a:rPr lang="es-CO" sz="1800" i="1" dirty="0" err="1"/>
              <a:t>metron</a:t>
            </a:r>
            <a:r>
              <a:rPr lang="es-CO" sz="1800" dirty="0"/>
              <a:t> medida) es la toma de medidas estandarizadas de los seres vivos o de procesos biológicos.</a:t>
            </a:r>
          </a:p>
          <a:p>
            <a:endParaRPr lang="es-CO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3225A89-00A4-1FE4-9FAE-2399493A8B66}"/>
              </a:ext>
            </a:extLst>
          </p:cNvPr>
          <p:cNvGrpSpPr/>
          <p:nvPr/>
        </p:nvGrpSpPr>
        <p:grpSpPr>
          <a:xfrm>
            <a:off x="119579" y="1833377"/>
            <a:ext cx="9024421" cy="2998460"/>
            <a:chOff x="228597" y="2030680"/>
            <a:chExt cx="8544624" cy="2340607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74291921-ECB9-A55F-3829-83AAE3C4D733}"/>
                </a:ext>
              </a:extLst>
            </p:cNvPr>
            <p:cNvSpPr/>
            <p:nvPr/>
          </p:nvSpPr>
          <p:spPr>
            <a:xfrm>
              <a:off x="3722172" y="2030680"/>
              <a:ext cx="1717288" cy="61006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Biometría 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7339A64-8EB2-CA54-C2BA-ECB2D4F1A02E}"/>
                </a:ext>
              </a:extLst>
            </p:cNvPr>
            <p:cNvSpPr/>
            <p:nvPr/>
          </p:nvSpPr>
          <p:spPr>
            <a:xfrm>
              <a:off x="1507666" y="3085170"/>
              <a:ext cx="1463656" cy="27408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Anatómicas 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B2119B7-ECA8-948B-8170-33126A31E48B}"/>
                </a:ext>
              </a:extLst>
            </p:cNvPr>
            <p:cNvSpPr/>
            <p:nvPr/>
          </p:nvSpPr>
          <p:spPr>
            <a:xfrm>
              <a:off x="5686195" y="3085170"/>
              <a:ext cx="1832519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Comportamiento 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1B3B044-1227-61B7-ADBF-206F28EA5F53}"/>
                </a:ext>
              </a:extLst>
            </p:cNvPr>
            <p:cNvSpPr/>
            <p:nvPr/>
          </p:nvSpPr>
          <p:spPr>
            <a:xfrm>
              <a:off x="2971322" y="4096223"/>
              <a:ext cx="1609494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Huella dactilar 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46569DD0-4848-1B89-B20F-5A42C4971648}"/>
                </a:ext>
              </a:extLst>
            </p:cNvPr>
            <p:cNvSpPr/>
            <p:nvPr/>
          </p:nvSpPr>
          <p:spPr>
            <a:xfrm>
              <a:off x="2189807" y="4096221"/>
              <a:ext cx="652351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Ojos 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FDE7C4D8-6800-5140-7CC5-3CF7724CDF53}"/>
                </a:ext>
              </a:extLst>
            </p:cNvPr>
            <p:cNvSpPr/>
            <p:nvPr/>
          </p:nvSpPr>
          <p:spPr>
            <a:xfrm>
              <a:off x="1209910" y="4096219"/>
              <a:ext cx="827052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Manos 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4054C2FE-E197-D4D9-D11A-1848512A80A3}"/>
                </a:ext>
              </a:extLst>
            </p:cNvPr>
            <p:cNvSpPr/>
            <p:nvPr/>
          </p:nvSpPr>
          <p:spPr>
            <a:xfrm>
              <a:off x="228598" y="4092498"/>
              <a:ext cx="827052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Rostro 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5A6F78C0-67D5-8863-AB96-5C0D5D5792FB}"/>
                </a:ext>
              </a:extLst>
            </p:cNvPr>
            <p:cNvSpPr/>
            <p:nvPr/>
          </p:nvSpPr>
          <p:spPr>
            <a:xfrm>
              <a:off x="7969403" y="4096217"/>
              <a:ext cx="803818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Tecleo 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6D69E6A-BE6A-356A-C238-698579731E29}"/>
                </a:ext>
              </a:extLst>
            </p:cNvPr>
            <p:cNvSpPr/>
            <p:nvPr/>
          </p:nvSpPr>
          <p:spPr>
            <a:xfrm>
              <a:off x="6720476" y="4088781"/>
              <a:ext cx="1094666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Cadencia  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DF2D6A4-8912-8A01-4E73-78DA81E833D9}"/>
                </a:ext>
              </a:extLst>
            </p:cNvPr>
            <p:cNvSpPr/>
            <p:nvPr/>
          </p:nvSpPr>
          <p:spPr>
            <a:xfrm>
              <a:off x="5913865" y="4096217"/>
              <a:ext cx="652351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Voz 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5DABED2-9491-69F0-C470-A1A353E4F2CE}"/>
                </a:ext>
              </a:extLst>
            </p:cNvPr>
            <p:cNvSpPr/>
            <p:nvPr/>
          </p:nvSpPr>
          <p:spPr>
            <a:xfrm>
              <a:off x="5066371" y="4088781"/>
              <a:ext cx="761074" cy="27506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Firma </a:t>
              </a: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EB07D1B4-D8FB-FB09-AAC9-677F08718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9385" y="2386359"/>
              <a:ext cx="1026365" cy="631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A5A4FD9C-7DCF-3CBA-CF4E-40B3DD5EA59A}"/>
                </a:ext>
              </a:extLst>
            </p:cNvPr>
            <p:cNvCxnSpPr>
              <a:cxnSpLocks/>
            </p:cNvCxnSpPr>
            <p:nvPr/>
          </p:nvCxnSpPr>
          <p:spPr>
            <a:xfrm>
              <a:off x="5508251" y="2386359"/>
              <a:ext cx="842373" cy="631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brir llave 16">
              <a:extLst>
                <a:ext uri="{FF2B5EF4-FFF2-40B4-BE49-F238E27FC236}">
                  <a16:creationId xmlns:a16="http://schemas.microsoft.com/office/drawing/2014/main" id="{DF4F97A8-8B16-23D9-C019-F847642DD241}"/>
                </a:ext>
              </a:extLst>
            </p:cNvPr>
            <p:cNvSpPr/>
            <p:nvPr/>
          </p:nvSpPr>
          <p:spPr>
            <a:xfrm rot="5400000">
              <a:off x="2263257" y="1564139"/>
              <a:ext cx="274082" cy="4343401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Abrir llave 17">
              <a:extLst>
                <a:ext uri="{FF2B5EF4-FFF2-40B4-BE49-F238E27FC236}">
                  <a16:creationId xmlns:a16="http://schemas.microsoft.com/office/drawing/2014/main" id="{4FBBC5C0-B8E1-3CEF-56AE-2A6D4219EA79}"/>
                </a:ext>
              </a:extLst>
            </p:cNvPr>
            <p:cNvSpPr/>
            <p:nvPr/>
          </p:nvSpPr>
          <p:spPr>
            <a:xfrm rot="5400000">
              <a:off x="6724554" y="1894687"/>
              <a:ext cx="390481" cy="3706851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36A7917-8D19-21A7-41EF-A427AEEC6B7D}"/>
                </a:ext>
              </a:extLst>
            </p:cNvPr>
            <p:cNvSpPr txBox="1"/>
            <p:nvPr/>
          </p:nvSpPr>
          <p:spPr>
            <a:xfrm>
              <a:off x="1875859" y="3798023"/>
              <a:ext cx="10488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dirty="0"/>
                <a:t>Estáticas 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6752691-9400-46B8-524E-93CFBE9E845E}"/>
                </a:ext>
              </a:extLst>
            </p:cNvPr>
            <p:cNvSpPr txBox="1"/>
            <p:nvPr/>
          </p:nvSpPr>
          <p:spPr>
            <a:xfrm>
              <a:off x="6434613" y="3778272"/>
              <a:ext cx="1251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dirty="0"/>
                <a:t>Dinámicas  </a:t>
              </a:r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6A0726A3-BA75-B0BE-4DFE-8257698A4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69" y="4937049"/>
            <a:ext cx="905001" cy="10097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B8C8CD6-6835-4251-53B2-5EF772146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051" y="5035494"/>
            <a:ext cx="704948" cy="86689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9486A2F-EF23-8180-541F-13CFDCE1F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632" y="4980565"/>
            <a:ext cx="666843" cy="94310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F2138D6-E97A-A657-BC0A-3F3D8EEE1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096" y="5128199"/>
            <a:ext cx="924054" cy="571580"/>
          </a:xfrm>
          <a:prstGeom prst="rect">
            <a:avLst/>
          </a:prstGeom>
        </p:spPr>
      </p:pic>
      <p:sp>
        <p:nvSpPr>
          <p:cNvPr id="25" name="Título 1">
            <a:extLst>
              <a:ext uri="{FF2B5EF4-FFF2-40B4-BE49-F238E27FC236}">
                <a16:creationId xmlns:a16="http://schemas.microsoft.com/office/drawing/2014/main" id="{EF3B58AE-FD1B-2013-E0D8-1ECE4DBBF7D4}"/>
              </a:ext>
            </a:extLst>
          </p:cNvPr>
          <p:cNvSpPr/>
          <p:nvPr/>
        </p:nvSpPr>
        <p:spPr>
          <a:xfrm>
            <a:off x="172560" y="62918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261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4F82-C92C-7B52-A1BA-455A6F06C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D2E5C0CD-16EE-45AF-638F-7CC685197004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A350571B-5237-220D-C6FF-8C351AD0A7D7}"/>
              </a:ext>
            </a:extLst>
          </p:cNvPr>
          <p:cNvSpPr/>
          <p:nvPr/>
        </p:nvSpPr>
        <p:spPr>
          <a:xfrm>
            <a:off x="0" y="-93119"/>
            <a:ext cx="86108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b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</a:b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Función de las Medidas en Medicina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30765594-CA29-6E87-135D-4F77645ACF71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10</a:t>
            </a:fld>
            <a:endParaRPr lang="es-CO" sz="1200" b="0" strike="noStrike" spc="-1">
              <a:latin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D58D94E-D6AD-8B25-F4A9-AD7A58689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97" y="1451994"/>
            <a:ext cx="7629383" cy="4194163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8BDCE015-1749-D762-C35D-33D7E8987A84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0005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3294-1E33-28BE-837F-F1C7C270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81E31D6D-9E9B-56AE-7FF3-941928A5D8BD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873FC227-664C-9FC6-F922-0ECB45429855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Metrología</a:t>
            </a:r>
            <a:endParaRPr lang="es-CO" sz="1800" b="0" strike="noStrike" spc="-1" dirty="0">
              <a:latin typeface="Arial"/>
            </a:endParaRP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550EEA77-3470-B352-EFA2-10DAFF292243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11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8A9A6F-9BC8-20C8-8D30-C1FA9BACC6C1}"/>
              </a:ext>
            </a:extLst>
          </p:cNvPr>
          <p:cNvSpPr txBox="1">
            <a:spLocks/>
          </p:cNvSpPr>
          <p:nvPr/>
        </p:nvSpPr>
        <p:spPr>
          <a:xfrm>
            <a:off x="261360" y="607680"/>
            <a:ext cx="8229600" cy="1071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2000" dirty="0"/>
              <a:t>Hace referencia a la ciencia de la medición y sus aplicaciones, es decir que es un área del conocimiento que se enfoca en el estudio de sus aspectos teóricos y prácticos de las mediciones. 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49CB8A8D-8DEC-F241-9C0B-D8E5EE36C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00" y="1894730"/>
            <a:ext cx="2658244" cy="3560149"/>
          </a:xfrm>
          <a:prstGeom prst="rect">
            <a:avLst/>
          </a:prstGeom>
        </p:spPr>
      </p:pic>
      <p:pic>
        <p:nvPicPr>
          <p:cNvPr id="5" name="Imagen 4" descr="Sitio web&#10;&#10;El contenido generado por IA puede ser incorrecto.">
            <a:extLst>
              <a:ext uri="{FF2B5EF4-FFF2-40B4-BE49-F238E27FC236}">
                <a16:creationId xmlns:a16="http://schemas.microsoft.com/office/drawing/2014/main" id="{67C8F2C8-6D46-5B9D-3A2F-893DFF1DD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8" t="4426" r="12828" b="6819"/>
          <a:stretch>
            <a:fillRect/>
          </a:stretch>
        </p:blipFill>
        <p:spPr>
          <a:xfrm>
            <a:off x="4153874" y="2237887"/>
            <a:ext cx="4225628" cy="284005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B06FE63-4F96-17B7-652C-F31233331901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3310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984B-13FA-F0C2-3DA3-5416D4B7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8D946CAB-3AF2-298E-6F1E-2F17F97B8466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5362BF6C-0A07-050C-9211-E34959446231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Medir bien 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060C6404-9ADC-1501-15B6-0D5654C96BD7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12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FF387C-E5D3-8A23-FA17-9916252E920B}"/>
              </a:ext>
            </a:extLst>
          </p:cNvPr>
          <p:cNvSpPr/>
          <p:nvPr/>
        </p:nvSpPr>
        <p:spPr>
          <a:xfrm>
            <a:off x="406629" y="1144535"/>
            <a:ext cx="5357429" cy="37394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rPr>
              <a:t>Aumenta la confianza de los clientes.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endParaRPr lang="es-CO" dirty="0">
              <a:solidFill>
                <a:schemeClr val="tx1">
                  <a:tint val="75000"/>
                </a:schemeClr>
              </a:solidFill>
              <a:latin typeface="Gotham Book" panose="02000604040000020004" pitchFamily="50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rPr>
              <a:t>Permite asegurar la calidad del producto disminuyendo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</a:pPr>
            <a:r>
              <a:rPr lang="es-CO" dirty="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rPr>
              <a:t>     los costos de “mala calidad”.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endParaRPr lang="es-CO" dirty="0">
              <a:solidFill>
                <a:schemeClr val="tx1">
                  <a:tint val="75000"/>
                </a:schemeClr>
              </a:solidFill>
              <a:latin typeface="Gotham Book" panose="02000604040000020004" pitchFamily="50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rPr>
              <a:t>Apoya objetivamente las decisiones de mejora.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endParaRPr lang="es-CO" dirty="0">
              <a:solidFill>
                <a:schemeClr val="tx1">
                  <a:tint val="75000"/>
                </a:schemeClr>
              </a:solidFill>
              <a:latin typeface="Gotham Book" panose="02000604040000020004" pitchFamily="50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rPr>
              <a:t>Aumenta la eficiencia en el uso de recursos.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endParaRPr lang="es-CO" dirty="0">
              <a:solidFill>
                <a:schemeClr val="tx1">
                  <a:tint val="75000"/>
                </a:schemeClr>
              </a:solidFill>
              <a:latin typeface="Gotham Book" panose="02000604040000020004" pitchFamily="50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rPr>
              <a:t>Facilita la comparación en caso de controversia.</a:t>
            </a:r>
          </a:p>
        </p:txBody>
      </p:sp>
      <p:pic>
        <p:nvPicPr>
          <p:cNvPr id="3" name="Imagen 2" descr="Imagen que contiene interior, tabla, sostener, pequeño&#10;&#10;El contenido generado por IA puede ser incorrecto.">
            <a:extLst>
              <a:ext uri="{FF2B5EF4-FFF2-40B4-BE49-F238E27FC236}">
                <a16:creationId xmlns:a16="http://schemas.microsoft.com/office/drawing/2014/main" id="{E8995664-2A66-9D63-B8D0-F87D5F8FEA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2" t="12782" r="27161" b="5432"/>
          <a:stretch>
            <a:fillRect/>
          </a:stretch>
        </p:blipFill>
        <p:spPr>
          <a:xfrm>
            <a:off x="6477123" y="1981165"/>
            <a:ext cx="2028240" cy="1828454"/>
          </a:xfrm>
          <a:prstGeom prst="rect">
            <a:avLst/>
          </a:prstGeom>
        </p:spPr>
      </p:pic>
      <p:pic>
        <p:nvPicPr>
          <p:cNvPr id="4" name="Imagen 3" descr="Imagen que contiene persona, hombre, sostener, parado&#10;&#10;El contenido generado por IA puede ser incorrecto.">
            <a:extLst>
              <a:ext uri="{FF2B5EF4-FFF2-40B4-BE49-F238E27FC236}">
                <a16:creationId xmlns:a16="http://schemas.microsoft.com/office/drawing/2014/main" id="{5F078F2C-B85A-37BC-C3F7-F20494D15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561" y="3812457"/>
            <a:ext cx="2143125" cy="2143125"/>
          </a:xfrm>
          <a:prstGeom prst="rect">
            <a:avLst/>
          </a:prstGeom>
        </p:spPr>
      </p:pic>
      <p:pic>
        <p:nvPicPr>
          <p:cNvPr id="5" name="Marcador de contenido 3">
            <a:extLst>
              <a:ext uri="{FF2B5EF4-FFF2-40B4-BE49-F238E27FC236}">
                <a16:creationId xmlns:a16="http://schemas.microsoft.com/office/drawing/2014/main" id="{D8932B5D-61C4-9D0F-71AE-6F02CAA00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174" y="271874"/>
            <a:ext cx="2357842" cy="170716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6999C10-F76B-BED5-18B9-7308AA53EAAC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4580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CE68D-2D07-82BC-2551-38F780EC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ángulo 3">
            <a:extLst>
              <a:ext uri="{FF2B5EF4-FFF2-40B4-BE49-F238E27FC236}">
                <a16:creationId xmlns:a16="http://schemas.microsoft.com/office/drawing/2014/main" id="{13A4D618-D5A1-BB71-4A97-8F485C794CF5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126" name="Rectángulo 6">
            <a:extLst>
              <a:ext uri="{FF2B5EF4-FFF2-40B4-BE49-F238E27FC236}">
                <a16:creationId xmlns:a16="http://schemas.microsoft.com/office/drawing/2014/main" id="{43B22B73-3060-E0B1-9F66-1421BF3C7C12}"/>
              </a:ext>
            </a:extLst>
          </p:cNvPr>
          <p:cNvSpPr/>
          <p:nvPr/>
        </p:nvSpPr>
        <p:spPr>
          <a:xfrm>
            <a:off x="-2160" y="74520"/>
            <a:ext cx="8610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¿Qué es lo que medimos? </a:t>
            </a:r>
          </a:p>
        </p:txBody>
      </p:sp>
      <p:sp>
        <p:nvSpPr>
          <p:cNvPr id="127" name="Marcador de número de diapositiva 3">
            <a:extLst>
              <a:ext uri="{FF2B5EF4-FFF2-40B4-BE49-F238E27FC236}">
                <a16:creationId xmlns:a16="http://schemas.microsoft.com/office/drawing/2014/main" id="{B4B48D03-8D84-20BE-5CAE-360D1819A73A}"/>
              </a:ext>
            </a:extLst>
          </p:cNvPr>
          <p:cNvSpPr/>
          <p:nvPr/>
        </p:nvSpPr>
        <p:spPr>
          <a:xfrm>
            <a:off x="8799840" y="5886000"/>
            <a:ext cx="29304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3406952-039C-4CC7-9D9F-ED3737A81DCC}" type="slidenum">
              <a:rPr lang="es-CO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13</a:t>
            </a:fld>
            <a:endParaRPr lang="es-CO" sz="1200" b="0" strike="noStrike" spc="-1">
              <a:latin typeface="Arial"/>
            </a:endParaRP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02D8B8D5-B197-8FCE-4B0D-3DE35134997A}"/>
              </a:ext>
            </a:extLst>
          </p:cNvPr>
          <p:cNvSpPr txBox="1">
            <a:spLocks/>
          </p:cNvSpPr>
          <p:nvPr/>
        </p:nvSpPr>
        <p:spPr>
          <a:xfrm>
            <a:off x="44742" y="902081"/>
            <a:ext cx="4040188" cy="47982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/>
              <a:t>Mesurando… magnitud que se desea medir.</a:t>
            </a:r>
            <a:endParaRPr lang="es-CO" dirty="0"/>
          </a:p>
        </p:txBody>
      </p:sp>
      <p:sp>
        <p:nvSpPr>
          <p:cNvPr id="18" name="Marcador de contenido 3">
            <a:extLst>
              <a:ext uri="{FF2B5EF4-FFF2-40B4-BE49-F238E27FC236}">
                <a16:creationId xmlns:a16="http://schemas.microsoft.com/office/drawing/2014/main" id="{C1C98370-91DE-2864-739B-D8D477BF417B}"/>
              </a:ext>
            </a:extLst>
          </p:cNvPr>
          <p:cNvSpPr txBox="1">
            <a:spLocks/>
          </p:cNvSpPr>
          <p:nvPr/>
        </p:nvSpPr>
        <p:spPr>
          <a:xfrm>
            <a:off x="423671" y="2129001"/>
            <a:ext cx="4040188" cy="381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dirty="0"/>
              <a:t>Respecto a la medición de hidrocarburos, algunos ejemplos son:</a:t>
            </a:r>
          </a:p>
          <a:p>
            <a:endParaRPr lang="es-CO" sz="1600" dirty="0"/>
          </a:p>
          <a:p>
            <a:endParaRPr lang="es-CO" sz="1800" dirty="0"/>
          </a:p>
          <a:p>
            <a:r>
              <a:rPr lang="es-CO" sz="1800" dirty="0"/>
              <a:t>Flujo de gas</a:t>
            </a:r>
          </a:p>
          <a:p>
            <a:r>
              <a:rPr lang="es-CO" sz="1800" dirty="0"/>
              <a:t>Flujo de aceite</a:t>
            </a:r>
          </a:p>
          <a:p>
            <a:r>
              <a:rPr lang="es-CO" sz="1800" dirty="0"/>
              <a:t>Presión</a:t>
            </a:r>
          </a:p>
          <a:p>
            <a:r>
              <a:rPr lang="es-CO" sz="1800" dirty="0"/>
              <a:t>Temperatura</a:t>
            </a:r>
          </a:p>
          <a:p>
            <a:r>
              <a:rPr lang="es-CO" sz="1800" dirty="0"/>
              <a:t>Densidad</a:t>
            </a:r>
          </a:p>
          <a:p>
            <a:r>
              <a:rPr lang="es-CO" sz="1800" dirty="0"/>
              <a:t>Viscosidad</a:t>
            </a:r>
          </a:p>
          <a:p>
            <a:r>
              <a:rPr lang="es-CO" sz="1800" dirty="0"/>
              <a:t>Volumen</a:t>
            </a:r>
          </a:p>
        </p:txBody>
      </p:sp>
      <p:sp>
        <p:nvSpPr>
          <p:cNvPr id="19" name="Marcador de contenido 5">
            <a:extLst>
              <a:ext uri="{FF2B5EF4-FFF2-40B4-BE49-F238E27FC236}">
                <a16:creationId xmlns:a16="http://schemas.microsoft.com/office/drawing/2014/main" id="{6501C808-0259-EA84-F5AF-46533C9AA512}"/>
              </a:ext>
            </a:extLst>
          </p:cNvPr>
          <p:cNvSpPr txBox="1">
            <a:spLocks/>
          </p:cNvSpPr>
          <p:nvPr/>
        </p:nvSpPr>
        <p:spPr>
          <a:xfrm>
            <a:off x="4381562" y="2109921"/>
            <a:ext cx="4041775" cy="381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dirty="0"/>
              <a:t>En el laboratorio en calidad de Medio Ambiente, algunos ejemplos son:</a:t>
            </a:r>
          </a:p>
          <a:p>
            <a:endParaRPr lang="es-CO" sz="1600" dirty="0"/>
          </a:p>
          <a:p>
            <a:endParaRPr lang="es-CO" sz="1600" dirty="0"/>
          </a:p>
          <a:p>
            <a:endParaRPr lang="es-CO" sz="1600" dirty="0"/>
          </a:p>
          <a:p>
            <a:endParaRPr lang="es-CO" sz="1600" dirty="0"/>
          </a:p>
          <a:p>
            <a:r>
              <a:rPr lang="es-CO" sz="1800" dirty="0"/>
              <a:t>Agua y Sedimentos</a:t>
            </a:r>
          </a:p>
          <a:p>
            <a:r>
              <a:rPr lang="es-CO" sz="1800" dirty="0"/>
              <a:t>Sólidos</a:t>
            </a:r>
          </a:p>
          <a:p>
            <a:r>
              <a:rPr lang="es-CO" sz="1800" dirty="0"/>
              <a:t>Azufre</a:t>
            </a:r>
          </a:p>
          <a:p>
            <a:r>
              <a:rPr lang="es-CO" sz="1800" dirty="0"/>
              <a:t>Espectrofotometría</a:t>
            </a:r>
          </a:p>
          <a:p>
            <a:r>
              <a:rPr lang="es-CO" sz="1800" dirty="0"/>
              <a:t>Cromatografía.</a:t>
            </a:r>
          </a:p>
        </p:txBody>
      </p: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BE68B6C1-74CE-219B-1FC2-D2038CCEAF52}"/>
              </a:ext>
            </a:extLst>
          </p:cNvPr>
          <p:cNvSpPr/>
          <p:nvPr/>
        </p:nvSpPr>
        <p:spPr>
          <a:xfrm>
            <a:off x="2321487" y="3429000"/>
            <a:ext cx="244555" cy="236125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F67E809-83C9-B906-53FD-C42C38DCF7E7}"/>
              </a:ext>
            </a:extLst>
          </p:cNvPr>
          <p:cNvSpPr txBox="1"/>
          <p:nvPr/>
        </p:nvSpPr>
        <p:spPr>
          <a:xfrm>
            <a:off x="2741552" y="4420786"/>
            <a:ext cx="113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/>
              <a:t>Cantidad</a:t>
            </a:r>
          </a:p>
        </p:txBody>
      </p:sp>
      <p:sp>
        <p:nvSpPr>
          <p:cNvPr id="22" name="Cerrar llave 21">
            <a:extLst>
              <a:ext uri="{FF2B5EF4-FFF2-40B4-BE49-F238E27FC236}">
                <a16:creationId xmlns:a16="http://schemas.microsoft.com/office/drawing/2014/main" id="{FA48F3E1-00DD-2A9B-B072-190A2C81DB47}"/>
              </a:ext>
            </a:extLst>
          </p:cNvPr>
          <p:cNvSpPr/>
          <p:nvPr/>
        </p:nvSpPr>
        <p:spPr>
          <a:xfrm>
            <a:off x="7149155" y="3687623"/>
            <a:ext cx="263243" cy="18664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15E6088-6EBF-9137-5FBA-95F97BC087DE}"/>
              </a:ext>
            </a:extLst>
          </p:cNvPr>
          <p:cNvSpPr txBox="1"/>
          <p:nvPr/>
        </p:nvSpPr>
        <p:spPr>
          <a:xfrm>
            <a:off x="7998625" y="4420786"/>
            <a:ext cx="9749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/>
              <a:t>Calidad</a:t>
            </a:r>
          </a:p>
        </p:txBody>
      </p:sp>
      <p:pic>
        <p:nvPicPr>
          <p:cNvPr id="24" name="Imagen 23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26AB6B28-5C37-F149-A9E0-69F4CB8E5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" r="3608"/>
          <a:stretch>
            <a:fillRect/>
          </a:stretch>
        </p:blipFill>
        <p:spPr>
          <a:xfrm>
            <a:off x="5171488" y="355519"/>
            <a:ext cx="3437192" cy="1026384"/>
          </a:xfrm>
          <a:prstGeom prst="rect">
            <a:avLst/>
          </a:prstGeom>
        </p:spPr>
      </p:pic>
      <p:sp>
        <p:nvSpPr>
          <p:cNvPr id="26" name="Título 1">
            <a:extLst>
              <a:ext uri="{FF2B5EF4-FFF2-40B4-BE49-F238E27FC236}">
                <a16:creationId xmlns:a16="http://schemas.microsoft.com/office/drawing/2014/main" id="{9784F283-8A9D-1E13-B0F1-723BD24783E8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10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4006-484F-61DF-FF93-3E75CE1D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ángulo 3">
            <a:extLst>
              <a:ext uri="{FF2B5EF4-FFF2-40B4-BE49-F238E27FC236}">
                <a16:creationId xmlns:a16="http://schemas.microsoft.com/office/drawing/2014/main" id="{F51293C7-AC66-FC4C-77D6-51AB2AAF5631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322" name="Rectángulo 6">
            <a:extLst>
              <a:ext uri="{FF2B5EF4-FFF2-40B4-BE49-F238E27FC236}">
                <a16:creationId xmlns:a16="http://schemas.microsoft.com/office/drawing/2014/main" id="{745EEC66-876A-D104-FB07-FF733096812A}"/>
              </a:ext>
            </a:extLst>
          </p:cNvPr>
          <p:cNvSpPr/>
          <p:nvPr/>
        </p:nvSpPr>
        <p:spPr>
          <a:xfrm>
            <a:off x="-2160" y="74520"/>
            <a:ext cx="7435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¿Para qué sirve la metrología?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E0ED77-208A-D2D2-D61D-581411A7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6721"/>
            <a:ext cx="4190393" cy="330575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9D99BE-49A0-AC7F-504F-1AF9E7209B5E}"/>
              </a:ext>
            </a:extLst>
          </p:cNvPr>
          <p:cNvSpPr txBox="1">
            <a:spLocks/>
          </p:cNvSpPr>
          <p:nvPr/>
        </p:nvSpPr>
        <p:spPr>
          <a:xfrm>
            <a:off x="425967" y="891990"/>
            <a:ext cx="3625382" cy="5492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CO" sz="1600" dirty="0"/>
          </a:p>
          <a:p>
            <a:r>
              <a:rPr lang="es-ES" sz="1600" dirty="0"/>
              <a:t>La </a:t>
            </a:r>
            <a:r>
              <a:rPr lang="es-ES" sz="1600" b="1" dirty="0"/>
              <a:t>metrología</a:t>
            </a:r>
            <a:r>
              <a:rPr lang="es-ES" sz="1600" dirty="0"/>
              <a:t> es la ciencia de la medición y juega un papel fundamental en la </a:t>
            </a:r>
            <a:r>
              <a:rPr lang="es-ES" sz="1600" b="1" dirty="0"/>
              <a:t>precisión y confiabilidad </a:t>
            </a:r>
            <a:r>
              <a:rPr lang="es-ES" sz="1600" dirty="0"/>
              <a:t>de los procesos industriales, científicos y comerciales. Su propósito principal es garantizar que las mediciones sean </a:t>
            </a:r>
            <a:r>
              <a:rPr lang="es-ES" sz="1600" b="1" dirty="0"/>
              <a:t>exactas, repetibles y trazables</a:t>
            </a:r>
            <a:r>
              <a:rPr lang="es-ES" sz="1600" dirty="0"/>
              <a:t>, lo que permite la comparación de resultados a nivel global.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La metrología es clave para la </a:t>
            </a:r>
            <a:r>
              <a:rPr lang="es-ES" sz="1600" b="1" dirty="0"/>
              <a:t>calibración</a:t>
            </a:r>
            <a:r>
              <a:rPr lang="es-ES" sz="1600" dirty="0"/>
              <a:t> </a:t>
            </a:r>
            <a:r>
              <a:rPr lang="es-ES" sz="1600" b="1" dirty="0"/>
              <a:t>de instrumentos</a:t>
            </a:r>
            <a:r>
              <a:rPr lang="es-ES" sz="1600" dirty="0"/>
              <a:t>, asegurando que los dispositivos de medición funcionen correctamente y </a:t>
            </a:r>
            <a:r>
              <a:rPr lang="es-ES" sz="1600" b="1" dirty="0"/>
              <a:t>con precisión</a:t>
            </a:r>
            <a:r>
              <a:rPr lang="es-ES" sz="1600" dirty="0"/>
              <a:t>. También está vinculada a la </a:t>
            </a:r>
            <a:r>
              <a:rPr lang="es-ES" sz="1600" b="1" dirty="0"/>
              <a:t>trazabilidad</a:t>
            </a:r>
            <a:r>
              <a:rPr lang="es-ES" sz="1600" dirty="0"/>
              <a:t>, que permite relacionar los resultados de medición con estándares internacionales</a:t>
            </a:r>
          </a:p>
          <a:p>
            <a:endParaRPr lang="es-ES" sz="16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61CD141-C460-3EB7-3181-9C5C7E40E139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600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A9D7B-1376-E35B-42AA-DCCA9CF2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ángulo 3">
            <a:extLst>
              <a:ext uri="{FF2B5EF4-FFF2-40B4-BE49-F238E27FC236}">
                <a16:creationId xmlns:a16="http://schemas.microsoft.com/office/drawing/2014/main" id="{A73A4721-8C09-FBEC-80AC-08D5302DE0B3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322" name="Rectángulo 6">
            <a:extLst>
              <a:ext uri="{FF2B5EF4-FFF2-40B4-BE49-F238E27FC236}">
                <a16:creationId xmlns:a16="http://schemas.microsoft.com/office/drawing/2014/main" id="{2EA8757B-5AC9-35C6-1B50-FEB50A94E5F4}"/>
              </a:ext>
            </a:extLst>
          </p:cNvPr>
          <p:cNvSpPr/>
          <p:nvPr/>
        </p:nvSpPr>
        <p:spPr>
          <a:xfrm>
            <a:off x="-2160" y="74520"/>
            <a:ext cx="74354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Importancia de la Metrología </a:t>
            </a:r>
          </a:p>
          <a:p>
            <a:pPr>
              <a:lnSpc>
                <a:spcPct val="100000"/>
              </a:lnSpc>
              <a:buNone/>
            </a:pPr>
            <a:endParaRPr lang="es-CO" sz="1800" b="0" strike="noStrike" spc="-1" dirty="0">
              <a:latin typeface="Arial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8DDB0B5C-E919-45DA-137D-61BFADF3D5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4" b="7200"/>
          <a:stretch>
            <a:fillRect/>
          </a:stretch>
        </p:blipFill>
        <p:spPr>
          <a:xfrm>
            <a:off x="20160" y="782037"/>
            <a:ext cx="5382144" cy="4849091"/>
          </a:xfrm>
          <a:prstGeom prst="rect">
            <a:avLst/>
          </a:prstGeom>
        </p:spPr>
      </p:pic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06E568C-94E8-DB38-576F-96F7FB11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796" y="3798015"/>
            <a:ext cx="1824967" cy="194987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667E1B4-7F78-543E-40E1-C3AB569007E8}"/>
              </a:ext>
            </a:extLst>
          </p:cNvPr>
          <p:cNvSpPr txBox="1"/>
          <p:nvPr/>
        </p:nvSpPr>
        <p:spPr>
          <a:xfrm>
            <a:off x="5400463" y="1498565"/>
            <a:ext cx="3713354" cy="15614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s-CO"/>
            </a:defPPr>
            <a:lvl1pPr indent="0" algn="just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1800" dirty="0"/>
              <a:t>La metrología acompaña y precede en muchos casos a los avances científicos. Todo esto tiene lugar cuando se establece con firmeza la </a:t>
            </a:r>
            <a:r>
              <a:rPr lang="es-CO" sz="1800" b="1" dirty="0"/>
              <a:t>superioridad del método experimental frente a la especulación</a:t>
            </a:r>
            <a:r>
              <a:rPr lang="es-CO" sz="1800" dirty="0"/>
              <a:t>.</a:t>
            </a:r>
          </a:p>
        </p:txBody>
      </p:sp>
      <p:sp>
        <p:nvSpPr>
          <p:cNvPr id="6" name="Pergamino: vertical 5">
            <a:extLst>
              <a:ext uri="{FF2B5EF4-FFF2-40B4-BE49-F238E27FC236}">
                <a16:creationId xmlns:a16="http://schemas.microsoft.com/office/drawing/2014/main" id="{33853EF3-553E-1955-43C9-1F96FFA3DF54}"/>
              </a:ext>
            </a:extLst>
          </p:cNvPr>
          <p:cNvSpPr/>
          <p:nvPr/>
        </p:nvSpPr>
        <p:spPr>
          <a:xfrm rot="5400000">
            <a:off x="452348" y="4213343"/>
            <a:ext cx="512956" cy="659781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48E3AD0-6E5D-E95D-B0CD-A02BB22DFDFC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9554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5C58E-BABB-47AF-C158-3F54F6D7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ángulo 3">
            <a:extLst>
              <a:ext uri="{FF2B5EF4-FFF2-40B4-BE49-F238E27FC236}">
                <a16:creationId xmlns:a16="http://schemas.microsoft.com/office/drawing/2014/main" id="{014690D2-BDB0-3697-6ECD-2FADDBDE1E05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322" name="Rectángulo 6">
            <a:extLst>
              <a:ext uri="{FF2B5EF4-FFF2-40B4-BE49-F238E27FC236}">
                <a16:creationId xmlns:a16="http://schemas.microsoft.com/office/drawing/2014/main" id="{A93FC2FF-6F00-110E-DE0C-57BA130CE0D0}"/>
              </a:ext>
            </a:extLst>
          </p:cNvPr>
          <p:cNvSpPr/>
          <p:nvPr/>
        </p:nvSpPr>
        <p:spPr>
          <a:xfrm>
            <a:off x="-2160" y="74520"/>
            <a:ext cx="7435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Pilares de la metrología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0FBFAA-2436-4E14-289E-213734DF0FA8}"/>
              </a:ext>
            </a:extLst>
          </p:cNvPr>
          <p:cNvSpPr txBox="1">
            <a:spLocks/>
          </p:cNvSpPr>
          <p:nvPr/>
        </p:nvSpPr>
        <p:spPr>
          <a:xfrm>
            <a:off x="3558161" y="907446"/>
            <a:ext cx="2467887" cy="43135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900" b="1" dirty="0"/>
              <a:t>Metrología Científica </a:t>
            </a:r>
          </a:p>
          <a:p>
            <a:pPr algn="just"/>
            <a:endParaRPr lang="es-CO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CO" sz="2600" dirty="0"/>
              <a:t>SI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CO" sz="2600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CO" sz="2600" dirty="0"/>
              <a:t>Unidades de medición y patrones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CO" sz="2600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CO" sz="2600" dirty="0"/>
              <a:t>Métodos de medición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CO" sz="2600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CO" sz="2600" dirty="0"/>
              <a:t>Exactitud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CO" sz="2600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CO" sz="2600" dirty="0"/>
              <a:t>Incertidumbre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CO" sz="2600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CO" sz="2600" dirty="0"/>
              <a:t>Instrumentos de medición</a:t>
            </a:r>
          </a:p>
          <a:p>
            <a:pPr algn="just"/>
            <a:r>
              <a:rPr lang="es-CO" sz="26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CO" sz="2600" dirty="0"/>
              <a:t>Capacidad del personal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5BE2B2-98A6-C50C-44EC-C5CB03CE2643}"/>
              </a:ext>
            </a:extLst>
          </p:cNvPr>
          <p:cNvSpPr txBox="1"/>
          <p:nvPr/>
        </p:nvSpPr>
        <p:spPr>
          <a:xfrm>
            <a:off x="94406" y="754106"/>
            <a:ext cx="3008558" cy="46202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defPPr>
              <a:defRPr lang="es-CO"/>
            </a:defPPr>
            <a:lvl1pPr indent="0" algn="ctr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9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2000" b="1" dirty="0"/>
              <a:t>Metrología Industrial</a:t>
            </a:r>
          </a:p>
          <a:p>
            <a:endParaRPr lang="es-CO" sz="20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800" dirty="0"/>
              <a:t>Actividades metrológicas que necesita la industria para cumplir con tareas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s-CO" sz="18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800" dirty="0"/>
              <a:t>Informaciones sobre mediciones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s-CO" sz="18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800" dirty="0"/>
              <a:t>Calibraciones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s-CO" sz="18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800" dirty="0"/>
              <a:t>Trazabilidad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s-CO" sz="18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800" dirty="0"/>
              <a:t>Servicio de calibración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s-CO" sz="18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800" dirty="0"/>
              <a:t>Aseguramiento de la calidad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FDC70B-43A7-3724-C3A9-E595F4F4947F}"/>
              </a:ext>
            </a:extLst>
          </p:cNvPr>
          <p:cNvSpPr txBox="1"/>
          <p:nvPr/>
        </p:nvSpPr>
        <p:spPr>
          <a:xfrm>
            <a:off x="6463361" y="1386583"/>
            <a:ext cx="2586233" cy="3355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s-CO"/>
            </a:defPPr>
            <a:lvl1pPr indent="0" algn="ctr">
              <a:lnSpc>
                <a:spcPct val="90000"/>
              </a:lnSpc>
              <a:spcBef>
                <a:spcPts val="10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9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Clr>
                <a:srgbClr val="5BBBB7"/>
              </a:buClr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Gotham Book" panose="02000604040000020004" pitchFamily="50" charset="0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CO" sz="2000" b="1" dirty="0"/>
              <a:t>Metrología Legal</a:t>
            </a:r>
          </a:p>
          <a:p>
            <a:endParaRPr lang="es-CO" sz="20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600" dirty="0"/>
              <a:t>Uniformidad en las medidas y unidades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s-CO" sz="16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600" dirty="0"/>
              <a:t>Intercambio justo entre mercancías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s-CO" sz="16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O" sz="1600" dirty="0"/>
              <a:t>Facilitación de patrones trazables para la industria</a:t>
            </a:r>
          </a:p>
          <a:p>
            <a:endParaRPr lang="es-CO" sz="2000" dirty="0"/>
          </a:p>
          <a:p>
            <a:endParaRPr lang="es-CO" sz="2000" dirty="0"/>
          </a:p>
          <a:p>
            <a:endParaRPr lang="es-CO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3CF6DF-99CB-5A29-8BFD-AF2B355CD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71" y="5137778"/>
            <a:ext cx="2709123" cy="613073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08A7116B-9B79-8251-E3AA-89218E39F032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2989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324DA-A21D-9CBF-8A48-6AAA2B5C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19E3BEF-8241-D6EF-20A8-EC71D9E3F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201" y="4442439"/>
            <a:ext cx="1724552" cy="1027067"/>
          </a:xfrm>
          <a:prstGeom prst="rect">
            <a:avLst/>
          </a:prstGeom>
        </p:spPr>
      </p:pic>
      <p:sp>
        <p:nvSpPr>
          <p:cNvPr id="320" name="Rectángulo 3">
            <a:extLst>
              <a:ext uri="{FF2B5EF4-FFF2-40B4-BE49-F238E27FC236}">
                <a16:creationId xmlns:a16="http://schemas.microsoft.com/office/drawing/2014/main" id="{269DEF3D-80CB-8F42-0D6F-74AAF90F2A7C}"/>
              </a:ext>
            </a:extLst>
          </p:cNvPr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322" name="Rectángulo 6">
            <a:extLst>
              <a:ext uri="{FF2B5EF4-FFF2-40B4-BE49-F238E27FC236}">
                <a16:creationId xmlns:a16="http://schemas.microsoft.com/office/drawing/2014/main" id="{267171E4-1574-48A7-3127-19DCDAA6B8BB}"/>
              </a:ext>
            </a:extLst>
          </p:cNvPr>
          <p:cNvSpPr/>
          <p:nvPr/>
        </p:nvSpPr>
        <p:spPr>
          <a:xfrm>
            <a:off x="-2160" y="74520"/>
            <a:ext cx="74354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Estándares </a:t>
            </a:r>
          </a:p>
          <a:p>
            <a:pPr>
              <a:lnSpc>
                <a:spcPct val="100000"/>
              </a:lnSpc>
              <a:buNone/>
            </a:pPr>
            <a:endParaRPr lang="es-CO" sz="1800" b="0" strike="noStrike" spc="-1" dirty="0">
              <a:latin typeface="Arial"/>
            </a:endParaRPr>
          </a:p>
        </p:txBody>
      </p:sp>
      <p:graphicFrame>
        <p:nvGraphicFramePr>
          <p:cNvPr id="2" name="Marcador de contenido 3">
            <a:extLst>
              <a:ext uri="{FF2B5EF4-FFF2-40B4-BE49-F238E27FC236}">
                <a16:creationId xmlns:a16="http://schemas.microsoft.com/office/drawing/2014/main" id="{4FF7B4B7-ADC6-87CA-2D13-922E6E8114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6636429"/>
              </p:ext>
            </p:extLst>
          </p:nvPr>
        </p:nvGraphicFramePr>
        <p:xfrm>
          <a:off x="1630374" y="1245725"/>
          <a:ext cx="6168885" cy="4366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F49F042-1C0A-1B78-C028-00761C8FDC12}"/>
              </a:ext>
            </a:extLst>
          </p:cNvPr>
          <p:cNvCxnSpPr>
            <a:cxnSpLocks/>
          </p:cNvCxnSpPr>
          <p:nvPr/>
        </p:nvCxnSpPr>
        <p:spPr>
          <a:xfrm flipV="1">
            <a:off x="1898748" y="2749456"/>
            <a:ext cx="1444796" cy="1923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71F9B764-DFFC-837F-6E59-FDE85CF249DE}"/>
              </a:ext>
            </a:extLst>
          </p:cNvPr>
          <p:cNvSpPr txBox="1"/>
          <p:nvPr/>
        </p:nvSpPr>
        <p:spPr>
          <a:xfrm rot="18428490">
            <a:off x="1747272" y="3346198"/>
            <a:ext cx="135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Trazabilidad 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CA67602-2893-A9CF-4321-45574DD8248C}"/>
              </a:ext>
            </a:extLst>
          </p:cNvPr>
          <p:cNvCxnSpPr>
            <a:cxnSpLocks/>
          </p:cNvCxnSpPr>
          <p:nvPr/>
        </p:nvCxnSpPr>
        <p:spPr>
          <a:xfrm>
            <a:off x="5607851" y="2244492"/>
            <a:ext cx="1582675" cy="2118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D313BE5-68D9-7F0E-AC0A-5FE6B86FA011}"/>
              </a:ext>
            </a:extLst>
          </p:cNvPr>
          <p:cNvSpPr txBox="1"/>
          <p:nvPr/>
        </p:nvSpPr>
        <p:spPr>
          <a:xfrm rot="3185846">
            <a:off x="5905361" y="2907580"/>
            <a:ext cx="122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Calibración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2FC8F4-9D8D-E8FE-5B82-4F25C1DF1A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682" y="783839"/>
            <a:ext cx="3677970" cy="674947"/>
          </a:xfrm>
          <a:prstGeom prst="rect">
            <a:avLst/>
          </a:prstGeom>
        </p:spPr>
      </p:pic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BB9E62CC-E3A3-6921-6C8C-D002C1136E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6146" y="250402"/>
            <a:ext cx="2188172" cy="1247258"/>
          </a:xfrm>
          <a:prstGeom prst="rect">
            <a:avLst/>
          </a:prstGeom>
        </p:spPr>
      </p:pic>
      <p:pic>
        <p:nvPicPr>
          <p:cNvPr id="9" name="Imagen 8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1CB0908E-6891-BEA6-A243-49FC6BD0C4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60" y="5058326"/>
            <a:ext cx="1531434" cy="683450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93865949-7E4A-0AC1-A924-E0E0BE6D8765}"/>
              </a:ext>
            </a:extLst>
          </p:cNvPr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8484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ángulo 3"/>
          <p:cNvSpPr/>
          <p:nvPr/>
        </p:nvSpPr>
        <p:spPr>
          <a:xfrm>
            <a:off x="261360" y="6076800"/>
            <a:ext cx="6510240" cy="570960"/>
          </a:xfrm>
          <a:prstGeom prst="rect">
            <a:avLst/>
          </a:prstGeom>
          <a:solidFill>
            <a:srgbClr val="2C5697"/>
          </a:solidFill>
          <a:ln>
            <a:solidFill>
              <a:srgbClr val="2C569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CO"/>
          </a:p>
        </p:txBody>
      </p:sp>
      <p:sp>
        <p:nvSpPr>
          <p:cNvPr id="321" name="Título 1"/>
          <p:cNvSpPr/>
          <p:nvPr/>
        </p:nvSpPr>
        <p:spPr>
          <a:xfrm>
            <a:off x="20160" y="6139440"/>
            <a:ext cx="4936320" cy="4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_tradnl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Fundamentos de medidas</a:t>
            </a:r>
            <a:endParaRPr lang="es-CO" sz="1600" b="0" strike="noStrike" spc="-1" dirty="0">
              <a:latin typeface="Arial"/>
            </a:endParaRPr>
          </a:p>
        </p:txBody>
      </p:sp>
      <p:sp>
        <p:nvSpPr>
          <p:cNvPr id="322" name="Rectángulo 6"/>
          <p:cNvSpPr/>
          <p:nvPr/>
        </p:nvSpPr>
        <p:spPr>
          <a:xfrm>
            <a:off x="1573920" y="2845679"/>
            <a:ext cx="74354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3200" b="1" strike="noStrike" spc="-1" dirty="0">
                <a:solidFill>
                  <a:srgbClr val="2C5697"/>
                </a:solidFill>
                <a:latin typeface="Arial"/>
                <a:ea typeface="DejaVu Sans"/>
              </a:rPr>
              <a:t>Muchas gracias por su atención</a:t>
            </a:r>
            <a:endParaRPr lang="es-CO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3358</TotalTime>
  <Words>699</Words>
  <Application>Microsoft Office PowerPoint</Application>
  <PresentationFormat>Presentación en pantalla (4:3)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Calibri</vt:lpstr>
      <vt:lpstr>Gotham Book</vt:lpstr>
      <vt:lpstr>Symbol</vt:lpstr>
      <vt:lpstr>Wingdings</vt:lpstr>
      <vt:lpstr>Office Theme</vt:lpstr>
      <vt:lpstr>Office Theme</vt:lpstr>
      <vt:lpstr>Introducción a instrumentación biomédica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Vistad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1_Fundamentos_señales</dc:title>
  <dc:subject/>
  <dc:creator>Jenny Rojas</dc:creator>
  <dc:description/>
  <cp:lastModifiedBy>Pedro Antonio Aya Parra</cp:lastModifiedBy>
  <cp:revision>1825</cp:revision>
  <dcterms:created xsi:type="dcterms:W3CDTF">2018-06-28T02:15:01Z</dcterms:created>
  <dcterms:modified xsi:type="dcterms:W3CDTF">2025-07-25T01:12:35Z</dcterms:modified>
  <dc:language>es-CO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0x01010092900F3A557F714198AE6C43099F60F5</vt:lpwstr>
  </property>
  <property fmtid="{D5CDD505-2E9C-101B-9397-08002B2CF9AE}" pid="3" name="Notes">
    <vt:i4>19</vt:i4>
  </property>
  <property fmtid="{D5CDD505-2E9C-101B-9397-08002B2CF9AE}" pid="4" name="PresentationFormat">
    <vt:lpwstr>Presentación en pantalla (4:3)</vt:lpwstr>
  </property>
  <property fmtid="{D5CDD505-2E9C-101B-9397-08002B2CF9AE}" pid="5" name="Slides">
    <vt:i4>21</vt:i4>
  </property>
</Properties>
</file>