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61" r:id="rId4"/>
    <p:sldId id="262" r:id="rId5"/>
    <p:sldId id="263" r:id="rId6"/>
    <p:sldId id="278" r:id="rId7"/>
    <p:sldId id="264" r:id="rId8"/>
    <p:sldId id="257" r:id="rId9"/>
    <p:sldId id="265" r:id="rId10"/>
    <p:sldId id="280" r:id="rId11"/>
    <p:sldId id="258" r:id="rId12"/>
    <p:sldId id="259" r:id="rId13"/>
    <p:sldId id="281" r:id="rId14"/>
    <p:sldId id="260" r:id="rId15"/>
    <p:sldId id="266" r:id="rId16"/>
    <p:sldId id="267" r:id="rId17"/>
    <p:sldId id="268" r:id="rId18"/>
    <p:sldId id="269" r:id="rId19"/>
    <p:sldId id="282" r:id="rId20"/>
    <p:sldId id="270" r:id="rId21"/>
    <p:sldId id="271" r:id="rId22"/>
    <p:sldId id="272" r:id="rId23"/>
    <p:sldId id="273" r:id="rId24"/>
    <p:sldId id="274" r:id="rId25"/>
    <p:sldId id="275" r:id="rId26"/>
    <p:sldId id="276" r:id="rId27"/>
    <p:sldId id="279" r:id="rId28"/>
    <p:sldId id="277" r:id="rId29"/>
  </p:sldIdLst>
  <p:sldSz cx="9144000" cy="6858000" type="screen4x3"/>
  <p:notesSz cx="7772400" cy="100584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5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Rodriguez Dueñas" userId="ba4d89e2-4f4b-4d11-bd59-56b1da6828aa" providerId="ADAL" clId="{53705757-7313-45B9-8EDA-54C25F09D9BA}"/>
    <pc:docChg chg="modSld sldOrd">
      <pc:chgData name="William Ricardo Rodriguez Dueñas" userId="ba4d89e2-4f4b-4d11-bd59-56b1da6828aa" providerId="ADAL" clId="{53705757-7313-45B9-8EDA-54C25F09D9BA}" dt="2025-01-24T16:17:15.070" v="0"/>
      <pc:docMkLst>
        <pc:docMk/>
      </pc:docMkLst>
      <pc:sldChg chg="ord">
        <pc:chgData name="William Ricardo Rodriguez Dueñas" userId="ba4d89e2-4f4b-4d11-bd59-56b1da6828aa" providerId="ADAL" clId="{53705757-7313-45B9-8EDA-54C25F09D9BA}" dt="2025-01-24T16:17:15.070" v="0"/>
        <pc:sldMkLst>
          <pc:docMk/>
          <pc:sldMk cId="0" sldId="261"/>
        </pc:sldMkLst>
      </pc:sldChg>
      <pc:sldChg chg="ord">
        <pc:chgData name="William Ricardo Rodriguez Dueñas" userId="ba4d89e2-4f4b-4d11-bd59-56b1da6828aa" providerId="ADAL" clId="{53705757-7313-45B9-8EDA-54C25F09D9BA}" dt="2025-01-24T16:17:15.070" v="0"/>
        <pc:sldMkLst>
          <pc:docMk/>
          <pc:sldMk cId="0" sldId="262"/>
        </pc:sldMkLst>
      </pc:sldChg>
      <pc:sldChg chg="ord">
        <pc:chgData name="William Ricardo Rodriguez Dueñas" userId="ba4d89e2-4f4b-4d11-bd59-56b1da6828aa" providerId="ADAL" clId="{53705757-7313-45B9-8EDA-54C25F09D9BA}" dt="2025-01-24T16:17:15.070" v="0"/>
        <pc:sldMkLst>
          <pc:docMk/>
          <pc:sldMk cId="0" sldId="263"/>
        </pc:sldMkLst>
      </pc:sldChg>
      <pc:sldChg chg="ord">
        <pc:chgData name="William Ricardo Rodriguez Dueñas" userId="ba4d89e2-4f4b-4d11-bd59-56b1da6828aa" providerId="ADAL" clId="{53705757-7313-45B9-8EDA-54C25F09D9BA}" dt="2025-01-24T16:17:15.070" v="0"/>
        <pc:sldMkLst>
          <pc:docMk/>
          <pc:sldMk cId="0" sldId="264"/>
        </pc:sldMkLst>
      </pc:sldChg>
      <pc:sldChg chg="ord">
        <pc:chgData name="William Ricardo Rodriguez Dueñas" userId="ba4d89e2-4f4b-4d11-bd59-56b1da6828aa" providerId="ADAL" clId="{53705757-7313-45B9-8EDA-54C25F09D9BA}" dt="2025-01-24T16:17:15.070" v="0"/>
        <pc:sldMkLst>
          <pc:docMk/>
          <pc:sldMk cId="0"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1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1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1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2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2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3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3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3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4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4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4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5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s-CO"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5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5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62"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4"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6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68"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0"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1"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6"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s-CO" sz="4400" b="0" strike="noStrike" spc="-1">
              <a:latin typeface="Arial"/>
            </a:endParaRPr>
          </a:p>
        </p:txBody>
      </p:sp>
      <p:sp>
        <p:nvSpPr>
          <p:cNvPr id="78"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79"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0"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1"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2"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
        <p:nvSpPr>
          <p:cNvPr id="83"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s-CO"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n 11" descr="cuadrado_azul.png"/>
          <p:cNvPicPr/>
          <p:nvPr/>
        </p:nvPicPr>
        <p:blipFill>
          <a:blip r:embed="rId14"/>
          <a:stretch/>
        </p:blipFill>
        <p:spPr>
          <a:xfrm>
            <a:off x="-18000" y="5860440"/>
            <a:ext cx="9179280" cy="1007280"/>
          </a:xfrm>
          <a:prstGeom prst="rect">
            <a:avLst/>
          </a:prstGeom>
          <a:ln w="0">
            <a:noFill/>
          </a:ln>
        </p:spPr>
      </p:pic>
      <p:pic>
        <p:nvPicPr>
          <p:cNvPr id="7" name="Imagen 12" descr="escudoPUJ_lateral.eps"/>
          <p:cNvPicPr/>
          <p:nvPr/>
        </p:nvPicPr>
        <p:blipFill>
          <a:blip r:embed="rId15"/>
          <a:stretch/>
        </p:blipFill>
        <p:spPr>
          <a:xfrm>
            <a:off x="6993720" y="5914440"/>
            <a:ext cx="1917720" cy="899280"/>
          </a:xfrm>
          <a:prstGeom prst="rect">
            <a:avLst/>
          </a:prstGeom>
          <a:ln w="0">
            <a:noFill/>
          </a:ln>
        </p:spPr>
      </p:pic>
      <p:sp>
        <p:nvSpPr>
          <p:cNvPr id="2" name="Subtítulo 2" hidden="1"/>
          <p:cNvSpPr/>
          <p:nvPr/>
        </p:nvSpPr>
        <p:spPr>
          <a:xfrm>
            <a:off x="5247000" y="6126120"/>
            <a:ext cx="1604520" cy="52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00000"/>
              </a:lnSpc>
              <a:spcBef>
                <a:spcPts val="241"/>
              </a:spcBef>
              <a:buNone/>
              <a:tabLst>
                <a:tab pos="0" algn="l"/>
              </a:tabLst>
            </a:pPr>
            <a:r>
              <a:rPr lang="pt-BR" sz="1200" b="0" strike="noStrike" spc="-1">
                <a:solidFill>
                  <a:srgbClr val="FFFFFF"/>
                </a:solidFill>
                <a:latin typeface="Arial"/>
                <a:ea typeface="DejaVu Sans"/>
              </a:rPr>
              <a:t>Nombre o logo</a:t>
            </a:r>
            <a:endParaRPr lang="es-CO" sz="1200" b="0" strike="noStrike" spc="-1">
              <a:latin typeface="Arial"/>
            </a:endParaRPr>
          </a:p>
          <a:p>
            <a:pPr algn="ctr">
              <a:lnSpc>
                <a:spcPct val="100000"/>
              </a:lnSpc>
              <a:spcBef>
                <a:spcPts val="241"/>
              </a:spcBef>
              <a:buNone/>
              <a:tabLst>
                <a:tab pos="0" algn="l"/>
              </a:tabLst>
            </a:pPr>
            <a:r>
              <a:rPr lang="pt-BR" sz="1200" b="0" strike="noStrike" spc="-1">
                <a:solidFill>
                  <a:srgbClr val="FFFFFF"/>
                </a:solidFill>
                <a:latin typeface="Arial"/>
                <a:ea typeface="DejaVu Sans"/>
              </a:rPr>
              <a:t>de la dependencia</a:t>
            </a:r>
            <a:endParaRPr lang="es-CO" sz="1200" b="0" strike="noStrike" spc="-1">
              <a:latin typeface="Arial"/>
            </a:endParaRPr>
          </a:p>
        </p:txBody>
      </p:sp>
      <p:sp>
        <p:nvSpPr>
          <p:cNvPr id="3" name="Título 1" hidden="1"/>
          <p:cNvSpPr/>
          <p:nvPr/>
        </p:nvSpPr>
        <p:spPr>
          <a:xfrm>
            <a:off x="300960" y="6178320"/>
            <a:ext cx="43308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buNone/>
            </a:pPr>
            <a:r>
              <a:rPr lang="es-ES_tradnl" sz="1300" b="1" strike="noStrike" spc="-1">
                <a:solidFill>
                  <a:srgbClr val="FFFFFF"/>
                </a:solidFill>
                <a:latin typeface="Arial"/>
                <a:ea typeface="DejaVu Sans"/>
              </a:rPr>
              <a:t>Título de la presentación</a:t>
            </a:r>
            <a:endParaRPr lang="es-CO" sz="1300" b="0" strike="noStrike" spc="-1">
              <a:latin typeface="Arial"/>
            </a:endParaRPr>
          </a:p>
        </p:txBody>
      </p:sp>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s-CO" sz="4400" b="0" strike="noStrike" spc="-1">
                <a:latin typeface="Arial"/>
              </a:rPr>
              <a:t>Pulse para editar el formato del texto de título</a:t>
            </a: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CO"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CO"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CO" sz="2400" b="0" strike="noStrike" spc="-1">
                <a:latin typeface="Arial"/>
              </a:rPr>
              <a:t>Tercer nivel del esquema</a:t>
            </a:r>
          </a:p>
          <a:p>
            <a:pPr marL="1728000" lvl="3" indent="-216000">
              <a:spcBef>
                <a:spcPts val="567"/>
              </a:spcBef>
              <a:buClr>
                <a:srgbClr val="000000"/>
              </a:buClr>
              <a:buSzPct val="75000"/>
              <a:buFont typeface="Symbol" charset="2"/>
              <a:buChar char=""/>
            </a:pPr>
            <a:r>
              <a:rPr lang="es-CO" sz="2000" b="0" strike="noStrike" spc="-1">
                <a:latin typeface="Arial"/>
              </a:rPr>
              <a:t>Cuarto nivel del esquema</a:t>
            </a:r>
          </a:p>
          <a:p>
            <a:pPr marL="2160000" lvl="4" indent="-216000">
              <a:spcBef>
                <a:spcPts val="283"/>
              </a:spcBef>
              <a:buClr>
                <a:srgbClr val="000000"/>
              </a:buClr>
              <a:buSzPct val="45000"/>
              <a:buFont typeface="Wingdings" charset="2"/>
              <a:buChar char=""/>
            </a:pPr>
            <a:r>
              <a:rPr lang="es-CO" sz="2000" b="0" strike="noStrike" spc="-1">
                <a:latin typeface="Arial"/>
              </a:rPr>
              <a:t>Quinto nivel del esquema</a:t>
            </a:r>
          </a:p>
          <a:p>
            <a:pPr marL="2592000" lvl="5" indent="-216000">
              <a:spcBef>
                <a:spcPts val="283"/>
              </a:spcBef>
              <a:buClr>
                <a:srgbClr val="000000"/>
              </a:buClr>
              <a:buSzPct val="45000"/>
              <a:buFont typeface="Wingdings" charset="2"/>
              <a:buChar char=""/>
            </a:pPr>
            <a:r>
              <a:rPr lang="es-CO" sz="2000" b="0" strike="noStrike" spc="-1">
                <a:latin typeface="Arial"/>
              </a:rPr>
              <a:t>Sexto nivel del esquema</a:t>
            </a:r>
          </a:p>
          <a:p>
            <a:pPr marL="3024000" lvl="6" indent="-216000">
              <a:spcBef>
                <a:spcPts val="283"/>
              </a:spcBef>
              <a:buClr>
                <a:srgbClr val="000000"/>
              </a:buClr>
              <a:buSzPct val="45000"/>
              <a:buFont typeface="Wingdings" charset="2"/>
              <a:buChar char=""/>
            </a:pPr>
            <a:r>
              <a:rPr lang="es-CO"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Imagen 11" descr="cuadrado_azul.png"/>
          <p:cNvPicPr/>
          <p:nvPr/>
        </p:nvPicPr>
        <p:blipFill>
          <a:blip r:embed="rId14"/>
          <a:stretch/>
        </p:blipFill>
        <p:spPr>
          <a:xfrm>
            <a:off x="-18000" y="5860440"/>
            <a:ext cx="9179280" cy="1007280"/>
          </a:xfrm>
          <a:prstGeom prst="rect">
            <a:avLst/>
          </a:prstGeom>
          <a:ln w="0">
            <a:noFill/>
          </a:ln>
        </p:spPr>
      </p:pic>
      <p:pic>
        <p:nvPicPr>
          <p:cNvPr id="43" name="Imagen 12" descr="escudoPUJ_lateral.eps"/>
          <p:cNvPicPr/>
          <p:nvPr/>
        </p:nvPicPr>
        <p:blipFill>
          <a:blip r:embed="rId15"/>
          <a:stretch/>
        </p:blipFill>
        <p:spPr>
          <a:xfrm>
            <a:off x="6993720" y="5914440"/>
            <a:ext cx="1917720" cy="899280"/>
          </a:xfrm>
          <a:prstGeom prst="rect">
            <a:avLst/>
          </a:prstGeom>
          <a:ln w="0">
            <a:noFill/>
          </a:ln>
        </p:spPr>
      </p:pic>
      <p:sp>
        <p:nvSpPr>
          <p:cNvPr id="44" name="Subtítulo 2"/>
          <p:cNvSpPr/>
          <p:nvPr/>
        </p:nvSpPr>
        <p:spPr>
          <a:xfrm>
            <a:off x="5247000" y="6126120"/>
            <a:ext cx="1604520" cy="52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00000"/>
              </a:lnSpc>
              <a:spcBef>
                <a:spcPts val="241"/>
              </a:spcBef>
              <a:buNone/>
              <a:tabLst>
                <a:tab pos="0" algn="l"/>
              </a:tabLst>
            </a:pPr>
            <a:r>
              <a:rPr lang="pt-BR" sz="1200" b="0" strike="noStrike" spc="-1">
                <a:solidFill>
                  <a:srgbClr val="FFFFFF"/>
                </a:solidFill>
                <a:latin typeface="Arial"/>
                <a:ea typeface="DejaVu Sans"/>
              </a:rPr>
              <a:t>Nombre o logo</a:t>
            </a:r>
            <a:endParaRPr lang="es-CO" sz="1200" b="0" strike="noStrike" spc="-1">
              <a:latin typeface="Arial"/>
            </a:endParaRPr>
          </a:p>
          <a:p>
            <a:pPr algn="ctr">
              <a:lnSpc>
                <a:spcPct val="100000"/>
              </a:lnSpc>
              <a:spcBef>
                <a:spcPts val="241"/>
              </a:spcBef>
              <a:buNone/>
              <a:tabLst>
                <a:tab pos="0" algn="l"/>
              </a:tabLst>
            </a:pPr>
            <a:r>
              <a:rPr lang="pt-BR" sz="1200" b="0" strike="noStrike" spc="-1">
                <a:solidFill>
                  <a:srgbClr val="FFFFFF"/>
                </a:solidFill>
                <a:latin typeface="Arial"/>
                <a:ea typeface="DejaVu Sans"/>
              </a:rPr>
              <a:t>de la dependencia</a:t>
            </a:r>
            <a:endParaRPr lang="es-CO" sz="1200" b="0" strike="noStrike" spc="-1">
              <a:latin typeface="Arial"/>
            </a:endParaRPr>
          </a:p>
        </p:txBody>
      </p:sp>
      <p:sp>
        <p:nvSpPr>
          <p:cNvPr id="45" name="Título 1"/>
          <p:cNvSpPr/>
          <p:nvPr/>
        </p:nvSpPr>
        <p:spPr>
          <a:xfrm>
            <a:off x="300960" y="6178320"/>
            <a:ext cx="43308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buNone/>
            </a:pPr>
            <a:r>
              <a:rPr lang="es-ES_tradnl" sz="1300" b="1" strike="noStrike" spc="-1">
                <a:solidFill>
                  <a:srgbClr val="FFFFFF"/>
                </a:solidFill>
                <a:latin typeface="Arial"/>
                <a:ea typeface="DejaVu Sans"/>
              </a:rPr>
              <a:t>Título de la presentación</a:t>
            </a:r>
            <a:endParaRPr lang="es-CO" sz="1300" b="0" strike="noStrike" spc="-1">
              <a:latin typeface="Arial"/>
            </a:endParaRPr>
          </a:p>
        </p:txBody>
      </p:sp>
      <p:sp>
        <p:nvSpPr>
          <p:cNvPr id="4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s-CO" sz="4400" b="0" strike="noStrike" spc="-1">
                <a:latin typeface="Arial"/>
              </a:rPr>
              <a:t>Pulse para editar el formato del texto de título</a:t>
            </a:r>
          </a:p>
        </p:txBody>
      </p:sp>
      <p:sp>
        <p:nvSpPr>
          <p:cNvPr id="47"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CO"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CO"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CO" sz="2400" b="0" strike="noStrike" spc="-1">
                <a:latin typeface="Arial"/>
              </a:rPr>
              <a:t>Tercer nivel del esquema</a:t>
            </a:r>
          </a:p>
          <a:p>
            <a:pPr marL="1728000" lvl="3" indent="-216000">
              <a:spcBef>
                <a:spcPts val="567"/>
              </a:spcBef>
              <a:buClr>
                <a:srgbClr val="000000"/>
              </a:buClr>
              <a:buSzPct val="75000"/>
              <a:buFont typeface="Symbol" charset="2"/>
              <a:buChar char=""/>
            </a:pPr>
            <a:r>
              <a:rPr lang="es-CO" sz="2000" b="0" strike="noStrike" spc="-1">
                <a:latin typeface="Arial"/>
              </a:rPr>
              <a:t>Cuarto nivel del esquema</a:t>
            </a:r>
          </a:p>
          <a:p>
            <a:pPr marL="2160000" lvl="4" indent="-216000">
              <a:spcBef>
                <a:spcPts val="283"/>
              </a:spcBef>
              <a:buClr>
                <a:srgbClr val="000000"/>
              </a:buClr>
              <a:buSzPct val="45000"/>
              <a:buFont typeface="Wingdings" charset="2"/>
              <a:buChar char=""/>
            </a:pPr>
            <a:r>
              <a:rPr lang="es-CO" sz="2000" b="0" strike="noStrike" spc="-1">
                <a:latin typeface="Arial"/>
              </a:rPr>
              <a:t>Quinto nivel del esquema</a:t>
            </a:r>
          </a:p>
          <a:p>
            <a:pPr marL="2592000" lvl="5" indent="-216000">
              <a:spcBef>
                <a:spcPts val="283"/>
              </a:spcBef>
              <a:buClr>
                <a:srgbClr val="000000"/>
              </a:buClr>
              <a:buSzPct val="45000"/>
              <a:buFont typeface="Wingdings" charset="2"/>
              <a:buChar char=""/>
            </a:pPr>
            <a:r>
              <a:rPr lang="es-CO" sz="2000" b="0" strike="noStrike" spc="-1">
                <a:latin typeface="Arial"/>
              </a:rPr>
              <a:t>Sexto nivel del esquema</a:t>
            </a:r>
          </a:p>
          <a:p>
            <a:pPr marL="3024000" lvl="6" indent="-216000">
              <a:spcBef>
                <a:spcPts val="283"/>
              </a:spcBef>
              <a:buClr>
                <a:srgbClr val="000000"/>
              </a:buClr>
              <a:buSzPct val="45000"/>
              <a:buFont typeface="Wingdings" charset="2"/>
              <a:buChar char=""/>
            </a:pPr>
            <a:r>
              <a:rPr lang="es-CO"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g"/><Relationship Id="rId1" Type="http://schemas.openxmlformats.org/officeDocument/2006/relationships/slideLayout" Target="../slideLayouts/slideLayout13.xml"/><Relationship Id="rId4" Type="http://schemas.openxmlformats.org/officeDocument/2006/relationships/image" Target="../media/image5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ángulo 3"/>
          <p:cNvSpPr/>
          <p:nvPr/>
        </p:nvSpPr>
        <p:spPr>
          <a:xfrm>
            <a:off x="0" y="0"/>
            <a:ext cx="9143280" cy="6857280"/>
          </a:xfrm>
          <a:prstGeom prst="rect">
            <a:avLst/>
          </a:prstGeom>
          <a:gradFill rotWithShape="0">
            <a:gsLst>
              <a:gs pos="0">
                <a:srgbClr val="D0D0D0"/>
              </a:gs>
              <a:gs pos="100000">
                <a:srgbClr val="EDEDED"/>
              </a:gs>
            </a:gsLst>
            <a:lin ang="16200000"/>
          </a:gradFill>
          <a:ln>
            <a:noFill/>
          </a:ln>
          <a:effectLst>
            <a:outerShdw blurRad="39960" dist="20160" dir="5400000" rotWithShape="0">
              <a:srgbClr val="000000">
                <a:alpha val="38000"/>
              </a:srgbClr>
            </a:outerShdw>
          </a:effectLst>
        </p:spPr>
        <p:style>
          <a:lnRef idx="1">
            <a:schemeClr val="dk1"/>
          </a:lnRef>
          <a:fillRef idx="2">
            <a:schemeClr val="dk1"/>
          </a:fillRef>
          <a:effectRef idx="1">
            <a:schemeClr val="dk1"/>
          </a:effectRef>
          <a:fontRef idx="minor"/>
        </p:style>
        <p:txBody>
          <a:bodyPr/>
          <a:lstStyle/>
          <a:p>
            <a:endParaRPr lang="es-CO"/>
          </a:p>
        </p:txBody>
      </p:sp>
      <p:sp>
        <p:nvSpPr>
          <p:cNvPr id="85" name="Rectángulo 9"/>
          <p:cNvSpPr/>
          <p:nvPr/>
        </p:nvSpPr>
        <p:spPr>
          <a:xfrm>
            <a:off x="1920240" y="3731400"/>
            <a:ext cx="5302800" cy="1592280"/>
          </a:xfrm>
          <a:prstGeom prst="rect">
            <a:avLst/>
          </a:prstGeom>
          <a:solidFill>
            <a:schemeClr val="bg1">
              <a:alpha val="80000"/>
            </a:scheme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es-CO"/>
          </a:p>
        </p:txBody>
      </p:sp>
      <p:sp>
        <p:nvSpPr>
          <p:cNvPr id="86" name="PlaceHolder 1"/>
          <p:cNvSpPr>
            <a:spLocks noGrp="1"/>
          </p:cNvSpPr>
          <p:nvPr>
            <p:ph type="title"/>
          </p:nvPr>
        </p:nvSpPr>
        <p:spPr>
          <a:xfrm>
            <a:off x="1920240" y="3709800"/>
            <a:ext cx="5302800" cy="783720"/>
          </a:xfrm>
          <a:prstGeom prst="rect">
            <a:avLst/>
          </a:prstGeom>
          <a:noFill/>
          <a:ln w="0">
            <a:noFill/>
          </a:ln>
        </p:spPr>
        <p:txBody>
          <a:bodyPr lIns="0" tIns="0" rIns="0" bIns="0" anchor="t">
            <a:normAutofit/>
          </a:bodyPr>
          <a:lstStyle/>
          <a:p>
            <a:pPr algn="ctr">
              <a:lnSpc>
                <a:spcPct val="100000"/>
              </a:lnSpc>
              <a:buNone/>
            </a:pPr>
            <a:r>
              <a:rPr lang="es-ES_tradnl" sz="2800" b="1" strike="noStrike" spc="-1" dirty="0">
                <a:solidFill>
                  <a:srgbClr val="2C5697"/>
                </a:solidFill>
                <a:latin typeface="Arial"/>
              </a:rPr>
              <a:t>Fundamentos de señales</a:t>
            </a:r>
            <a:br>
              <a:rPr sz="2800" dirty="0"/>
            </a:br>
            <a:r>
              <a:rPr lang="es-ES_tradnl" sz="2200" b="0" strike="noStrike" spc="-1" dirty="0">
                <a:solidFill>
                  <a:srgbClr val="2C5697"/>
                </a:solidFill>
                <a:latin typeface="Arial"/>
              </a:rPr>
              <a:t>Instrumentación biomédica</a:t>
            </a:r>
            <a:endParaRPr lang="es-CO" sz="2200" b="0" strike="noStrike" spc="-1" dirty="0">
              <a:latin typeface="Arial"/>
            </a:endParaRPr>
          </a:p>
        </p:txBody>
      </p:sp>
      <p:sp>
        <p:nvSpPr>
          <p:cNvPr id="87" name="PlaceHolder 2"/>
          <p:cNvSpPr>
            <a:spLocks noGrp="1"/>
          </p:cNvSpPr>
          <p:nvPr>
            <p:ph type="subTitle"/>
          </p:nvPr>
        </p:nvSpPr>
        <p:spPr>
          <a:xfrm>
            <a:off x="2103480" y="4625280"/>
            <a:ext cx="4936320" cy="673920"/>
          </a:xfrm>
          <a:prstGeom prst="rect">
            <a:avLst/>
          </a:prstGeom>
          <a:noFill/>
          <a:ln w="0">
            <a:noFill/>
          </a:ln>
        </p:spPr>
        <p:txBody>
          <a:bodyPr lIns="0" tIns="0" rIns="0" bIns="0" anchor="t">
            <a:normAutofit/>
          </a:bodyPr>
          <a:lstStyle/>
          <a:p>
            <a:pPr algn="ctr">
              <a:lnSpc>
                <a:spcPct val="100000"/>
              </a:lnSpc>
              <a:spcBef>
                <a:spcPts val="320"/>
              </a:spcBef>
              <a:buNone/>
              <a:tabLst>
                <a:tab pos="0" algn="l"/>
              </a:tabLst>
            </a:pPr>
            <a:r>
              <a:rPr lang="es-ES" sz="1600" b="0" strike="noStrike" spc="-1" dirty="0">
                <a:solidFill>
                  <a:srgbClr val="2C5697"/>
                </a:solidFill>
                <a:latin typeface="Arial"/>
              </a:rPr>
              <a:t>Pedro Antonio Aya Parra</a:t>
            </a:r>
            <a:endParaRPr lang="es-CO" sz="1600" b="0" strike="noStrike" spc="-1" dirty="0">
              <a:latin typeface="Arial"/>
            </a:endParaRPr>
          </a:p>
          <a:p>
            <a:pPr algn="ctr">
              <a:lnSpc>
                <a:spcPct val="100000"/>
              </a:lnSpc>
              <a:spcBef>
                <a:spcPts val="320"/>
              </a:spcBef>
              <a:buNone/>
              <a:tabLst>
                <a:tab pos="0" algn="l"/>
              </a:tabLst>
            </a:pPr>
            <a:r>
              <a:rPr lang="pt-BR" sz="1600" b="0" strike="noStrike" spc="-1" dirty="0" err="1">
                <a:solidFill>
                  <a:srgbClr val="2C5697"/>
                </a:solidFill>
                <a:latin typeface="Arial"/>
              </a:rPr>
              <a:t>Facultad</a:t>
            </a:r>
            <a:r>
              <a:rPr lang="pt-BR" sz="1600" b="0" strike="noStrike" spc="-1" dirty="0">
                <a:solidFill>
                  <a:srgbClr val="2C5697"/>
                </a:solidFill>
                <a:latin typeface="Arial"/>
              </a:rPr>
              <a:t> de </a:t>
            </a:r>
            <a:r>
              <a:rPr lang="pt-BR" sz="1600" spc="-1" dirty="0" err="1">
                <a:solidFill>
                  <a:srgbClr val="2C5697"/>
                </a:solidFill>
                <a:latin typeface="Arial"/>
              </a:rPr>
              <a:t>I</a:t>
            </a:r>
            <a:r>
              <a:rPr lang="pt-BR" sz="1600" b="0" strike="noStrike" spc="-1" dirty="0" err="1">
                <a:solidFill>
                  <a:srgbClr val="2C5697"/>
                </a:solidFill>
                <a:latin typeface="Arial"/>
              </a:rPr>
              <a:t>ngeniería</a:t>
            </a:r>
            <a:endParaRPr lang="es-CO" sz="1600" b="0" strike="noStrike" spc="-1" dirty="0">
              <a:latin typeface="Arial"/>
            </a:endParaRPr>
          </a:p>
        </p:txBody>
      </p:sp>
      <p:grpSp>
        <p:nvGrpSpPr>
          <p:cNvPr id="88" name="Agrupar 16"/>
          <p:cNvGrpSpPr/>
          <p:nvPr/>
        </p:nvGrpSpPr>
        <p:grpSpPr>
          <a:xfrm>
            <a:off x="3494880" y="0"/>
            <a:ext cx="2153160" cy="2590200"/>
            <a:chOff x="3494880" y="0"/>
            <a:chExt cx="2153160" cy="2590200"/>
          </a:xfrm>
        </p:grpSpPr>
        <p:pic>
          <p:nvPicPr>
            <p:cNvPr id="89" name="Imagen 8" descr="cuadrado_azul.png"/>
            <p:cNvPicPr/>
            <p:nvPr/>
          </p:nvPicPr>
          <p:blipFill>
            <a:blip r:embed="rId2"/>
            <a:stretch/>
          </p:blipFill>
          <p:spPr>
            <a:xfrm>
              <a:off x="3494880" y="0"/>
              <a:ext cx="2153160" cy="2590200"/>
            </a:xfrm>
            <a:prstGeom prst="rect">
              <a:avLst/>
            </a:prstGeom>
            <a:ln w="0">
              <a:noFill/>
            </a:ln>
          </p:spPr>
        </p:pic>
        <p:pic>
          <p:nvPicPr>
            <p:cNvPr id="90" name="Imagen 12" descr="escudoPUJ_central.eps"/>
            <p:cNvPicPr/>
            <p:nvPr/>
          </p:nvPicPr>
          <p:blipFill>
            <a:blip r:embed="rId3"/>
            <a:stretch/>
          </p:blipFill>
          <p:spPr>
            <a:xfrm>
              <a:off x="3582000" y="200880"/>
              <a:ext cx="1979280" cy="2117880"/>
            </a:xfrm>
            <a:prstGeom prst="rect">
              <a:avLst/>
            </a:prstGeom>
            <a:ln w="0">
              <a:noFill/>
            </a:ln>
          </p:spPr>
        </p:pic>
        <p:pic>
          <p:nvPicPr>
            <p:cNvPr id="91" name="Imagen 15" descr="texto_vigilada_mineducacion_rgb-negativo.eps"/>
            <p:cNvPicPr/>
            <p:nvPr/>
          </p:nvPicPr>
          <p:blipFill>
            <a:blip r:embed="rId4"/>
            <a:stretch/>
          </p:blipFill>
          <p:spPr>
            <a:xfrm>
              <a:off x="4014000" y="2382840"/>
              <a:ext cx="1115280" cy="83880"/>
            </a:xfrm>
            <a:prstGeom prst="rect">
              <a:avLst/>
            </a:prstGeom>
            <a:ln w="0">
              <a:noFill/>
            </a:ln>
          </p:spPr>
        </p:pic>
      </p:grpSp>
      <p:sp>
        <p:nvSpPr>
          <p:cNvPr id="92" name="CuadroTexto 4"/>
          <p:cNvSpPr/>
          <p:nvPr/>
        </p:nvSpPr>
        <p:spPr>
          <a:xfrm>
            <a:off x="6040800" y="6258600"/>
            <a:ext cx="183960" cy="368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s-CO"/>
          </a:p>
        </p:txBody>
      </p:sp>
      <p:sp>
        <p:nvSpPr>
          <p:cNvPr id="93" name="CuadroTexto 6"/>
          <p:cNvSpPr/>
          <p:nvPr/>
        </p:nvSpPr>
        <p:spPr>
          <a:xfrm>
            <a:off x="1498680" y="6052680"/>
            <a:ext cx="183960" cy="36864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25"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sp>
        <p:nvSpPr>
          <p:cNvPr id="126"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Equipos de laboratorio</a:t>
            </a:r>
            <a:endParaRPr lang="es-CO" sz="1800" b="0" strike="noStrike" spc="-1" dirty="0">
              <a:latin typeface="Arial"/>
            </a:endParaRPr>
          </a:p>
        </p:txBody>
      </p:sp>
      <p:sp>
        <p:nvSpPr>
          <p:cNvPr id="127"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3406952-039C-4CC7-9D9F-ED3737A81DCC}" type="slidenum">
              <a:rPr lang="es-CO" sz="1200" b="0" strike="noStrike" spc="-1">
                <a:solidFill>
                  <a:srgbClr val="FFFFFF"/>
                </a:solidFill>
                <a:latin typeface="Calibri"/>
                <a:ea typeface="DejaVu Sans"/>
              </a:rPr>
              <a:t>2</a:t>
            </a:fld>
            <a:endParaRPr lang="es-CO" sz="1200" b="0" strike="noStrike" spc="-1">
              <a:latin typeface="Arial"/>
            </a:endParaRPr>
          </a:p>
        </p:txBody>
      </p:sp>
      <p:sp>
        <p:nvSpPr>
          <p:cNvPr id="128" name="Rectángulo 1"/>
          <p:cNvSpPr/>
          <p:nvPr/>
        </p:nvSpPr>
        <p:spPr>
          <a:xfrm>
            <a:off x="6612840" y="105480"/>
            <a:ext cx="247428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dirty="0">
                <a:solidFill>
                  <a:srgbClr val="2C5697"/>
                </a:solidFill>
                <a:latin typeface="Arial"/>
                <a:ea typeface="DejaVu Sans"/>
              </a:rPr>
              <a:t>Polímetro | Multímetro | DVM</a:t>
            </a:r>
            <a:endParaRPr lang="es-CO" sz="1400" b="0" strike="noStrike" spc="-1" dirty="0">
              <a:latin typeface="Arial"/>
            </a:endParaRPr>
          </a:p>
        </p:txBody>
      </p:sp>
      <p:grpSp>
        <p:nvGrpSpPr>
          <p:cNvPr id="19" name="Grupo 18">
            <a:extLst>
              <a:ext uri="{FF2B5EF4-FFF2-40B4-BE49-F238E27FC236}">
                <a16:creationId xmlns:a16="http://schemas.microsoft.com/office/drawing/2014/main" id="{DA0FC54C-0E52-93EC-FF7B-3C756A0821FA}"/>
              </a:ext>
            </a:extLst>
          </p:cNvPr>
          <p:cNvGrpSpPr/>
          <p:nvPr/>
        </p:nvGrpSpPr>
        <p:grpSpPr>
          <a:xfrm>
            <a:off x="486172" y="362446"/>
            <a:ext cx="8481378" cy="5440164"/>
            <a:chOff x="486172" y="362446"/>
            <a:chExt cx="8481378" cy="5440164"/>
          </a:xfrm>
        </p:grpSpPr>
        <p:pic>
          <p:nvPicPr>
            <p:cNvPr id="3" name="Imagen 2" descr="Imagen de la pantalla de un celular con letras&#10;&#10;El contenido generado por IA puede ser incorrecto.">
              <a:extLst>
                <a:ext uri="{FF2B5EF4-FFF2-40B4-BE49-F238E27FC236}">
                  <a16:creationId xmlns:a16="http://schemas.microsoft.com/office/drawing/2014/main" id="{6AE8A4A9-6BF1-B6FC-2A49-DDBEB152287E}"/>
                </a:ext>
              </a:extLst>
            </p:cNvPr>
            <p:cNvPicPr>
              <a:picLocks noChangeAspect="1"/>
            </p:cNvPicPr>
            <p:nvPr/>
          </p:nvPicPr>
          <p:blipFill>
            <a:blip r:embed="rId2">
              <a:extLst>
                <a:ext uri="{28A0092B-C50C-407E-A947-70E740481C1C}">
                  <a14:useLocalDpi xmlns:a14="http://schemas.microsoft.com/office/drawing/2010/main" val="0"/>
                </a:ext>
              </a:extLst>
            </a:blip>
            <a:srcRect l="18301" t="16085" r="21149" b="12145"/>
            <a:stretch>
              <a:fillRect/>
            </a:stretch>
          </p:blipFill>
          <p:spPr>
            <a:xfrm>
              <a:off x="2939921" y="472680"/>
              <a:ext cx="3264158" cy="5097288"/>
            </a:xfrm>
            <a:prstGeom prst="rect">
              <a:avLst/>
            </a:prstGeom>
          </p:spPr>
        </p:pic>
        <p:sp>
          <p:nvSpPr>
            <p:cNvPr id="4" name="CuadroTexto 3">
              <a:extLst>
                <a:ext uri="{FF2B5EF4-FFF2-40B4-BE49-F238E27FC236}">
                  <a16:creationId xmlns:a16="http://schemas.microsoft.com/office/drawing/2014/main" id="{D20CB95A-AB5E-8668-154D-E86AE21D2B59}"/>
                </a:ext>
              </a:extLst>
            </p:cNvPr>
            <p:cNvSpPr txBox="1"/>
            <p:nvPr/>
          </p:nvSpPr>
          <p:spPr>
            <a:xfrm>
              <a:off x="1432994" y="362446"/>
              <a:ext cx="2056973" cy="369332"/>
            </a:xfrm>
            <a:prstGeom prst="rect">
              <a:avLst/>
            </a:prstGeom>
            <a:noFill/>
          </p:spPr>
          <p:txBody>
            <a:bodyPr wrap="none" rtlCol="0">
              <a:spAutoFit/>
            </a:bodyPr>
            <a:lstStyle/>
            <a:p>
              <a:r>
                <a:rPr lang="es-ES" dirty="0"/>
                <a:t>Función MIN/MAX</a:t>
              </a:r>
              <a:endParaRPr lang="es-CO" dirty="0"/>
            </a:p>
          </p:txBody>
        </p:sp>
        <p:sp>
          <p:nvSpPr>
            <p:cNvPr id="5" name="CuadroTexto 4">
              <a:extLst>
                <a:ext uri="{FF2B5EF4-FFF2-40B4-BE49-F238E27FC236}">
                  <a16:creationId xmlns:a16="http://schemas.microsoft.com/office/drawing/2014/main" id="{E28DA4E0-7374-609E-8319-9E006558B1E8}"/>
                </a:ext>
              </a:extLst>
            </p:cNvPr>
            <p:cNvSpPr txBox="1"/>
            <p:nvPr/>
          </p:nvSpPr>
          <p:spPr>
            <a:xfrm>
              <a:off x="486172" y="1213983"/>
              <a:ext cx="2711063" cy="369332"/>
            </a:xfrm>
            <a:prstGeom prst="rect">
              <a:avLst/>
            </a:prstGeom>
            <a:noFill/>
          </p:spPr>
          <p:txBody>
            <a:bodyPr wrap="none" rtlCol="0">
              <a:spAutoFit/>
            </a:bodyPr>
            <a:lstStyle/>
            <a:p>
              <a:r>
                <a:rPr lang="es-ES" dirty="0"/>
                <a:t>Tensión corriente alterna</a:t>
              </a:r>
              <a:endParaRPr lang="es-CO" dirty="0"/>
            </a:p>
          </p:txBody>
        </p:sp>
        <p:sp>
          <p:nvSpPr>
            <p:cNvPr id="6" name="CuadroTexto 5">
              <a:extLst>
                <a:ext uri="{FF2B5EF4-FFF2-40B4-BE49-F238E27FC236}">
                  <a16:creationId xmlns:a16="http://schemas.microsoft.com/office/drawing/2014/main" id="{B2017CA1-8242-4E82-4CBD-5A9F119BA0AC}"/>
                </a:ext>
              </a:extLst>
            </p:cNvPr>
            <p:cNvSpPr txBox="1"/>
            <p:nvPr/>
          </p:nvSpPr>
          <p:spPr>
            <a:xfrm>
              <a:off x="612192" y="2244170"/>
              <a:ext cx="2877775" cy="369332"/>
            </a:xfrm>
            <a:prstGeom prst="rect">
              <a:avLst/>
            </a:prstGeom>
            <a:noFill/>
          </p:spPr>
          <p:txBody>
            <a:bodyPr wrap="none" rtlCol="0">
              <a:spAutoFit/>
            </a:bodyPr>
            <a:lstStyle/>
            <a:p>
              <a:r>
                <a:rPr lang="es-ES" dirty="0"/>
                <a:t>Tensión corriente continua</a:t>
              </a:r>
              <a:endParaRPr lang="es-CO" dirty="0"/>
            </a:p>
          </p:txBody>
        </p:sp>
        <p:sp>
          <p:nvSpPr>
            <p:cNvPr id="7" name="CuadroTexto 6">
              <a:extLst>
                <a:ext uri="{FF2B5EF4-FFF2-40B4-BE49-F238E27FC236}">
                  <a16:creationId xmlns:a16="http://schemas.microsoft.com/office/drawing/2014/main" id="{D9FE806B-C1E7-421A-AB72-9C85BF414BC9}"/>
                </a:ext>
              </a:extLst>
            </p:cNvPr>
            <p:cNvSpPr txBox="1"/>
            <p:nvPr/>
          </p:nvSpPr>
          <p:spPr>
            <a:xfrm>
              <a:off x="907799" y="2829219"/>
              <a:ext cx="2172390" cy="369332"/>
            </a:xfrm>
            <a:prstGeom prst="rect">
              <a:avLst/>
            </a:prstGeom>
            <a:noFill/>
          </p:spPr>
          <p:txBody>
            <a:bodyPr wrap="none" rtlCol="0">
              <a:spAutoFit/>
            </a:bodyPr>
            <a:lstStyle/>
            <a:p>
              <a:r>
                <a:rPr lang="es-ES" dirty="0"/>
                <a:t>Perilla de selección</a:t>
              </a:r>
              <a:endParaRPr lang="es-CO" dirty="0"/>
            </a:p>
          </p:txBody>
        </p:sp>
        <p:sp>
          <p:nvSpPr>
            <p:cNvPr id="8" name="CuadroTexto 7">
              <a:extLst>
                <a:ext uri="{FF2B5EF4-FFF2-40B4-BE49-F238E27FC236}">
                  <a16:creationId xmlns:a16="http://schemas.microsoft.com/office/drawing/2014/main" id="{20912A1E-C552-DFD3-1B87-6E8B9726EAC3}"/>
                </a:ext>
              </a:extLst>
            </p:cNvPr>
            <p:cNvSpPr txBox="1"/>
            <p:nvPr/>
          </p:nvSpPr>
          <p:spPr>
            <a:xfrm>
              <a:off x="1048066" y="3582905"/>
              <a:ext cx="2069797" cy="369332"/>
            </a:xfrm>
            <a:prstGeom prst="rect">
              <a:avLst/>
            </a:prstGeom>
            <a:noFill/>
          </p:spPr>
          <p:txBody>
            <a:bodyPr wrap="none" rtlCol="0">
              <a:spAutoFit/>
            </a:bodyPr>
            <a:lstStyle/>
            <a:p>
              <a:r>
                <a:rPr lang="es-ES" dirty="0"/>
                <a:t>Corriente continua</a:t>
              </a:r>
              <a:endParaRPr lang="es-CO" dirty="0"/>
            </a:p>
          </p:txBody>
        </p:sp>
        <p:sp>
          <p:nvSpPr>
            <p:cNvPr id="9" name="CuadroTexto 8">
              <a:extLst>
                <a:ext uri="{FF2B5EF4-FFF2-40B4-BE49-F238E27FC236}">
                  <a16:creationId xmlns:a16="http://schemas.microsoft.com/office/drawing/2014/main" id="{9A6F3C9A-0394-D998-22DB-82440F6588C5}"/>
                </a:ext>
              </a:extLst>
            </p:cNvPr>
            <p:cNvSpPr txBox="1"/>
            <p:nvPr/>
          </p:nvSpPr>
          <p:spPr>
            <a:xfrm>
              <a:off x="670555" y="4271857"/>
              <a:ext cx="2646878" cy="369332"/>
            </a:xfrm>
            <a:prstGeom prst="rect">
              <a:avLst/>
            </a:prstGeom>
            <a:noFill/>
          </p:spPr>
          <p:txBody>
            <a:bodyPr wrap="none" rtlCol="0">
              <a:spAutoFit/>
            </a:bodyPr>
            <a:lstStyle/>
            <a:p>
              <a:r>
                <a:rPr lang="es-ES" dirty="0"/>
                <a:t>Cable entrada amperios</a:t>
              </a:r>
              <a:endParaRPr lang="es-CO" dirty="0"/>
            </a:p>
          </p:txBody>
        </p:sp>
        <p:sp>
          <p:nvSpPr>
            <p:cNvPr id="10" name="CuadroTexto 9">
              <a:extLst>
                <a:ext uri="{FF2B5EF4-FFF2-40B4-BE49-F238E27FC236}">
                  <a16:creationId xmlns:a16="http://schemas.microsoft.com/office/drawing/2014/main" id="{EC08812A-DC1B-C330-C1D1-57D07494897A}"/>
                </a:ext>
              </a:extLst>
            </p:cNvPr>
            <p:cNvSpPr txBox="1"/>
            <p:nvPr/>
          </p:nvSpPr>
          <p:spPr>
            <a:xfrm>
              <a:off x="1361807" y="4909135"/>
              <a:ext cx="2056973" cy="369332"/>
            </a:xfrm>
            <a:prstGeom prst="rect">
              <a:avLst/>
            </a:prstGeom>
            <a:noFill/>
          </p:spPr>
          <p:txBody>
            <a:bodyPr wrap="none" rtlCol="0">
              <a:spAutoFit/>
            </a:bodyPr>
            <a:lstStyle/>
            <a:p>
              <a:r>
                <a:rPr lang="es-ES" dirty="0"/>
                <a:t>Función MIN/MAX</a:t>
              </a:r>
              <a:endParaRPr lang="es-CO" dirty="0"/>
            </a:p>
          </p:txBody>
        </p:sp>
        <p:sp>
          <p:nvSpPr>
            <p:cNvPr id="11" name="CuadroTexto 10">
              <a:extLst>
                <a:ext uri="{FF2B5EF4-FFF2-40B4-BE49-F238E27FC236}">
                  <a16:creationId xmlns:a16="http://schemas.microsoft.com/office/drawing/2014/main" id="{EBF9981E-305F-B726-3127-8FB305A3CD82}"/>
                </a:ext>
              </a:extLst>
            </p:cNvPr>
            <p:cNvSpPr txBox="1"/>
            <p:nvPr/>
          </p:nvSpPr>
          <p:spPr>
            <a:xfrm>
              <a:off x="2184456" y="5433278"/>
              <a:ext cx="3018775" cy="369332"/>
            </a:xfrm>
            <a:prstGeom prst="rect">
              <a:avLst/>
            </a:prstGeom>
            <a:noFill/>
          </p:spPr>
          <p:txBody>
            <a:bodyPr wrap="none" rtlCol="0">
              <a:spAutoFit/>
            </a:bodyPr>
            <a:lstStyle/>
            <a:p>
              <a:r>
                <a:rPr lang="es-ES" dirty="0"/>
                <a:t>Cable entrada común/masa</a:t>
              </a:r>
              <a:endParaRPr lang="es-CO" dirty="0"/>
            </a:p>
          </p:txBody>
        </p:sp>
        <p:sp>
          <p:nvSpPr>
            <p:cNvPr id="12" name="CuadroTexto 11">
              <a:extLst>
                <a:ext uri="{FF2B5EF4-FFF2-40B4-BE49-F238E27FC236}">
                  <a16:creationId xmlns:a16="http://schemas.microsoft.com/office/drawing/2014/main" id="{A4525722-C4D8-53C5-370A-E6E0ED1C3B33}"/>
                </a:ext>
              </a:extLst>
            </p:cNvPr>
            <p:cNvSpPr txBox="1"/>
            <p:nvPr/>
          </p:nvSpPr>
          <p:spPr>
            <a:xfrm>
              <a:off x="5717464" y="434206"/>
              <a:ext cx="2505814" cy="646331"/>
            </a:xfrm>
            <a:prstGeom prst="rect">
              <a:avLst/>
            </a:prstGeom>
            <a:noFill/>
          </p:spPr>
          <p:txBody>
            <a:bodyPr wrap="none" rtlCol="0">
              <a:spAutoFit/>
            </a:bodyPr>
            <a:lstStyle/>
            <a:p>
              <a:r>
                <a:rPr lang="es-ES" dirty="0"/>
                <a:t>Cambio de medida en </a:t>
              </a:r>
            </a:p>
            <a:p>
              <a:r>
                <a:rPr lang="es-ES" dirty="0"/>
                <a:t>la misma posición</a:t>
              </a:r>
              <a:endParaRPr lang="es-CO" dirty="0"/>
            </a:p>
          </p:txBody>
        </p:sp>
        <p:sp>
          <p:nvSpPr>
            <p:cNvPr id="13" name="CuadroTexto 12">
              <a:extLst>
                <a:ext uri="{FF2B5EF4-FFF2-40B4-BE49-F238E27FC236}">
                  <a16:creationId xmlns:a16="http://schemas.microsoft.com/office/drawing/2014/main" id="{B3D70E96-A10C-A266-44E3-DBFF8C13192D}"/>
                </a:ext>
              </a:extLst>
            </p:cNvPr>
            <p:cNvSpPr txBox="1"/>
            <p:nvPr/>
          </p:nvSpPr>
          <p:spPr>
            <a:xfrm>
              <a:off x="6038963" y="1360979"/>
              <a:ext cx="2223686" cy="369332"/>
            </a:xfrm>
            <a:prstGeom prst="rect">
              <a:avLst/>
            </a:prstGeom>
            <a:noFill/>
          </p:spPr>
          <p:txBody>
            <a:bodyPr wrap="none" rtlCol="0">
              <a:spAutoFit/>
            </a:bodyPr>
            <a:lstStyle/>
            <a:p>
              <a:r>
                <a:rPr lang="es-ES" dirty="0"/>
                <a:t>Iluminación pantalla</a:t>
              </a:r>
              <a:endParaRPr lang="es-CO" dirty="0"/>
            </a:p>
          </p:txBody>
        </p:sp>
        <p:sp>
          <p:nvSpPr>
            <p:cNvPr id="14" name="CuadroTexto 13">
              <a:extLst>
                <a:ext uri="{FF2B5EF4-FFF2-40B4-BE49-F238E27FC236}">
                  <a16:creationId xmlns:a16="http://schemas.microsoft.com/office/drawing/2014/main" id="{7AA8BB47-6516-F5E3-21CA-6B183756F828}"/>
                </a:ext>
              </a:extLst>
            </p:cNvPr>
            <p:cNvSpPr txBox="1"/>
            <p:nvPr/>
          </p:nvSpPr>
          <p:spPr>
            <a:xfrm>
              <a:off x="6025719" y="2334725"/>
              <a:ext cx="2941831" cy="369332"/>
            </a:xfrm>
            <a:prstGeom prst="rect">
              <a:avLst/>
            </a:prstGeom>
            <a:noFill/>
          </p:spPr>
          <p:txBody>
            <a:bodyPr wrap="none" rtlCol="0">
              <a:spAutoFit/>
            </a:bodyPr>
            <a:lstStyle/>
            <a:p>
              <a:r>
                <a:rPr lang="es-ES" dirty="0"/>
                <a:t>Medición milivoltios alterna</a:t>
              </a:r>
              <a:endParaRPr lang="es-CO" dirty="0"/>
            </a:p>
          </p:txBody>
        </p:sp>
        <p:sp>
          <p:nvSpPr>
            <p:cNvPr id="15" name="CuadroTexto 14">
              <a:extLst>
                <a:ext uri="{FF2B5EF4-FFF2-40B4-BE49-F238E27FC236}">
                  <a16:creationId xmlns:a16="http://schemas.microsoft.com/office/drawing/2014/main" id="{52B12729-B4ED-4972-CF17-3E855B61E32D}"/>
                </a:ext>
              </a:extLst>
            </p:cNvPr>
            <p:cNvSpPr txBox="1"/>
            <p:nvPr/>
          </p:nvSpPr>
          <p:spPr>
            <a:xfrm>
              <a:off x="6052010" y="3000255"/>
              <a:ext cx="2364750" cy="369332"/>
            </a:xfrm>
            <a:prstGeom prst="rect">
              <a:avLst/>
            </a:prstGeom>
            <a:noFill/>
          </p:spPr>
          <p:txBody>
            <a:bodyPr wrap="none" rtlCol="0">
              <a:spAutoFit/>
            </a:bodyPr>
            <a:lstStyle/>
            <a:p>
              <a:r>
                <a:rPr lang="es-ES" dirty="0"/>
                <a:t>Medición Resistencia</a:t>
              </a:r>
              <a:endParaRPr lang="es-CO" dirty="0"/>
            </a:p>
          </p:txBody>
        </p:sp>
        <p:sp>
          <p:nvSpPr>
            <p:cNvPr id="16" name="CuadroTexto 15">
              <a:extLst>
                <a:ext uri="{FF2B5EF4-FFF2-40B4-BE49-F238E27FC236}">
                  <a16:creationId xmlns:a16="http://schemas.microsoft.com/office/drawing/2014/main" id="{078BDFFA-5890-D4D7-B575-DD63AE66368C}"/>
                </a:ext>
              </a:extLst>
            </p:cNvPr>
            <p:cNvSpPr txBox="1"/>
            <p:nvPr/>
          </p:nvSpPr>
          <p:spPr>
            <a:xfrm>
              <a:off x="5966825" y="3643239"/>
              <a:ext cx="2351926" cy="369332"/>
            </a:xfrm>
            <a:prstGeom prst="rect">
              <a:avLst/>
            </a:prstGeom>
            <a:noFill/>
          </p:spPr>
          <p:txBody>
            <a:bodyPr wrap="none" rtlCol="0">
              <a:spAutoFit/>
            </a:bodyPr>
            <a:lstStyle/>
            <a:p>
              <a:r>
                <a:rPr lang="es-ES" dirty="0"/>
                <a:t>Medición continuidad</a:t>
              </a:r>
              <a:endParaRPr lang="es-CO" dirty="0"/>
            </a:p>
          </p:txBody>
        </p:sp>
        <p:sp>
          <p:nvSpPr>
            <p:cNvPr id="17" name="CuadroTexto 16">
              <a:extLst>
                <a:ext uri="{FF2B5EF4-FFF2-40B4-BE49-F238E27FC236}">
                  <a16:creationId xmlns:a16="http://schemas.microsoft.com/office/drawing/2014/main" id="{F3A05CAA-4928-1E16-0680-CFC1B2639A74}"/>
                </a:ext>
              </a:extLst>
            </p:cNvPr>
            <p:cNvSpPr txBox="1"/>
            <p:nvPr/>
          </p:nvSpPr>
          <p:spPr>
            <a:xfrm>
              <a:off x="6044011" y="4340472"/>
              <a:ext cx="1608197" cy="369332"/>
            </a:xfrm>
            <a:prstGeom prst="rect">
              <a:avLst/>
            </a:prstGeom>
            <a:noFill/>
          </p:spPr>
          <p:txBody>
            <a:bodyPr wrap="none" rtlCol="0">
              <a:spAutoFit/>
            </a:bodyPr>
            <a:lstStyle/>
            <a:p>
              <a:r>
                <a:rPr lang="es-ES" dirty="0"/>
                <a:t>Tes de diodos</a:t>
              </a:r>
              <a:endParaRPr lang="es-CO" dirty="0"/>
            </a:p>
          </p:txBody>
        </p:sp>
        <p:sp>
          <p:nvSpPr>
            <p:cNvPr id="18" name="CuadroTexto 17">
              <a:extLst>
                <a:ext uri="{FF2B5EF4-FFF2-40B4-BE49-F238E27FC236}">
                  <a16:creationId xmlns:a16="http://schemas.microsoft.com/office/drawing/2014/main" id="{3538FD8C-78CF-4865-C0D2-E5CF8FE9BD8F}"/>
                </a:ext>
              </a:extLst>
            </p:cNvPr>
            <p:cNvSpPr txBox="1"/>
            <p:nvPr/>
          </p:nvSpPr>
          <p:spPr>
            <a:xfrm>
              <a:off x="5743112" y="5419502"/>
              <a:ext cx="2480166" cy="369332"/>
            </a:xfrm>
            <a:prstGeom prst="rect">
              <a:avLst/>
            </a:prstGeom>
            <a:noFill/>
          </p:spPr>
          <p:txBody>
            <a:bodyPr wrap="none" rtlCol="0">
              <a:spAutoFit/>
            </a:bodyPr>
            <a:lstStyle/>
            <a:p>
              <a:r>
                <a:rPr lang="es-ES" dirty="0"/>
                <a:t>Cable entrada positivo</a:t>
              </a:r>
              <a:endParaRPr lang="es-CO"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32"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Equipos de laboratorio</a:t>
            </a:r>
            <a:endParaRPr lang="es-CO" sz="1800" b="0" strike="noStrike" spc="-1">
              <a:latin typeface="Arial"/>
            </a:endParaRPr>
          </a:p>
        </p:txBody>
      </p:sp>
      <p:sp>
        <p:nvSpPr>
          <p:cNvPr id="133"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B18A0CCC-0404-41CB-8280-085A0DE370B9}" type="slidenum">
              <a:rPr lang="es-CO" sz="1200" b="0" strike="noStrike" spc="-1">
                <a:solidFill>
                  <a:srgbClr val="FFFFFF"/>
                </a:solidFill>
                <a:latin typeface="Calibri"/>
                <a:ea typeface="DejaVu Sans"/>
              </a:rPr>
              <a:t>3</a:t>
            </a:fld>
            <a:endParaRPr lang="es-CO" sz="1200" b="0" strike="noStrike" spc="-1">
              <a:latin typeface="Arial"/>
            </a:endParaRPr>
          </a:p>
        </p:txBody>
      </p:sp>
      <p:sp>
        <p:nvSpPr>
          <p:cNvPr id="134" name="Rectángulo 1"/>
          <p:cNvSpPr/>
          <p:nvPr/>
        </p:nvSpPr>
        <p:spPr>
          <a:xfrm>
            <a:off x="6612840" y="55800"/>
            <a:ext cx="247428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a:solidFill>
                  <a:srgbClr val="2C5697"/>
                </a:solidFill>
                <a:latin typeface="Arial"/>
                <a:ea typeface="DejaVu Sans"/>
              </a:rPr>
              <a:t>Polímetro | Multímetro | DVM</a:t>
            </a:r>
            <a:endParaRPr lang="es-CO" sz="1400" b="0" strike="noStrike" spc="-1">
              <a:latin typeface="Arial"/>
            </a:endParaRPr>
          </a:p>
        </p:txBody>
      </p:sp>
      <p:sp>
        <p:nvSpPr>
          <p:cNvPr id="136"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grpSp>
        <p:nvGrpSpPr>
          <p:cNvPr id="1052" name="Grupo 1051">
            <a:extLst>
              <a:ext uri="{FF2B5EF4-FFF2-40B4-BE49-F238E27FC236}">
                <a16:creationId xmlns:a16="http://schemas.microsoft.com/office/drawing/2014/main" id="{89ABEBFD-82B6-6A8B-3027-2E062B46AA00}"/>
              </a:ext>
            </a:extLst>
          </p:cNvPr>
          <p:cNvGrpSpPr/>
          <p:nvPr/>
        </p:nvGrpSpPr>
        <p:grpSpPr>
          <a:xfrm>
            <a:off x="239508" y="919272"/>
            <a:ext cx="2757875" cy="2139798"/>
            <a:chOff x="239508" y="919272"/>
            <a:chExt cx="2757875" cy="2139798"/>
          </a:xfrm>
        </p:grpSpPr>
        <p:pic>
          <p:nvPicPr>
            <p:cNvPr id="1026" name="Picture 2" descr="Multimetro digital Fluke 117, detección de volumen Peru | Ubuy">
              <a:extLst>
                <a:ext uri="{FF2B5EF4-FFF2-40B4-BE49-F238E27FC236}">
                  <a16:creationId xmlns:a16="http://schemas.microsoft.com/office/drawing/2014/main" id="{402BE350-B108-57F3-F256-974E100035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0446" y="919272"/>
              <a:ext cx="1046937" cy="206991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63C15C9D-8314-8528-295A-4820909F511E}"/>
                </a:ext>
              </a:extLst>
            </p:cNvPr>
            <p:cNvPicPr>
              <a:picLocks noChangeAspect="1"/>
            </p:cNvPicPr>
            <p:nvPr/>
          </p:nvPicPr>
          <p:blipFill>
            <a:blip r:embed="rId3"/>
            <a:stretch>
              <a:fillRect/>
            </a:stretch>
          </p:blipFill>
          <p:spPr>
            <a:xfrm>
              <a:off x="239508" y="1435249"/>
              <a:ext cx="1370435" cy="1275922"/>
            </a:xfrm>
            <a:prstGeom prst="rect">
              <a:avLst/>
            </a:prstGeom>
          </p:spPr>
        </p:pic>
        <p:cxnSp>
          <p:nvCxnSpPr>
            <p:cNvPr id="12" name="Conector recto 11">
              <a:extLst>
                <a:ext uri="{FF2B5EF4-FFF2-40B4-BE49-F238E27FC236}">
                  <a16:creationId xmlns:a16="http://schemas.microsoft.com/office/drawing/2014/main" id="{1D38D002-7802-B823-2965-C5D08190F994}"/>
                </a:ext>
              </a:extLst>
            </p:cNvPr>
            <p:cNvCxnSpPr>
              <a:cxnSpLocks/>
            </p:cNvCxnSpPr>
            <p:nvPr/>
          </p:nvCxnSpPr>
          <p:spPr>
            <a:xfrm flipH="1">
              <a:off x="1485095" y="1537798"/>
              <a:ext cx="2137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E41E6CCB-9B01-025B-34A9-E7429FA65EB4}"/>
                </a:ext>
              </a:extLst>
            </p:cNvPr>
            <p:cNvCxnSpPr>
              <a:cxnSpLocks/>
            </p:cNvCxnSpPr>
            <p:nvPr/>
          </p:nvCxnSpPr>
          <p:spPr>
            <a:xfrm flipV="1">
              <a:off x="1698806" y="1537798"/>
              <a:ext cx="0" cy="10736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2C1A4A22-4D2B-DFF3-B02C-484114E2CC32}"/>
                </a:ext>
              </a:extLst>
            </p:cNvPr>
            <p:cNvCxnSpPr>
              <a:cxnSpLocks/>
            </p:cNvCxnSpPr>
            <p:nvPr/>
          </p:nvCxnSpPr>
          <p:spPr>
            <a:xfrm flipH="1">
              <a:off x="1701689" y="2611453"/>
              <a:ext cx="9932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8FBF8AE-B48A-8C2A-6F2B-406762283443}"/>
                </a:ext>
              </a:extLst>
            </p:cNvPr>
            <p:cNvCxnSpPr>
              <a:cxnSpLocks/>
            </p:cNvCxnSpPr>
            <p:nvPr/>
          </p:nvCxnSpPr>
          <p:spPr>
            <a:xfrm>
              <a:off x="2694939" y="2611453"/>
              <a:ext cx="0" cy="147723"/>
            </a:xfrm>
            <a:prstGeom prst="straightConnector1">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387D47DA-2200-EC73-F4E7-56999B95BFF6}"/>
                </a:ext>
              </a:extLst>
            </p:cNvPr>
            <p:cNvCxnSpPr>
              <a:cxnSpLocks/>
            </p:cNvCxnSpPr>
            <p:nvPr/>
          </p:nvCxnSpPr>
          <p:spPr>
            <a:xfrm flipV="1">
              <a:off x="1495679" y="2554594"/>
              <a:ext cx="0" cy="5044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A672B22-F4A6-DEB9-E725-AA1255362BFE}"/>
                </a:ext>
              </a:extLst>
            </p:cNvPr>
            <p:cNvCxnSpPr>
              <a:cxnSpLocks/>
            </p:cNvCxnSpPr>
            <p:nvPr/>
          </p:nvCxnSpPr>
          <p:spPr>
            <a:xfrm flipH="1">
              <a:off x="1485848" y="3059070"/>
              <a:ext cx="988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3D8252EB-94C9-0FBA-4A33-964F81C27013}"/>
                </a:ext>
              </a:extLst>
            </p:cNvPr>
            <p:cNvCxnSpPr>
              <a:cxnSpLocks/>
            </p:cNvCxnSpPr>
            <p:nvPr/>
          </p:nvCxnSpPr>
          <p:spPr>
            <a:xfrm flipV="1">
              <a:off x="2473914" y="2759176"/>
              <a:ext cx="0" cy="29989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7" name="Elipse 1046">
              <a:extLst>
                <a:ext uri="{FF2B5EF4-FFF2-40B4-BE49-F238E27FC236}">
                  <a16:creationId xmlns:a16="http://schemas.microsoft.com/office/drawing/2014/main" id="{CFC3CC90-ED4C-EAAF-0F7D-7570E9AE31EF}"/>
                </a:ext>
              </a:extLst>
            </p:cNvPr>
            <p:cNvSpPr/>
            <p:nvPr/>
          </p:nvSpPr>
          <p:spPr>
            <a:xfrm>
              <a:off x="2571575" y="1862468"/>
              <a:ext cx="235853" cy="21210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1053" name="Grupo 1052">
            <a:extLst>
              <a:ext uri="{FF2B5EF4-FFF2-40B4-BE49-F238E27FC236}">
                <a16:creationId xmlns:a16="http://schemas.microsoft.com/office/drawing/2014/main" id="{EA05C081-3CBE-50C1-0864-8FD87C0CB118}"/>
              </a:ext>
            </a:extLst>
          </p:cNvPr>
          <p:cNvGrpSpPr/>
          <p:nvPr/>
        </p:nvGrpSpPr>
        <p:grpSpPr>
          <a:xfrm>
            <a:off x="3350972" y="860675"/>
            <a:ext cx="2757875" cy="2139798"/>
            <a:chOff x="3350972" y="860675"/>
            <a:chExt cx="2757875" cy="2139798"/>
          </a:xfrm>
        </p:grpSpPr>
        <p:pic>
          <p:nvPicPr>
            <p:cNvPr id="51" name="Picture 2" descr="Multimetro digital Fluke 117, detección de volumen Peru | Ubuy">
              <a:extLst>
                <a:ext uri="{FF2B5EF4-FFF2-40B4-BE49-F238E27FC236}">
                  <a16:creationId xmlns:a16="http://schemas.microsoft.com/office/drawing/2014/main" id="{6C63D516-9E20-E454-962E-E2988F8162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1910" y="860675"/>
              <a:ext cx="1046937" cy="2069917"/>
            </a:xfrm>
            <a:prstGeom prst="rect">
              <a:avLst/>
            </a:prstGeom>
            <a:noFill/>
            <a:extLst>
              <a:ext uri="{909E8E84-426E-40DD-AFC4-6F175D3DCCD1}">
                <a14:hiddenFill xmlns:a14="http://schemas.microsoft.com/office/drawing/2010/main">
                  <a:solidFill>
                    <a:srgbClr val="FFFFFF"/>
                  </a:solidFill>
                </a14:hiddenFill>
              </a:ext>
            </a:extLst>
          </p:spPr>
        </p:pic>
        <p:pic>
          <p:nvPicPr>
            <p:cNvPr id="52" name="Imagen 51">
              <a:extLst>
                <a:ext uri="{FF2B5EF4-FFF2-40B4-BE49-F238E27FC236}">
                  <a16:creationId xmlns:a16="http://schemas.microsoft.com/office/drawing/2014/main" id="{A179D3D7-9997-2085-CE30-78FF90969F22}"/>
                </a:ext>
              </a:extLst>
            </p:cNvPr>
            <p:cNvPicPr>
              <a:picLocks noChangeAspect="1"/>
            </p:cNvPicPr>
            <p:nvPr/>
          </p:nvPicPr>
          <p:blipFill>
            <a:blip r:embed="rId3"/>
            <a:stretch>
              <a:fillRect/>
            </a:stretch>
          </p:blipFill>
          <p:spPr>
            <a:xfrm>
              <a:off x="3350972" y="1376652"/>
              <a:ext cx="1370435" cy="1275922"/>
            </a:xfrm>
            <a:prstGeom prst="rect">
              <a:avLst/>
            </a:prstGeom>
          </p:spPr>
        </p:pic>
        <p:cxnSp>
          <p:nvCxnSpPr>
            <p:cNvPr id="53" name="Conector recto 52">
              <a:extLst>
                <a:ext uri="{FF2B5EF4-FFF2-40B4-BE49-F238E27FC236}">
                  <a16:creationId xmlns:a16="http://schemas.microsoft.com/office/drawing/2014/main" id="{F9BB29EA-0D44-EF11-4784-B38235A0243A}"/>
                </a:ext>
              </a:extLst>
            </p:cNvPr>
            <p:cNvCxnSpPr>
              <a:cxnSpLocks/>
            </p:cNvCxnSpPr>
            <p:nvPr/>
          </p:nvCxnSpPr>
          <p:spPr>
            <a:xfrm flipH="1">
              <a:off x="4403614" y="2859672"/>
              <a:ext cx="42040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9B9B89DA-CE1D-E67D-92D2-5BA26C4589FB}"/>
                </a:ext>
              </a:extLst>
            </p:cNvPr>
            <p:cNvCxnSpPr>
              <a:cxnSpLocks/>
            </p:cNvCxnSpPr>
            <p:nvPr/>
          </p:nvCxnSpPr>
          <p:spPr>
            <a:xfrm flipH="1">
              <a:off x="4813153" y="2552856"/>
              <a:ext cx="9932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7C2A808E-65DF-77D8-137F-7A3FFD277820}"/>
                </a:ext>
              </a:extLst>
            </p:cNvPr>
            <p:cNvCxnSpPr>
              <a:cxnSpLocks/>
            </p:cNvCxnSpPr>
            <p:nvPr/>
          </p:nvCxnSpPr>
          <p:spPr>
            <a:xfrm>
              <a:off x="5806403" y="2552856"/>
              <a:ext cx="0" cy="147723"/>
            </a:xfrm>
            <a:prstGeom prst="straightConnector1">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5A6085C5-DBFD-9CE0-6E55-E695B45C2744}"/>
                </a:ext>
              </a:extLst>
            </p:cNvPr>
            <p:cNvCxnSpPr>
              <a:cxnSpLocks/>
            </p:cNvCxnSpPr>
            <p:nvPr/>
          </p:nvCxnSpPr>
          <p:spPr>
            <a:xfrm flipH="1">
              <a:off x="4113959" y="2989189"/>
              <a:ext cx="147141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ector recto de flecha 58">
              <a:extLst>
                <a:ext uri="{FF2B5EF4-FFF2-40B4-BE49-F238E27FC236}">
                  <a16:creationId xmlns:a16="http://schemas.microsoft.com/office/drawing/2014/main" id="{CEB5F276-9298-6EA9-A18C-948D2D41FC11}"/>
                </a:ext>
              </a:extLst>
            </p:cNvPr>
            <p:cNvCxnSpPr>
              <a:cxnSpLocks/>
            </p:cNvCxnSpPr>
            <p:nvPr/>
          </p:nvCxnSpPr>
          <p:spPr>
            <a:xfrm flipV="1">
              <a:off x="5585378" y="2700579"/>
              <a:ext cx="0" cy="29989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ángulo 59">
              <a:extLst>
                <a:ext uri="{FF2B5EF4-FFF2-40B4-BE49-F238E27FC236}">
                  <a16:creationId xmlns:a16="http://schemas.microsoft.com/office/drawing/2014/main" id="{3FD2A5F6-632D-AB7A-6C8B-33EBF7F4484E}"/>
                </a:ext>
              </a:extLst>
            </p:cNvPr>
            <p:cNvSpPr/>
            <p:nvPr/>
          </p:nvSpPr>
          <p:spPr>
            <a:xfrm>
              <a:off x="4123103" y="2575443"/>
              <a:ext cx="263016" cy="2631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7" name="Conector recto 56">
              <a:extLst>
                <a:ext uri="{FF2B5EF4-FFF2-40B4-BE49-F238E27FC236}">
                  <a16:creationId xmlns:a16="http://schemas.microsoft.com/office/drawing/2014/main" id="{BB7A1353-C78D-8BAD-C985-FD482865B93B}"/>
                </a:ext>
              </a:extLst>
            </p:cNvPr>
            <p:cNvCxnSpPr>
              <a:cxnSpLocks/>
            </p:cNvCxnSpPr>
            <p:nvPr/>
          </p:nvCxnSpPr>
          <p:spPr>
            <a:xfrm flipH="1" flipV="1">
              <a:off x="4113959" y="2580000"/>
              <a:ext cx="9144" cy="4204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97A0853D-729D-2866-C78A-EA5803C055F6}"/>
                </a:ext>
              </a:extLst>
            </p:cNvPr>
            <p:cNvCxnSpPr>
              <a:cxnSpLocks/>
            </p:cNvCxnSpPr>
            <p:nvPr/>
          </p:nvCxnSpPr>
          <p:spPr>
            <a:xfrm flipV="1">
              <a:off x="4403614" y="2575443"/>
              <a:ext cx="0" cy="285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Conector recto 158">
              <a:extLst>
                <a:ext uri="{FF2B5EF4-FFF2-40B4-BE49-F238E27FC236}">
                  <a16:creationId xmlns:a16="http://schemas.microsoft.com/office/drawing/2014/main" id="{95F10D3C-BD3E-7E3D-AF2D-7126C0BC6A00}"/>
                </a:ext>
              </a:extLst>
            </p:cNvPr>
            <p:cNvCxnSpPr>
              <a:cxnSpLocks/>
            </p:cNvCxnSpPr>
            <p:nvPr/>
          </p:nvCxnSpPr>
          <p:spPr>
            <a:xfrm>
              <a:off x="4822206" y="2543712"/>
              <a:ext cx="0" cy="3132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48" name="Elipse 1047">
              <a:extLst>
                <a:ext uri="{FF2B5EF4-FFF2-40B4-BE49-F238E27FC236}">
                  <a16:creationId xmlns:a16="http://schemas.microsoft.com/office/drawing/2014/main" id="{FAC5501F-034D-69C0-B5E2-F2B26BB58D3F}"/>
                </a:ext>
              </a:extLst>
            </p:cNvPr>
            <p:cNvSpPr/>
            <p:nvPr/>
          </p:nvSpPr>
          <p:spPr>
            <a:xfrm>
              <a:off x="5311740" y="2314391"/>
              <a:ext cx="235853" cy="21210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1054" name="Grupo 1053">
            <a:extLst>
              <a:ext uri="{FF2B5EF4-FFF2-40B4-BE49-F238E27FC236}">
                <a16:creationId xmlns:a16="http://schemas.microsoft.com/office/drawing/2014/main" id="{D77C6C77-8169-9EDD-C4BE-9ACF53768FC2}"/>
              </a:ext>
            </a:extLst>
          </p:cNvPr>
          <p:cNvGrpSpPr/>
          <p:nvPr/>
        </p:nvGrpSpPr>
        <p:grpSpPr>
          <a:xfrm>
            <a:off x="6617534" y="768705"/>
            <a:ext cx="2420713" cy="2106502"/>
            <a:chOff x="6617534" y="768705"/>
            <a:chExt cx="2420713" cy="2106502"/>
          </a:xfrm>
        </p:grpSpPr>
        <p:pic>
          <p:nvPicPr>
            <p:cNvPr id="164" name="Picture 2" descr="Multimetro digital Fluke 117, detección de volumen Peru | Ubuy">
              <a:extLst>
                <a:ext uri="{FF2B5EF4-FFF2-40B4-BE49-F238E27FC236}">
                  <a16:creationId xmlns:a16="http://schemas.microsoft.com/office/drawing/2014/main" id="{A2831DCA-439A-6D58-CB25-661526CE86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1310" y="768705"/>
              <a:ext cx="1046937" cy="206991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tálogo de Diodos y Rectificadores - Dachs">
              <a:extLst>
                <a:ext uri="{FF2B5EF4-FFF2-40B4-BE49-F238E27FC236}">
                  <a16:creationId xmlns:a16="http://schemas.microsoft.com/office/drawing/2014/main" id="{DDDE668A-FF67-E47E-82AE-2DD12658FB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V="1">
              <a:off x="6617534" y="1310303"/>
              <a:ext cx="924431" cy="770359"/>
            </a:xfrm>
            <a:prstGeom prst="rect">
              <a:avLst/>
            </a:prstGeom>
            <a:noFill/>
            <a:extLst>
              <a:ext uri="{909E8E84-426E-40DD-AFC4-6F175D3DCCD1}">
                <a14:hiddenFill xmlns:a14="http://schemas.microsoft.com/office/drawing/2010/main">
                  <a:solidFill>
                    <a:srgbClr val="FFFFFF"/>
                  </a:solidFill>
                </a14:hiddenFill>
              </a:ext>
            </a:extLst>
          </p:spPr>
        </p:pic>
        <p:cxnSp>
          <p:nvCxnSpPr>
            <p:cNvPr id="170" name="Conector recto 169">
              <a:extLst>
                <a:ext uri="{FF2B5EF4-FFF2-40B4-BE49-F238E27FC236}">
                  <a16:creationId xmlns:a16="http://schemas.microsoft.com/office/drawing/2014/main" id="{A8E143EF-7C49-BCE9-795A-23C5119BB960}"/>
                </a:ext>
              </a:extLst>
            </p:cNvPr>
            <p:cNvCxnSpPr>
              <a:cxnSpLocks/>
            </p:cNvCxnSpPr>
            <p:nvPr/>
          </p:nvCxnSpPr>
          <p:spPr>
            <a:xfrm flipH="1">
              <a:off x="7525767" y="1337573"/>
              <a:ext cx="2137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1" name="Conector recto 170">
              <a:extLst>
                <a:ext uri="{FF2B5EF4-FFF2-40B4-BE49-F238E27FC236}">
                  <a16:creationId xmlns:a16="http://schemas.microsoft.com/office/drawing/2014/main" id="{D5210FA6-ABF0-A941-56F3-C211D5BCCD65}"/>
                </a:ext>
              </a:extLst>
            </p:cNvPr>
            <p:cNvCxnSpPr>
              <a:cxnSpLocks/>
            </p:cNvCxnSpPr>
            <p:nvPr/>
          </p:nvCxnSpPr>
          <p:spPr>
            <a:xfrm flipV="1">
              <a:off x="7739478" y="1337573"/>
              <a:ext cx="0" cy="10736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2" name="Conector recto 171">
              <a:extLst>
                <a:ext uri="{FF2B5EF4-FFF2-40B4-BE49-F238E27FC236}">
                  <a16:creationId xmlns:a16="http://schemas.microsoft.com/office/drawing/2014/main" id="{02E74B41-0D1D-F233-4846-56997412F3F2}"/>
                </a:ext>
              </a:extLst>
            </p:cNvPr>
            <p:cNvCxnSpPr>
              <a:cxnSpLocks/>
            </p:cNvCxnSpPr>
            <p:nvPr/>
          </p:nvCxnSpPr>
          <p:spPr>
            <a:xfrm flipH="1">
              <a:off x="7742361" y="2411228"/>
              <a:ext cx="9932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3" name="Conector recto de flecha 172">
              <a:extLst>
                <a:ext uri="{FF2B5EF4-FFF2-40B4-BE49-F238E27FC236}">
                  <a16:creationId xmlns:a16="http://schemas.microsoft.com/office/drawing/2014/main" id="{EEA416A9-2600-FE26-2A59-8B63C9FC1096}"/>
                </a:ext>
              </a:extLst>
            </p:cNvPr>
            <p:cNvCxnSpPr>
              <a:cxnSpLocks/>
            </p:cNvCxnSpPr>
            <p:nvPr/>
          </p:nvCxnSpPr>
          <p:spPr>
            <a:xfrm>
              <a:off x="8735611" y="2411228"/>
              <a:ext cx="0" cy="147723"/>
            </a:xfrm>
            <a:prstGeom prst="straightConnector1">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4" name="Conector recto 173">
              <a:extLst>
                <a:ext uri="{FF2B5EF4-FFF2-40B4-BE49-F238E27FC236}">
                  <a16:creationId xmlns:a16="http://schemas.microsoft.com/office/drawing/2014/main" id="{669A3F37-48D4-5B43-AE1E-B4EFACF3A2D5}"/>
                </a:ext>
              </a:extLst>
            </p:cNvPr>
            <p:cNvCxnSpPr>
              <a:cxnSpLocks/>
            </p:cNvCxnSpPr>
            <p:nvPr/>
          </p:nvCxnSpPr>
          <p:spPr>
            <a:xfrm flipV="1">
              <a:off x="6626645" y="2080111"/>
              <a:ext cx="0" cy="7950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Conector recto 174">
              <a:extLst>
                <a:ext uri="{FF2B5EF4-FFF2-40B4-BE49-F238E27FC236}">
                  <a16:creationId xmlns:a16="http://schemas.microsoft.com/office/drawing/2014/main" id="{CC856523-C101-25EE-2BF2-1D2A68EFA671}"/>
                </a:ext>
              </a:extLst>
            </p:cNvPr>
            <p:cNvCxnSpPr>
              <a:cxnSpLocks/>
            </p:cNvCxnSpPr>
            <p:nvPr/>
          </p:nvCxnSpPr>
          <p:spPr>
            <a:xfrm flipH="1">
              <a:off x="6626645" y="2858845"/>
              <a:ext cx="1887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Conector recto de flecha 175">
              <a:extLst>
                <a:ext uri="{FF2B5EF4-FFF2-40B4-BE49-F238E27FC236}">
                  <a16:creationId xmlns:a16="http://schemas.microsoft.com/office/drawing/2014/main" id="{39BE99FF-B2A3-F28A-589A-4FDFF58C6AB8}"/>
                </a:ext>
              </a:extLst>
            </p:cNvPr>
            <p:cNvCxnSpPr>
              <a:cxnSpLocks/>
            </p:cNvCxnSpPr>
            <p:nvPr/>
          </p:nvCxnSpPr>
          <p:spPr>
            <a:xfrm flipV="1">
              <a:off x="8514586" y="2558951"/>
              <a:ext cx="0" cy="29989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9" name="Elipse 1048">
              <a:extLst>
                <a:ext uri="{FF2B5EF4-FFF2-40B4-BE49-F238E27FC236}">
                  <a16:creationId xmlns:a16="http://schemas.microsoft.com/office/drawing/2014/main" id="{7DE19763-237F-CFEA-CC1D-FF1BBAC9B677}"/>
                </a:ext>
              </a:extLst>
            </p:cNvPr>
            <p:cNvSpPr/>
            <p:nvPr/>
          </p:nvSpPr>
          <p:spPr>
            <a:xfrm>
              <a:off x="8539390" y="2102289"/>
              <a:ext cx="235853" cy="21210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1055" name="Grupo 1054">
            <a:extLst>
              <a:ext uri="{FF2B5EF4-FFF2-40B4-BE49-F238E27FC236}">
                <a16:creationId xmlns:a16="http://schemas.microsoft.com/office/drawing/2014/main" id="{290C00A8-3E20-2B34-C069-4DFA6D3DABD8}"/>
              </a:ext>
            </a:extLst>
          </p:cNvPr>
          <p:cNvGrpSpPr/>
          <p:nvPr/>
        </p:nvGrpSpPr>
        <p:grpSpPr>
          <a:xfrm>
            <a:off x="351407" y="3648531"/>
            <a:ext cx="2706973" cy="2139798"/>
            <a:chOff x="351407" y="3648531"/>
            <a:chExt cx="2706973" cy="2139798"/>
          </a:xfrm>
        </p:grpSpPr>
        <p:pic>
          <p:nvPicPr>
            <p:cNvPr id="1032" name="Picture 8" descr="Resistencia física: Más de 65,162 ilustraciones y dibujos de stock con  licencia libres de regalías | Shutterstock">
              <a:extLst>
                <a:ext uri="{FF2B5EF4-FFF2-40B4-BE49-F238E27FC236}">
                  <a16:creationId xmlns:a16="http://schemas.microsoft.com/office/drawing/2014/main" id="{1C802195-BB0D-5238-7B6A-FA6F6E9CD2A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39" t="39078" r="10926" b="48461"/>
            <a:stretch>
              <a:fillRect/>
            </a:stretch>
          </p:blipFill>
          <p:spPr bwMode="auto">
            <a:xfrm>
              <a:off x="351407" y="4158787"/>
              <a:ext cx="1257136" cy="219837"/>
            </a:xfrm>
            <a:prstGeom prst="rect">
              <a:avLst/>
            </a:prstGeom>
            <a:noFill/>
            <a:extLst>
              <a:ext uri="{909E8E84-426E-40DD-AFC4-6F175D3DCCD1}">
                <a14:hiddenFill xmlns:a14="http://schemas.microsoft.com/office/drawing/2010/main">
                  <a:solidFill>
                    <a:srgbClr val="FFFFFF"/>
                  </a:solidFill>
                </a14:hiddenFill>
              </a:ext>
            </a:extLst>
          </p:spPr>
        </p:pic>
        <p:pic>
          <p:nvPicPr>
            <p:cNvPr id="185" name="Picture 2" descr="Multimetro digital Fluke 117, detección de volumen Peru | Ubuy">
              <a:extLst>
                <a:ext uri="{FF2B5EF4-FFF2-40B4-BE49-F238E27FC236}">
                  <a16:creationId xmlns:a16="http://schemas.microsoft.com/office/drawing/2014/main" id="{322E66E8-559E-6ABB-F7A8-59F37404AA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1443" y="3648531"/>
              <a:ext cx="1046937" cy="2069917"/>
            </a:xfrm>
            <a:prstGeom prst="rect">
              <a:avLst/>
            </a:prstGeom>
            <a:noFill/>
            <a:extLst>
              <a:ext uri="{909E8E84-426E-40DD-AFC4-6F175D3DCCD1}">
                <a14:hiddenFill xmlns:a14="http://schemas.microsoft.com/office/drawing/2010/main">
                  <a:solidFill>
                    <a:srgbClr val="FFFFFF"/>
                  </a:solidFill>
                </a14:hiddenFill>
              </a:ext>
            </a:extLst>
          </p:spPr>
        </p:pic>
        <p:cxnSp>
          <p:nvCxnSpPr>
            <p:cNvPr id="186" name="Conector recto 185">
              <a:extLst>
                <a:ext uri="{FF2B5EF4-FFF2-40B4-BE49-F238E27FC236}">
                  <a16:creationId xmlns:a16="http://schemas.microsoft.com/office/drawing/2014/main" id="{643B82B6-8595-0468-FC6E-CC82082152EE}"/>
                </a:ext>
              </a:extLst>
            </p:cNvPr>
            <p:cNvCxnSpPr>
              <a:cxnSpLocks/>
            </p:cNvCxnSpPr>
            <p:nvPr/>
          </p:nvCxnSpPr>
          <p:spPr>
            <a:xfrm flipH="1">
              <a:off x="1546092" y="4267057"/>
              <a:ext cx="2137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7" name="Conector recto 186">
              <a:extLst>
                <a:ext uri="{FF2B5EF4-FFF2-40B4-BE49-F238E27FC236}">
                  <a16:creationId xmlns:a16="http://schemas.microsoft.com/office/drawing/2014/main" id="{D0F09C22-6F08-8B27-B5C0-A50E8EB539B6}"/>
                </a:ext>
              </a:extLst>
            </p:cNvPr>
            <p:cNvCxnSpPr>
              <a:cxnSpLocks/>
            </p:cNvCxnSpPr>
            <p:nvPr/>
          </p:nvCxnSpPr>
          <p:spPr>
            <a:xfrm flipV="1">
              <a:off x="1759803" y="4267057"/>
              <a:ext cx="0" cy="10736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8" name="Conector recto 187">
              <a:extLst>
                <a:ext uri="{FF2B5EF4-FFF2-40B4-BE49-F238E27FC236}">
                  <a16:creationId xmlns:a16="http://schemas.microsoft.com/office/drawing/2014/main" id="{81B4161B-103C-69B4-92F0-5E9F4A3202BD}"/>
                </a:ext>
              </a:extLst>
            </p:cNvPr>
            <p:cNvCxnSpPr>
              <a:cxnSpLocks/>
            </p:cNvCxnSpPr>
            <p:nvPr/>
          </p:nvCxnSpPr>
          <p:spPr>
            <a:xfrm flipH="1">
              <a:off x="1762686" y="5340712"/>
              <a:ext cx="9932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9" name="Conector recto de flecha 188">
              <a:extLst>
                <a:ext uri="{FF2B5EF4-FFF2-40B4-BE49-F238E27FC236}">
                  <a16:creationId xmlns:a16="http://schemas.microsoft.com/office/drawing/2014/main" id="{F69180F3-71A1-E23C-6F5C-01E2F0541A54}"/>
                </a:ext>
              </a:extLst>
            </p:cNvPr>
            <p:cNvCxnSpPr>
              <a:cxnSpLocks/>
            </p:cNvCxnSpPr>
            <p:nvPr/>
          </p:nvCxnSpPr>
          <p:spPr>
            <a:xfrm>
              <a:off x="2755936" y="5340712"/>
              <a:ext cx="0" cy="147723"/>
            </a:xfrm>
            <a:prstGeom prst="straightConnector1">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0" name="Conector recto 189">
              <a:extLst>
                <a:ext uri="{FF2B5EF4-FFF2-40B4-BE49-F238E27FC236}">
                  <a16:creationId xmlns:a16="http://schemas.microsoft.com/office/drawing/2014/main" id="{FEA54809-7177-53A1-A3B5-C8FE1297C997}"/>
                </a:ext>
              </a:extLst>
            </p:cNvPr>
            <p:cNvCxnSpPr>
              <a:cxnSpLocks/>
            </p:cNvCxnSpPr>
            <p:nvPr/>
          </p:nvCxnSpPr>
          <p:spPr>
            <a:xfrm flipV="1">
              <a:off x="353603" y="4267057"/>
              <a:ext cx="0" cy="15212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Conector recto 190">
              <a:extLst>
                <a:ext uri="{FF2B5EF4-FFF2-40B4-BE49-F238E27FC236}">
                  <a16:creationId xmlns:a16="http://schemas.microsoft.com/office/drawing/2014/main" id="{982AE29A-2F61-BC1B-9942-D160DA362FC0}"/>
                </a:ext>
              </a:extLst>
            </p:cNvPr>
            <p:cNvCxnSpPr>
              <a:cxnSpLocks/>
            </p:cNvCxnSpPr>
            <p:nvPr/>
          </p:nvCxnSpPr>
          <p:spPr>
            <a:xfrm flipH="1">
              <a:off x="351407" y="5788329"/>
              <a:ext cx="21835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Conector recto de flecha 1023">
              <a:extLst>
                <a:ext uri="{FF2B5EF4-FFF2-40B4-BE49-F238E27FC236}">
                  <a16:creationId xmlns:a16="http://schemas.microsoft.com/office/drawing/2014/main" id="{41A1E3CB-7AE3-6858-5D43-F608D1D93AC9}"/>
                </a:ext>
              </a:extLst>
            </p:cNvPr>
            <p:cNvCxnSpPr>
              <a:cxnSpLocks/>
            </p:cNvCxnSpPr>
            <p:nvPr/>
          </p:nvCxnSpPr>
          <p:spPr>
            <a:xfrm flipV="1">
              <a:off x="2534911" y="5488435"/>
              <a:ext cx="0" cy="29989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0" name="Elipse 1049">
              <a:extLst>
                <a:ext uri="{FF2B5EF4-FFF2-40B4-BE49-F238E27FC236}">
                  <a16:creationId xmlns:a16="http://schemas.microsoft.com/office/drawing/2014/main" id="{9A3B2790-6BA2-F299-33C2-9D02AEB586E8}"/>
                </a:ext>
              </a:extLst>
            </p:cNvPr>
            <p:cNvSpPr/>
            <p:nvPr/>
          </p:nvSpPr>
          <p:spPr>
            <a:xfrm>
              <a:off x="2638009" y="4727829"/>
              <a:ext cx="235853" cy="21210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1056" name="Grupo 1055">
            <a:extLst>
              <a:ext uri="{FF2B5EF4-FFF2-40B4-BE49-F238E27FC236}">
                <a16:creationId xmlns:a16="http://schemas.microsoft.com/office/drawing/2014/main" id="{82B54E57-C79C-0574-8CA0-B881B59C31EE}"/>
              </a:ext>
            </a:extLst>
          </p:cNvPr>
          <p:cNvGrpSpPr/>
          <p:nvPr/>
        </p:nvGrpSpPr>
        <p:grpSpPr>
          <a:xfrm>
            <a:off x="4244662" y="3576514"/>
            <a:ext cx="3304598" cy="2139798"/>
            <a:chOff x="4244662" y="3576514"/>
            <a:chExt cx="3304598" cy="2139798"/>
          </a:xfrm>
        </p:grpSpPr>
        <p:pic>
          <p:nvPicPr>
            <p:cNvPr id="1034" name="Picture 10" descr="Electrónica básica- Codificación de condensadores - El blog de Peponcito">
              <a:extLst>
                <a:ext uri="{FF2B5EF4-FFF2-40B4-BE49-F238E27FC236}">
                  <a16:creationId xmlns:a16="http://schemas.microsoft.com/office/drawing/2014/main" id="{F4AFEA11-058B-CB8E-BD45-DC66F8B9FFD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44662" y="3890169"/>
              <a:ext cx="1561741" cy="125366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2" descr="Multimetro digital Fluke 117, detección de volumen Peru | Ubuy">
              <a:extLst>
                <a:ext uri="{FF2B5EF4-FFF2-40B4-BE49-F238E27FC236}">
                  <a16:creationId xmlns:a16="http://schemas.microsoft.com/office/drawing/2014/main" id="{71356194-1DF8-AED2-F0F4-DD4B5B1DF2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02323" y="3576514"/>
              <a:ext cx="1046937" cy="2069917"/>
            </a:xfrm>
            <a:prstGeom prst="rect">
              <a:avLst/>
            </a:prstGeom>
            <a:noFill/>
            <a:extLst>
              <a:ext uri="{909E8E84-426E-40DD-AFC4-6F175D3DCCD1}">
                <a14:hiddenFill xmlns:a14="http://schemas.microsoft.com/office/drawing/2010/main">
                  <a:solidFill>
                    <a:srgbClr val="FFFFFF"/>
                  </a:solidFill>
                </a14:hiddenFill>
              </a:ext>
            </a:extLst>
          </p:spPr>
        </p:pic>
        <p:cxnSp>
          <p:nvCxnSpPr>
            <p:cNvPr id="1035" name="Conector recto 1034">
              <a:extLst>
                <a:ext uri="{FF2B5EF4-FFF2-40B4-BE49-F238E27FC236}">
                  <a16:creationId xmlns:a16="http://schemas.microsoft.com/office/drawing/2014/main" id="{B5E1459E-5528-AFAF-718D-9C5E9FDC4DBC}"/>
                </a:ext>
              </a:extLst>
            </p:cNvPr>
            <p:cNvCxnSpPr>
              <a:cxnSpLocks/>
            </p:cNvCxnSpPr>
            <p:nvPr/>
          </p:nvCxnSpPr>
          <p:spPr>
            <a:xfrm flipH="1">
              <a:off x="5736123" y="5143706"/>
              <a:ext cx="104938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6" name="Conector recto de flecha 1035">
              <a:extLst>
                <a:ext uri="{FF2B5EF4-FFF2-40B4-BE49-F238E27FC236}">
                  <a16:creationId xmlns:a16="http://schemas.microsoft.com/office/drawing/2014/main" id="{1D282F91-5985-6CBD-A988-8FD139624183}"/>
                </a:ext>
              </a:extLst>
            </p:cNvPr>
            <p:cNvCxnSpPr>
              <a:cxnSpLocks/>
            </p:cNvCxnSpPr>
            <p:nvPr/>
          </p:nvCxnSpPr>
          <p:spPr>
            <a:xfrm>
              <a:off x="6771600" y="5141955"/>
              <a:ext cx="13912" cy="274463"/>
            </a:xfrm>
            <a:prstGeom prst="straightConnector1">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7" name="Conector recto 1036">
              <a:extLst>
                <a:ext uri="{FF2B5EF4-FFF2-40B4-BE49-F238E27FC236}">
                  <a16:creationId xmlns:a16="http://schemas.microsoft.com/office/drawing/2014/main" id="{65E79C4D-68BF-4B4D-A490-6FF12426F21D}"/>
                </a:ext>
              </a:extLst>
            </p:cNvPr>
            <p:cNvCxnSpPr>
              <a:cxnSpLocks/>
            </p:cNvCxnSpPr>
            <p:nvPr/>
          </p:nvCxnSpPr>
          <p:spPr>
            <a:xfrm flipV="1">
              <a:off x="5526348" y="5141955"/>
              <a:ext cx="0" cy="574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Conector recto 1037">
              <a:extLst>
                <a:ext uri="{FF2B5EF4-FFF2-40B4-BE49-F238E27FC236}">
                  <a16:creationId xmlns:a16="http://schemas.microsoft.com/office/drawing/2014/main" id="{2B700D9E-0DF4-3FDB-1384-7B9891B5B2AC}"/>
                </a:ext>
              </a:extLst>
            </p:cNvPr>
            <p:cNvCxnSpPr>
              <a:cxnSpLocks/>
            </p:cNvCxnSpPr>
            <p:nvPr/>
          </p:nvCxnSpPr>
          <p:spPr>
            <a:xfrm flipH="1">
              <a:off x="5526348" y="5716312"/>
              <a:ext cx="14994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Conector recto de flecha 1038">
              <a:extLst>
                <a:ext uri="{FF2B5EF4-FFF2-40B4-BE49-F238E27FC236}">
                  <a16:creationId xmlns:a16="http://schemas.microsoft.com/office/drawing/2014/main" id="{12E0977C-4C3C-41B7-13AF-D451F2B71527}"/>
                </a:ext>
              </a:extLst>
            </p:cNvPr>
            <p:cNvCxnSpPr>
              <a:cxnSpLocks/>
            </p:cNvCxnSpPr>
            <p:nvPr/>
          </p:nvCxnSpPr>
          <p:spPr>
            <a:xfrm flipV="1">
              <a:off x="7025791" y="5416418"/>
              <a:ext cx="0" cy="299894"/>
            </a:xfrm>
            <a:prstGeom prst="straightConnector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1" name="Elipse 1050">
              <a:extLst>
                <a:ext uri="{FF2B5EF4-FFF2-40B4-BE49-F238E27FC236}">
                  <a16:creationId xmlns:a16="http://schemas.microsoft.com/office/drawing/2014/main" id="{57E0E169-60C5-DD42-1CD6-D74C508C2C65}"/>
                </a:ext>
              </a:extLst>
            </p:cNvPr>
            <p:cNvSpPr/>
            <p:nvPr/>
          </p:nvSpPr>
          <p:spPr>
            <a:xfrm>
              <a:off x="6774849" y="5024065"/>
              <a:ext cx="235853" cy="21210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43"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Equipos de laboratorio</a:t>
            </a:r>
            <a:endParaRPr lang="es-CO" sz="1800" b="0" strike="noStrike" spc="-1">
              <a:latin typeface="Arial"/>
            </a:endParaRPr>
          </a:p>
        </p:txBody>
      </p:sp>
      <p:sp>
        <p:nvSpPr>
          <p:cNvPr id="144"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C123E23C-4BC3-43C6-80FB-1BAB6685D217}" type="slidenum">
              <a:rPr lang="es-CO" sz="1200" b="0" strike="noStrike" spc="-1">
                <a:solidFill>
                  <a:srgbClr val="FFFFFF"/>
                </a:solidFill>
                <a:latin typeface="Calibri"/>
                <a:ea typeface="DejaVu Sans"/>
              </a:rPr>
              <a:t>4</a:t>
            </a:fld>
            <a:endParaRPr lang="es-CO" sz="1200" b="0" strike="noStrike" spc="-1">
              <a:latin typeface="Arial"/>
            </a:endParaRPr>
          </a:p>
        </p:txBody>
      </p:sp>
      <p:sp>
        <p:nvSpPr>
          <p:cNvPr id="145" name="Rectángulo 1"/>
          <p:cNvSpPr/>
          <p:nvPr/>
        </p:nvSpPr>
        <p:spPr>
          <a:xfrm>
            <a:off x="7748640" y="105480"/>
            <a:ext cx="119412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a:solidFill>
                  <a:srgbClr val="2C5697"/>
                </a:solidFill>
                <a:latin typeface="Arial"/>
                <a:ea typeface="DejaVu Sans"/>
              </a:rPr>
              <a:t>Osciloscopio</a:t>
            </a:r>
            <a:endParaRPr lang="es-CO" sz="1400" b="0" strike="noStrike" spc="-1">
              <a:latin typeface="Arial"/>
            </a:endParaRPr>
          </a:p>
        </p:txBody>
      </p:sp>
      <p:sp>
        <p:nvSpPr>
          <p:cNvPr id="147"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grpSp>
        <p:nvGrpSpPr>
          <p:cNvPr id="16" name="Grupo 15">
            <a:extLst>
              <a:ext uri="{FF2B5EF4-FFF2-40B4-BE49-F238E27FC236}">
                <a16:creationId xmlns:a16="http://schemas.microsoft.com/office/drawing/2014/main" id="{6FB5DA1F-9CFD-F13D-A729-C2952D0C8028}"/>
              </a:ext>
            </a:extLst>
          </p:cNvPr>
          <p:cNvGrpSpPr/>
          <p:nvPr/>
        </p:nvGrpSpPr>
        <p:grpSpPr>
          <a:xfrm>
            <a:off x="799524" y="835194"/>
            <a:ext cx="8293356" cy="4035498"/>
            <a:chOff x="799524" y="835194"/>
            <a:chExt cx="8293356" cy="4035498"/>
          </a:xfrm>
        </p:grpSpPr>
        <p:pic>
          <p:nvPicPr>
            <p:cNvPr id="3" name="Imagen 2" descr="Interfaz de usuario gráfica&#10;&#10;El contenido generado por IA puede ser incorrecto.">
              <a:extLst>
                <a:ext uri="{FF2B5EF4-FFF2-40B4-BE49-F238E27FC236}">
                  <a16:creationId xmlns:a16="http://schemas.microsoft.com/office/drawing/2014/main" id="{EAA6CC44-55E7-AE10-7A07-079B65FA345E}"/>
                </a:ext>
              </a:extLst>
            </p:cNvPr>
            <p:cNvPicPr>
              <a:picLocks noChangeAspect="1"/>
            </p:cNvPicPr>
            <p:nvPr/>
          </p:nvPicPr>
          <p:blipFill>
            <a:blip r:embed="rId2">
              <a:extLst>
                <a:ext uri="{28A0092B-C50C-407E-A947-70E740481C1C}">
                  <a14:useLocalDpi xmlns:a14="http://schemas.microsoft.com/office/drawing/2010/main" val="0"/>
                </a:ext>
              </a:extLst>
            </a:blip>
            <a:srcRect l="3201" t="10249" r="18208" b="5697"/>
            <a:stretch>
              <a:fillRect/>
            </a:stretch>
          </p:blipFill>
          <p:spPr>
            <a:xfrm>
              <a:off x="1350149" y="1210922"/>
              <a:ext cx="5388041" cy="3456432"/>
            </a:xfrm>
            <a:prstGeom prst="rect">
              <a:avLst/>
            </a:prstGeom>
          </p:spPr>
        </p:pic>
        <p:sp>
          <p:nvSpPr>
            <p:cNvPr id="4" name="CuadroTexto 3">
              <a:extLst>
                <a:ext uri="{FF2B5EF4-FFF2-40B4-BE49-F238E27FC236}">
                  <a16:creationId xmlns:a16="http://schemas.microsoft.com/office/drawing/2014/main" id="{60CAEA03-D111-0993-69D4-EC3B890CCA7A}"/>
                </a:ext>
              </a:extLst>
            </p:cNvPr>
            <p:cNvSpPr txBox="1"/>
            <p:nvPr/>
          </p:nvSpPr>
          <p:spPr>
            <a:xfrm>
              <a:off x="799524" y="1414260"/>
              <a:ext cx="1401345" cy="261610"/>
            </a:xfrm>
            <a:prstGeom prst="rect">
              <a:avLst/>
            </a:prstGeom>
            <a:noFill/>
          </p:spPr>
          <p:txBody>
            <a:bodyPr wrap="none" rtlCol="0">
              <a:spAutoFit/>
            </a:bodyPr>
            <a:lstStyle>
              <a:defPPr>
                <a:defRPr lang="es-US"/>
              </a:defPPr>
              <a:lvl1pPr algn="ctr">
                <a:defRPr sz="1100"/>
              </a:lvl1pPr>
            </a:lstStyle>
            <a:p>
              <a:r>
                <a:rPr lang="es-ES" dirty="0"/>
                <a:t>Pantalla (pulgadas)</a:t>
              </a:r>
              <a:endParaRPr lang="es-CO" dirty="0"/>
            </a:p>
          </p:txBody>
        </p:sp>
        <p:sp>
          <p:nvSpPr>
            <p:cNvPr id="5" name="CuadroTexto 4">
              <a:extLst>
                <a:ext uri="{FF2B5EF4-FFF2-40B4-BE49-F238E27FC236}">
                  <a16:creationId xmlns:a16="http://schemas.microsoft.com/office/drawing/2014/main" id="{77A199F0-4932-03D1-D4A9-A401008585E5}"/>
                </a:ext>
              </a:extLst>
            </p:cNvPr>
            <p:cNvSpPr txBox="1"/>
            <p:nvPr/>
          </p:nvSpPr>
          <p:spPr>
            <a:xfrm>
              <a:off x="2478742" y="1392165"/>
              <a:ext cx="1422184" cy="430887"/>
            </a:xfrm>
            <a:prstGeom prst="rect">
              <a:avLst/>
            </a:prstGeom>
            <a:noFill/>
          </p:spPr>
          <p:txBody>
            <a:bodyPr wrap="none" rtlCol="0">
              <a:spAutoFit/>
            </a:bodyPr>
            <a:lstStyle/>
            <a:p>
              <a:pPr algn="ctr"/>
              <a:r>
                <a:rPr lang="es-CO" sz="1100" dirty="0"/>
                <a:t>Botón de guardado </a:t>
              </a:r>
            </a:p>
            <a:p>
              <a:pPr algn="ctr"/>
              <a:r>
                <a:rPr lang="es-CO" sz="1100" dirty="0"/>
                <a:t>rápido</a:t>
              </a:r>
            </a:p>
          </p:txBody>
        </p:sp>
        <p:sp>
          <p:nvSpPr>
            <p:cNvPr id="7" name="CuadroTexto 6">
              <a:extLst>
                <a:ext uri="{FF2B5EF4-FFF2-40B4-BE49-F238E27FC236}">
                  <a16:creationId xmlns:a16="http://schemas.microsoft.com/office/drawing/2014/main" id="{50C199BD-1741-18EE-DF2D-713197BCE4B7}"/>
                </a:ext>
              </a:extLst>
            </p:cNvPr>
            <p:cNvSpPr txBox="1"/>
            <p:nvPr/>
          </p:nvSpPr>
          <p:spPr>
            <a:xfrm>
              <a:off x="3603183" y="927078"/>
              <a:ext cx="1593705" cy="430887"/>
            </a:xfrm>
            <a:prstGeom prst="rect">
              <a:avLst/>
            </a:prstGeom>
            <a:noFill/>
          </p:spPr>
          <p:txBody>
            <a:bodyPr wrap="none" rtlCol="0">
              <a:spAutoFit/>
            </a:bodyPr>
            <a:lstStyle>
              <a:defPPr>
                <a:defRPr lang="es-US"/>
              </a:defPPr>
              <a:lvl1pPr algn="ctr">
                <a:defRPr sz="1100"/>
              </a:lvl1pPr>
            </a:lstStyle>
            <a:p>
              <a:r>
                <a:rPr lang="es-CO" dirty="0"/>
                <a:t>soporte de laboratorio </a:t>
              </a:r>
            </a:p>
            <a:p>
              <a:r>
                <a:rPr lang="es-CO" dirty="0"/>
                <a:t>para estudiantes</a:t>
              </a:r>
            </a:p>
          </p:txBody>
        </p:sp>
        <p:sp>
          <p:nvSpPr>
            <p:cNvPr id="8" name="CuadroTexto 7">
              <a:extLst>
                <a:ext uri="{FF2B5EF4-FFF2-40B4-BE49-F238E27FC236}">
                  <a16:creationId xmlns:a16="http://schemas.microsoft.com/office/drawing/2014/main" id="{C65AA9FB-595C-A3F6-AF8A-A69567C56297}"/>
                </a:ext>
              </a:extLst>
            </p:cNvPr>
            <p:cNvSpPr txBox="1"/>
            <p:nvPr/>
          </p:nvSpPr>
          <p:spPr>
            <a:xfrm>
              <a:off x="5272230" y="835194"/>
              <a:ext cx="2154756" cy="430887"/>
            </a:xfrm>
            <a:prstGeom prst="rect">
              <a:avLst/>
            </a:prstGeom>
            <a:noFill/>
          </p:spPr>
          <p:txBody>
            <a:bodyPr wrap="none" rtlCol="0">
              <a:spAutoFit/>
            </a:bodyPr>
            <a:lstStyle>
              <a:defPPr>
                <a:defRPr lang="es-US"/>
              </a:defPPr>
              <a:lvl1pPr algn="ctr">
                <a:defRPr sz="1100"/>
              </a:lvl1pPr>
            </a:lstStyle>
            <a:p>
              <a:r>
                <a:rPr lang="es-ES" dirty="0"/>
                <a:t>Introducción del osciloscopio </a:t>
              </a:r>
            </a:p>
            <a:p>
              <a:r>
                <a:rPr lang="es-ES" dirty="0"/>
                <a:t>con asistencia </a:t>
              </a:r>
              <a:r>
                <a:rPr lang="es-ES" dirty="0" err="1"/>
                <a:t>HelpEverywhere</a:t>
              </a:r>
              <a:endParaRPr lang="es-CO" dirty="0"/>
            </a:p>
          </p:txBody>
        </p:sp>
        <p:sp>
          <p:nvSpPr>
            <p:cNvPr id="9" name="CuadroTexto 8">
              <a:extLst>
                <a:ext uri="{FF2B5EF4-FFF2-40B4-BE49-F238E27FC236}">
                  <a16:creationId xmlns:a16="http://schemas.microsoft.com/office/drawing/2014/main" id="{5959A73F-2293-E1C8-89BD-E5AD3A00B78F}"/>
                </a:ext>
              </a:extLst>
            </p:cNvPr>
            <p:cNvSpPr txBox="1"/>
            <p:nvPr/>
          </p:nvSpPr>
          <p:spPr>
            <a:xfrm>
              <a:off x="6208315" y="1522970"/>
              <a:ext cx="2356735" cy="600164"/>
            </a:xfrm>
            <a:prstGeom prst="rect">
              <a:avLst/>
            </a:prstGeom>
            <a:noFill/>
          </p:spPr>
          <p:txBody>
            <a:bodyPr wrap="none" rtlCol="0">
              <a:spAutoFit/>
            </a:bodyPr>
            <a:lstStyle>
              <a:defPPr>
                <a:defRPr lang="es-US"/>
              </a:defPPr>
              <a:lvl1pPr algn="ctr">
                <a:defRPr sz="1100"/>
              </a:lvl1pPr>
            </a:lstStyle>
            <a:p>
              <a:r>
                <a:rPr lang="es-ES" dirty="0"/>
                <a:t>Perilla con botón para navegación </a:t>
              </a:r>
            </a:p>
            <a:p>
              <a:r>
                <a:rPr lang="es-ES" dirty="0"/>
                <a:t>de formas de onda y configuración</a:t>
              </a:r>
            </a:p>
            <a:p>
              <a:r>
                <a:rPr lang="es-ES" dirty="0"/>
                <a:t> rápida del osciloscopio</a:t>
              </a:r>
              <a:endParaRPr lang="es-CO" dirty="0"/>
            </a:p>
          </p:txBody>
        </p:sp>
        <p:sp>
          <p:nvSpPr>
            <p:cNvPr id="11" name="CuadroTexto 10">
              <a:extLst>
                <a:ext uri="{FF2B5EF4-FFF2-40B4-BE49-F238E27FC236}">
                  <a16:creationId xmlns:a16="http://schemas.microsoft.com/office/drawing/2014/main" id="{72EA134A-7A7C-504D-E89B-591D23547FF9}"/>
                </a:ext>
              </a:extLst>
            </p:cNvPr>
            <p:cNvSpPr txBox="1"/>
            <p:nvPr/>
          </p:nvSpPr>
          <p:spPr>
            <a:xfrm>
              <a:off x="6506916" y="2625802"/>
              <a:ext cx="2585964" cy="769441"/>
            </a:xfrm>
            <a:prstGeom prst="rect">
              <a:avLst/>
            </a:prstGeom>
            <a:noFill/>
          </p:spPr>
          <p:txBody>
            <a:bodyPr wrap="none" rtlCol="0">
              <a:spAutoFit/>
            </a:bodyPr>
            <a:lstStyle>
              <a:defPPr>
                <a:defRPr lang="es-US"/>
              </a:defPPr>
              <a:lvl1pPr algn="ctr">
                <a:defRPr sz="1100"/>
              </a:lvl1pPr>
            </a:lstStyle>
            <a:p>
              <a:r>
                <a:rPr lang="es-ES" dirty="0"/>
                <a:t>Perillas/botón para selección</a:t>
              </a:r>
            </a:p>
            <a:p>
              <a:r>
                <a:rPr lang="es-ES" dirty="0"/>
                <a:t> instantánea de fuente de disparo </a:t>
              </a:r>
            </a:p>
            <a:p>
              <a:r>
                <a:rPr lang="es-ES" dirty="0"/>
                <a:t>(</a:t>
              </a:r>
              <a:r>
                <a:rPr lang="es-ES" dirty="0" err="1"/>
                <a:t>trigger</a:t>
              </a:r>
              <a:r>
                <a:rPr lang="es-ES" dirty="0"/>
                <a:t>), centrado vertical y horizontal </a:t>
              </a:r>
            </a:p>
            <a:p>
              <a:r>
                <a:rPr lang="es-ES" dirty="0"/>
                <a:t>y nivel de disparo</a:t>
              </a:r>
              <a:endParaRPr lang="es-CO" dirty="0"/>
            </a:p>
          </p:txBody>
        </p:sp>
        <p:sp>
          <p:nvSpPr>
            <p:cNvPr id="13" name="CuadroTexto 12">
              <a:extLst>
                <a:ext uri="{FF2B5EF4-FFF2-40B4-BE49-F238E27FC236}">
                  <a16:creationId xmlns:a16="http://schemas.microsoft.com/office/drawing/2014/main" id="{7A4EAAF0-B458-9D92-911C-B322073F6394}"/>
                </a:ext>
              </a:extLst>
            </p:cNvPr>
            <p:cNvSpPr txBox="1"/>
            <p:nvPr/>
          </p:nvSpPr>
          <p:spPr>
            <a:xfrm>
              <a:off x="4044169" y="4590875"/>
              <a:ext cx="2305439" cy="261610"/>
            </a:xfrm>
            <a:prstGeom prst="rect">
              <a:avLst/>
            </a:prstGeom>
            <a:noFill/>
          </p:spPr>
          <p:txBody>
            <a:bodyPr wrap="none" rtlCol="0">
              <a:spAutoFit/>
            </a:bodyPr>
            <a:lstStyle>
              <a:defPPr>
                <a:defRPr lang="es-US"/>
              </a:defPPr>
              <a:lvl1pPr algn="ctr">
                <a:defRPr sz="1100"/>
              </a:lvl1pPr>
            </a:lstStyle>
            <a:p>
              <a:r>
                <a:rPr lang="es-CO" dirty="0"/>
                <a:t>Interfaz para conexión de sondas </a:t>
              </a:r>
            </a:p>
          </p:txBody>
        </p:sp>
        <p:sp>
          <p:nvSpPr>
            <p:cNvPr id="15" name="CuadroTexto 14">
              <a:extLst>
                <a:ext uri="{FF2B5EF4-FFF2-40B4-BE49-F238E27FC236}">
                  <a16:creationId xmlns:a16="http://schemas.microsoft.com/office/drawing/2014/main" id="{5552DE68-00D0-E4A5-61C0-86A2AD7BA273}"/>
                </a:ext>
              </a:extLst>
            </p:cNvPr>
            <p:cNvSpPr txBox="1"/>
            <p:nvPr/>
          </p:nvSpPr>
          <p:spPr>
            <a:xfrm>
              <a:off x="1351540" y="4609082"/>
              <a:ext cx="2050561" cy="261610"/>
            </a:xfrm>
            <a:prstGeom prst="rect">
              <a:avLst/>
            </a:prstGeom>
            <a:noFill/>
          </p:spPr>
          <p:txBody>
            <a:bodyPr wrap="none" rtlCol="0">
              <a:spAutoFit/>
            </a:bodyPr>
            <a:lstStyle>
              <a:defPPr>
                <a:defRPr lang="es-US"/>
              </a:defPPr>
              <a:lvl1pPr algn="ctr">
                <a:defRPr sz="1100"/>
              </a:lvl1pPr>
            </a:lstStyle>
            <a:p>
              <a:r>
                <a:rPr lang="es-ES" dirty="0"/>
                <a:t>Puerto para unidad flash USB</a:t>
              </a:r>
              <a:endParaRPr lang="es-CO" dirty="0"/>
            </a:p>
          </p:txBody>
        </p:sp>
      </p:grpSp>
      <p:sp>
        <p:nvSpPr>
          <p:cNvPr id="18" name="CuadroTexto 17">
            <a:extLst>
              <a:ext uri="{FF2B5EF4-FFF2-40B4-BE49-F238E27FC236}">
                <a16:creationId xmlns:a16="http://schemas.microsoft.com/office/drawing/2014/main" id="{B4B62121-6B61-4046-5069-0A42C961C740}"/>
              </a:ext>
            </a:extLst>
          </p:cNvPr>
          <p:cNvSpPr txBox="1"/>
          <p:nvPr/>
        </p:nvSpPr>
        <p:spPr>
          <a:xfrm>
            <a:off x="14427" y="5861356"/>
            <a:ext cx="1829347" cy="215444"/>
          </a:xfrm>
          <a:prstGeom prst="rect">
            <a:avLst/>
          </a:prstGeom>
          <a:noFill/>
        </p:spPr>
        <p:txBody>
          <a:bodyPr wrap="none" rtlCol="0">
            <a:spAutoFit/>
          </a:bodyPr>
          <a:lstStyle>
            <a:defPPr>
              <a:defRPr lang="es-US"/>
            </a:defPPr>
            <a:lvl1pPr algn="ctr">
              <a:defRPr sz="1100"/>
            </a:lvl1pPr>
          </a:lstStyle>
          <a:p>
            <a:r>
              <a:rPr lang="es-CO" sz="800" dirty="0">
                <a:solidFill>
                  <a:schemeClr val="bg1"/>
                </a:solidFill>
              </a:rPr>
              <a:t>[1] Descripción general osciloscopio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87C874-0844-5E9F-485D-E9901550CD62}"/>
            </a:ext>
          </a:extLst>
        </p:cNvPr>
        <p:cNvGrpSpPr/>
        <p:nvPr/>
      </p:nvGrpSpPr>
      <p:grpSpPr>
        <a:xfrm>
          <a:off x="0" y="0"/>
          <a:ext cx="0" cy="0"/>
          <a:chOff x="0" y="0"/>
          <a:chExt cx="0" cy="0"/>
        </a:xfrm>
      </p:grpSpPr>
      <p:sp>
        <p:nvSpPr>
          <p:cNvPr id="142" name="Rectángulo 3">
            <a:extLst>
              <a:ext uri="{FF2B5EF4-FFF2-40B4-BE49-F238E27FC236}">
                <a16:creationId xmlns:a16="http://schemas.microsoft.com/office/drawing/2014/main" id="{F3673982-4399-74C5-D7E7-AA3427AD2659}"/>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43" name="Rectángulo 6">
            <a:extLst>
              <a:ext uri="{FF2B5EF4-FFF2-40B4-BE49-F238E27FC236}">
                <a16:creationId xmlns:a16="http://schemas.microsoft.com/office/drawing/2014/main" id="{7FD9E939-E366-2038-9973-9CCB1F0B2A26}"/>
              </a:ext>
            </a:extLst>
          </p:cNvPr>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Equipos de laboratorio</a:t>
            </a:r>
            <a:endParaRPr lang="es-CO" sz="1800" b="0" strike="noStrike" spc="-1">
              <a:latin typeface="Arial"/>
            </a:endParaRPr>
          </a:p>
        </p:txBody>
      </p:sp>
      <p:sp>
        <p:nvSpPr>
          <p:cNvPr id="144" name="Marcador de número de diapositiva 3">
            <a:extLst>
              <a:ext uri="{FF2B5EF4-FFF2-40B4-BE49-F238E27FC236}">
                <a16:creationId xmlns:a16="http://schemas.microsoft.com/office/drawing/2014/main" id="{005D6EA8-F916-20E8-D509-CF5C5991E2E3}"/>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C123E23C-4BC3-43C6-80FB-1BAB6685D217}" type="slidenum">
              <a:rPr lang="es-CO" sz="1200" b="0" strike="noStrike" spc="-1">
                <a:solidFill>
                  <a:srgbClr val="FFFFFF"/>
                </a:solidFill>
                <a:latin typeface="Calibri"/>
                <a:ea typeface="DejaVu Sans"/>
              </a:rPr>
              <a:t>5</a:t>
            </a:fld>
            <a:endParaRPr lang="es-CO" sz="1200" b="0" strike="noStrike" spc="-1">
              <a:latin typeface="Arial"/>
            </a:endParaRPr>
          </a:p>
        </p:txBody>
      </p:sp>
      <p:sp>
        <p:nvSpPr>
          <p:cNvPr id="145" name="Rectángulo 1">
            <a:extLst>
              <a:ext uri="{FF2B5EF4-FFF2-40B4-BE49-F238E27FC236}">
                <a16:creationId xmlns:a16="http://schemas.microsoft.com/office/drawing/2014/main" id="{D4539D90-4DAB-AAD5-3D77-4D005A8CEC6F}"/>
              </a:ext>
            </a:extLst>
          </p:cNvPr>
          <p:cNvSpPr/>
          <p:nvPr/>
        </p:nvSpPr>
        <p:spPr>
          <a:xfrm>
            <a:off x="7748640" y="105480"/>
            <a:ext cx="119412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a:solidFill>
                  <a:srgbClr val="2C5697"/>
                </a:solidFill>
                <a:latin typeface="Arial"/>
                <a:ea typeface="DejaVu Sans"/>
              </a:rPr>
              <a:t>Osciloscopio</a:t>
            </a:r>
            <a:endParaRPr lang="es-CO" sz="1400" b="0" strike="noStrike" spc="-1">
              <a:latin typeface="Arial"/>
            </a:endParaRPr>
          </a:p>
        </p:txBody>
      </p:sp>
      <p:sp>
        <p:nvSpPr>
          <p:cNvPr id="147" name="Título 1">
            <a:extLst>
              <a:ext uri="{FF2B5EF4-FFF2-40B4-BE49-F238E27FC236}">
                <a16:creationId xmlns:a16="http://schemas.microsoft.com/office/drawing/2014/main" id="{C91BFD4C-7473-4CC1-DECB-38B0B53BD3C1}"/>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pic>
        <p:nvPicPr>
          <p:cNvPr id="5" name="Imagen 4">
            <a:extLst>
              <a:ext uri="{FF2B5EF4-FFF2-40B4-BE49-F238E27FC236}">
                <a16:creationId xmlns:a16="http://schemas.microsoft.com/office/drawing/2014/main" id="{9F0903AC-AF0F-896B-8643-5D1BB28E96FC}"/>
              </a:ext>
            </a:extLst>
          </p:cNvPr>
          <p:cNvPicPr>
            <a:picLocks noChangeAspect="1"/>
          </p:cNvPicPr>
          <p:nvPr/>
        </p:nvPicPr>
        <p:blipFill>
          <a:blip r:embed="rId2"/>
          <a:stretch>
            <a:fillRect/>
          </a:stretch>
        </p:blipFill>
        <p:spPr>
          <a:xfrm>
            <a:off x="233735" y="761316"/>
            <a:ext cx="3650127" cy="2449892"/>
          </a:xfrm>
          <a:prstGeom prst="rect">
            <a:avLst/>
          </a:prstGeom>
        </p:spPr>
      </p:pic>
      <p:sp>
        <p:nvSpPr>
          <p:cNvPr id="6" name="Flecha: a la derecha con muesca 5">
            <a:extLst>
              <a:ext uri="{FF2B5EF4-FFF2-40B4-BE49-F238E27FC236}">
                <a16:creationId xmlns:a16="http://schemas.microsoft.com/office/drawing/2014/main" id="{127C7A71-DB76-460C-CBB3-9EFE13CC03CD}"/>
              </a:ext>
            </a:extLst>
          </p:cNvPr>
          <p:cNvSpPr/>
          <p:nvPr/>
        </p:nvSpPr>
        <p:spPr>
          <a:xfrm>
            <a:off x="3965235" y="1836475"/>
            <a:ext cx="693936" cy="36396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CuadroTexto 6">
            <a:extLst>
              <a:ext uri="{FF2B5EF4-FFF2-40B4-BE49-F238E27FC236}">
                <a16:creationId xmlns:a16="http://schemas.microsoft.com/office/drawing/2014/main" id="{5EC69528-9393-1FCE-9226-B31DEE787CE0}"/>
              </a:ext>
            </a:extLst>
          </p:cNvPr>
          <p:cNvSpPr txBox="1"/>
          <p:nvPr/>
        </p:nvSpPr>
        <p:spPr>
          <a:xfrm>
            <a:off x="1015250" y="3298195"/>
            <a:ext cx="2145139" cy="261610"/>
          </a:xfrm>
          <a:prstGeom prst="rect">
            <a:avLst/>
          </a:prstGeom>
          <a:noFill/>
        </p:spPr>
        <p:txBody>
          <a:bodyPr wrap="none" rtlCol="0">
            <a:spAutoFit/>
          </a:bodyPr>
          <a:lstStyle/>
          <a:p>
            <a:r>
              <a:rPr lang="es-ES" sz="1100" dirty="0"/>
              <a:t>Arquitectura de un osciloscopio</a:t>
            </a:r>
            <a:endParaRPr lang="es-CO" sz="1100" dirty="0"/>
          </a:p>
        </p:txBody>
      </p:sp>
      <p:grpSp>
        <p:nvGrpSpPr>
          <p:cNvPr id="12" name="Grupo 11">
            <a:extLst>
              <a:ext uri="{FF2B5EF4-FFF2-40B4-BE49-F238E27FC236}">
                <a16:creationId xmlns:a16="http://schemas.microsoft.com/office/drawing/2014/main" id="{529DCDC4-FD61-4BE2-B62A-6A7B91987F02}"/>
              </a:ext>
            </a:extLst>
          </p:cNvPr>
          <p:cNvGrpSpPr/>
          <p:nvPr/>
        </p:nvGrpSpPr>
        <p:grpSpPr>
          <a:xfrm>
            <a:off x="4714035" y="631120"/>
            <a:ext cx="4269062" cy="2774670"/>
            <a:chOff x="4823818" y="631120"/>
            <a:chExt cx="4269062" cy="2774670"/>
          </a:xfrm>
        </p:grpSpPr>
        <p:pic>
          <p:nvPicPr>
            <p:cNvPr id="9" name="Imagen 8">
              <a:extLst>
                <a:ext uri="{FF2B5EF4-FFF2-40B4-BE49-F238E27FC236}">
                  <a16:creationId xmlns:a16="http://schemas.microsoft.com/office/drawing/2014/main" id="{F4C44770-9CA0-5153-753D-F88965108201}"/>
                </a:ext>
              </a:extLst>
            </p:cNvPr>
            <p:cNvPicPr>
              <a:picLocks noChangeAspect="1"/>
            </p:cNvPicPr>
            <p:nvPr/>
          </p:nvPicPr>
          <p:blipFill>
            <a:blip r:embed="rId3"/>
            <a:stretch>
              <a:fillRect/>
            </a:stretch>
          </p:blipFill>
          <p:spPr>
            <a:xfrm>
              <a:off x="4823818" y="631120"/>
              <a:ext cx="2319589" cy="2774670"/>
            </a:xfrm>
            <a:prstGeom prst="rect">
              <a:avLst/>
            </a:prstGeom>
          </p:spPr>
        </p:pic>
        <p:pic>
          <p:nvPicPr>
            <p:cNvPr id="11" name="Imagen 10">
              <a:extLst>
                <a:ext uri="{FF2B5EF4-FFF2-40B4-BE49-F238E27FC236}">
                  <a16:creationId xmlns:a16="http://schemas.microsoft.com/office/drawing/2014/main" id="{26F317D2-0A5A-0B16-DEE5-FE3AD2C94DE9}"/>
                </a:ext>
              </a:extLst>
            </p:cNvPr>
            <p:cNvPicPr>
              <a:picLocks noChangeAspect="1"/>
            </p:cNvPicPr>
            <p:nvPr/>
          </p:nvPicPr>
          <p:blipFill>
            <a:blip r:embed="rId4"/>
            <a:stretch>
              <a:fillRect/>
            </a:stretch>
          </p:blipFill>
          <p:spPr>
            <a:xfrm>
              <a:off x="7078890" y="1492443"/>
              <a:ext cx="2013990" cy="978937"/>
            </a:xfrm>
            <a:prstGeom prst="rect">
              <a:avLst/>
            </a:prstGeom>
          </p:spPr>
        </p:pic>
      </p:grpSp>
      <p:sp>
        <p:nvSpPr>
          <p:cNvPr id="13" name="CuadroTexto 12">
            <a:extLst>
              <a:ext uri="{FF2B5EF4-FFF2-40B4-BE49-F238E27FC236}">
                <a16:creationId xmlns:a16="http://schemas.microsoft.com/office/drawing/2014/main" id="{D802B484-0217-38A8-804B-0F9A60FAEF1C}"/>
              </a:ext>
            </a:extLst>
          </p:cNvPr>
          <p:cNvSpPr txBox="1"/>
          <p:nvPr/>
        </p:nvSpPr>
        <p:spPr>
          <a:xfrm>
            <a:off x="5309150" y="3415440"/>
            <a:ext cx="3054041" cy="261610"/>
          </a:xfrm>
          <a:prstGeom prst="rect">
            <a:avLst/>
          </a:prstGeom>
          <a:noFill/>
        </p:spPr>
        <p:txBody>
          <a:bodyPr wrap="none" rtlCol="0">
            <a:spAutoFit/>
          </a:bodyPr>
          <a:lstStyle/>
          <a:p>
            <a:r>
              <a:rPr lang="es-ES" sz="1100" dirty="0"/>
              <a:t>Funcionamiento interno de un osciloscopio  </a:t>
            </a:r>
            <a:endParaRPr lang="es-CO" sz="1100" dirty="0"/>
          </a:p>
        </p:txBody>
      </p:sp>
      <p:pic>
        <p:nvPicPr>
          <p:cNvPr id="15" name="Imagen 14">
            <a:extLst>
              <a:ext uri="{FF2B5EF4-FFF2-40B4-BE49-F238E27FC236}">
                <a16:creationId xmlns:a16="http://schemas.microsoft.com/office/drawing/2014/main" id="{C5194B7E-3529-D29E-9EB3-3C6224299D95}"/>
              </a:ext>
            </a:extLst>
          </p:cNvPr>
          <p:cNvPicPr>
            <a:picLocks noChangeAspect="1"/>
          </p:cNvPicPr>
          <p:nvPr/>
        </p:nvPicPr>
        <p:blipFill>
          <a:blip r:embed="rId5"/>
          <a:stretch>
            <a:fillRect/>
          </a:stretch>
        </p:blipFill>
        <p:spPr>
          <a:xfrm>
            <a:off x="3042670" y="3725848"/>
            <a:ext cx="2521179" cy="1966634"/>
          </a:xfrm>
          <a:prstGeom prst="rect">
            <a:avLst/>
          </a:prstGeom>
        </p:spPr>
      </p:pic>
      <p:sp>
        <p:nvSpPr>
          <p:cNvPr id="16" name="CuadroTexto 15">
            <a:extLst>
              <a:ext uri="{FF2B5EF4-FFF2-40B4-BE49-F238E27FC236}">
                <a16:creationId xmlns:a16="http://schemas.microsoft.com/office/drawing/2014/main" id="{287F1B98-DB42-6809-9BF9-85F03A8E4EB8}"/>
              </a:ext>
            </a:extLst>
          </p:cNvPr>
          <p:cNvSpPr txBox="1"/>
          <p:nvPr/>
        </p:nvSpPr>
        <p:spPr>
          <a:xfrm>
            <a:off x="-73125" y="5830036"/>
            <a:ext cx="1755609" cy="215444"/>
          </a:xfrm>
          <a:prstGeom prst="rect">
            <a:avLst/>
          </a:prstGeom>
          <a:noFill/>
        </p:spPr>
        <p:txBody>
          <a:bodyPr wrap="none" rtlCol="0">
            <a:spAutoFit/>
          </a:bodyPr>
          <a:lstStyle>
            <a:defPPr>
              <a:defRPr lang="es-US"/>
            </a:defPPr>
            <a:lvl1pPr algn="ctr">
              <a:defRPr sz="800">
                <a:solidFill>
                  <a:schemeClr val="bg1"/>
                </a:solidFill>
              </a:defRPr>
            </a:lvl1pPr>
          </a:lstStyle>
          <a:p>
            <a:r>
              <a:rPr lang="es-ES" dirty="0"/>
              <a:t>[2] Osciloscopio analógico / Digital</a:t>
            </a:r>
            <a:endParaRPr lang="es-CO" dirty="0"/>
          </a:p>
        </p:txBody>
      </p:sp>
    </p:spTree>
    <p:extLst>
      <p:ext uri="{BB962C8B-B14F-4D97-AF65-F5344CB8AC3E}">
        <p14:creationId xmlns:p14="http://schemas.microsoft.com/office/powerpoint/2010/main" val="3548448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53"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Equipos de laboratorio</a:t>
            </a:r>
            <a:endParaRPr lang="es-CO" sz="1800" b="0" strike="noStrike" spc="-1">
              <a:latin typeface="Arial"/>
            </a:endParaRPr>
          </a:p>
        </p:txBody>
      </p:sp>
      <p:sp>
        <p:nvSpPr>
          <p:cNvPr id="154"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4C154F48-B2DF-4133-A88B-E72D42538F77}" type="slidenum">
              <a:rPr lang="es-CO" sz="1200" b="0" strike="noStrike" spc="-1">
                <a:solidFill>
                  <a:srgbClr val="FFFFFF"/>
                </a:solidFill>
                <a:latin typeface="Calibri"/>
                <a:ea typeface="DejaVu Sans"/>
              </a:rPr>
              <a:t>6</a:t>
            </a:fld>
            <a:endParaRPr lang="es-CO" sz="1200" b="0" strike="noStrike" spc="-1">
              <a:latin typeface="Arial"/>
            </a:endParaRPr>
          </a:p>
        </p:txBody>
      </p:sp>
      <p:sp>
        <p:nvSpPr>
          <p:cNvPr id="155" name="Rectángulo 1"/>
          <p:cNvSpPr/>
          <p:nvPr/>
        </p:nvSpPr>
        <p:spPr>
          <a:xfrm>
            <a:off x="7748640" y="105480"/>
            <a:ext cx="119412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a:solidFill>
                  <a:srgbClr val="2C5697"/>
                </a:solidFill>
                <a:latin typeface="Arial"/>
                <a:ea typeface="DejaVu Sans"/>
              </a:rPr>
              <a:t>Osciloscopio</a:t>
            </a:r>
            <a:endParaRPr lang="es-CO" sz="1400" b="0" strike="noStrike" spc="-1">
              <a:latin typeface="Arial"/>
            </a:endParaRPr>
          </a:p>
        </p:txBody>
      </p:sp>
      <p:sp>
        <p:nvSpPr>
          <p:cNvPr id="156" name="TextBox 32"/>
          <p:cNvSpPr/>
          <p:nvPr/>
        </p:nvSpPr>
        <p:spPr>
          <a:xfrm>
            <a:off x="21240" y="5909040"/>
            <a:ext cx="5977440" cy="198601"/>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s-ES" sz="700" spc="-1" dirty="0">
                <a:solidFill>
                  <a:srgbClr val="FFFFFF"/>
                </a:solidFill>
                <a:latin typeface="Arial"/>
              </a:rPr>
              <a:t>[3] Pablo </a:t>
            </a:r>
            <a:r>
              <a:rPr lang="es-ES" sz="700" b="0" strike="noStrike" spc="-1" dirty="0">
                <a:solidFill>
                  <a:srgbClr val="FFFFFF"/>
                </a:solidFill>
                <a:latin typeface="Arial"/>
                <a:ea typeface="DejaVu Sans"/>
              </a:rPr>
              <a:t>Alcalde San Miguel, Electrónica, 3ª edición, Editorial paraninfo, 2022.</a:t>
            </a:r>
            <a:endParaRPr lang="es-CO" sz="700" b="0" strike="noStrike" spc="-1" dirty="0">
              <a:latin typeface="Arial"/>
            </a:endParaRPr>
          </a:p>
        </p:txBody>
      </p:sp>
      <p:sp>
        <p:nvSpPr>
          <p:cNvPr id="157"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pic>
        <p:nvPicPr>
          <p:cNvPr id="158" name="Imagen 4"/>
          <p:cNvPicPr/>
          <p:nvPr/>
        </p:nvPicPr>
        <p:blipFill>
          <a:blip r:embed="rId2"/>
          <a:stretch/>
        </p:blipFill>
        <p:spPr>
          <a:xfrm>
            <a:off x="821880" y="480240"/>
            <a:ext cx="3371760" cy="644760"/>
          </a:xfrm>
          <a:prstGeom prst="rect">
            <a:avLst/>
          </a:prstGeom>
          <a:ln w="0">
            <a:noFill/>
          </a:ln>
        </p:spPr>
      </p:pic>
      <p:pic>
        <p:nvPicPr>
          <p:cNvPr id="159" name="Imagen 5"/>
          <p:cNvPicPr/>
          <p:nvPr/>
        </p:nvPicPr>
        <p:blipFill>
          <a:blip r:embed="rId3"/>
          <a:stretch/>
        </p:blipFill>
        <p:spPr>
          <a:xfrm>
            <a:off x="814680" y="1107360"/>
            <a:ext cx="3401640" cy="4642560"/>
          </a:xfrm>
          <a:prstGeom prst="rect">
            <a:avLst/>
          </a:prstGeom>
          <a:ln w="0">
            <a:noFill/>
          </a:ln>
        </p:spPr>
      </p:pic>
      <p:pic>
        <p:nvPicPr>
          <p:cNvPr id="160" name="Imagen 6"/>
          <p:cNvPicPr/>
          <p:nvPr/>
        </p:nvPicPr>
        <p:blipFill>
          <a:blip r:embed="rId4"/>
          <a:stretch/>
        </p:blipFill>
        <p:spPr>
          <a:xfrm>
            <a:off x="4846680" y="387720"/>
            <a:ext cx="3498840" cy="3884760"/>
          </a:xfrm>
          <a:prstGeom prst="rect">
            <a:avLst/>
          </a:prstGeom>
          <a:ln w="0">
            <a:noFill/>
          </a:ln>
        </p:spPr>
      </p:pic>
      <p:pic>
        <p:nvPicPr>
          <p:cNvPr id="161" name="Imagen 7"/>
          <p:cNvPicPr/>
          <p:nvPr/>
        </p:nvPicPr>
        <p:blipFill>
          <a:blip r:embed="rId5"/>
          <a:stretch/>
        </p:blipFill>
        <p:spPr>
          <a:xfrm>
            <a:off x="5583240" y="4370040"/>
            <a:ext cx="2377080" cy="147744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96"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97" name="Rectángulo 6"/>
          <p:cNvSpPr/>
          <p:nvPr/>
        </p:nvSpPr>
        <p:spPr>
          <a:xfrm>
            <a:off x="-2160" y="74520"/>
            <a:ext cx="8610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b="1" spc="-1" dirty="0">
                <a:solidFill>
                  <a:srgbClr val="2C5697"/>
                </a:solidFill>
              </a:rPr>
              <a:t>Equipos de laboratorio</a:t>
            </a:r>
            <a:endParaRPr lang="es-CO" spc="-1" dirty="0"/>
          </a:p>
        </p:txBody>
      </p:sp>
      <p:sp>
        <p:nvSpPr>
          <p:cNvPr id="98"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C91DE32A-129C-4983-B998-3B5F53EC49B1}" type="slidenum">
              <a:rPr lang="es-CO" sz="1200" b="0" strike="noStrike" spc="-1">
                <a:solidFill>
                  <a:srgbClr val="FFFFFF"/>
                </a:solidFill>
                <a:latin typeface="Calibri"/>
                <a:ea typeface="DejaVu Sans"/>
              </a:rPr>
              <a:t>7</a:t>
            </a:fld>
            <a:endParaRPr lang="es-CO" sz="1200" b="0" strike="noStrike" spc="-1">
              <a:latin typeface="Arial"/>
            </a:endParaRPr>
          </a:p>
        </p:txBody>
      </p:sp>
      <p:grpSp>
        <p:nvGrpSpPr>
          <p:cNvPr id="41" name="Grupo 40">
            <a:extLst>
              <a:ext uri="{FF2B5EF4-FFF2-40B4-BE49-F238E27FC236}">
                <a16:creationId xmlns:a16="http://schemas.microsoft.com/office/drawing/2014/main" id="{A66B7286-7904-73DA-1EB1-DA2C47EA940F}"/>
              </a:ext>
            </a:extLst>
          </p:cNvPr>
          <p:cNvGrpSpPr/>
          <p:nvPr/>
        </p:nvGrpSpPr>
        <p:grpSpPr>
          <a:xfrm>
            <a:off x="381755" y="1124823"/>
            <a:ext cx="8198830" cy="3781885"/>
            <a:chOff x="381755" y="1124823"/>
            <a:chExt cx="8198830" cy="3781885"/>
          </a:xfrm>
        </p:grpSpPr>
        <p:pic>
          <p:nvPicPr>
            <p:cNvPr id="5122" name="Picture 2" descr="GW Instek AFG-2112 12MHz Arbitrary Function Generator with Sweep Mode,  AM/FM/FSK Modulation &amp; Ext. Counter">
              <a:extLst>
                <a:ext uri="{FF2B5EF4-FFF2-40B4-BE49-F238E27FC236}">
                  <a16:creationId xmlns:a16="http://schemas.microsoft.com/office/drawing/2014/main" id="{DB070146-D435-CAE3-C416-E452DF36EA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03" t="30992" r="3814" b="31568"/>
            <a:stretch>
              <a:fillRect/>
            </a:stretch>
          </p:blipFill>
          <p:spPr bwMode="auto">
            <a:xfrm>
              <a:off x="1542550" y="1473984"/>
              <a:ext cx="6058900" cy="246888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62DA2E30-8FD2-24D5-DCBD-74F77E8874A8}"/>
                </a:ext>
              </a:extLst>
            </p:cNvPr>
            <p:cNvSpPr/>
            <p:nvPr/>
          </p:nvSpPr>
          <p:spPr>
            <a:xfrm>
              <a:off x="4809744" y="1993392"/>
              <a:ext cx="786384" cy="10424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 name="Conector recto de flecha 5">
              <a:extLst>
                <a:ext uri="{FF2B5EF4-FFF2-40B4-BE49-F238E27FC236}">
                  <a16:creationId xmlns:a16="http://schemas.microsoft.com/office/drawing/2014/main" id="{D88AA3D3-E772-1D0F-2D4D-41AD2C35A08A}"/>
                </a:ext>
              </a:extLst>
            </p:cNvPr>
            <p:cNvCxnSpPr/>
            <p:nvPr/>
          </p:nvCxnSpPr>
          <p:spPr>
            <a:xfrm>
              <a:off x="1542550" y="1405008"/>
              <a:ext cx="914400" cy="9144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10D7C33E-1690-1DBC-09C8-CFDF344C0B36}"/>
                </a:ext>
              </a:extLst>
            </p:cNvPr>
            <p:cNvSpPr/>
            <p:nvPr/>
          </p:nvSpPr>
          <p:spPr>
            <a:xfrm>
              <a:off x="4334689" y="1911096"/>
              <a:ext cx="374471" cy="17007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de flecha 7">
              <a:extLst>
                <a:ext uri="{FF2B5EF4-FFF2-40B4-BE49-F238E27FC236}">
                  <a16:creationId xmlns:a16="http://schemas.microsoft.com/office/drawing/2014/main" id="{EAAAE2CF-CAB0-12A1-B591-4B3AD0E5FCB7}"/>
                </a:ext>
              </a:extLst>
            </p:cNvPr>
            <p:cNvCxnSpPr>
              <a:cxnSpLocks/>
            </p:cNvCxnSpPr>
            <p:nvPr/>
          </p:nvCxnSpPr>
          <p:spPr>
            <a:xfrm flipV="1">
              <a:off x="3886200" y="3611880"/>
              <a:ext cx="448489" cy="7680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B24A22E4-B58D-49AC-E946-FB138F4FFF68}"/>
                </a:ext>
              </a:extLst>
            </p:cNvPr>
            <p:cNvCxnSpPr>
              <a:cxnSpLocks/>
            </p:cNvCxnSpPr>
            <p:nvPr/>
          </p:nvCxnSpPr>
          <p:spPr>
            <a:xfrm>
              <a:off x="3516480" y="1450872"/>
              <a:ext cx="1649880" cy="5681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9F4D3EA-6A83-C666-612C-D7B3F6833E20}"/>
                </a:ext>
              </a:extLst>
            </p:cNvPr>
            <p:cNvCxnSpPr>
              <a:cxnSpLocks/>
            </p:cNvCxnSpPr>
            <p:nvPr/>
          </p:nvCxnSpPr>
          <p:spPr>
            <a:xfrm>
              <a:off x="5902273" y="1414908"/>
              <a:ext cx="14111" cy="5136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31B69786-E103-CD5F-4E78-6E94534B1AA8}"/>
                </a:ext>
              </a:extLst>
            </p:cNvPr>
            <p:cNvSpPr/>
            <p:nvPr/>
          </p:nvSpPr>
          <p:spPr>
            <a:xfrm>
              <a:off x="6374869" y="1837944"/>
              <a:ext cx="578748" cy="11330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de flecha 16">
              <a:extLst>
                <a:ext uri="{FF2B5EF4-FFF2-40B4-BE49-F238E27FC236}">
                  <a16:creationId xmlns:a16="http://schemas.microsoft.com/office/drawing/2014/main" id="{694CBCED-6CE6-B5F9-D8B1-716B474ED7D5}"/>
                </a:ext>
              </a:extLst>
            </p:cNvPr>
            <p:cNvCxnSpPr>
              <a:cxnSpLocks/>
            </p:cNvCxnSpPr>
            <p:nvPr/>
          </p:nvCxnSpPr>
          <p:spPr>
            <a:xfrm flipH="1">
              <a:off x="6971905" y="1399140"/>
              <a:ext cx="476773" cy="46306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27DAF5AE-C07C-E963-C425-4536A7F59F4F}"/>
                </a:ext>
              </a:extLst>
            </p:cNvPr>
            <p:cNvSpPr/>
            <p:nvPr/>
          </p:nvSpPr>
          <p:spPr>
            <a:xfrm>
              <a:off x="4740984" y="3090672"/>
              <a:ext cx="1649879" cy="5136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Conector recto de flecha 19">
              <a:extLst>
                <a:ext uri="{FF2B5EF4-FFF2-40B4-BE49-F238E27FC236}">
                  <a16:creationId xmlns:a16="http://schemas.microsoft.com/office/drawing/2014/main" id="{24D664C1-621C-5069-A708-7BE46C573E15}"/>
                </a:ext>
              </a:extLst>
            </p:cNvPr>
            <p:cNvCxnSpPr>
              <a:cxnSpLocks/>
            </p:cNvCxnSpPr>
            <p:nvPr/>
          </p:nvCxnSpPr>
          <p:spPr>
            <a:xfrm flipV="1">
              <a:off x="5265225" y="3555216"/>
              <a:ext cx="106962" cy="5237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6B3FF550-B44B-9324-0452-6A0355464EAE}"/>
                </a:ext>
              </a:extLst>
            </p:cNvPr>
            <p:cNvCxnSpPr>
              <a:cxnSpLocks/>
            </p:cNvCxnSpPr>
            <p:nvPr/>
          </p:nvCxnSpPr>
          <p:spPr>
            <a:xfrm flipH="1" flipV="1">
              <a:off x="6649730" y="3449520"/>
              <a:ext cx="28609" cy="6611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EA05A8B8-FCBD-A3A9-9DC9-09B9632AD9D8}"/>
                </a:ext>
              </a:extLst>
            </p:cNvPr>
            <p:cNvCxnSpPr>
              <a:cxnSpLocks/>
            </p:cNvCxnSpPr>
            <p:nvPr/>
          </p:nvCxnSpPr>
          <p:spPr>
            <a:xfrm flipV="1">
              <a:off x="1218154" y="2918448"/>
              <a:ext cx="448489" cy="7680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A47FD557-8F99-0FF0-0BDE-D148EADAB9C0}"/>
                </a:ext>
              </a:extLst>
            </p:cNvPr>
            <p:cNvSpPr txBox="1"/>
            <p:nvPr/>
          </p:nvSpPr>
          <p:spPr>
            <a:xfrm>
              <a:off x="764786" y="1195274"/>
              <a:ext cx="1018227" cy="261610"/>
            </a:xfrm>
            <a:prstGeom prst="rect">
              <a:avLst/>
            </a:prstGeom>
            <a:noFill/>
          </p:spPr>
          <p:txBody>
            <a:bodyPr wrap="none" rtlCol="0">
              <a:spAutoFit/>
            </a:bodyPr>
            <a:lstStyle>
              <a:defPPr>
                <a:defRPr lang="es-US"/>
              </a:defPPr>
              <a:lvl1pPr algn="ctr">
                <a:defRPr sz="1100"/>
              </a:lvl1pPr>
            </a:lstStyle>
            <a:p>
              <a:r>
                <a:rPr lang="es-ES" dirty="0"/>
                <a:t>Pantalla LCD</a:t>
              </a:r>
              <a:endParaRPr lang="es-CO" dirty="0"/>
            </a:p>
          </p:txBody>
        </p:sp>
        <p:sp>
          <p:nvSpPr>
            <p:cNvPr id="26" name="CuadroTexto 25">
              <a:extLst>
                <a:ext uri="{FF2B5EF4-FFF2-40B4-BE49-F238E27FC236}">
                  <a16:creationId xmlns:a16="http://schemas.microsoft.com/office/drawing/2014/main" id="{1F341EDF-FA20-DFC6-851F-13CAC475C3EE}"/>
                </a:ext>
              </a:extLst>
            </p:cNvPr>
            <p:cNvSpPr txBox="1"/>
            <p:nvPr/>
          </p:nvSpPr>
          <p:spPr>
            <a:xfrm>
              <a:off x="2926588" y="1209800"/>
              <a:ext cx="1306769" cy="261610"/>
            </a:xfrm>
            <a:prstGeom prst="rect">
              <a:avLst/>
            </a:prstGeom>
            <a:noFill/>
          </p:spPr>
          <p:txBody>
            <a:bodyPr wrap="none" rtlCol="0">
              <a:spAutoFit/>
            </a:bodyPr>
            <a:lstStyle>
              <a:defPPr>
                <a:defRPr lang="es-US"/>
              </a:defPPr>
              <a:lvl1pPr algn="ctr">
                <a:defRPr sz="1100"/>
              </a:lvl1pPr>
            </a:lstStyle>
            <a:p>
              <a:r>
                <a:rPr lang="es-CO" dirty="0"/>
                <a:t>Teclado numérico</a:t>
              </a:r>
            </a:p>
          </p:txBody>
        </p:sp>
        <p:sp>
          <p:nvSpPr>
            <p:cNvPr id="28" name="CuadroTexto 27">
              <a:extLst>
                <a:ext uri="{FF2B5EF4-FFF2-40B4-BE49-F238E27FC236}">
                  <a16:creationId xmlns:a16="http://schemas.microsoft.com/office/drawing/2014/main" id="{B455476D-18A2-CAD6-D06B-612CC0895CDA}"/>
                </a:ext>
              </a:extLst>
            </p:cNvPr>
            <p:cNvSpPr txBox="1"/>
            <p:nvPr/>
          </p:nvSpPr>
          <p:spPr>
            <a:xfrm>
              <a:off x="4868564" y="1161199"/>
              <a:ext cx="1824538" cy="261610"/>
            </a:xfrm>
            <a:prstGeom prst="rect">
              <a:avLst/>
            </a:prstGeom>
            <a:noFill/>
          </p:spPr>
          <p:txBody>
            <a:bodyPr wrap="none" rtlCol="0">
              <a:spAutoFit/>
            </a:bodyPr>
            <a:lstStyle>
              <a:defPPr>
                <a:defRPr lang="es-US"/>
              </a:defPPr>
              <a:lvl1pPr algn="ctr">
                <a:defRPr sz="1100"/>
              </a:lvl1pPr>
            </a:lstStyle>
            <a:p>
              <a:r>
                <a:rPr lang="es-CO" dirty="0"/>
                <a:t>Rueda de desplazamiento</a:t>
              </a:r>
            </a:p>
          </p:txBody>
        </p:sp>
        <p:sp>
          <p:nvSpPr>
            <p:cNvPr id="29" name="CuadroTexto 28">
              <a:extLst>
                <a:ext uri="{FF2B5EF4-FFF2-40B4-BE49-F238E27FC236}">
                  <a16:creationId xmlns:a16="http://schemas.microsoft.com/office/drawing/2014/main" id="{55C5A3BE-01DC-A76C-A7F1-2EF676CF6B03}"/>
                </a:ext>
              </a:extLst>
            </p:cNvPr>
            <p:cNvSpPr txBox="1"/>
            <p:nvPr/>
          </p:nvSpPr>
          <p:spPr>
            <a:xfrm>
              <a:off x="6943597" y="1124823"/>
              <a:ext cx="1636988" cy="261610"/>
            </a:xfrm>
            <a:prstGeom prst="rect">
              <a:avLst/>
            </a:prstGeom>
            <a:noFill/>
          </p:spPr>
          <p:txBody>
            <a:bodyPr wrap="none" rtlCol="0">
              <a:spAutoFit/>
            </a:bodyPr>
            <a:lstStyle>
              <a:defPPr>
                <a:defRPr lang="es-US"/>
              </a:defPPr>
              <a:lvl1pPr algn="ctr">
                <a:defRPr sz="1100"/>
              </a:lvl1pPr>
            </a:lstStyle>
            <a:p>
              <a:r>
                <a:rPr lang="es-CO" dirty="0"/>
                <a:t>Puerto de salida SYNC</a:t>
              </a:r>
            </a:p>
          </p:txBody>
        </p:sp>
        <p:sp>
          <p:nvSpPr>
            <p:cNvPr id="30" name="CuadroTexto 29">
              <a:extLst>
                <a:ext uri="{FF2B5EF4-FFF2-40B4-BE49-F238E27FC236}">
                  <a16:creationId xmlns:a16="http://schemas.microsoft.com/office/drawing/2014/main" id="{3A767146-B6F8-1443-A665-479F7A494C85}"/>
                </a:ext>
              </a:extLst>
            </p:cNvPr>
            <p:cNvSpPr txBox="1"/>
            <p:nvPr/>
          </p:nvSpPr>
          <p:spPr>
            <a:xfrm>
              <a:off x="6487725" y="4147579"/>
              <a:ext cx="1439818" cy="261610"/>
            </a:xfrm>
            <a:prstGeom prst="rect">
              <a:avLst/>
            </a:prstGeom>
            <a:noFill/>
          </p:spPr>
          <p:txBody>
            <a:bodyPr wrap="none" rtlCol="0">
              <a:spAutoFit/>
            </a:bodyPr>
            <a:lstStyle>
              <a:defPPr>
                <a:defRPr lang="es-US"/>
              </a:defPPr>
              <a:lvl1pPr algn="ctr">
                <a:defRPr sz="1100"/>
              </a:lvl1pPr>
            </a:lstStyle>
            <a:p>
              <a:r>
                <a:rPr lang="es-CO" dirty="0"/>
                <a:t>Botón de encendido</a:t>
              </a:r>
            </a:p>
          </p:txBody>
        </p:sp>
        <p:sp>
          <p:nvSpPr>
            <p:cNvPr id="31" name="CuadroTexto 30">
              <a:extLst>
                <a:ext uri="{FF2B5EF4-FFF2-40B4-BE49-F238E27FC236}">
                  <a16:creationId xmlns:a16="http://schemas.microsoft.com/office/drawing/2014/main" id="{B58B2F7C-9AEC-AB8D-0B4F-27FA8060738E}"/>
                </a:ext>
              </a:extLst>
            </p:cNvPr>
            <p:cNvSpPr txBox="1"/>
            <p:nvPr/>
          </p:nvSpPr>
          <p:spPr>
            <a:xfrm>
              <a:off x="4438436" y="4126600"/>
              <a:ext cx="1455848" cy="261610"/>
            </a:xfrm>
            <a:prstGeom prst="rect">
              <a:avLst/>
            </a:prstGeom>
            <a:noFill/>
          </p:spPr>
          <p:txBody>
            <a:bodyPr wrap="none" rtlCol="0">
              <a:spAutoFit/>
            </a:bodyPr>
            <a:lstStyle>
              <a:defPPr>
                <a:defRPr lang="es-US"/>
              </a:defPPr>
              <a:lvl1pPr algn="ctr">
                <a:defRPr sz="1100"/>
              </a:lvl1pPr>
            </a:lstStyle>
            <a:p>
              <a:r>
                <a:rPr lang="es-CO" dirty="0"/>
                <a:t>Teclas de operación</a:t>
              </a:r>
            </a:p>
          </p:txBody>
        </p:sp>
        <p:sp>
          <p:nvSpPr>
            <p:cNvPr id="32" name="CuadroTexto 31">
              <a:extLst>
                <a:ext uri="{FF2B5EF4-FFF2-40B4-BE49-F238E27FC236}">
                  <a16:creationId xmlns:a16="http://schemas.microsoft.com/office/drawing/2014/main" id="{D81FB366-7B10-FE04-FBDC-A440F4DE64F0}"/>
                </a:ext>
              </a:extLst>
            </p:cNvPr>
            <p:cNvSpPr txBox="1"/>
            <p:nvPr/>
          </p:nvSpPr>
          <p:spPr>
            <a:xfrm>
              <a:off x="2845166" y="4405377"/>
              <a:ext cx="1276311" cy="430887"/>
            </a:xfrm>
            <a:prstGeom prst="rect">
              <a:avLst/>
            </a:prstGeom>
            <a:noFill/>
          </p:spPr>
          <p:txBody>
            <a:bodyPr wrap="none" rtlCol="0">
              <a:spAutoFit/>
            </a:bodyPr>
            <a:lstStyle>
              <a:defPPr>
                <a:defRPr lang="es-US"/>
              </a:defPPr>
              <a:lvl1pPr algn="ctr">
                <a:defRPr sz="1100"/>
              </a:lvl1pPr>
            </a:lstStyle>
            <a:p>
              <a:r>
                <a:rPr lang="es-CO" dirty="0"/>
                <a:t>Teclas ARB</a:t>
              </a:r>
            </a:p>
            <a:p>
              <a:r>
                <a:rPr lang="es-CO" dirty="0"/>
                <a:t>Funciones claves</a:t>
              </a:r>
            </a:p>
          </p:txBody>
        </p:sp>
        <p:sp>
          <p:nvSpPr>
            <p:cNvPr id="33" name="CuadroTexto 32">
              <a:extLst>
                <a:ext uri="{FF2B5EF4-FFF2-40B4-BE49-F238E27FC236}">
                  <a16:creationId xmlns:a16="http://schemas.microsoft.com/office/drawing/2014/main" id="{9B59ADD1-4A07-E7A2-FC46-7D2608756ED7}"/>
                </a:ext>
              </a:extLst>
            </p:cNvPr>
            <p:cNvSpPr txBox="1"/>
            <p:nvPr/>
          </p:nvSpPr>
          <p:spPr>
            <a:xfrm>
              <a:off x="381755" y="3783612"/>
              <a:ext cx="1305165" cy="261610"/>
            </a:xfrm>
            <a:prstGeom prst="rect">
              <a:avLst/>
            </a:prstGeom>
            <a:noFill/>
          </p:spPr>
          <p:txBody>
            <a:bodyPr wrap="none" rtlCol="0">
              <a:spAutoFit/>
            </a:bodyPr>
            <a:lstStyle>
              <a:defPPr>
                <a:defRPr lang="es-US"/>
              </a:defPPr>
              <a:lvl1pPr algn="ctr">
                <a:defRPr sz="1100"/>
              </a:lvl1pPr>
            </a:lstStyle>
            <a:p>
              <a:r>
                <a:rPr lang="es-CO" dirty="0"/>
                <a:t>Manija de soporte</a:t>
              </a:r>
            </a:p>
          </p:txBody>
        </p:sp>
        <p:sp>
          <p:nvSpPr>
            <p:cNvPr id="35" name="CuadroTexto 34">
              <a:extLst>
                <a:ext uri="{FF2B5EF4-FFF2-40B4-BE49-F238E27FC236}">
                  <a16:creationId xmlns:a16="http://schemas.microsoft.com/office/drawing/2014/main" id="{DB33E3D6-1D3F-D8F2-AA52-BDC741E90EB8}"/>
                </a:ext>
              </a:extLst>
            </p:cNvPr>
            <p:cNvSpPr txBox="1"/>
            <p:nvPr/>
          </p:nvSpPr>
          <p:spPr>
            <a:xfrm>
              <a:off x="5294518" y="4645098"/>
              <a:ext cx="1792478" cy="261610"/>
            </a:xfrm>
            <a:prstGeom prst="rect">
              <a:avLst/>
            </a:prstGeom>
            <a:noFill/>
          </p:spPr>
          <p:txBody>
            <a:bodyPr wrap="none" rtlCol="0">
              <a:spAutoFit/>
            </a:bodyPr>
            <a:lstStyle>
              <a:defPPr>
                <a:defRPr lang="es-US"/>
              </a:defPPr>
              <a:lvl1pPr algn="ctr">
                <a:defRPr sz="1100"/>
              </a:lvl1pPr>
            </a:lstStyle>
            <a:p>
              <a:r>
                <a:rPr lang="es-CO" dirty="0"/>
                <a:t>Tecla de control de salida</a:t>
              </a:r>
            </a:p>
          </p:txBody>
        </p:sp>
        <p:cxnSp>
          <p:nvCxnSpPr>
            <p:cNvPr id="38" name="Conector recto de flecha 37">
              <a:extLst>
                <a:ext uri="{FF2B5EF4-FFF2-40B4-BE49-F238E27FC236}">
                  <a16:creationId xmlns:a16="http://schemas.microsoft.com/office/drawing/2014/main" id="{14B93597-6E45-B4BF-D329-4E01168E8938}"/>
                </a:ext>
              </a:extLst>
            </p:cNvPr>
            <p:cNvCxnSpPr>
              <a:cxnSpLocks/>
            </p:cNvCxnSpPr>
            <p:nvPr/>
          </p:nvCxnSpPr>
          <p:spPr>
            <a:xfrm flipH="1" flipV="1">
              <a:off x="5975858" y="3030238"/>
              <a:ext cx="70201" cy="16052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1D8122C1-D58D-1E53-5664-442C950BBDE6}"/>
              </a:ext>
            </a:extLst>
          </p:cNvPr>
          <p:cNvSpPr txBox="1"/>
          <p:nvPr/>
        </p:nvSpPr>
        <p:spPr>
          <a:xfrm>
            <a:off x="2936079" y="5599839"/>
            <a:ext cx="3546163" cy="307777"/>
          </a:xfrm>
          <a:prstGeom prst="rect">
            <a:avLst/>
          </a:prstGeom>
          <a:noFill/>
        </p:spPr>
        <p:txBody>
          <a:bodyPr wrap="none" rtlCol="0">
            <a:spAutoFit/>
          </a:bodyPr>
          <a:lstStyle>
            <a:defPPr>
              <a:defRPr lang="es-US"/>
            </a:defPPr>
            <a:lvl1pPr algn="ctr">
              <a:defRPr sz="1100"/>
            </a:lvl1pPr>
          </a:lstStyle>
          <a:p>
            <a:r>
              <a:rPr lang="es-CO" sz="1400" dirty="0"/>
              <a:t>Descripción general generador señales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63"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Equipos de laboratorio</a:t>
            </a:r>
            <a:endParaRPr lang="es-CO" sz="1800" b="0" strike="noStrike" spc="-1" dirty="0">
              <a:latin typeface="Arial"/>
            </a:endParaRPr>
          </a:p>
        </p:txBody>
      </p:sp>
      <p:sp>
        <p:nvSpPr>
          <p:cNvPr id="164" name="Marcador de número de diapositiva 3"/>
          <p:cNvSpPr/>
          <p:nvPr/>
        </p:nvSpPr>
        <p:spPr>
          <a:xfrm>
            <a:off x="8640000" y="5886000"/>
            <a:ext cx="4528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D3D2B0E8-31FC-4091-9DF3-3A1F3A5E9C7C}" type="slidenum">
              <a:rPr lang="es-CO" sz="1200" b="0" strike="noStrike" spc="-1">
                <a:solidFill>
                  <a:srgbClr val="FFFFFF"/>
                </a:solidFill>
                <a:latin typeface="Calibri"/>
                <a:ea typeface="DejaVu Sans"/>
              </a:rPr>
              <a:t>8</a:t>
            </a:fld>
            <a:endParaRPr lang="es-CO" sz="1200" b="0" strike="noStrike" spc="-1">
              <a:latin typeface="Arial"/>
            </a:endParaRPr>
          </a:p>
        </p:txBody>
      </p:sp>
      <p:sp>
        <p:nvSpPr>
          <p:cNvPr id="165" name="Rectángulo 1"/>
          <p:cNvSpPr/>
          <p:nvPr/>
        </p:nvSpPr>
        <p:spPr>
          <a:xfrm>
            <a:off x="7748280" y="105480"/>
            <a:ext cx="1293120" cy="302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s-MX" sz="1400" b="0" strike="noStrike" spc="-1" dirty="0">
                <a:solidFill>
                  <a:srgbClr val="2C5697"/>
                </a:solidFill>
                <a:latin typeface="Arial"/>
                <a:ea typeface="DejaVu Sans"/>
              </a:rPr>
              <a:t>Otros equipos</a:t>
            </a:r>
            <a:endParaRPr lang="es-CO" sz="1400" b="0" strike="noStrike" spc="-1" dirty="0">
              <a:latin typeface="Arial"/>
            </a:endParaRPr>
          </a:p>
        </p:txBody>
      </p:sp>
      <p:sp>
        <p:nvSpPr>
          <p:cNvPr id="167"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Equipos de laboratorio</a:t>
            </a:r>
            <a:endParaRPr lang="es-CO" sz="1600" b="0" strike="noStrike" spc="-1">
              <a:latin typeface="Arial"/>
            </a:endParaRPr>
          </a:p>
        </p:txBody>
      </p:sp>
      <p:grpSp>
        <p:nvGrpSpPr>
          <p:cNvPr id="8" name="Grupo 7">
            <a:extLst>
              <a:ext uri="{FF2B5EF4-FFF2-40B4-BE49-F238E27FC236}">
                <a16:creationId xmlns:a16="http://schemas.microsoft.com/office/drawing/2014/main" id="{70777539-32F3-4BFA-B27B-8EFEB587373E}"/>
              </a:ext>
            </a:extLst>
          </p:cNvPr>
          <p:cNvGrpSpPr/>
          <p:nvPr/>
        </p:nvGrpSpPr>
        <p:grpSpPr>
          <a:xfrm>
            <a:off x="558123" y="682020"/>
            <a:ext cx="1663868" cy="4983480"/>
            <a:chOff x="603843" y="557784"/>
            <a:chExt cx="1663868" cy="4983480"/>
          </a:xfrm>
        </p:grpSpPr>
        <p:grpSp>
          <p:nvGrpSpPr>
            <p:cNvPr id="6" name="Grupo 5">
              <a:extLst>
                <a:ext uri="{FF2B5EF4-FFF2-40B4-BE49-F238E27FC236}">
                  <a16:creationId xmlns:a16="http://schemas.microsoft.com/office/drawing/2014/main" id="{44798AE3-2C2C-B1DD-9DF4-9B192AE49077}"/>
                </a:ext>
              </a:extLst>
            </p:cNvPr>
            <p:cNvGrpSpPr/>
            <p:nvPr/>
          </p:nvGrpSpPr>
          <p:grpSpPr>
            <a:xfrm>
              <a:off x="759292" y="752760"/>
              <a:ext cx="1508419" cy="4690872"/>
              <a:chOff x="759292" y="752760"/>
              <a:chExt cx="1508419" cy="4690872"/>
            </a:xfrm>
          </p:grpSpPr>
          <p:pic>
            <p:nvPicPr>
              <p:cNvPr id="3" name="Imagen 2" descr="Interfaz de usuario gráfica, Aplicación&#10;&#10;El contenido generado por IA puede ser incorrecto.">
                <a:extLst>
                  <a:ext uri="{FF2B5EF4-FFF2-40B4-BE49-F238E27FC236}">
                    <a16:creationId xmlns:a16="http://schemas.microsoft.com/office/drawing/2014/main" id="{3382214B-A5EC-7F58-D28B-AD4BC3F0BED7}"/>
                  </a:ext>
                </a:extLst>
              </p:cNvPr>
              <p:cNvPicPr>
                <a:picLocks noChangeAspect="1"/>
              </p:cNvPicPr>
              <p:nvPr/>
            </p:nvPicPr>
            <p:blipFill>
              <a:blip r:embed="rId2">
                <a:extLst>
                  <a:ext uri="{28A0092B-C50C-407E-A947-70E740481C1C}">
                    <a14:useLocalDpi xmlns:a14="http://schemas.microsoft.com/office/drawing/2010/main" val="0"/>
                  </a:ext>
                </a:extLst>
              </a:blip>
              <a:srcRect l="50354" t="16041" r="2421" b="1348"/>
              <a:stretch>
                <a:fillRect/>
              </a:stretch>
            </p:blipFill>
            <p:spPr>
              <a:xfrm>
                <a:off x="759292" y="752760"/>
                <a:ext cx="1508419" cy="4690872"/>
              </a:xfrm>
              <a:prstGeom prst="rect">
                <a:avLst/>
              </a:prstGeom>
            </p:spPr>
          </p:pic>
          <p:pic>
            <p:nvPicPr>
              <p:cNvPr id="5" name="Imagen 4">
                <a:extLst>
                  <a:ext uri="{FF2B5EF4-FFF2-40B4-BE49-F238E27FC236}">
                    <a16:creationId xmlns:a16="http://schemas.microsoft.com/office/drawing/2014/main" id="{2B29DCD1-D138-6B07-C3FD-DB9F3D346403}"/>
                  </a:ext>
                </a:extLst>
              </p:cNvPr>
              <p:cNvPicPr>
                <a:picLocks noChangeAspect="1"/>
              </p:cNvPicPr>
              <p:nvPr/>
            </p:nvPicPr>
            <p:blipFill>
              <a:blip r:embed="rId3"/>
              <a:stretch>
                <a:fillRect/>
              </a:stretch>
            </p:blipFill>
            <p:spPr>
              <a:xfrm>
                <a:off x="759293" y="898235"/>
                <a:ext cx="1428949" cy="952633"/>
              </a:xfrm>
              <a:prstGeom prst="rect">
                <a:avLst/>
              </a:prstGeom>
            </p:spPr>
          </p:pic>
        </p:grpSp>
        <p:sp>
          <p:nvSpPr>
            <p:cNvPr id="7" name="Rectángulo 6">
              <a:extLst>
                <a:ext uri="{FF2B5EF4-FFF2-40B4-BE49-F238E27FC236}">
                  <a16:creationId xmlns:a16="http://schemas.microsoft.com/office/drawing/2014/main" id="{BFCFCC37-5A80-D7B3-2D24-7CA83A6905B3}"/>
                </a:ext>
              </a:extLst>
            </p:cNvPr>
            <p:cNvSpPr/>
            <p:nvPr/>
          </p:nvSpPr>
          <p:spPr>
            <a:xfrm>
              <a:off x="603843" y="557784"/>
              <a:ext cx="155448" cy="49834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2" name="CuadroTexto 11">
            <a:extLst>
              <a:ext uri="{FF2B5EF4-FFF2-40B4-BE49-F238E27FC236}">
                <a16:creationId xmlns:a16="http://schemas.microsoft.com/office/drawing/2014/main" id="{8E2E4D6A-4E39-02B3-74C1-074351485AF1}"/>
              </a:ext>
            </a:extLst>
          </p:cNvPr>
          <p:cNvSpPr txBox="1"/>
          <p:nvPr/>
        </p:nvSpPr>
        <p:spPr>
          <a:xfrm>
            <a:off x="2488320" y="1002909"/>
            <a:ext cx="4897126" cy="830997"/>
          </a:xfrm>
          <a:prstGeom prst="rect">
            <a:avLst/>
          </a:prstGeom>
          <a:noFill/>
        </p:spPr>
        <p:txBody>
          <a:bodyPr wrap="square" rtlCol="0">
            <a:spAutoFit/>
          </a:bodyPr>
          <a:lstStyle>
            <a:defPPr>
              <a:defRPr lang="es-US"/>
            </a:defPPr>
            <a:lvl1pPr algn="ctr">
              <a:defRPr sz="1100"/>
            </a:lvl1pPr>
          </a:lstStyle>
          <a:p>
            <a:r>
              <a:rPr lang="es-ES" sz="1600" dirty="0"/>
              <a:t>Instrumento de medición electrónica diseñado para capturar, visualizar y analizar señales digitales de múltiples líneas simultáneamente</a:t>
            </a:r>
            <a:endParaRPr lang="es-CO" sz="1600" dirty="0"/>
          </a:p>
        </p:txBody>
      </p:sp>
      <p:sp>
        <p:nvSpPr>
          <p:cNvPr id="14" name="CuadroTexto 13">
            <a:extLst>
              <a:ext uri="{FF2B5EF4-FFF2-40B4-BE49-F238E27FC236}">
                <a16:creationId xmlns:a16="http://schemas.microsoft.com/office/drawing/2014/main" id="{F6BF5D89-3819-9C04-E690-5710642C5C87}"/>
              </a:ext>
            </a:extLst>
          </p:cNvPr>
          <p:cNvSpPr txBox="1"/>
          <p:nvPr/>
        </p:nvSpPr>
        <p:spPr>
          <a:xfrm>
            <a:off x="3139704" y="2463431"/>
            <a:ext cx="4608576" cy="584775"/>
          </a:xfrm>
          <a:prstGeom prst="rect">
            <a:avLst/>
          </a:prstGeom>
          <a:noFill/>
        </p:spPr>
        <p:txBody>
          <a:bodyPr wrap="square" rtlCol="0">
            <a:spAutoFit/>
          </a:bodyPr>
          <a:lstStyle>
            <a:defPPr>
              <a:defRPr lang="es-US"/>
            </a:defPPr>
            <a:lvl1pPr algn="ctr">
              <a:defRPr sz="1600"/>
            </a:lvl1pPr>
          </a:lstStyle>
          <a:p>
            <a:r>
              <a:rPr lang="es-ES" dirty="0"/>
              <a:t>Instrumento utilizado para medir la velocidad de rotación de un eje, disco o motor</a:t>
            </a:r>
            <a:endParaRPr lang="es-CO" dirty="0"/>
          </a:p>
        </p:txBody>
      </p:sp>
      <p:sp>
        <p:nvSpPr>
          <p:cNvPr id="16" name="CuadroTexto 15">
            <a:extLst>
              <a:ext uri="{FF2B5EF4-FFF2-40B4-BE49-F238E27FC236}">
                <a16:creationId xmlns:a16="http://schemas.microsoft.com/office/drawing/2014/main" id="{7E791F4D-30F9-2F8F-7613-6152ABAB044F}"/>
              </a:ext>
            </a:extLst>
          </p:cNvPr>
          <p:cNvSpPr txBox="1"/>
          <p:nvPr/>
        </p:nvSpPr>
        <p:spPr>
          <a:xfrm>
            <a:off x="3821852" y="3511179"/>
            <a:ext cx="4608576" cy="830997"/>
          </a:xfrm>
          <a:prstGeom prst="rect">
            <a:avLst/>
          </a:prstGeom>
          <a:noFill/>
        </p:spPr>
        <p:txBody>
          <a:bodyPr wrap="square" rtlCol="0">
            <a:spAutoFit/>
          </a:bodyPr>
          <a:lstStyle>
            <a:defPPr>
              <a:defRPr lang="es-US"/>
            </a:defPPr>
            <a:lvl1pPr algn="ctr">
              <a:defRPr sz="1600"/>
            </a:lvl1pPr>
          </a:lstStyle>
          <a:p>
            <a:r>
              <a:rPr lang="es-ES" dirty="0"/>
              <a:t>Instrumento de medición electrónica que se utiliza para determinar los valores de inductancia (L), capacitancia (C) y resistencia (R)</a:t>
            </a:r>
            <a:endParaRPr lang="es-CO" dirty="0"/>
          </a:p>
        </p:txBody>
      </p:sp>
      <p:sp>
        <p:nvSpPr>
          <p:cNvPr id="20" name="CuadroTexto 19">
            <a:extLst>
              <a:ext uri="{FF2B5EF4-FFF2-40B4-BE49-F238E27FC236}">
                <a16:creationId xmlns:a16="http://schemas.microsoft.com/office/drawing/2014/main" id="{01406863-BD56-807E-DE28-F79550A1012F}"/>
              </a:ext>
            </a:extLst>
          </p:cNvPr>
          <p:cNvSpPr txBox="1"/>
          <p:nvPr/>
        </p:nvSpPr>
        <p:spPr>
          <a:xfrm>
            <a:off x="4303260" y="4762301"/>
            <a:ext cx="4608576" cy="1077218"/>
          </a:xfrm>
          <a:prstGeom prst="rect">
            <a:avLst/>
          </a:prstGeom>
          <a:noFill/>
        </p:spPr>
        <p:txBody>
          <a:bodyPr wrap="square" rtlCol="0">
            <a:spAutoFit/>
          </a:bodyPr>
          <a:lstStyle>
            <a:defPPr>
              <a:defRPr lang="es-US"/>
            </a:defPPr>
            <a:lvl1pPr algn="ctr">
              <a:defRPr sz="1600"/>
            </a:lvl1pPr>
          </a:lstStyle>
          <a:p>
            <a:r>
              <a:rPr lang="es-ES" dirty="0"/>
              <a:t>Herramienta de prueba electrónica portátil y de mano, diseñada para detectar y mostrar el nivel lógico (alto, bajo o pulsante) en puntos de un circuito digital</a:t>
            </a:r>
            <a:endParaRPr lang="es-CO"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2C6037-2B49-88E8-CD50-4492B72BDE6F}"/>
            </a:ext>
          </a:extLst>
        </p:cNvPr>
        <p:cNvGrpSpPr/>
        <p:nvPr/>
      </p:nvGrpSpPr>
      <p:grpSpPr>
        <a:xfrm>
          <a:off x="0" y="0"/>
          <a:ext cx="0" cy="0"/>
          <a:chOff x="0" y="0"/>
          <a:chExt cx="0" cy="0"/>
        </a:xfrm>
      </p:grpSpPr>
      <p:sp>
        <p:nvSpPr>
          <p:cNvPr id="94" name="Rectángulo 3">
            <a:extLst>
              <a:ext uri="{FF2B5EF4-FFF2-40B4-BE49-F238E27FC236}">
                <a16:creationId xmlns:a16="http://schemas.microsoft.com/office/drawing/2014/main" id="{ED7F750A-0A28-DDBF-02E0-A427AFDD29DE}"/>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96" name="Título 1">
            <a:extLst>
              <a:ext uri="{FF2B5EF4-FFF2-40B4-BE49-F238E27FC236}">
                <a16:creationId xmlns:a16="http://schemas.microsoft.com/office/drawing/2014/main" id="{173EBA11-29BC-9E78-351B-5944AE04EF4B}"/>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97" name="Rectángulo 6">
            <a:extLst>
              <a:ext uri="{FF2B5EF4-FFF2-40B4-BE49-F238E27FC236}">
                <a16:creationId xmlns:a16="http://schemas.microsoft.com/office/drawing/2014/main" id="{FEB23C89-A1C2-9650-AD9A-22E6A3B8337E}"/>
              </a:ext>
            </a:extLst>
          </p:cNvPr>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Fundamentos de señales analógicas y digitales</a:t>
            </a:r>
            <a:endParaRPr lang="es-CO" sz="1800" b="0" strike="noStrike" spc="-1" dirty="0">
              <a:latin typeface="Arial"/>
            </a:endParaRPr>
          </a:p>
        </p:txBody>
      </p:sp>
      <p:sp>
        <p:nvSpPr>
          <p:cNvPr id="98" name="Marcador de número de diapositiva 3">
            <a:extLst>
              <a:ext uri="{FF2B5EF4-FFF2-40B4-BE49-F238E27FC236}">
                <a16:creationId xmlns:a16="http://schemas.microsoft.com/office/drawing/2014/main" id="{5D412631-63F1-CCC4-E77A-8A7D6CA3ED33}"/>
              </a:ext>
            </a:extLst>
          </p:cNvPr>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C91DE32A-129C-4983-B998-3B5F53EC49B1}" type="slidenum">
              <a:rPr lang="es-CO" sz="1200" b="0" strike="noStrike" spc="-1">
                <a:solidFill>
                  <a:srgbClr val="FFFFFF"/>
                </a:solidFill>
                <a:latin typeface="Calibri"/>
                <a:ea typeface="DejaVu Sans"/>
              </a:rPr>
              <a:t>9</a:t>
            </a:fld>
            <a:endParaRPr lang="es-CO" sz="1200" b="0" strike="noStrike" spc="-1">
              <a:latin typeface="Arial"/>
            </a:endParaRPr>
          </a:p>
        </p:txBody>
      </p:sp>
      <p:sp>
        <p:nvSpPr>
          <p:cNvPr id="99" name="CuadroTexto 6">
            <a:extLst>
              <a:ext uri="{FF2B5EF4-FFF2-40B4-BE49-F238E27FC236}">
                <a16:creationId xmlns:a16="http://schemas.microsoft.com/office/drawing/2014/main" id="{C75241F1-3895-5A98-06D6-0484CA261FDC}"/>
              </a:ext>
            </a:extLst>
          </p:cNvPr>
          <p:cNvSpPr/>
          <p:nvPr/>
        </p:nvSpPr>
        <p:spPr>
          <a:xfrm>
            <a:off x="182880" y="523424"/>
            <a:ext cx="8777880" cy="91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2C5697"/>
                </a:solidFill>
                <a:latin typeface="Arial"/>
                <a:ea typeface="DejaVu Sans"/>
              </a:rPr>
              <a:t>Señales analógicas</a:t>
            </a:r>
            <a:endParaRPr lang="es-CO" sz="1350" b="0" strike="noStrike" spc="-1" dirty="0">
              <a:latin typeface="Arial"/>
            </a:endParaRPr>
          </a:p>
          <a:p>
            <a:pPr>
              <a:lnSpc>
                <a:spcPct val="100000"/>
              </a:lnSpc>
              <a:buNone/>
            </a:pPr>
            <a:r>
              <a:rPr lang="es-MX" sz="1350" b="0" strike="noStrike" spc="-1" dirty="0">
                <a:solidFill>
                  <a:srgbClr val="000000"/>
                </a:solidFill>
                <a:latin typeface="Arial"/>
                <a:ea typeface="DejaVu Sans"/>
              </a:rPr>
              <a:t>Son aquellas que varían de forma continua, como las magnitudes físicas en la naturaleza, cómo la variación del sonido, la luz, temperatura, presión, tiempo, etc. Toman un valor de tiempo instantáneo diferente para cada fracción de tiempo considerado.</a:t>
            </a:r>
            <a:endParaRPr lang="es-CO" sz="1350" b="0" strike="noStrike" spc="-1" dirty="0">
              <a:latin typeface="Arial"/>
            </a:endParaRPr>
          </a:p>
        </p:txBody>
      </p:sp>
      <p:grpSp>
        <p:nvGrpSpPr>
          <p:cNvPr id="12" name="Grupo 11">
            <a:extLst>
              <a:ext uri="{FF2B5EF4-FFF2-40B4-BE49-F238E27FC236}">
                <a16:creationId xmlns:a16="http://schemas.microsoft.com/office/drawing/2014/main" id="{CFFAE517-4BAF-4372-BA89-E1C06E6E2CA7}"/>
              </a:ext>
            </a:extLst>
          </p:cNvPr>
          <p:cNvGrpSpPr/>
          <p:nvPr/>
        </p:nvGrpSpPr>
        <p:grpSpPr>
          <a:xfrm>
            <a:off x="1316700" y="2011976"/>
            <a:ext cx="6510240" cy="2972900"/>
            <a:chOff x="3371044" y="3429000"/>
            <a:chExt cx="5772956" cy="2372056"/>
          </a:xfrm>
        </p:grpSpPr>
        <p:grpSp>
          <p:nvGrpSpPr>
            <p:cNvPr id="9" name="Grupo 8">
              <a:extLst>
                <a:ext uri="{FF2B5EF4-FFF2-40B4-BE49-F238E27FC236}">
                  <a16:creationId xmlns:a16="http://schemas.microsoft.com/office/drawing/2014/main" id="{5EE56DF2-4BEC-AEBC-B96F-DBE15001B42E}"/>
                </a:ext>
              </a:extLst>
            </p:cNvPr>
            <p:cNvGrpSpPr/>
            <p:nvPr/>
          </p:nvGrpSpPr>
          <p:grpSpPr>
            <a:xfrm>
              <a:off x="3371044" y="3429000"/>
              <a:ext cx="5772956" cy="2372056"/>
              <a:chOff x="3444677" y="4079850"/>
              <a:chExt cx="5772956" cy="2372056"/>
            </a:xfrm>
          </p:grpSpPr>
          <p:pic>
            <p:nvPicPr>
              <p:cNvPr id="5" name="Imagen 4">
                <a:extLst>
                  <a:ext uri="{FF2B5EF4-FFF2-40B4-BE49-F238E27FC236}">
                    <a16:creationId xmlns:a16="http://schemas.microsoft.com/office/drawing/2014/main" id="{8519B553-C69B-87D4-A6EF-B59A8CB27D61}"/>
                  </a:ext>
                </a:extLst>
              </p:cNvPr>
              <p:cNvPicPr>
                <a:picLocks noChangeAspect="1"/>
              </p:cNvPicPr>
              <p:nvPr/>
            </p:nvPicPr>
            <p:blipFill>
              <a:blip r:embed="rId2"/>
              <a:stretch>
                <a:fillRect/>
              </a:stretch>
            </p:blipFill>
            <p:spPr>
              <a:xfrm>
                <a:off x="3444677" y="4079850"/>
                <a:ext cx="5772956" cy="2372056"/>
              </a:xfrm>
              <a:prstGeom prst="rect">
                <a:avLst/>
              </a:prstGeom>
            </p:spPr>
          </p:pic>
          <p:sp>
            <p:nvSpPr>
              <p:cNvPr id="7" name="Rectángulo 6">
                <a:extLst>
                  <a:ext uri="{FF2B5EF4-FFF2-40B4-BE49-F238E27FC236}">
                    <a16:creationId xmlns:a16="http://schemas.microsoft.com/office/drawing/2014/main" id="{BFA235D6-A435-A1C2-21BF-6EB327BBD188}"/>
                  </a:ext>
                </a:extLst>
              </p:cNvPr>
              <p:cNvSpPr/>
              <p:nvPr/>
            </p:nvSpPr>
            <p:spPr>
              <a:xfrm>
                <a:off x="6194722" y="5646844"/>
                <a:ext cx="1690103" cy="2490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Rectángulo 10">
              <a:extLst>
                <a:ext uri="{FF2B5EF4-FFF2-40B4-BE49-F238E27FC236}">
                  <a16:creationId xmlns:a16="http://schemas.microsoft.com/office/drawing/2014/main" id="{D7AE08F4-0265-C175-E7D8-6DF89A079651}"/>
                </a:ext>
              </a:extLst>
            </p:cNvPr>
            <p:cNvSpPr/>
            <p:nvPr/>
          </p:nvSpPr>
          <p:spPr>
            <a:xfrm rot="21336657">
              <a:off x="7554735" y="4948447"/>
              <a:ext cx="1362818" cy="8050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sp>
        <p:nvSpPr>
          <p:cNvPr id="13" name="CuadroTexto 12">
            <a:extLst>
              <a:ext uri="{FF2B5EF4-FFF2-40B4-BE49-F238E27FC236}">
                <a16:creationId xmlns:a16="http://schemas.microsoft.com/office/drawing/2014/main" id="{72EBFD03-C8A8-A6EF-16DF-AC03ACD0053B}"/>
              </a:ext>
            </a:extLst>
          </p:cNvPr>
          <p:cNvSpPr txBox="1"/>
          <p:nvPr/>
        </p:nvSpPr>
        <p:spPr>
          <a:xfrm>
            <a:off x="-71362" y="5827218"/>
            <a:ext cx="3587842" cy="215444"/>
          </a:xfrm>
          <a:prstGeom prst="rect">
            <a:avLst/>
          </a:prstGeom>
          <a:noFill/>
        </p:spPr>
        <p:txBody>
          <a:bodyPr wrap="none" rtlCol="0">
            <a:spAutoFit/>
          </a:bodyPr>
          <a:lstStyle>
            <a:defPPr>
              <a:defRPr lang="es-US"/>
            </a:defPPr>
            <a:lvl1pPr algn="ctr">
              <a:defRPr sz="800">
                <a:solidFill>
                  <a:schemeClr val="bg1"/>
                </a:solidFill>
              </a:defRPr>
            </a:lvl1pPr>
          </a:lstStyle>
          <a:p>
            <a:r>
              <a:rPr lang="es-CO" dirty="0"/>
              <a:t>[4] https://quecamarareflex.com/criterios-para-elegir-una-interfaz-de-audio/</a:t>
            </a:r>
          </a:p>
        </p:txBody>
      </p:sp>
      <p:grpSp>
        <p:nvGrpSpPr>
          <p:cNvPr id="2" name="Grupo 1">
            <a:extLst>
              <a:ext uri="{FF2B5EF4-FFF2-40B4-BE49-F238E27FC236}">
                <a16:creationId xmlns:a16="http://schemas.microsoft.com/office/drawing/2014/main" id="{C1227EF7-C345-BC03-7580-EA687E4A0731}"/>
              </a:ext>
            </a:extLst>
          </p:cNvPr>
          <p:cNvGrpSpPr/>
          <p:nvPr/>
        </p:nvGrpSpPr>
        <p:grpSpPr>
          <a:xfrm>
            <a:off x="4802623" y="4246877"/>
            <a:ext cx="3153610" cy="1008985"/>
            <a:chOff x="6121089" y="4948447"/>
            <a:chExt cx="2796464" cy="805062"/>
          </a:xfrm>
        </p:grpSpPr>
        <p:sp>
          <p:nvSpPr>
            <p:cNvPr id="8" name="Rectángulo 7">
              <a:extLst>
                <a:ext uri="{FF2B5EF4-FFF2-40B4-BE49-F238E27FC236}">
                  <a16:creationId xmlns:a16="http://schemas.microsoft.com/office/drawing/2014/main" id="{5494D903-0582-7543-C944-16D505B059F0}"/>
                </a:ext>
              </a:extLst>
            </p:cNvPr>
            <p:cNvSpPr/>
            <p:nvPr/>
          </p:nvSpPr>
          <p:spPr>
            <a:xfrm>
              <a:off x="6121089" y="4995994"/>
              <a:ext cx="1690103" cy="2490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68A6F399-56EF-210B-31C0-C92D779D1B99}"/>
                </a:ext>
              </a:extLst>
            </p:cNvPr>
            <p:cNvSpPr/>
            <p:nvPr/>
          </p:nvSpPr>
          <p:spPr>
            <a:xfrm rot="21336657">
              <a:off x="7554735" y="4948447"/>
              <a:ext cx="1362818" cy="8050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spTree>
    <p:extLst>
      <p:ext uri="{BB962C8B-B14F-4D97-AF65-F5344CB8AC3E}">
        <p14:creationId xmlns:p14="http://schemas.microsoft.com/office/powerpoint/2010/main" val="1560533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04"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05" name="Rectángulo 6"/>
          <p:cNvSpPr/>
          <p:nvPr/>
        </p:nvSpPr>
        <p:spPr>
          <a:xfrm>
            <a:off x="20160" y="12024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Fundamentos de señales analógicas y digitales</a:t>
            </a:r>
            <a:endParaRPr lang="es-CO" sz="1800" b="0" strike="noStrike" spc="-1" dirty="0">
              <a:latin typeface="Arial"/>
            </a:endParaRPr>
          </a:p>
        </p:txBody>
      </p:sp>
      <p:sp>
        <p:nvSpPr>
          <p:cNvPr id="106" name="Marcador de número de diapositiva 3"/>
          <p:cNvSpPr/>
          <p:nvPr/>
        </p:nvSpPr>
        <p:spPr>
          <a:xfrm>
            <a:off x="8799840" y="5886000"/>
            <a:ext cx="2930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2F79AB7-8A80-48AC-96FA-1D85F8479837}" type="slidenum">
              <a:rPr lang="es-CO" sz="1200" b="0" strike="noStrike" spc="-1">
                <a:solidFill>
                  <a:srgbClr val="FFFFFF"/>
                </a:solidFill>
                <a:latin typeface="Calibri"/>
                <a:ea typeface="DejaVu Sans"/>
              </a:rPr>
              <a:t>10</a:t>
            </a:fld>
            <a:endParaRPr lang="es-CO" sz="1200" b="0" strike="noStrike" spc="-1">
              <a:latin typeface="Arial"/>
            </a:endParaRPr>
          </a:p>
        </p:txBody>
      </p:sp>
      <p:sp>
        <p:nvSpPr>
          <p:cNvPr id="107" name="CuadroTexto 6"/>
          <p:cNvSpPr/>
          <p:nvPr/>
        </p:nvSpPr>
        <p:spPr>
          <a:xfrm>
            <a:off x="182880" y="473400"/>
            <a:ext cx="8777880" cy="50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2C5697"/>
                </a:solidFill>
                <a:latin typeface="Arial"/>
                <a:ea typeface="DejaVu Sans"/>
              </a:rPr>
              <a:t>Señales digitales</a:t>
            </a:r>
            <a:endParaRPr lang="es-CO" sz="1350" b="0" strike="noStrike" spc="-1" dirty="0">
              <a:latin typeface="Arial"/>
            </a:endParaRPr>
          </a:p>
          <a:p>
            <a:pPr>
              <a:lnSpc>
                <a:spcPct val="100000"/>
              </a:lnSpc>
              <a:buNone/>
            </a:pPr>
            <a:r>
              <a:rPr lang="es-MX" sz="1350" b="0" strike="noStrike" spc="-1" dirty="0">
                <a:solidFill>
                  <a:srgbClr val="000000"/>
                </a:solidFill>
                <a:latin typeface="Arial"/>
                <a:ea typeface="DejaVu Sans"/>
              </a:rPr>
              <a:t>Son más simples que las analógicas, ya que la información se procesa y codifica en dos únicos estados. </a:t>
            </a:r>
            <a:endParaRPr lang="es-CO" sz="1350" b="0" strike="noStrike" spc="-1" dirty="0">
              <a:latin typeface="Arial"/>
            </a:endParaRPr>
          </a:p>
        </p:txBody>
      </p:sp>
      <p:grpSp>
        <p:nvGrpSpPr>
          <p:cNvPr id="8" name="Grupo 7">
            <a:extLst>
              <a:ext uri="{FF2B5EF4-FFF2-40B4-BE49-F238E27FC236}">
                <a16:creationId xmlns:a16="http://schemas.microsoft.com/office/drawing/2014/main" id="{68A1EB82-98A8-DE2C-049C-6587FD86DFD6}"/>
              </a:ext>
            </a:extLst>
          </p:cNvPr>
          <p:cNvGrpSpPr/>
          <p:nvPr/>
        </p:nvGrpSpPr>
        <p:grpSpPr>
          <a:xfrm>
            <a:off x="1185542" y="1863767"/>
            <a:ext cx="6772556" cy="2896106"/>
            <a:chOff x="182880" y="1351800"/>
            <a:chExt cx="5303520" cy="2077200"/>
          </a:xfrm>
        </p:grpSpPr>
        <p:pic>
          <p:nvPicPr>
            <p:cNvPr id="3" name="Imagen 2" descr="Diagrama, Esquemático&#10;&#10;El contenido generado por IA puede ser incorrecto.">
              <a:extLst>
                <a:ext uri="{FF2B5EF4-FFF2-40B4-BE49-F238E27FC236}">
                  <a16:creationId xmlns:a16="http://schemas.microsoft.com/office/drawing/2014/main" id="{3A30C962-5EE4-7699-BC7F-24CF1E56A4B3}"/>
                </a:ext>
              </a:extLst>
            </p:cNvPr>
            <p:cNvPicPr>
              <a:picLocks noChangeAspect="1"/>
            </p:cNvPicPr>
            <p:nvPr/>
          </p:nvPicPr>
          <p:blipFill>
            <a:blip r:embed="rId2">
              <a:extLst>
                <a:ext uri="{28A0092B-C50C-407E-A947-70E740481C1C}">
                  <a14:useLocalDpi xmlns:a14="http://schemas.microsoft.com/office/drawing/2010/main" val="0"/>
                </a:ext>
              </a:extLst>
            </a:blip>
            <a:srcRect l="2977" b="14827"/>
            <a:stretch>
              <a:fillRect/>
            </a:stretch>
          </p:blipFill>
          <p:spPr>
            <a:xfrm>
              <a:off x="182880" y="1351800"/>
              <a:ext cx="5303520" cy="2077200"/>
            </a:xfrm>
            <a:prstGeom prst="rect">
              <a:avLst/>
            </a:prstGeom>
          </p:spPr>
        </p:pic>
        <p:sp>
          <p:nvSpPr>
            <p:cNvPr id="6" name="Rectángulo 5">
              <a:extLst>
                <a:ext uri="{FF2B5EF4-FFF2-40B4-BE49-F238E27FC236}">
                  <a16:creationId xmlns:a16="http://schemas.microsoft.com/office/drawing/2014/main" id="{9F37EA94-B44C-1527-4FA4-F02B3D9FB729}"/>
                </a:ext>
              </a:extLst>
            </p:cNvPr>
            <p:cNvSpPr/>
            <p:nvPr/>
          </p:nvSpPr>
          <p:spPr>
            <a:xfrm>
              <a:off x="3059280" y="3020990"/>
              <a:ext cx="1362818" cy="194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grpSp>
      <p:sp>
        <p:nvSpPr>
          <p:cNvPr id="2" name="CuadroTexto 1">
            <a:extLst>
              <a:ext uri="{FF2B5EF4-FFF2-40B4-BE49-F238E27FC236}">
                <a16:creationId xmlns:a16="http://schemas.microsoft.com/office/drawing/2014/main" id="{41AE538B-F397-698A-5EBD-0CA5E298FCBF}"/>
              </a:ext>
            </a:extLst>
          </p:cNvPr>
          <p:cNvSpPr txBox="1"/>
          <p:nvPr/>
        </p:nvSpPr>
        <p:spPr>
          <a:xfrm>
            <a:off x="-71362" y="5852716"/>
            <a:ext cx="3587842" cy="215444"/>
          </a:xfrm>
          <a:prstGeom prst="rect">
            <a:avLst/>
          </a:prstGeom>
          <a:noFill/>
        </p:spPr>
        <p:txBody>
          <a:bodyPr wrap="none" rtlCol="0">
            <a:spAutoFit/>
          </a:bodyPr>
          <a:lstStyle>
            <a:defPPr>
              <a:defRPr lang="es-US"/>
            </a:defPPr>
            <a:lvl1pPr algn="ctr">
              <a:defRPr sz="800">
                <a:solidFill>
                  <a:schemeClr val="bg1"/>
                </a:solidFill>
              </a:defRPr>
            </a:lvl1pPr>
          </a:lstStyle>
          <a:p>
            <a:r>
              <a:rPr lang="es-CO" dirty="0"/>
              <a:t>[4] https://quecamarareflex.com/criterios-para-elegir-una-interfaz-de-audio/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12"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13" name="Rectángulo 6"/>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Fundamentos de señales analógicas y digitales</a:t>
            </a:r>
            <a:endParaRPr lang="es-CO" sz="1800" b="0" strike="noStrike" spc="-1">
              <a:latin typeface="Arial"/>
            </a:endParaRPr>
          </a:p>
        </p:txBody>
      </p:sp>
      <p:sp>
        <p:nvSpPr>
          <p:cNvPr id="114" name="Marcador de número de diapositiva 3"/>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DEF6E113-275D-4C63-B0F5-EE3025992C94}" type="slidenum">
              <a:rPr lang="es-CO" sz="1200" b="0" strike="noStrike" spc="-1">
                <a:solidFill>
                  <a:srgbClr val="FFFFFF"/>
                </a:solidFill>
                <a:latin typeface="Calibri"/>
                <a:ea typeface="DejaVu Sans"/>
              </a:rPr>
              <a:t>11</a:t>
            </a:fld>
            <a:endParaRPr lang="es-CO" sz="1200" b="0" strike="noStrike" spc="-1" dirty="0">
              <a:latin typeface="Arial"/>
            </a:endParaRPr>
          </a:p>
        </p:txBody>
      </p:sp>
      <p:sp>
        <p:nvSpPr>
          <p:cNvPr id="115" name="CuadroTexto 6"/>
          <p:cNvSpPr/>
          <p:nvPr/>
        </p:nvSpPr>
        <p:spPr>
          <a:xfrm>
            <a:off x="182880" y="473400"/>
            <a:ext cx="877788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2C5697"/>
                </a:solidFill>
                <a:latin typeface="Arial"/>
                <a:ea typeface="DejaVu Sans"/>
              </a:rPr>
              <a:t>Proceso de digitalización de una señal</a:t>
            </a:r>
            <a:endParaRPr lang="es-CO" sz="1350" b="0" strike="noStrike" spc="-1" dirty="0">
              <a:latin typeface="Arial"/>
            </a:endParaRPr>
          </a:p>
        </p:txBody>
      </p:sp>
      <p:sp>
        <p:nvSpPr>
          <p:cNvPr id="3" name="Rectángulo 2">
            <a:extLst>
              <a:ext uri="{FF2B5EF4-FFF2-40B4-BE49-F238E27FC236}">
                <a16:creationId xmlns:a16="http://schemas.microsoft.com/office/drawing/2014/main" id="{4F3A50B5-E5A0-4A4B-BEEB-EE867D46C45F}"/>
              </a:ext>
            </a:extLst>
          </p:cNvPr>
          <p:cNvSpPr/>
          <p:nvPr/>
        </p:nvSpPr>
        <p:spPr>
          <a:xfrm>
            <a:off x="6157532" y="3181238"/>
            <a:ext cx="299697" cy="215444"/>
          </a:xfrm>
          <a:prstGeom prst="rect">
            <a:avLst/>
          </a:prstGeom>
        </p:spPr>
        <p:txBody>
          <a:bodyPr wrap="none">
            <a:spAutoFit/>
          </a:bodyPr>
          <a:lstStyle/>
          <a:p>
            <a:r>
              <a:rPr lang="es-MX" sz="800" spc="-1" dirty="0"/>
              <a:t>[1]</a:t>
            </a:r>
            <a:endParaRPr lang="es-US" dirty="0"/>
          </a:p>
        </p:txBody>
      </p:sp>
      <p:pic>
        <p:nvPicPr>
          <p:cNvPr id="7" name="Imagen 6">
            <a:extLst>
              <a:ext uri="{FF2B5EF4-FFF2-40B4-BE49-F238E27FC236}">
                <a16:creationId xmlns:a16="http://schemas.microsoft.com/office/drawing/2014/main" id="{3F70B5D0-F947-8A99-525A-BD6900EBAC81}"/>
              </a:ext>
            </a:extLst>
          </p:cNvPr>
          <p:cNvPicPr>
            <a:picLocks noChangeAspect="1"/>
          </p:cNvPicPr>
          <p:nvPr/>
        </p:nvPicPr>
        <p:blipFill>
          <a:blip r:embed="rId2"/>
          <a:stretch>
            <a:fillRect/>
          </a:stretch>
        </p:blipFill>
        <p:spPr>
          <a:xfrm>
            <a:off x="1461473" y="1184873"/>
            <a:ext cx="6220693" cy="3324689"/>
          </a:xfrm>
          <a:prstGeom prst="rect">
            <a:avLst/>
          </a:prstGeom>
        </p:spPr>
      </p:pic>
      <p:pic>
        <p:nvPicPr>
          <p:cNvPr id="12" name="Imagen 11" descr="Diagrama&#10;&#10;El contenido generado por IA puede ser incorrecto.">
            <a:extLst>
              <a:ext uri="{FF2B5EF4-FFF2-40B4-BE49-F238E27FC236}">
                <a16:creationId xmlns:a16="http://schemas.microsoft.com/office/drawing/2014/main" id="{8C171BAB-C3A8-33A0-81CA-D5BC01B6D6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6385" y="4832283"/>
            <a:ext cx="3333750" cy="981075"/>
          </a:xfrm>
          <a:prstGeom prst="rect">
            <a:avLst/>
          </a:prstGeom>
        </p:spPr>
      </p:pic>
      <p:sp>
        <p:nvSpPr>
          <p:cNvPr id="14" name="CuadroTexto 13">
            <a:extLst>
              <a:ext uri="{FF2B5EF4-FFF2-40B4-BE49-F238E27FC236}">
                <a16:creationId xmlns:a16="http://schemas.microsoft.com/office/drawing/2014/main" id="{221E6A8B-D949-B2D8-6F88-FC2ACC5FECF4}"/>
              </a:ext>
            </a:extLst>
          </p:cNvPr>
          <p:cNvSpPr txBox="1"/>
          <p:nvPr/>
        </p:nvSpPr>
        <p:spPr>
          <a:xfrm>
            <a:off x="-55218" y="5838316"/>
            <a:ext cx="5383205" cy="215444"/>
          </a:xfrm>
          <a:prstGeom prst="rect">
            <a:avLst/>
          </a:prstGeom>
          <a:noFill/>
        </p:spPr>
        <p:txBody>
          <a:bodyPr wrap="none" rtlCol="0">
            <a:spAutoFit/>
          </a:bodyPr>
          <a:lstStyle>
            <a:defPPr>
              <a:defRPr lang="es-US"/>
            </a:defPPr>
            <a:lvl1pPr algn="ctr">
              <a:defRPr sz="800">
                <a:solidFill>
                  <a:schemeClr val="bg1"/>
                </a:solidFill>
              </a:defRPr>
            </a:lvl1pPr>
          </a:lstStyle>
          <a:p>
            <a:r>
              <a:rPr lang="es-CO" dirty="0"/>
              <a:t>[5] https://www.techsound.vn/blogs/news/tim-hieu-ve-dac-amp-va-tac-dung-toi-viec-trai-nghiem-am-nhac-qua-tai-n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AB4385-26DD-ECBD-0B63-8FFD677D9164}"/>
            </a:ext>
          </a:extLst>
        </p:cNvPr>
        <p:cNvGrpSpPr/>
        <p:nvPr/>
      </p:nvGrpSpPr>
      <p:grpSpPr>
        <a:xfrm>
          <a:off x="0" y="0"/>
          <a:ext cx="0" cy="0"/>
          <a:chOff x="0" y="0"/>
          <a:chExt cx="0" cy="0"/>
        </a:xfrm>
      </p:grpSpPr>
      <p:sp>
        <p:nvSpPr>
          <p:cNvPr id="110" name="Rectángulo 3">
            <a:extLst>
              <a:ext uri="{FF2B5EF4-FFF2-40B4-BE49-F238E27FC236}">
                <a16:creationId xmlns:a16="http://schemas.microsoft.com/office/drawing/2014/main" id="{419EFBC0-E12B-6573-8485-58B4C58519A5}"/>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12" name="Título 1">
            <a:extLst>
              <a:ext uri="{FF2B5EF4-FFF2-40B4-BE49-F238E27FC236}">
                <a16:creationId xmlns:a16="http://schemas.microsoft.com/office/drawing/2014/main" id="{962D2ACE-6E8C-656B-0DF1-662481F1EEE2}"/>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13" name="Rectángulo 6">
            <a:extLst>
              <a:ext uri="{FF2B5EF4-FFF2-40B4-BE49-F238E27FC236}">
                <a16:creationId xmlns:a16="http://schemas.microsoft.com/office/drawing/2014/main" id="{212D0BFD-E014-7DCD-710C-A8280785E15E}"/>
              </a:ext>
            </a:extLst>
          </p:cNvPr>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Fundamentos de señales analógicas y digitales</a:t>
            </a:r>
            <a:endParaRPr lang="es-CO" sz="1800" b="0" strike="noStrike" spc="-1">
              <a:latin typeface="Arial"/>
            </a:endParaRPr>
          </a:p>
        </p:txBody>
      </p:sp>
      <p:sp>
        <p:nvSpPr>
          <p:cNvPr id="114" name="Marcador de número de diapositiva 3">
            <a:extLst>
              <a:ext uri="{FF2B5EF4-FFF2-40B4-BE49-F238E27FC236}">
                <a16:creationId xmlns:a16="http://schemas.microsoft.com/office/drawing/2014/main" id="{7CA87213-EF7D-31DC-2432-6DB65371E4E5}"/>
              </a:ext>
            </a:extLst>
          </p:cNvPr>
          <p:cNvSpPr/>
          <p:nvPr/>
        </p:nvSpPr>
        <p:spPr>
          <a:xfrm>
            <a:off x="8608680" y="5886000"/>
            <a:ext cx="4842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DEF6E113-275D-4C63-B0F5-EE3025992C94}" type="slidenum">
              <a:rPr lang="es-CO" sz="1200" b="0" strike="noStrike" spc="-1">
                <a:solidFill>
                  <a:srgbClr val="FFFFFF"/>
                </a:solidFill>
                <a:latin typeface="Calibri"/>
                <a:ea typeface="DejaVu Sans"/>
              </a:rPr>
              <a:t>12</a:t>
            </a:fld>
            <a:endParaRPr lang="es-CO" sz="1200" b="0" strike="noStrike" spc="-1" dirty="0">
              <a:latin typeface="Arial"/>
            </a:endParaRPr>
          </a:p>
        </p:txBody>
      </p:sp>
      <p:sp>
        <p:nvSpPr>
          <p:cNvPr id="115" name="CuadroTexto 6">
            <a:extLst>
              <a:ext uri="{FF2B5EF4-FFF2-40B4-BE49-F238E27FC236}">
                <a16:creationId xmlns:a16="http://schemas.microsoft.com/office/drawing/2014/main" id="{32C1D538-0BAA-D1AF-DA16-1CA4A27BD415}"/>
              </a:ext>
            </a:extLst>
          </p:cNvPr>
          <p:cNvSpPr/>
          <p:nvPr/>
        </p:nvSpPr>
        <p:spPr>
          <a:xfrm>
            <a:off x="182880" y="473400"/>
            <a:ext cx="877788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2C5697"/>
                </a:solidFill>
                <a:latin typeface="Arial"/>
                <a:ea typeface="DejaVu Sans"/>
              </a:rPr>
              <a:t>Proceso de digitalización de una señal</a:t>
            </a:r>
            <a:endParaRPr lang="es-CO" sz="1350" b="0" strike="noStrike" spc="-1" dirty="0">
              <a:latin typeface="Arial"/>
            </a:endParaRPr>
          </a:p>
        </p:txBody>
      </p:sp>
      <p:sp>
        <p:nvSpPr>
          <p:cNvPr id="14" name="CuadroTexto 13">
            <a:extLst>
              <a:ext uri="{FF2B5EF4-FFF2-40B4-BE49-F238E27FC236}">
                <a16:creationId xmlns:a16="http://schemas.microsoft.com/office/drawing/2014/main" id="{42379570-404F-C482-0D89-56613EED066C}"/>
              </a:ext>
            </a:extLst>
          </p:cNvPr>
          <p:cNvSpPr txBox="1"/>
          <p:nvPr/>
        </p:nvSpPr>
        <p:spPr>
          <a:xfrm>
            <a:off x="-117432" y="5830036"/>
            <a:ext cx="1479888" cy="215444"/>
          </a:xfrm>
          <a:prstGeom prst="rect">
            <a:avLst/>
          </a:prstGeom>
          <a:noFill/>
        </p:spPr>
        <p:txBody>
          <a:bodyPr wrap="square" rtlCol="0">
            <a:spAutoFit/>
          </a:bodyPr>
          <a:lstStyle>
            <a:defPPr>
              <a:defRPr lang="es-US"/>
            </a:defPPr>
            <a:lvl1pPr algn="ctr">
              <a:defRPr sz="800">
                <a:solidFill>
                  <a:schemeClr val="bg1"/>
                </a:solidFill>
              </a:defRPr>
            </a:lvl1pPr>
          </a:lstStyle>
          <a:p>
            <a:r>
              <a:rPr lang="es-CO" dirty="0"/>
              <a:t>[6] Proceso ADC y DAC</a:t>
            </a:r>
          </a:p>
        </p:txBody>
      </p:sp>
      <p:pic>
        <p:nvPicPr>
          <p:cNvPr id="4" name="Imagen 3">
            <a:extLst>
              <a:ext uri="{FF2B5EF4-FFF2-40B4-BE49-F238E27FC236}">
                <a16:creationId xmlns:a16="http://schemas.microsoft.com/office/drawing/2014/main" id="{07B03102-B3DF-61EB-AF5C-B8D5CC14F20A}"/>
              </a:ext>
            </a:extLst>
          </p:cNvPr>
          <p:cNvPicPr>
            <a:picLocks noChangeAspect="1"/>
          </p:cNvPicPr>
          <p:nvPr/>
        </p:nvPicPr>
        <p:blipFill>
          <a:blip r:embed="rId2"/>
          <a:stretch>
            <a:fillRect/>
          </a:stretch>
        </p:blipFill>
        <p:spPr>
          <a:xfrm>
            <a:off x="1695902" y="1176900"/>
            <a:ext cx="5751836" cy="4554240"/>
          </a:xfrm>
          <a:prstGeom prst="rect">
            <a:avLst/>
          </a:prstGeom>
        </p:spPr>
      </p:pic>
    </p:spTree>
    <p:extLst>
      <p:ext uri="{BB962C8B-B14F-4D97-AF65-F5344CB8AC3E}">
        <p14:creationId xmlns:p14="http://schemas.microsoft.com/office/powerpoint/2010/main" val="229717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 name="Rectángulo 2"/>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19" name="TextBox 1"/>
          <p:cNvSpPr/>
          <p:nvPr/>
        </p:nvSpPr>
        <p:spPr>
          <a:xfrm>
            <a:off x="21240" y="5909040"/>
            <a:ext cx="5977440" cy="196200"/>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s-ES" sz="700" b="0" strike="noStrike" spc="-1">
                <a:solidFill>
                  <a:srgbClr val="FFFFFF"/>
                </a:solidFill>
                <a:latin typeface="Arial"/>
                <a:ea typeface="DejaVu Sans"/>
              </a:rPr>
              <a:t>Fuente: www.electromagnetismo.es</a:t>
            </a:r>
            <a:endParaRPr lang="es-CO" sz="700" b="0" strike="noStrike" spc="-1">
              <a:latin typeface="Arial"/>
            </a:endParaRPr>
          </a:p>
        </p:txBody>
      </p:sp>
      <p:sp>
        <p:nvSpPr>
          <p:cNvPr id="120" name="Título 2"/>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21" name="Rectángulo 4"/>
          <p:cNvSpPr/>
          <p:nvPr/>
        </p:nvSpPr>
        <p:spPr>
          <a:xfrm>
            <a:off x="-2160" y="74520"/>
            <a:ext cx="8610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Fundamentos de señales analógicas y digitales</a:t>
            </a:r>
            <a:endParaRPr lang="es-CO" sz="1800" b="0" strike="noStrike" spc="-1">
              <a:latin typeface="Arial"/>
            </a:endParaRPr>
          </a:p>
        </p:txBody>
      </p:sp>
      <p:sp>
        <p:nvSpPr>
          <p:cNvPr id="122" name="Marcador de número de diapositiva 1"/>
          <p:cNvSpPr/>
          <p:nvPr/>
        </p:nvSpPr>
        <p:spPr>
          <a:xfrm>
            <a:off x="8741664" y="5886000"/>
            <a:ext cx="351216"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0BE78FEA-108C-407F-B148-1765FD514A41}" type="slidenum">
              <a:rPr lang="es-CO" sz="1200" b="0" strike="noStrike" spc="-1">
                <a:solidFill>
                  <a:srgbClr val="FFFFFF"/>
                </a:solidFill>
                <a:latin typeface="Calibri"/>
                <a:ea typeface="DejaVu Sans"/>
              </a:rPr>
              <a:t>13</a:t>
            </a:fld>
            <a:endParaRPr lang="es-CO" sz="1200" b="0" strike="noStrike" spc="-1" dirty="0">
              <a:latin typeface="Arial"/>
            </a:endParaRPr>
          </a:p>
        </p:txBody>
      </p:sp>
      <p:pic>
        <p:nvPicPr>
          <p:cNvPr id="123" name="Imagen 122"/>
          <p:cNvPicPr/>
          <p:nvPr/>
        </p:nvPicPr>
        <p:blipFill>
          <a:blip r:embed="rId2"/>
          <a:stretch/>
        </p:blipFill>
        <p:spPr>
          <a:xfrm>
            <a:off x="900000" y="540000"/>
            <a:ext cx="7360200" cy="527436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73" name="TextBox 32"/>
          <p:cNvSpPr/>
          <p:nvPr/>
        </p:nvSpPr>
        <p:spPr>
          <a:xfrm>
            <a:off x="21240" y="5909040"/>
            <a:ext cx="8489160" cy="321711"/>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s-ES" sz="700" b="0" strike="noStrike" spc="-1" dirty="0">
                <a:solidFill>
                  <a:srgbClr val="FFFFFF"/>
                </a:solidFill>
                <a:latin typeface="Arial"/>
                <a:ea typeface="DejaVu Sans"/>
              </a:rPr>
              <a:t>[7]  </a:t>
            </a:r>
            <a:r>
              <a:rPr lang="es-MX" sz="800" b="0" strike="noStrike" spc="-1" dirty="0">
                <a:solidFill>
                  <a:srgbClr val="FFFFFF"/>
                </a:solidFill>
                <a:latin typeface="Arial"/>
                <a:ea typeface="DejaVu Sans"/>
              </a:rPr>
              <a:t>Paul, </a:t>
            </a:r>
            <a:r>
              <a:rPr lang="es-MX" sz="800" b="0" strike="noStrike" spc="-1" dirty="0" err="1">
                <a:solidFill>
                  <a:srgbClr val="FFFFFF"/>
                </a:solidFill>
                <a:latin typeface="Arial"/>
                <a:ea typeface="DejaVu Sans"/>
              </a:rPr>
              <a:t>Sudip</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Saikia</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Angana</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Majhi</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Vinayak</a:t>
            </a:r>
            <a:r>
              <a:rPr lang="es-MX" sz="800" b="0" strike="noStrike" spc="-1" dirty="0">
                <a:solidFill>
                  <a:srgbClr val="FFFFFF"/>
                </a:solidFill>
                <a:latin typeface="Arial"/>
                <a:ea typeface="DejaVu Sans"/>
              </a:rPr>
              <a:t>; Pandey, </a:t>
            </a:r>
            <a:r>
              <a:rPr lang="es-MX" sz="800" b="0" strike="noStrike" spc="-1" dirty="0" err="1">
                <a:solidFill>
                  <a:srgbClr val="FFFFFF"/>
                </a:solidFill>
                <a:latin typeface="Arial"/>
                <a:ea typeface="DejaVu Sans"/>
              </a:rPr>
              <a:t>Vinay</a:t>
            </a:r>
            <a:r>
              <a:rPr lang="es-MX" sz="800" b="0" strike="noStrike" spc="-1" dirty="0">
                <a:solidFill>
                  <a:srgbClr val="FFFFFF"/>
                </a:solidFill>
                <a:latin typeface="Arial"/>
                <a:ea typeface="DejaVu Sans"/>
              </a:rPr>
              <a:t> Kumar (2022). </a:t>
            </a:r>
            <a:r>
              <a:rPr lang="es-MX" sz="800" b="0" strike="noStrike" spc="-1" dirty="0" err="1">
                <a:solidFill>
                  <a:srgbClr val="FFFFFF"/>
                </a:solidFill>
                <a:latin typeface="Arial"/>
                <a:ea typeface="DejaVu Sans"/>
              </a:rPr>
              <a:t>Introduction</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to</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Biomedical</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Instrumentation</a:t>
            </a:r>
            <a:r>
              <a:rPr lang="es-MX" sz="800" b="0" strike="noStrike" spc="-1" dirty="0">
                <a:solidFill>
                  <a:srgbClr val="FFFFFF"/>
                </a:solidFill>
                <a:latin typeface="Arial"/>
                <a:ea typeface="DejaVu Sans"/>
              </a:rPr>
              <a:t> and </a:t>
            </a:r>
            <a:r>
              <a:rPr lang="es-MX" sz="800" b="0" strike="noStrike" spc="-1" dirty="0" err="1">
                <a:solidFill>
                  <a:srgbClr val="FFFFFF"/>
                </a:solidFill>
                <a:latin typeface="Arial"/>
                <a:ea typeface="DejaVu Sans"/>
              </a:rPr>
              <a:t>Its</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Applications</a:t>
            </a:r>
            <a:r>
              <a:rPr lang="es-MX" sz="800" b="0" strike="noStrike" spc="-1" dirty="0">
                <a:solidFill>
                  <a:srgbClr val="FFFFFF"/>
                </a:solidFill>
                <a:latin typeface="Arial"/>
                <a:ea typeface="DejaVu Sans"/>
              </a:rPr>
              <a:t>. Elsevier </a:t>
            </a:r>
            <a:r>
              <a:rPr lang="es-MX" sz="800" b="0" strike="noStrike" spc="-1" dirty="0" err="1">
                <a:solidFill>
                  <a:srgbClr val="FFFFFF"/>
                </a:solidFill>
                <a:latin typeface="Arial"/>
                <a:ea typeface="DejaVu Sans"/>
              </a:rPr>
              <a:t>Science</a:t>
            </a:r>
            <a:r>
              <a:rPr lang="es-MX" sz="800" b="0" strike="noStrike" spc="-1" dirty="0">
                <a:solidFill>
                  <a:srgbClr val="FFFFFF"/>
                </a:solidFill>
                <a:latin typeface="Arial"/>
                <a:ea typeface="DejaVu Sans"/>
              </a:rPr>
              <a:t>.</a:t>
            </a:r>
            <a:endParaRPr lang="es-CO" sz="800" b="0" strike="noStrike" spc="-1" dirty="0">
              <a:latin typeface="Arial"/>
            </a:endParaRPr>
          </a:p>
          <a:p>
            <a:pPr>
              <a:lnSpc>
                <a:spcPct val="100000"/>
              </a:lnSpc>
              <a:buNone/>
            </a:pPr>
            <a:endParaRPr lang="es-CO" sz="700" b="0" strike="noStrike" spc="-1" dirty="0">
              <a:latin typeface="Arial"/>
            </a:endParaRPr>
          </a:p>
        </p:txBody>
      </p:sp>
      <p:sp>
        <p:nvSpPr>
          <p:cNvPr id="174"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75"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Origen de las bioseñales</a:t>
            </a:r>
            <a:endParaRPr lang="es-CO" sz="1800" b="0" strike="noStrike" spc="-1">
              <a:latin typeface="Arial"/>
            </a:endParaRPr>
          </a:p>
        </p:txBody>
      </p:sp>
      <p:sp>
        <p:nvSpPr>
          <p:cNvPr id="176" name="Marcador de número de diapositiva 3"/>
          <p:cNvSpPr/>
          <p:nvPr/>
        </p:nvSpPr>
        <p:spPr>
          <a:xfrm>
            <a:off x="8640000" y="5886000"/>
            <a:ext cx="4528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729E3D0-8BD5-45C6-8142-6663590E1E9C}" type="slidenum">
              <a:rPr lang="es-CO" sz="1050" b="0" strike="noStrike" spc="-1">
                <a:solidFill>
                  <a:srgbClr val="FFFFFF"/>
                </a:solidFill>
                <a:latin typeface="Calibri"/>
                <a:ea typeface="DejaVu Sans"/>
              </a:rPr>
              <a:t>14</a:t>
            </a:fld>
            <a:endParaRPr lang="es-CO" sz="1050" b="0" strike="noStrike" spc="-1">
              <a:latin typeface="Arial"/>
            </a:endParaRPr>
          </a:p>
        </p:txBody>
      </p:sp>
      <p:pic>
        <p:nvPicPr>
          <p:cNvPr id="177" name="Picture 2"/>
          <p:cNvPicPr/>
          <p:nvPr/>
        </p:nvPicPr>
        <p:blipFill>
          <a:blip r:embed="rId2"/>
          <a:srcRect l="12893" t="5713" r="11930" b="7716"/>
          <a:stretch/>
        </p:blipFill>
        <p:spPr>
          <a:xfrm>
            <a:off x="21240" y="737640"/>
            <a:ext cx="5286960" cy="4301280"/>
          </a:xfrm>
          <a:prstGeom prst="rect">
            <a:avLst/>
          </a:prstGeom>
          <a:ln w="0">
            <a:noFill/>
          </a:ln>
        </p:spPr>
      </p:pic>
      <p:sp>
        <p:nvSpPr>
          <p:cNvPr id="178" name="CuadroTexto 4"/>
          <p:cNvSpPr/>
          <p:nvPr/>
        </p:nvSpPr>
        <p:spPr>
          <a:xfrm>
            <a:off x="5308920" y="1704960"/>
            <a:ext cx="3643200" cy="20067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2C5697"/>
                </a:solidFill>
                <a:latin typeface="Arial"/>
                <a:ea typeface="DejaVu Sans"/>
              </a:rPr>
              <a:t>Qué es una bioseñal</a:t>
            </a:r>
            <a:endParaRPr lang="es-CO" sz="1350" b="0" strike="noStrike" spc="-1" dirty="0">
              <a:latin typeface="Arial"/>
            </a:endParaRPr>
          </a:p>
          <a:p>
            <a:pPr>
              <a:lnSpc>
                <a:spcPct val="100000"/>
              </a:lnSpc>
              <a:buNone/>
            </a:pPr>
            <a:endParaRPr lang="es-CO" sz="1350" b="0" strike="noStrike" spc="-1" dirty="0">
              <a:latin typeface="Arial"/>
            </a:endParaRPr>
          </a:p>
          <a:p>
            <a:pPr>
              <a:lnSpc>
                <a:spcPct val="100000"/>
              </a:lnSpc>
              <a:buNone/>
            </a:pPr>
            <a:r>
              <a:rPr lang="es-MX" sz="1200" b="0" strike="noStrike" spc="-1" dirty="0">
                <a:solidFill>
                  <a:srgbClr val="2E515E"/>
                </a:solidFill>
                <a:latin typeface="Arial"/>
                <a:ea typeface="DejaVu Sans"/>
              </a:rPr>
              <a:t>Son </a:t>
            </a:r>
            <a:r>
              <a:rPr lang="es-MX" sz="1200" b="1" strike="noStrike" spc="-1" dirty="0">
                <a:solidFill>
                  <a:srgbClr val="2E515E"/>
                </a:solidFill>
                <a:latin typeface="Arial"/>
                <a:ea typeface="DejaVu Sans"/>
              </a:rPr>
              <a:t>registros</a:t>
            </a:r>
            <a:r>
              <a:rPr lang="es-MX" sz="1200" b="0" strike="noStrike" spc="-1" dirty="0">
                <a:solidFill>
                  <a:srgbClr val="2E515E"/>
                </a:solidFill>
                <a:latin typeface="Arial"/>
                <a:ea typeface="DejaVu Sans"/>
              </a:rPr>
              <a:t> espaciales, temporales o espacio-temporales de un evento biológico </a:t>
            </a:r>
            <a:r>
              <a:rPr lang="es-MX" sz="1200" b="1" strike="noStrike" spc="-1" dirty="0">
                <a:solidFill>
                  <a:srgbClr val="2E515E"/>
                </a:solidFill>
                <a:latin typeface="Arial"/>
                <a:ea typeface="DejaVu Sans"/>
              </a:rPr>
              <a:t>que pueden medirse y analizarse </a:t>
            </a:r>
            <a:r>
              <a:rPr lang="en-US" sz="1200" b="0" strike="noStrike" spc="-1" dirty="0">
                <a:solidFill>
                  <a:srgbClr val="2E515E"/>
                </a:solidFill>
                <a:latin typeface="Arial"/>
                <a:ea typeface="DejaVu Sans"/>
              </a:rPr>
              <a:t>[7].</a:t>
            </a:r>
            <a:endParaRPr lang="es-CO" sz="1200" b="0" strike="noStrike" spc="-1" dirty="0">
              <a:latin typeface="Arial"/>
            </a:endParaRPr>
          </a:p>
          <a:p>
            <a:pPr>
              <a:lnSpc>
                <a:spcPct val="100000"/>
              </a:lnSpc>
              <a:buNone/>
            </a:pPr>
            <a:endParaRPr lang="es-CO" sz="1200" b="0" strike="noStrike" spc="-1" dirty="0">
              <a:latin typeface="Arial"/>
            </a:endParaRPr>
          </a:p>
          <a:p>
            <a:pPr>
              <a:lnSpc>
                <a:spcPct val="100000"/>
              </a:lnSpc>
              <a:buNone/>
            </a:pPr>
            <a:r>
              <a:rPr lang="en-US" sz="1200" b="0" strike="noStrike" spc="-1" dirty="0">
                <a:solidFill>
                  <a:srgbClr val="2E515E"/>
                </a:solidFill>
                <a:latin typeface="Arial"/>
                <a:ea typeface="DejaVu Sans"/>
              </a:rPr>
              <a:t>Dada la </a:t>
            </a:r>
            <a:r>
              <a:rPr lang="en-US" sz="1200" b="0" strike="noStrike" spc="-1" dirty="0" err="1">
                <a:solidFill>
                  <a:srgbClr val="2E515E"/>
                </a:solidFill>
                <a:latin typeface="Arial"/>
                <a:ea typeface="DejaVu Sans"/>
              </a:rPr>
              <a:t>alta</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variedad</a:t>
            </a:r>
            <a:r>
              <a:rPr lang="en-US" sz="1200" b="0" strike="noStrike" spc="-1" dirty="0">
                <a:solidFill>
                  <a:srgbClr val="2E515E"/>
                </a:solidFill>
                <a:latin typeface="Arial"/>
                <a:ea typeface="DejaVu Sans"/>
              </a:rPr>
              <a:t> de </a:t>
            </a:r>
            <a:r>
              <a:rPr lang="en-US" sz="1200" b="0" strike="noStrike" spc="-1" dirty="0" err="1">
                <a:solidFill>
                  <a:srgbClr val="2E515E"/>
                </a:solidFill>
                <a:latin typeface="Arial"/>
                <a:ea typeface="DejaVu Sans"/>
              </a:rPr>
              <a:t>mecanismos</a:t>
            </a:r>
            <a:r>
              <a:rPr lang="en-US" sz="1200" b="0" strike="noStrike" spc="-1" dirty="0">
                <a:solidFill>
                  <a:srgbClr val="2E515E"/>
                </a:solidFill>
                <a:latin typeface="Arial"/>
                <a:ea typeface="DejaVu Sans"/>
              </a:rPr>
              <a:t> y </a:t>
            </a:r>
            <a:r>
              <a:rPr lang="en-US" sz="1200" b="0" strike="noStrike" spc="-1" dirty="0" err="1">
                <a:solidFill>
                  <a:srgbClr val="2E515E"/>
                </a:solidFill>
                <a:latin typeface="Arial"/>
                <a:ea typeface="DejaVu Sans"/>
              </a:rPr>
              <a:t>procesos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biológicos</a:t>
            </a:r>
            <a:r>
              <a:rPr lang="en-US" sz="1200" b="0" strike="noStrike" spc="-1" dirty="0">
                <a:solidFill>
                  <a:srgbClr val="2E515E"/>
                </a:solidFill>
                <a:latin typeface="Arial"/>
                <a:ea typeface="DejaVu Sans"/>
              </a:rPr>
              <a:t> de </a:t>
            </a:r>
            <a:r>
              <a:rPr lang="en-US" sz="1200" b="0" strike="noStrike" spc="-1" dirty="0" err="1">
                <a:solidFill>
                  <a:srgbClr val="2E515E"/>
                </a:solidFill>
                <a:latin typeface="Arial"/>
                <a:ea typeface="DejaVu Sans"/>
              </a:rPr>
              <a:t>los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seres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vivos</a:t>
            </a:r>
            <a:r>
              <a:rPr lang="en-US" sz="1200" b="0" strike="noStrike" spc="-1" dirty="0">
                <a:solidFill>
                  <a:srgbClr val="2E515E"/>
                </a:solidFill>
                <a:latin typeface="Arial"/>
                <a:ea typeface="DejaVu Sans"/>
              </a:rPr>
              <a:t>, </a:t>
            </a:r>
            <a:r>
              <a:rPr lang="en-US" sz="1200" b="1" strike="noStrike" spc="-1" dirty="0">
                <a:solidFill>
                  <a:srgbClr val="2E515E"/>
                </a:solidFill>
                <a:latin typeface="Arial"/>
                <a:ea typeface="DejaVu Sans"/>
              </a:rPr>
              <a:t>las </a:t>
            </a:r>
            <a:r>
              <a:rPr lang="en-US" sz="1200" b="1" strike="noStrike" spc="-1" dirty="0" err="1">
                <a:solidFill>
                  <a:srgbClr val="2E515E"/>
                </a:solidFill>
                <a:latin typeface="Arial"/>
                <a:ea typeface="DejaVu Sans"/>
              </a:rPr>
              <a:t>bioseñales</a:t>
            </a:r>
            <a:r>
              <a:rPr lang="en-US" sz="1200" b="1" strike="noStrike" spc="-1" dirty="0">
                <a:solidFill>
                  <a:srgbClr val="2E515E"/>
                </a:solidFill>
                <a:latin typeface="Arial"/>
                <a:ea typeface="DejaVu Sans"/>
              </a:rPr>
              <a:t> son </a:t>
            </a:r>
            <a:r>
              <a:rPr lang="en-US" sz="1200" b="1" strike="noStrike" spc="-1" dirty="0" err="1">
                <a:solidFill>
                  <a:srgbClr val="2E515E"/>
                </a:solidFill>
                <a:latin typeface="Arial"/>
                <a:ea typeface="DejaVu Sans"/>
              </a:rPr>
              <a:t>muy</a:t>
            </a:r>
            <a:r>
              <a:rPr lang="en-US" sz="1200" b="1" strike="noStrike" spc="-1" dirty="0">
                <a:solidFill>
                  <a:srgbClr val="2E515E"/>
                </a:solidFill>
                <a:latin typeface="Arial"/>
                <a:ea typeface="DejaVu Sans"/>
              </a:rPr>
              <a:t> </a:t>
            </a:r>
            <a:r>
              <a:rPr lang="en-US" sz="1200" b="1" strike="noStrike" spc="-1" dirty="0" err="1">
                <a:solidFill>
                  <a:srgbClr val="2E515E"/>
                </a:solidFill>
                <a:latin typeface="Arial"/>
                <a:ea typeface="DejaVu Sans"/>
              </a:rPr>
              <a:t>diversas</a:t>
            </a:r>
            <a:r>
              <a:rPr lang="en-US" sz="1200" b="0" strike="noStrike" spc="-1" dirty="0">
                <a:solidFill>
                  <a:srgbClr val="2E515E"/>
                </a:solidFill>
                <a:latin typeface="Arial"/>
                <a:ea typeface="DejaVu Sans"/>
              </a:rPr>
              <a:t>.</a:t>
            </a:r>
            <a:endParaRPr lang="es-CO" sz="1200" b="0" strike="noStrike" spc="-1" dirty="0">
              <a:latin typeface="Arial"/>
            </a:endParaRPr>
          </a:p>
          <a:p>
            <a:pPr>
              <a:lnSpc>
                <a:spcPct val="100000"/>
              </a:lnSpc>
              <a:buNone/>
            </a:pPr>
            <a:endParaRPr lang="es-CO" sz="1350" b="0" strike="noStrike" spc="-1" dirty="0">
              <a:latin typeface="Arial"/>
            </a:endParaRPr>
          </a:p>
        </p:txBody>
      </p:sp>
      <p:sp>
        <p:nvSpPr>
          <p:cNvPr id="179" name="CuadroTexto 5"/>
          <p:cNvSpPr/>
          <p:nvPr/>
        </p:nvSpPr>
        <p:spPr>
          <a:xfrm>
            <a:off x="2076480" y="5315400"/>
            <a:ext cx="2257200" cy="39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a:solidFill>
                  <a:srgbClr val="000000"/>
                </a:solidFill>
                <a:latin typeface="Calibri"/>
                <a:ea typeface="DejaVu Sans"/>
              </a:rPr>
              <a:t>Fuente: </a:t>
            </a:r>
            <a:r>
              <a:rPr lang="en-US" sz="670" b="0" i="1" strike="noStrike" spc="-1">
                <a:solidFill>
                  <a:srgbClr val="292929"/>
                </a:solidFill>
                <a:latin typeface="charter"/>
                <a:ea typeface="DejaVu Sans"/>
              </a:rPr>
              <a:t>https://medium.com/@mindpass2050/biosignals-as-dynamic-biometrics-d93c3455e895</a:t>
            </a:r>
            <a:endParaRPr lang="es-CO" sz="67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81" name="TextBox 32"/>
          <p:cNvSpPr/>
          <p:nvPr/>
        </p:nvSpPr>
        <p:spPr>
          <a:xfrm>
            <a:off x="-2160" y="5861801"/>
            <a:ext cx="966312" cy="321711"/>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pPr>
              <a:lnSpc>
                <a:spcPct val="100000"/>
              </a:lnSpc>
              <a:buNone/>
            </a:pPr>
            <a:r>
              <a:rPr lang="es-ES" sz="800" b="0" strike="noStrike" spc="-1" dirty="0">
                <a:solidFill>
                  <a:srgbClr val="FFFFFF"/>
                </a:solidFill>
                <a:latin typeface="Arial"/>
                <a:ea typeface="DejaVu Sans"/>
              </a:rPr>
              <a:t>[8] Bioseñales </a:t>
            </a:r>
            <a:endParaRPr lang="es-CO" sz="800" b="0" strike="noStrike" spc="-1" dirty="0">
              <a:latin typeface="Arial"/>
            </a:endParaRPr>
          </a:p>
          <a:p>
            <a:pPr>
              <a:lnSpc>
                <a:spcPct val="100000"/>
              </a:lnSpc>
              <a:buNone/>
            </a:pPr>
            <a:endParaRPr lang="es-CO" sz="700" b="0" strike="noStrike" spc="-1" dirty="0">
              <a:latin typeface="Arial"/>
            </a:endParaRPr>
          </a:p>
        </p:txBody>
      </p:sp>
      <p:sp>
        <p:nvSpPr>
          <p:cNvPr id="182"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83"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Origen de las bioseñales</a:t>
            </a:r>
            <a:endParaRPr lang="es-CO" sz="1800" b="0" strike="noStrike" spc="-1">
              <a:latin typeface="Arial"/>
            </a:endParaRPr>
          </a:p>
        </p:txBody>
      </p:sp>
      <p:sp>
        <p:nvSpPr>
          <p:cNvPr id="184" name="Marcador de número de diapositiva 3"/>
          <p:cNvSpPr/>
          <p:nvPr/>
        </p:nvSpPr>
        <p:spPr>
          <a:xfrm>
            <a:off x="8669880" y="5886000"/>
            <a:ext cx="42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4BFACA0F-303B-465A-9E10-A60D4882E99B}" type="slidenum">
              <a:rPr lang="es-CO" sz="1200" b="0" strike="noStrike" spc="-1">
                <a:solidFill>
                  <a:srgbClr val="FFFFFF"/>
                </a:solidFill>
                <a:latin typeface="Calibri"/>
                <a:ea typeface="DejaVu Sans"/>
              </a:rPr>
              <a:t>15</a:t>
            </a:fld>
            <a:endParaRPr lang="es-CO" sz="1200" b="0" strike="noStrike" spc="-1">
              <a:latin typeface="Arial"/>
            </a:endParaRPr>
          </a:p>
        </p:txBody>
      </p:sp>
      <p:pic>
        <p:nvPicPr>
          <p:cNvPr id="186" name="Picture 7" descr="Fig 5"/>
          <p:cNvPicPr/>
          <p:nvPr/>
        </p:nvPicPr>
        <p:blipFill>
          <a:blip r:embed="rId2"/>
          <a:stretch/>
        </p:blipFill>
        <p:spPr>
          <a:xfrm>
            <a:off x="261360" y="1632810"/>
            <a:ext cx="2518200" cy="3648240"/>
          </a:xfrm>
          <a:prstGeom prst="rect">
            <a:avLst/>
          </a:prstGeom>
          <a:ln w="0">
            <a:noFill/>
          </a:ln>
        </p:spPr>
      </p:pic>
      <p:sp>
        <p:nvSpPr>
          <p:cNvPr id="187" name="CuadroTexto 7"/>
          <p:cNvSpPr/>
          <p:nvPr/>
        </p:nvSpPr>
        <p:spPr>
          <a:xfrm>
            <a:off x="21240" y="794880"/>
            <a:ext cx="464904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1D7CB8"/>
                </a:solidFill>
                <a:latin typeface="Arial"/>
                <a:ea typeface="DejaVu Sans"/>
              </a:rPr>
              <a:t>Ejemplos de bioseñales mecánicas</a:t>
            </a:r>
            <a:endParaRPr lang="es-CO" sz="1350" b="0" strike="noStrike" spc="-1" dirty="0">
              <a:latin typeface="Arial"/>
            </a:endParaRPr>
          </a:p>
        </p:txBody>
      </p:sp>
      <p:pic>
        <p:nvPicPr>
          <p:cNvPr id="3" name="Imagen 2">
            <a:extLst>
              <a:ext uri="{FF2B5EF4-FFF2-40B4-BE49-F238E27FC236}">
                <a16:creationId xmlns:a16="http://schemas.microsoft.com/office/drawing/2014/main" id="{26CC13F7-4AE4-6BF7-8504-27D7E712C40F}"/>
              </a:ext>
            </a:extLst>
          </p:cNvPr>
          <p:cNvPicPr>
            <a:picLocks noChangeAspect="1"/>
          </p:cNvPicPr>
          <p:nvPr/>
        </p:nvPicPr>
        <p:blipFill>
          <a:blip r:embed="rId3"/>
          <a:stretch>
            <a:fillRect/>
          </a:stretch>
        </p:blipFill>
        <p:spPr>
          <a:xfrm>
            <a:off x="3308425" y="326977"/>
            <a:ext cx="3347208" cy="2563613"/>
          </a:xfrm>
          <a:prstGeom prst="rect">
            <a:avLst/>
          </a:prstGeom>
        </p:spPr>
      </p:pic>
      <p:pic>
        <p:nvPicPr>
          <p:cNvPr id="5" name="Imagen 4">
            <a:extLst>
              <a:ext uri="{FF2B5EF4-FFF2-40B4-BE49-F238E27FC236}">
                <a16:creationId xmlns:a16="http://schemas.microsoft.com/office/drawing/2014/main" id="{DF9DCF40-0D3B-D5C1-35A9-B3146D82F4D7}"/>
              </a:ext>
            </a:extLst>
          </p:cNvPr>
          <p:cNvPicPr>
            <a:picLocks noChangeAspect="1"/>
          </p:cNvPicPr>
          <p:nvPr/>
        </p:nvPicPr>
        <p:blipFill>
          <a:blip r:embed="rId4"/>
          <a:stretch>
            <a:fillRect/>
          </a:stretch>
        </p:blipFill>
        <p:spPr>
          <a:xfrm>
            <a:off x="4670280" y="3603910"/>
            <a:ext cx="3907719" cy="21899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0"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191"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192"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Origen de las bioseñales</a:t>
            </a:r>
            <a:endParaRPr lang="es-CO" sz="1800" b="0" strike="noStrike" spc="-1">
              <a:latin typeface="Arial"/>
            </a:endParaRPr>
          </a:p>
        </p:txBody>
      </p:sp>
      <p:sp>
        <p:nvSpPr>
          <p:cNvPr id="193" name="Marcador de número de diapositiva 3"/>
          <p:cNvSpPr/>
          <p:nvPr/>
        </p:nvSpPr>
        <p:spPr>
          <a:xfrm>
            <a:off x="8649000" y="5886000"/>
            <a:ext cx="4438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E2FCE6A6-BE02-4020-A59D-9C3FF2C5DF85}" type="slidenum">
              <a:rPr lang="es-CO" sz="1200" b="0" strike="noStrike" spc="-1">
                <a:solidFill>
                  <a:srgbClr val="FFFFFF"/>
                </a:solidFill>
                <a:latin typeface="Calibri"/>
                <a:ea typeface="DejaVu Sans"/>
              </a:rPr>
              <a:t>16</a:t>
            </a:fld>
            <a:endParaRPr lang="es-CO" sz="1200" b="0" strike="noStrike" spc="-1">
              <a:latin typeface="Arial"/>
            </a:endParaRPr>
          </a:p>
        </p:txBody>
      </p:sp>
      <p:pic>
        <p:nvPicPr>
          <p:cNvPr id="194" name="Picture 7" descr="Fig 5"/>
          <p:cNvPicPr/>
          <p:nvPr/>
        </p:nvPicPr>
        <p:blipFill>
          <a:blip r:embed="rId2"/>
          <a:stretch/>
        </p:blipFill>
        <p:spPr>
          <a:xfrm>
            <a:off x="123772" y="1588320"/>
            <a:ext cx="4305600" cy="4168080"/>
          </a:xfrm>
          <a:prstGeom prst="rect">
            <a:avLst/>
          </a:prstGeom>
          <a:ln w="0">
            <a:noFill/>
          </a:ln>
        </p:spPr>
      </p:pic>
      <p:sp>
        <p:nvSpPr>
          <p:cNvPr id="195" name="CuadroTexto 3"/>
          <p:cNvSpPr/>
          <p:nvPr/>
        </p:nvSpPr>
        <p:spPr>
          <a:xfrm>
            <a:off x="8649000" y="4721400"/>
            <a:ext cx="297000" cy="20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750" b="0" strike="noStrike" spc="-1">
                <a:solidFill>
                  <a:srgbClr val="2E515E"/>
                </a:solidFill>
                <a:latin typeface="Arial"/>
                <a:ea typeface="DejaVu Sans"/>
              </a:rPr>
              <a:t>[3]</a:t>
            </a:r>
            <a:endParaRPr lang="es-CO" sz="750" b="0" strike="noStrike" spc="-1">
              <a:latin typeface="Arial"/>
            </a:endParaRPr>
          </a:p>
        </p:txBody>
      </p:sp>
      <p:sp>
        <p:nvSpPr>
          <p:cNvPr id="196" name="CuadroTexto 4"/>
          <p:cNvSpPr/>
          <p:nvPr/>
        </p:nvSpPr>
        <p:spPr>
          <a:xfrm>
            <a:off x="546480" y="1201680"/>
            <a:ext cx="3345840" cy="27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1200" b="0" strike="noStrike" spc="-1">
                <a:solidFill>
                  <a:srgbClr val="2E515E"/>
                </a:solidFill>
                <a:latin typeface="Arial"/>
                <a:ea typeface="DejaVu Sans"/>
              </a:rPr>
              <a:t>Triángulo de Einthoven</a:t>
            </a:r>
            <a:endParaRPr lang="es-CO" sz="1200" b="0" strike="noStrike" spc="-1">
              <a:latin typeface="Arial"/>
            </a:endParaRPr>
          </a:p>
        </p:txBody>
      </p:sp>
      <p:sp>
        <p:nvSpPr>
          <p:cNvPr id="198" name="CuadroTexto 6"/>
          <p:cNvSpPr/>
          <p:nvPr/>
        </p:nvSpPr>
        <p:spPr>
          <a:xfrm>
            <a:off x="-2160" y="5886000"/>
            <a:ext cx="8879400" cy="29708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[9] </a:t>
            </a:r>
            <a:r>
              <a:rPr lang="en-US" sz="670" b="0" strike="noStrike" spc="-1" dirty="0">
                <a:solidFill>
                  <a:srgbClr val="FFFFFF"/>
                </a:solidFill>
                <a:latin typeface="Arial"/>
                <a:ea typeface="DejaVu Sans"/>
              </a:rPr>
              <a:t>Feher - Quantitative Human Physiology - Unit 5 Physical and Chemical Foundations of Physiology</a:t>
            </a:r>
            <a:endParaRPr lang="es-CO" sz="670" b="0" strike="noStrike" spc="-1" dirty="0">
              <a:latin typeface="Arial"/>
            </a:endParaRPr>
          </a:p>
          <a:p>
            <a:pPr>
              <a:lnSpc>
                <a:spcPct val="100000"/>
              </a:lnSpc>
              <a:buNone/>
            </a:pPr>
            <a:r>
              <a:rPr lang="en-US" sz="670" b="0" strike="noStrike" spc="-1" dirty="0">
                <a:solidFill>
                  <a:srgbClr val="FFFFFF"/>
                </a:solidFill>
                <a:latin typeface="Arial"/>
                <a:ea typeface="DejaVu Sans"/>
              </a:rPr>
              <a:t>[10] Jaakko </a:t>
            </a:r>
            <a:r>
              <a:rPr lang="en-US" sz="670" b="0" strike="noStrike" spc="-1" dirty="0" err="1">
                <a:solidFill>
                  <a:srgbClr val="FFFFFF"/>
                </a:solidFill>
                <a:latin typeface="Arial"/>
                <a:ea typeface="DejaVu Sans"/>
              </a:rPr>
              <a:t>Malmivuo</a:t>
            </a:r>
            <a:r>
              <a:rPr lang="en-US" sz="670" b="0" strike="noStrike" spc="-1" dirty="0">
                <a:solidFill>
                  <a:srgbClr val="FFFFFF"/>
                </a:solidFill>
                <a:latin typeface="Arial"/>
                <a:ea typeface="DejaVu Sans"/>
              </a:rPr>
              <a:t> &amp; Robert </a:t>
            </a:r>
            <a:r>
              <a:rPr lang="en-US" sz="670" b="0" strike="noStrike" spc="-1" dirty="0" err="1">
                <a:solidFill>
                  <a:srgbClr val="FFFFFF"/>
                </a:solidFill>
                <a:latin typeface="Arial"/>
                <a:ea typeface="DejaVu Sans"/>
              </a:rPr>
              <a:t>Plonsey</a:t>
            </a:r>
            <a:r>
              <a:rPr lang="en-US" sz="670" b="0" strike="noStrike" spc="-1" dirty="0">
                <a:solidFill>
                  <a:srgbClr val="FFFFFF"/>
                </a:solidFill>
                <a:latin typeface="Arial"/>
                <a:ea typeface="DejaVu Sans"/>
              </a:rPr>
              <a:t>: </a:t>
            </a:r>
            <a:r>
              <a:rPr lang="en-US" sz="670" b="0" strike="noStrike" spc="-1" dirty="0" err="1">
                <a:solidFill>
                  <a:srgbClr val="FFFFFF"/>
                </a:solidFill>
                <a:latin typeface="Arial"/>
                <a:ea typeface="DejaVu Sans"/>
              </a:rPr>
              <a:t>Bioelectromagnetism</a:t>
            </a:r>
            <a:r>
              <a:rPr lang="en-US" sz="670" b="0" strike="noStrike" spc="-1" dirty="0">
                <a:solidFill>
                  <a:srgbClr val="FFFFFF"/>
                </a:solidFill>
                <a:latin typeface="Arial"/>
                <a:ea typeface="DejaVu Sans"/>
              </a:rPr>
              <a:t> - Principles and Applications of Bioelectric and </a:t>
            </a:r>
            <a:r>
              <a:rPr lang="en-US" sz="670" b="0" strike="noStrike" spc="-1" dirty="0" err="1">
                <a:solidFill>
                  <a:srgbClr val="FFFFFF"/>
                </a:solidFill>
                <a:latin typeface="Arial"/>
                <a:ea typeface="DejaVu Sans"/>
              </a:rPr>
              <a:t>Biomagnetic</a:t>
            </a:r>
            <a:r>
              <a:rPr lang="en-US" sz="670" b="0" strike="noStrike" spc="-1" dirty="0">
                <a:solidFill>
                  <a:srgbClr val="FFFFFF"/>
                </a:solidFill>
                <a:latin typeface="Arial"/>
                <a:ea typeface="DejaVu Sans"/>
              </a:rPr>
              <a:t> Fields, web: https://www.kenrico.com/media/bembook/06/06.htm</a:t>
            </a:r>
            <a:endParaRPr lang="es-CO" sz="670" b="0" strike="noStrike" spc="-1" dirty="0">
              <a:latin typeface="Arial"/>
            </a:endParaRPr>
          </a:p>
        </p:txBody>
      </p:sp>
      <p:sp>
        <p:nvSpPr>
          <p:cNvPr id="199" name="CuadroTexto 7"/>
          <p:cNvSpPr/>
          <p:nvPr/>
        </p:nvSpPr>
        <p:spPr>
          <a:xfrm>
            <a:off x="165960" y="843840"/>
            <a:ext cx="464904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a:solidFill>
                  <a:srgbClr val="1D7CB8"/>
                </a:solidFill>
                <a:latin typeface="Arial"/>
                <a:ea typeface="DejaVu Sans"/>
              </a:rPr>
              <a:t>Ejemplos de bioseñales eléctricas</a:t>
            </a:r>
            <a:endParaRPr lang="es-CO" sz="1350" b="0" strike="noStrike" spc="-1">
              <a:latin typeface="Arial"/>
            </a:endParaRPr>
          </a:p>
        </p:txBody>
      </p:sp>
      <p:sp>
        <p:nvSpPr>
          <p:cNvPr id="200" name="CuadroTexto 8"/>
          <p:cNvSpPr/>
          <p:nvPr/>
        </p:nvSpPr>
        <p:spPr>
          <a:xfrm>
            <a:off x="3893400" y="4924800"/>
            <a:ext cx="297000" cy="20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750" b="0" strike="noStrike" spc="-1">
                <a:solidFill>
                  <a:srgbClr val="2E515E"/>
                </a:solidFill>
                <a:latin typeface="Arial"/>
                <a:ea typeface="DejaVu Sans"/>
              </a:rPr>
              <a:t>[2]</a:t>
            </a:r>
            <a:endParaRPr lang="es-CO" sz="750" b="0" strike="noStrike" spc="-1">
              <a:latin typeface="Arial"/>
            </a:endParaRPr>
          </a:p>
        </p:txBody>
      </p:sp>
      <p:sp>
        <p:nvSpPr>
          <p:cNvPr id="201" name="CuadroTexto 9"/>
          <p:cNvSpPr/>
          <p:nvPr/>
        </p:nvSpPr>
        <p:spPr>
          <a:xfrm>
            <a:off x="5619240" y="1156680"/>
            <a:ext cx="2559600" cy="27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s-MX" sz="1200" b="0" strike="noStrike" spc="-1">
                <a:solidFill>
                  <a:srgbClr val="2E515E"/>
                </a:solidFill>
                <a:latin typeface="Arial"/>
                <a:ea typeface="DejaVu Sans"/>
              </a:rPr>
              <a:t>Electrofisiología del corazón</a:t>
            </a:r>
            <a:endParaRPr lang="es-CO" sz="1200" b="0" strike="noStrike" spc="-1">
              <a:latin typeface="Arial"/>
            </a:endParaRPr>
          </a:p>
        </p:txBody>
      </p:sp>
      <p:pic>
        <p:nvPicPr>
          <p:cNvPr id="2" name="Imagen 6">
            <a:extLst>
              <a:ext uri="{FF2B5EF4-FFF2-40B4-BE49-F238E27FC236}">
                <a16:creationId xmlns:a16="http://schemas.microsoft.com/office/drawing/2014/main" id="{0739053A-0440-93BF-D86D-A3FECE7CB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528" y="1891080"/>
            <a:ext cx="4446144" cy="3705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2"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03" name="TextBox 32"/>
          <p:cNvSpPr/>
          <p:nvPr/>
        </p:nvSpPr>
        <p:spPr>
          <a:xfrm>
            <a:off x="21240" y="5909040"/>
            <a:ext cx="8489160" cy="306323"/>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s-ES" sz="700" b="0" strike="noStrike" spc="-1" dirty="0">
                <a:solidFill>
                  <a:srgbClr val="FFFFFF"/>
                </a:solidFill>
                <a:latin typeface="Arial"/>
                <a:ea typeface="DejaVu Sans"/>
              </a:rPr>
              <a:t>[11] </a:t>
            </a:r>
            <a:r>
              <a:rPr lang="en-US" sz="700" spc="-1" dirty="0">
                <a:solidFill>
                  <a:srgbClr val="FFFFFF"/>
                </a:solidFill>
              </a:rPr>
              <a:t>Analysis and Application of Analog Electronic Circuits to Biomedical Instrumentation</a:t>
            </a:r>
            <a:endParaRPr lang="es-CO" sz="800" b="0" strike="noStrike" spc="-1" dirty="0">
              <a:latin typeface="Arial"/>
            </a:endParaRPr>
          </a:p>
          <a:p>
            <a:pPr>
              <a:lnSpc>
                <a:spcPct val="100000"/>
              </a:lnSpc>
              <a:buNone/>
            </a:pPr>
            <a:endParaRPr lang="es-CO" sz="700" b="0" strike="noStrike" spc="-1" dirty="0">
              <a:latin typeface="Arial"/>
            </a:endParaRPr>
          </a:p>
        </p:txBody>
      </p:sp>
      <p:sp>
        <p:nvSpPr>
          <p:cNvPr id="204"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05"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Origen de las bioseñales</a:t>
            </a:r>
            <a:endParaRPr lang="es-CO" sz="1800" b="0" strike="noStrike" spc="-1">
              <a:latin typeface="Arial"/>
            </a:endParaRPr>
          </a:p>
        </p:txBody>
      </p:sp>
      <p:sp>
        <p:nvSpPr>
          <p:cNvPr id="206" name="Marcador de número de diapositiva 3"/>
          <p:cNvSpPr/>
          <p:nvPr/>
        </p:nvSpPr>
        <p:spPr>
          <a:xfrm>
            <a:off x="8631720" y="5886000"/>
            <a:ext cx="4611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A4601CC-F13D-4FEB-AD44-0051B65AF41E}" type="slidenum">
              <a:rPr lang="es-CO" sz="1200" b="0" strike="noStrike" spc="-1">
                <a:solidFill>
                  <a:srgbClr val="FFFFFF"/>
                </a:solidFill>
                <a:latin typeface="Calibri"/>
                <a:ea typeface="DejaVu Sans"/>
              </a:rPr>
              <a:t>17</a:t>
            </a:fld>
            <a:endParaRPr lang="es-CO" sz="1200" b="0" strike="noStrike" spc="-1">
              <a:latin typeface="Arial"/>
            </a:endParaRPr>
          </a:p>
        </p:txBody>
      </p:sp>
      <p:sp>
        <p:nvSpPr>
          <p:cNvPr id="209" name="CuadroTexto 4"/>
          <p:cNvSpPr/>
          <p:nvPr/>
        </p:nvSpPr>
        <p:spPr>
          <a:xfrm>
            <a:off x="4233960" y="3922920"/>
            <a:ext cx="297000" cy="20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750" b="0" strike="noStrike" spc="-1">
                <a:solidFill>
                  <a:srgbClr val="2E515E"/>
                </a:solidFill>
                <a:latin typeface="Arial"/>
                <a:ea typeface="DejaVu Sans"/>
              </a:rPr>
              <a:t>[2]</a:t>
            </a:r>
            <a:endParaRPr lang="es-CO" sz="750" b="0" strike="noStrike" spc="-1">
              <a:latin typeface="Arial"/>
            </a:endParaRPr>
          </a:p>
        </p:txBody>
      </p:sp>
      <p:sp>
        <p:nvSpPr>
          <p:cNvPr id="211" name="CuadroTexto 6"/>
          <p:cNvSpPr/>
          <p:nvPr/>
        </p:nvSpPr>
        <p:spPr>
          <a:xfrm>
            <a:off x="164160" y="831960"/>
            <a:ext cx="464904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a:solidFill>
                  <a:srgbClr val="1D7CB8"/>
                </a:solidFill>
                <a:latin typeface="Arial"/>
                <a:ea typeface="DejaVu Sans"/>
              </a:rPr>
              <a:t>Ejemplos de bioseñales mecánicas</a:t>
            </a:r>
            <a:endParaRPr lang="es-CO" sz="1350" b="0" strike="noStrike" spc="-1">
              <a:latin typeface="Arial"/>
            </a:endParaRPr>
          </a:p>
        </p:txBody>
      </p:sp>
      <p:pic>
        <p:nvPicPr>
          <p:cNvPr id="3" name="Imagen 2">
            <a:extLst>
              <a:ext uri="{FF2B5EF4-FFF2-40B4-BE49-F238E27FC236}">
                <a16:creationId xmlns:a16="http://schemas.microsoft.com/office/drawing/2014/main" id="{8F43A571-A1FD-23A1-D8EF-FD64D64B3F54}"/>
              </a:ext>
            </a:extLst>
          </p:cNvPr>
          <p:cNvPicPr/>
          <p:nvPr/>
        </p:nvPicPr>
        <p:blipFill>
          <a:blip r:embed="rId2"/>
          <a:stretch/>
        </p:blipFill>
        <p:spPr>
          <a:xfrm>
            <a:off x="164160" y="2507040"/>
            <a:ext cx="5700600" cy="3240000"/>
          </a:xfrm>
          <a:prstGeom prst="rect">
            <a:avLst/>
          </a:prstGeom>
          <a:ln>
            <a:noFill/>
          </a:ln>
        </p:spPr>
      </p:pic>
      <p:sp>
        <p:nvSpPr>
          <p:cNvPr id="4" name="Rectángulo 3">
            <a:extLst>
              <a:ext uri="{FF2B5EF4-FFF2-40B4-BE49-F238E27FC236}">
                <a16:creationId xmlns:a16="http://schemas.microsoft.com/office/drawing/2014/main" id="{EB4571D7-BF4E-C4D7-4113-E0CFD5C8923A}"/>
              </a:ext>
            </a:extLst>
          </p:cNvPr>
          <p:cNvSpPr/>
          <p:nvPr/>
        </p:nvSpPr>
        <p:spPr>
          <a:xfrm>
            <a:off x="5946893" y="3067375"/>
            <a:ext cx="3402372" cy="2246769"/>
          </a:xfrm>
          <a:prstGeom prst="rect">
            <a:avLst/>
          </a:prstGeom>
        </p:spPr>
        <p:txBody>
          <a:bodyPr wrap="square">
            <a:spAutoFit/>
          </a:bodyPr>
          <a:lstStyle/>
          <a:p>
            <a:r>
              <a:rPr lang="es-CO" sz="1400" spc="-1" dirty="0">
                <a:solidFill>
                  <a:srgbClr val="000000"/>
                </a:solidFill>
                <a:uFill>
                  <a:solidFill>
                    <a:srgbClr val="FFFFFF"/>
                  </a:solidFill>
                </a:uFill>
                <a:latin typeface="+mj-lt"/>
              </a:rPr>
              <a:t>IRV:  Volumen de Reserva Inspiratoria.</a:t>
            </a:r>
          </a:p>
          <a:p>
            <a:r>
              <a:rPr lang="es-CO" sz="1400" spc="-1" dirty="0">
                <a:solidFill>
                  <a:srgbClr val="000000"/>
                </a:solidFill>
                <a:uFill>
                  <a:solidFill>
                    <a:srgbClr val="FFFFFF"/>
                  </a:solidFill>
                </a:uFill>
                <a:latin typeface="+mj-lt"/>
              </a:rPr>
              <a:t>VT: Volumen Corriente.</a:t>
            </a:r>
          </a:p>
          <a:p>
            <a:r>
              <a:rPr lang="es-CO" sz="1400" spc="-1" dirty="0">
                <a:solidFill>
                  <a:srgbClr val="000000"/>
                </a:solidFill>
                <a:uFill>
                  <a:solidFill>
                    <a:srgbClr val="FFFFFF"/>
                  </a:solidFill>
                </a:uFill>
                <a:latin typeface="+mj-lt"/>
              </a:rPr>
              <a:t>EC: Capacidad espiratoria.</a:t>
            </a:r>
          </a:p>
          <a:p>
            <a:r>
              <a:rPr lang="es-CO" sz="1400" spc="-1" dirty="0">
                <a:solidFill>
                  <a:srgbClr val="000000"/>
                </a:solidFill>
                <a:uFill>
                  <a:solidFill>
                    <a:srgbClr val="FFFFFF"/>
                  </a:solidFill>
                </a:uFill>
                <a:latin typeface="+mj-lt"/>
              </a:rPr>
              <a:t>ERV: Volumen espiratorio de reserva.</a:t>
            </a:r>
          </a:p>
          <a:p>
            <a:r>
              <a:rPr lang="es-CO" sz="1400" spc="-1" dirty="0">
                <a:solidFill>
                  <a:srgbClr val="000000"/>
                </a:solidFill>
                <a:uFill>
                  <a:solidFill>
                    <a:srgbClr val="FFFFFF"/>
                  </a:solidFill>
                </a:uFill>
                <a:latin typeface="+mj-lt"/>
              </a:rPr>
              <a:t>RV: Volumen residual.</a:t>
            </a:r>
          </a:p>
          <a:p>
            <a:r>
              <a:rPr lang="es-CO" sz="1400" spc="-1" dirty="0">
                <a:solidFill>
                  <a:srgbClr val="000000"/>
                </a:solidFill>
                <a:uFill>
                  <a:solidFill>
                    <a:srgbClr val="FFFFFF"/>
                  </a:solidFill>
                </a:uFill>
                <a:latin typeface="+mj-lt"/>
              </a:rPr>
              <a:t>FRC: Capacidad residual funcional.</a:t>
            </a:r>
          </a:p>
          <a:p>
            <a:r>
              <a:rPr lang="es-CO" sz="1400" spc="-1" dirty="0">
                <a:solidFill>
                  <a:srgbClr val="000000"/>
                </a:solidFill>
                <a:uFill>
                  <a:solidFill>
                    <a:srgbClr val="FFFFFF"/>
                  </a:solidFill>
                </a:uFill>
                <a:latin typeface="+mj-lt"/>
              </a:rPr>
              <a:t>TLC: Capacidad pulmonar total.</a:t>
            </a:r>
          </a:p>
          <a:p>
            <a:r>
              <a:rPr lang="es-CO" sz="1400" spc="-1" dirty="0">
                <a:solidFill>
                  <a:srgbClr val="000000"/>
                </a:solidFill>
                <a:uFill>
                  <a:solidFill>
                    <a:srgbClr val="FFFFFF"/>
                  </a:solidFill>
                </a:uFill>
                <a:latin typeface="+mj-lt"/>
              </a:rPr>
              <a:t>VC: Capacidad Vital.</a:t>
            </a:r>
          </a:p>
          <a:p>
            <a:r>
              <a:rPr lang="es-CO" sz="1400" spc="-1" dirty="0">
                <a:solidFill>
                  <a:srgbClr val="000000"/>
                </a:solidFill>
                <a:uFill>
                  <a:solidFill>
                    <a:srgbClr val="FFFFFF"/>
                  </a:solidFill>
                </a:uFill>
                <a:latin typeface="+mj-lt"/>
              </a:rPr>
              <a:t>IC: Capacidad Inspiratoria.</a:t>
            </a:r>
          </a:p>
          <a:p>
            <a:r>
              <a:rPr lang="es-CO" sz="1400" spc="-1" dirty="0">
                <a:solidFill>
                  <a:srgbClr val="000000"/>
                </a:solidFill>
                <a:uFill>
                  <a:solidFill>
                    <a:srgbClr val="FFFFFF"/>
                  </a:solidFill>
                </a:uFill>
                <a:latin typeface="+mj-lt"/>
              </a:rPr>
              <a:t>FVC: Capacidad vital forzada.</a:t>
            </a:r>
          </a:p>
        </p:txBody>
      </p:sp>
      <p:pic>
        <p:nvPicPr>
          <p:cNvPr id="6" name="Imagen 5">
            <a:extLst>
              <a:ext uri="{FF2B5EF4-FFF2-40B4-BE49-F238E27FC236}">
                <a16:creationId xmlns:a16="http://schemas.microsoft.com/office/drawing/2014/main" id="{85E6ED4D-E6D3-84B6-7104-35AF66250D22}"/>
              </a:ext>
            </a:extLst>
          </p:cNvPr>
          <p:cNvPicPr>
            <a:picLocks noChangeAspect="1"/>
          </p:cNvPicPr>
          <p:nvPr/>
        </p:nvPicPr>
        <p:blipFill>
          <a:blip r:embed="rId3"/>
          <a:stretch>
            <a:fillRect/>
          </a:stretch>
        </p:blipFill>
        <p:spPr>
          <a:xfrm>
            <a:off x="5610656" y="229468"/>
            <a:ext cx="3185872" cy="24245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F16376-997C-050B-15A2-BBCC988FB409}"/>
            </a:ext>
          </a:extLst>
        </p:cNvPr>
        <p:cNvGrpSpPr/>
        <p:nvPr/>
      </p:nvGrpSpPr>
      <p:grpSpPr>
        <a:xfrm>
          <a:off x="0" y="0"/>
          <a:ext cx="0" cy="0"/>
          <a:chOff x="0" y="0"/>
          <a:chExt cx="0" cy="0"/>
        </a:xfrm>
      </p:grpSpPr>
      <p:sp>
        <p:nvSpPr>
          <p:cNvPr id="202" name="Rectángulo 3">
            <a:extLst>
              <a:ext uri="{FF2B5EF4-FFF2-40B4-BE49-F238E27FC236}">
                <a16:creationId xmlns:a16="http://schemas.microsoft.com/office/drawing/2014/main" id="{8C762743-347B-59BA-2A69-A26D3A726735}"/>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03" name="TextBox 32">
            <a:extLst>
              <a:ext uri="{FF2B5EF4-FFF2-40B4-BE49-F238E27FC236}">
                <a16:creationId xmlns:a16="http://schemas.microsoft.com/office/drawing/2014/main" id="{80091D60-1EF0-D9EB-CFE2-97A205EEAF2D}"/>
              </a:ext>
            </a:extLst>
          </p:cNvPr>
          <p:cNvSpPr/>
          <p:nvPr/>
        </p:nvSpPr>
        <p:spPr>
          <a:xfrm>
            <a:off x="21240" y="5909040"/>
            <a:ext cx="2612232" cy="429433"/>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r>
              <a:rPr lang="es-ES" sz="700" b="0" strike="noStrike" spc="-1" dirty="0">
                <a:solidFill>
                  <a:srgbClr val="FFFFFF"/>
                </a:solidFill>
                <a:latin typeface="Arial"/>
                <a:ea typeface="DejaVu Sans"/>
              </a:rPr>
              <a:t>[12</a:t>
            </a:r>
            <a:r>
              <a:rPr lang="es-ES" sz="700" spc="-1" dirty="0">
                <a:solidFill>
                  <a:srgbClr val="FFFFFF"/>
                </a:solidFill>
                <a:latin typeface="Arial"/>
                <a:ea typeface="DejaVu Sans"/>
              </a:rPr>
              <a:t>] </a:t>
            </a:r>
            <a:r>
              <a:rPr lang="en-US" sz="700" spc="-1" dirty="0">
                <a:solidFill>
                  <a:srgbClr val="FFFFFF"/>
                </a:solidFill>
                <a:latin typeface="Arial"/>
              </a:rPr>
              <a:t>AI-Driven Wearable Bioelectronics in Digital Healthcare</a:t>
            </a:r>
          </a:p>
          <a:p>
            <a:pPr>
              <a:lnSpc>
                <a:spcPct val="100000"/>
              </a:lnSpc>
              <a:buNone/>
            </a:pPr>
            <a:r>
              <a:rPr lang="es-ES" sz="700" spc="-1" dirty="0">
                <a:solidFill>
                  <a:srgbClr val="FFFFFF"/>
                </a:solidFill>
                <a:latin typeface="Arial"/>
                <a:ea typeface="DejaVu Sans"/>
              </a:rPr>
              <a:t> </a:t>
            </a:r>
            <a:endParaRPr lang="es-CO" sz="800" b="0" strike="noStrike" spc="-1" dirty="0">
              <a:latin typeface="Arial"/>
            </a:endParaRPr>
          </a:p>
          <a:p>
            <a:pPr>
              <a:lnSpc>
                <a:spcPct val="100000"/>
              </a:lnSpc>
              <a:buNone/>
            </a:pPr>
            <a:endParaRPr lang="es-CO" sz="700" b="0" strike="noStrike" spc="-1" dirty="0">
              <a:latin typeface="Arial"/>
            </a:endParaRPr>
          </a:p>
        </p:txBody>
      </p:sp>
      <p:sp>
        <p:nvSpPr>
          <p:cNvPr id="204" name="Título 1">
            <a:extLst>
              <a:ext uri="{FF2B5EF4-FFF2-40B4-BE49-F238E27FC236}">
                <a16:creationId xmlns:a16="http://schemas.microsoft.com/office/drawing/2014/main" id="{7F9EDAAC-1A15-9DAC-A6A5-11121B3EE777}"/>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05" name="Rectángulo 6">
            <a:extLst>
              <a:ext uri="{FF2B5EF4-FFF2-40B4-BE49-F238E27FC236}">
                <a16:creationId xmlns:a16="http://schemas.microsoft.com/office/drawing/2014/main" id="{B048D734-8F48-873E-DBF9-7B7F2CE15593}"/>
              </a:ext>
            </a:extLst>
          </p:cNvPr>
          <p:cNvSpPr/>
          <p:nvPr/>
        </p:nvSpPr>
        <p:spPr>
          <a:xfrm>
            <a:off x="-2160" y="74520"/>
            <a:ext cx="74354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Aplicación de las bioseñales</a:t>
            </a:r>
            <a:endParaRPr lang="es-CO" sz="1800" b="0" strike="noStrike" spc="-1" dirty="0">
              <a:latin typeface="Arial"/>
            </a:endParaRPr>
          </a:p>
        </p:txBody>
      </p:sp>
      <p:sp>
        <p:nvSpPr>
          <p:cNvPr id="206" name="Marcador de número de diapositiva 3">
            <a:extLst>
              <a:ext uri="{FF2B5EF4-FFF2-40B4-BE49-F238E27FC236}">
                <a16:creationId xmlns:a16="http://schemas.microsoft.com/office/drawing/2014/main" id="{5B4D72A0-7A1A-29A4-212B-5D656D45BB41}"/>
              </a:ext>
            </a:extLst>
          </p:cNvPr>
          <p:cNvSpPr/>
          <p:nvPr/>
        </p:nvSpPr>
        <p:spPr>
          <a:xfrm>
            <a:off x="8631720" y="5886000"/>
            <a:ext cx="4611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A4601CC-F13D-4FEB-AD44-0051B65AF41E}" type="slidenum">
              <a:rPr lang="es-CO" sz="1200" b="0" strike="noStrike" spc="-1">
                <a:solidFill>
                  <a:srgbClr val="FFFFFF"/>
                </a:solidFill>
                <a:latin typeface="Calibri"/>
                <a:ea typeface="DejaVu Sans"/>
              </a:rPr>
              <a:t>18</a:t>
            </a:fld>
            <a:endParaRPr lang="es-CO" sz="1200" b="0" strike="noStrike" spc="-1">
              <a:latin typeface="Arial"/>
            </a:endParaRPr>
          </a:p>
        </p:txBody>
      </p:sp>
      <p:sp>
        <p:nvSpPr>
          <p:cNvPr id="209" name="CuadroTexto 4">
            <a:extLst>
              <a:ext uri="{FF2B5EF4-FFF2-40B4-BE49-F238E27FC236}">
                <a16:creationId xmlns:a16="http://schemas.microsoft.com/office/drawing/2014/main" id="{7170033F-5EDD-0670-138C-01534EB0538C}"/>
              </a:ext>
            </a:extLst>
          </p:cNvPr>
          <p:cNvSpPr/>
          <p:nvPr/>
        </p:nvSpPr>
        <p:spPr>
          <a:xfrm>
            <a:off x="4233960" y="3922920"/>
            <a:ext cx="297000" cy="20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750" b="0" strike="noStrike" spc="-1">
                <a:solidFill>
                  <a:srgbClr val="2E515E"/>
                </a:solidFill>
                <a:latin typeface="Arial"/>
                <a:ea typeface="DejaVu Sans"/>
              </a:rPr>
              <a:t>[2]</a:t>
            </a:r>
            <a:endParaRPr lang="es-CO" sz="750" b="0" strike="noStrike" spc="-1">
              <a:latin typeface="Arial"/>
            </a:endParaRPr>
          </a:p>
        </p:txBody>
      </p:sp>
      <p:sp>
        <p:nvSpPr>
          <p:cNvPr id="211" name="CuadroTexto 6">
            <a:extLst>
              <a:ext uri="{FF2B5EF4-FFF2-40B4-BE49-F238E27FC236}">
                <a16:creationId xmlns:a16="http://schemas.microsoft.com/office/drawing/2014/main" id="{4756B5F2-A67B-6F48-5DBF-25CDC1C6F355}"/>
              </a:ext>
            </a:extLst>
          </p:cNvPr>
          <p:cNvSpPr/>
          <p:nvPr/>
        </p:nvSpPr>
        <p:spPr>
          <a:xfrm>
            <a:off x="20160" y="630524"/>
            <a:ext cx="4649040" cy="2986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350" b="0" strike="noStrike" spc="-1" dirty="0">
                <a:solidFill>
                  <a:srgbClr val="1D7CB8"/>
                </a:solidFill>
                <a:latin typeface="Arial"/>
                <a:ea typeface="DejaVu Sans"/>
              </a:rPr>
              <a:t>Ejemplos de bioseñales</a:t>
            </a:r>
            <a:endParaRPr lang="es-CO" sz="1350" b="0" strike="noStrike" spc="-1" dirty="0">
              <a:latin typeface="Arial"/>
            </a:endParaRPr>
          </a:p>
        </p:txBody>
      </p:sp>
      <p:pic>
        <p:nvPicPr>
          <p:cNvPr id="6" name="Imagen 5">
            <a:extLst>
              <a:ext uri="{FF2B5EF4-FFF2-40B4-BE49-F238E27FC236}">
                <a16:creationId xmlns:a16="http://schemas.microsoft.com/office/drawing/2014/main" id="{0B948808-0EA5-AB88-8540-FABFFCF89AC6}"/>
              </a:ext>
            </a:extLst>
          </p:cNvPr>
          <p:cNvPicPr>
            <a:picLocks noChangeAspect="1"/>
          </p:cNvPicPr>
          <p:nvPr/>
        </p:nvPicPr>
        <p:blipFill>
          <a:blip r:embed="rId2"/>
          <a:stretch>
            <a:fillRect/>
          </a:stretch>
        </p:blipFill>
        <p:spPr>
          <a:xfrm>
            <a:off x="4572000" y="4629787"/>
            <a:ext cx="4572000" cy="1302489"/>
          </a:xfrm>
          <a:prstGeom prst="rect">
            <a:avLst/>
          </a:prstGeom>
        </p:spPr>
      </p:pic>
      <p:pic>
        <p:nvPicPr>
          <p:cNvPr id="8" name="Imagen 7" descr="Escala de tiempo&#10;&#10;El contenido generado por IA puede ser incorrecto.">
            <a:extLst>
              <a:ext uri="{FF2B5EF4-FFF2-40B4-BE49-F238E27FC236}">
                <a16:creationId xmlns:a16="http://schemas.microsoft.com/office/drawing/2014/main" id="{9D18F964-ACAB-CAD2-0253-620A9194DD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1360" y="1134220"/>
            <a:ext cx="5393447" cy="3357379"/>
          </a:xfrm>
          <a:prstGeom prst="rect">
            <a:avLst/>
          </a:prstGeom>
        </p:spPr>
      </p:pic>
      <p:pic>
        <p:nvPicPr>
          <p:cNvPr id="12" name="Imagen 11" descr="Diagrama, Dibujo de ingeniería&#10;&#10;El contenido generado por IA puede ser incorrecto.">
            <a:extLst>
              <a:ext uri="{FF2B5EF4-FFF2-40B4-BE49-F238E27FC236}">
                <a16:creationId xmlns:a16="http://schemas.microsoft.com/office/drawing/2014/main" id="{F1A2EAB3-BB52-F154-6781-1F40C91D5B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24687" y="2691723"/>
            <a:ext cx="2617186" cy="1596348"/>
          </a:xfrm>
          <a:prstGeom prst="rect">
            <a:avLst/>
          </a:prstGeom>
        </p:spPr>
      </p:pic>
      <p:pic>
        <p:nvPicPr>
          <p:cNvPr id="14" name="Imagen 13" descr="Diagrama&#10;&#10;El contenido generado por IA puede ser incorrecto.">
            <a:extLst>
              <a:ext uri="{FF2B5EF4-FFF2-40B4-BE49-F238E27FC236}">
                <a16:creationId xmlns:a16="http://schemas.microsoft.com/office/drawing/2014/main" id="{640D20DE-3265-67DE-1A64-53B070CEB3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4578" y="357643"/>
            <a:ext cx="3088062" cy="1866067"/>
          </a:xfrm>
          <a:prstGeom prst="rect">
            <a:avLst/>
          </a:prstGeom>
        </p:spPr>
      </p:pic>
    </p:spTree>
    <p:extLst>
      <p:ext uri="{BB962C8B-B14F-4D97-AF65-F5344CB8AC3E}">
        <p14:creationId xmlns:p14="http://schemas.microsoft.com/office/powerpoint/2010/main" val="3433209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Rectángulo 3"/>
          <p:cNvSpPr/>
          <p:nvPr/>
        </p:nvSpPr>
        <p:spPr>
          <a:xfrm>
            <a:off x="453978" y="613944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15"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16" name="Marcador de número de diapositiva 3"/>
          <p:cNvSpPr/>
          <p:nvPr/>
        </p:nvSpPr>
        <p:spPr>
          <a:xfrm>
            <a:off x="8682480" y="5886000"/>
            <a:ext cx="4107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E726A34-5E9C-4BCE-BD06-3DE26A080753}" type="slidenum">
              <a:rPr lang="es-CO" sz="1200" b="0" strike="noStrike" spc="-1">
                <a:solidFill>
                  <a:srgbClr val="FFFFFF"/>
                </a:solidFill>
                <a:latin typeface="Calibri"/>
                <a:ea typeface="DejaVu Sans"/>
              </a:rPr>
              <a:t>19</a:t>
            </a:fld>
            <a:endParaRPr lang="es-CO" sz="1200" b="0" strike="noStrike" spc="-1">
              <a:latin typeface="Arial"/>
            </a:endParaRPr>
          </a:p>
        </p:txBody>
      </p:sp>
      <p:sp>
        <p:nvSpPr>
          <p:cNvPr id="217" name="Rectángulo 6"/>
          <p:cNvSpPr/>
          <p:nvPr/>
        </p:nvSpPr>
        <p:spPr>
          <a:xfrm>
            <a:off x="-391905" y="77559"/>
            <a:ext cx="74354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lvl="1"/>
            <a:r>
              <a:rPr lang="es-ES" b="1" spc="-1" dirty="0">
                <a:solidFill>
                  <a:srgbClr val="2C5697"/>
                </a:solidFill>
                <a:latin typeface="Arial"/>
                <a:ea typeface="DejaVu Sans"/>
              </a:rPr>
              <a:t>Uso</a:t>
            </a:r>
            <a:r>
              <a:rPr lang="es-ES" b="1" strike="noStrike" spc="-1" dirty="0">
                <a:solidFill>
                  <a:srgbClr val="2C5697"/>
                </a:solidFill>
                <a:latin typeface="Arial"/>
                <a:ea typeface="DejaVu Sans"/>
              </a:rPr>
              <a:t> de señales | Agro | Animal</a:t>
            </a:r>
            <a:endParaRPr lang="es-CO" b="0" strike="noStrike" spc="-1" dirty="0">
              <a:latin typeface="Arial"/>
            </a:endParaRPr>
          </a:p>
        </p:txBody>
      </p:sp>
      <p:pic>
        <p:nvPicPr>
          <p:cNvPr id="5" name="Imagen 4">
            <a:extLst>
              <a:ext uri="{FF2B5EF4-FFF2-40B4-BE49-F238E27FC236}">
                <a16:creationId xmlns:a16="http://schemas.microsoft.com/office/drawing/2014/main" id="{16D12739-6044-C904-D2F3-AA0B35373779}"/>
              </a:ext>
            </a:extLst>
          </p:cNvPr>
          <p:cNvPicPr>
            <a:picLocks noChangeAspect="1"/>
          </p:cNvPicPr>
          <p:nvPr/>
        </p:nvPicPr>
        <p:blipFill>
          <a:blip r:embed="rId2"/>
          <a:stretch>
            <a:fillRect/>
          </a:stretch>
        </p:blipFill>
        <p:spPr>
          <a:xfrm>
            <a:off x="4347148" y="4155254"/>
            <a:ext cx="4796852" cy="1730746"/>
          </a:xfrm>
          <a:prstGeom prst="rect">
            <a:avLst/>
          </a:prstGeom>
        </p:spPr>
      </p:pic>
      <p:pic>
        <p:nvPicPr>
          <p:cNvPr id="7" name="Imagen 6" descr="Texto, Carta&#10;&#10;El contenido generado por IA puede ser incorrecto.">
            <a:extLst>
              <a:ext uri="{FF2B5EF4-FFF2-40B4-BE49-F238E27FC236}">
                <a16:creationId xmlns:a16="http://schemas.microsoft.com/office/drawing/2014/main" id="{457ED344-DA79-378A-325B-05E5C76385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869" y="809757"/>
            <a:ext cx="5396459" cy="3154697"/>
          </a:xfrm>
          <a:prstGeom prst="rect">
            <a:avLst/>
          </a:prstGeom>
        </p:spPr>
      </p:pic>
      <p:sp>
        <p:nvSpPr>
          <p:cNvPr id="220" name="Flecha: a la derecha 9"/>
          <p:cNvSpPr/>
          <p:nvPr/>
        </p:nvSpPr>
        <p:spPr>
          <a:xfrm rot="2650200">
            <a:off x="3512406" y="4053375"/>
            <a:ext cx="531000" cy="203760"/>
          </a:xfrm>
          <a:prstGeom prst="right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 name="TextBox 32">
            <a:extLst>
              <a:ext uri="{FF2B5EF4-FFF2-40B4-BE49-F238E27FC236}">
                <a16:creationId xmlns:a16="http://schemas.microsoft.com/office/drawing/2014/main" id="{C1A9BB5A-B8BB-A53B-141D-1CCFEB77AFD8}"/>
              </a:ext>
            </a:extLst>
          </p:cNvPr>
          <p:cNvSpPr/>
          <p:nvPr/>
        </p:nvSpPr>
        <p:spPr>
          <a:xfrm>
            <a:off x="21240" y="5909040"/>
            <a:ext cx="2612232" cy="429433"/>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wrap="square" lIns="90000" tIns="45000" rIns="90000" bIns="45000" numCol="1" spcCol="0" anchor="t">
            <a:spAutoFit/>
          </a:bodyPr>
          <a:lstStyle/>
          <a:p>
            <a:r>
              <a:rPr lang="es-ES" sz="700" b="0" strike="noStrike" spc="-1" dirty="0">
                <a:solidFill>
                  <a:srgbClr val="FFFFFF"/>
                </a:solidFill>
                <a:latin typeface="Arial"/>
                <a:ea typeface="DejaVu Sans"/>
              </a:rPr>
              <a:t>[13</a:t>
            </a:r>
            <a:r>
              <a:rPr lang="es-ES" sz="700" spc="-1" dirty="0">
                <a:solidFill>
                  <a:srgbClr val="FFFFFF"/>
                </a:solidFill>
                <a:latin typeface="Arial"/>
                <a:ea typeface="DejaVu Sans"/>
              </a:rPr>
              <a:t>] </a:t>
            </a:r>
            <a:r>
              <a:rPr lang="en-US" sz="700" spc="-1" dirty="0">
                <a:solidFill>
                  <a:srgbClr val="FFFFFF"/>
                </a:solidFill>
                <a:latin typeface="Arial"/>
              </a:rPr>
              <a:t>AI-Driven Wearable Bioelectronics in Digital Healthcare</a:t>
            </a:r>
          </a:p>
          <a:p>
            <a:pPr>
              <a:lnSpc>
                <a:spcPct val="100000"/>
              </a:lnSpc>
              <a:buNone/>
            </a:pPr>
            <a:r>
              <a:rPr lang="es-ES" sz="700" spc="-1" dirty="0">
                <a:solidFill>
                  <a:srgbClr val="FFFFFF"/>
                </a:solidFill>
                <a:latin typeface="Arial"/>
                <a:ea typeface="DejaVu Sans"/>
              </a:rPr>
              <a:t> </a:t>
            </a:r>
            <a:endParaRPr lang="es-CO" sz="800" b="0" strike="noStrike" spc="-1" dirty="0">
              <a:latin typeface="Arial"/>
            </a:endParaRPr>
          </a:p>
          <a:p>
            <a:pPr>
              <a:lnSpc>
                <a:spcPct val="100000"/>
              </a:lnSpc>
              <a:buNone/>
            </a:pPr>
            <a:endParaRPr lang="es-CO" sz="700" b="0" strike="noStrike" spc="-1" dirty="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22"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23" name="Marcador de número de diapositiva 3"/>
          <p:cNvSpPr/>
          <p:nvPr/>
        </p:nvSpPr>
        <p:spPr>
          <a:xfrm>
            <a:off x="8703720" y="5886000"/>
            <a:ext cx="3891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217598DF-391E-4D23-BFDE-C40BB0170D55}" type="slidenum">
              <a:rPr lang="es-CO" sz="1200" b="0" strike="noStrike" spc="-1">
                <a:solidFill>
                  <a:srgbClr val="FFFFFF"/>
                </a:solidFill>
                <a:latin typeface="Calibri"/>
                <a:ea typeface="DejaVu Sans"/>
              </a:rPr>
              <a:t>20</a:t>
            </a:fld>
            <a:endParaRPr lang="es-CO" sz="1200" b="0" strike="noStrike" spc="-1">
              <a:latin typeface="Arial"/>
            </a:endParaRPr>
          </a:p>
        </p:txBody>
      </p:sp>
      <p:sp>
        <p:nvSpPr>
          <p:cNvPr id="224" name="CuadroTexto 3"/>
          <p:cNvSpPr/>
          <p:nvPr/>
        </p:nvSpPr>
        <p:spPr>
          <a:xfrm>
            <a:off x="0" y="5924160"/>
            <a:ext cx="784440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[14] </a:t>
            </a:r>
            <a:r>
              <a:rPr lang="en-US" sz="670" b="0" strike="noStrike" spc="-1" dirty="0">
                <a:solidFill>
                  <a:srgbClr val="FFFFFF"/>
                </a:solidFill>
                <a:latin typeface="Arial"/>
                <a:ea typeface="DejaVu Sans"/>
              </a:rPr>
              <a:t>Ahmad, L., Mahdi, S.S. (2018). Tool and Technologies in Precision Agriculture. In: Satellite Farming. Springer, Cham. https://doi.org/10.1007/978-3-030-03448-1_3</a:t>
            </a:r>
            <a:endParaRPr lang="es-CO" sz="670" b="0" strike="noStrike" spc="-1" dirty="0">
              <a:latin typeface="Arial"/>
            </a:endParaRPr>
          </a:p>
        </p:txBody>
      </p:sp>
      <p:sp>
        <p:nvSpPr>
          <p:cNvPr id="225"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Origen de las bioseñales | Agro | Animal</a:t>
            </a:r>
            <a:endParaRPr lang="es-CO" sz="1800" b="0" strike="noStrike" spc="-1">
              <a:latin typeface="Arial"/>
            </a:endParaRPr>
          </a:p>
        </p:txBody>
      </p:sp>
      <p:pic>
        <p:nvPicPr>
          <p:cNvPr id="226" name="Imagen 4"/>
          <p:cNvPicPr/>
          <p:nvPr/>
        </p:nvPicPr>
        <p:blipFill>
          <a:blip r:embed="rId2"/>
          <a:stretch/>
        </p:blipFill>
        <p:spPr>
          <a:xfrm>
            <a:off x="4426560" y="1028520"/>
            <a:ext cx="4666320" cy="4034880"/>
          </a:xfrm>
          <a:prstGeom prst="rect">
            <a:avLst/>
          </a:prstGeom>
          <a:ln w="0">
            <a:noFill/>
          </a:ln>
        </p:spPr>
      </p:pic>
      <p:pic>
        <p:nvPicPr>
          <p:cNvPr id="227" name="Imagen 5"/>
          <p:cNvPicPr/>
          <p:nvPr/>
        </p:nvPicPr>
        <p:blipFill>
          <a:blip r:embed="rId3"/>
          <a:stretch/>
        </p:blipFill>
        <p:spPr>
          <a:xfrm>
            <a:off x="261360" y="1287000"/>
            <a:ext cx="3801240" cy="377676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29"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30"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Clasificación de bioseñales</a:t>
            </a:r>
            <a:endParaRPr lang="es-CO" sz="1800" b="0" strike="noStrike" spc="-1">
              <a:latin typeface="Arial"/>
            </a:endParaRPr>
          </a:p>
        </p:txBody>
      </p:sp>
      <p:sp>
        <p:nvSpPr>
          <p:cNvPr id="231" name="Marcador de número de diapositiva 3"/>
          <p:cNvSpPr/>
          <p:nvPr/>
        </p:nvSpPr>
        <p:spPr>
          <a:xfrm>
            <a:off x="8692560" y="5886000"/>
            <a:ext cx="4006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C12EE084-70D4-448E-8872-FB211DD753F5}" type="slidenum">
              <a:rPr lang="es-CO" sz="1200" b="0" strike="noStrike" spc="-1">
                <a:solidFill>
                  <a:srgbClr val="FFFFFF"/>
                </a:solidFill>
                <a:latin typeface="Calibri"/>
                <a:ea typeface="DejaVu Sans"/>
              </a:rPr>
              <a:t>21</a:t>
            </a:fld>
            <a:endParaRPr lang="es-CO" sz="1200" b="0" strike="noStrike" spc="-1">
              <a:latin typeface="Arial"/>
            </a:endParaRPr>
          </a:p>
        </p:txBody>
      </p:sp>
      <p:pic>
        <p:nvPicPr>
          <p:cNvPr id="232" name="Imagen 1" descr="Diagrama, Dibujo de ingeniería&#10;&#10;Descripción generada automáticamente"/>
          <p:cNvPicPr/>
          <p:nvPr/>
        </p:nvPicPr>
        <p:blipFill>
          <a:blip r:embed="rId2"/>
          <a:srcRect l="7513" r="5481" b="42395"/>
          <a:stretch/>
        </p:blipFill>
        <p:spPr>
          <a:xfrm>
            <a:off x="183240" y="849600"/>
            <a:ext cx="4388040" cy="4045320"/>
          </a:xfrm>
          <a:prstGeom prst="rect">
            <a:avLst/>
          </a:prstGeom>
          <a:ln w="0">
            <a:noFill/>
          </a:ln>
        </p:spPr>
      </p:pic>
      <p:sp>
        <p:nvSpPr>
          <p:cNvPr id="233" name="CuadroTexto 3"/>
          <p:cNvSpPr/>
          <p:nvPr/>
        </p:nvSpPr>
        <p:spPr>
          <a:xfrm>
            <a:off x="0" y="5924160"/>
            <a:ext cx="784440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a:t>
            </a:r>
            <a:r>
              <a:rPr lang="es-MX" sz="670" spc="-1" dirty="0">
                <a:solidFill>
                  <a:srgbClr val="FFFFFF"/>
                </a:solidFill>
                <a:latin typeface="Arial"/>
                <a:ea typeface="DejaVu Sans"/>
              </a:rPr>
              <a:t>15</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Eugenijus</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Kaniusas</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Biomedical</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signals</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sensors</a:t>
            </a:r>
            <a:r>
              <a:rPr lang="es-MX" sz="670" b="0" strike="noStrike" spc="-1" dirty="0">
                <a:solidFill>
                  <a:srgbClr val="FFFFFF"/>
                </a:solidFill>
                <a:latin typeface="Arial"/>
                <a:ea typeface="DejaVu Sans"/>
              </a:rPr>
              <a:t> I. Series B</a:t>
            </a:r>
            <a:r>
              <a:rPr lang="en-US" sz="670" b="0" strike="noStrike" spc="-1" dirty="0" err="1">
                <a:solidFill>
                  <a:srgbClr val="FFFFFF"/>
                </a:solidFill>
                <a:latin typeface="Arial"/>
                <a:ea typeface="DejaVu Sans"/>
              </a:rPr>
              <a:t>iological</a:t>
            </a:r>
            <a:r>
              <a:rPr lang="en-US" sz="670" b="0" strike="noStrike" spc="-1" dirty="0">
                <a:solidFill>
                  <a:srgbClr val="FFFFFF"/>
                </a:solidFill>
                <a:latin typeface="Arial"/>
                <a:ea typeface="DejaVu Sans"/>
              </a:rPr>
              <a:t> and medical physics, biomedical engineering. 2012. </a:t>
            </a:r>
            <a:r>
              <a:rPr lang="es-MX" sz="670" b="0" strike="noStrike" spc="-1" dirty="0" err="1">
                <a:solidFill>
                  <a:srgbClr val="FFFFFF"/>
                </a:solidFill>
                <a:latin typeface="Arial"/>
                <a:ea typeface="DejaVu Sans"/>
              </a:rPr>
              <a:t>Sringer</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Pg</a:t>
            </a:r>
            <a:r>
              <a:rPr lang="es-MX" sz="670" b="0" strike="noStrike" spc="-1" dirty="0">
                <a:solidFill>
                  <a:srgbClr val="FFFFFF"/>
                </a:solidFill>
                <a:latin typeface="Arial"/>
                <a:ea typeface="DejaVu Sans"/>
              </a:rPr>
              <a:t> 17, 149</a:t>
            </a:r>
            <a:endParaRPr lang="es-CO" sz="670" b="0" strike="noStrike" spc="-1" dirty="0">
              <a:latin typeface="Arial"/>
            </a:endParaRPr>
          </a:p>
        </p:txBody>
      </p:sp>
      <p:pic>
        <p:nvPicPr>
          <p:cNvPr id="234" name="Imagen 4" descr="Diagrama, Dibujo de ingeniería&#10;&#10;Descripción generada automáticamente"/>
          <p:cNvPicPr/>
          <p:nvPr/>
        </p:nvPicPr>
        <p:blipFill>
          <a:blip r:embed="rId2"/>
          <a:srcRect l="5102" t="57510" r="4324" b="5044"/>
          <a:stretch/>
        </p:blipFill>
        <p:spPr>
          <a:xfrm>
            <a:off x="4434480" y="1882080"/>
            <a:ext cx="4624560" cy="2661840"/>
          </a:xfrm>
          <a:prstGeom prst="rect">
            <a:avLst/>
          </a:prstGeom>
          <a:ln w="0">
            <a:noFill/>
          </a:ln>
        </p:spPr>
      </p:pic>
      <p:sp>
        <p:nvSpPr>
          <p:cNvPr id="235" name="CuadroTexto 5"/>
          <p:cNvSpPr/>
          <p:nvPr/>
        </p:nvSpPr>
        <p:spPr>
          <a:xfrm>
            <a:off x="365760" y="5301720"/>
            <a:ext cx="823212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1200" b="0" strike="noStrike" spc="-1">
                <a:solidFill>
                  <a:srgbClr val="2E515E"/>
                </a:solidFill>
                <a:latin typeface="Arial"/>
                <a:ea typeface="DejaVu Sans"/>
              </a:rPr>
              <a:t>Posible clasificación de bioseñales de acuerdo con su existencia, dinámica u origen </a:t>
            </a:r>
            <a:r>
              <a:rPr lang="en-US" sz="900" b="0" strike="noStrike" spc="-1">
                <a:solidFill>
                  <a:srgbClr val="2E515E"/>
                </a:solidFill>
                <a:latin typeface="Arial"/>
                <a:ea typeface="DejaVu Sans"/>
              </a:rPr>
              <a:t>[5]</a:t>
            </a:r>
            <a:r>
              <a:rPr lang="en-US" sz="1350" b="0" strike="noStrike" spc="-1">
                <a:solidFill>
                  <a:srgbClr val="2E515E"/>
                </a:solidFill>
                <a:latin typeface="Arial"/>
                <a:ea typeface="DejaVu Sans"/>
              </a:rPr>
              <a:t>.</a:t>
            </a:r>
            <a:endParaRPr lang="es-CO" sz="135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uadroTexto 29"/>
          <p:cNvSpPr/>
          <p:nvPr/>
        </p:nvSpPr>
        <p:spPr>
          <a:xfrm>
            <a:off x="92160" y="878400"/>
            <a:ext cx="4575960" cy="286086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1200" b="0" strike="noStrike" spc="-1" dirty="0">
                <a:solidFill>
                  <a:srgbClr val="2E515E"/>
                </a:solidFill>
                <a:latin typeface="Arial"/>
                <a:ea typeface="DejaVu Sans"/>
              </a:rPr>
              <a:t>Es la parte de la ingeniería que se ocupa de los </a:t>
            </a:r>
            <a:r>
              <a:rPr lang="es-MX" sz="1200" b="1" strike="noStrike" spc="-1" dirty="0">
                <a:solidFill>
                  <a:srgbClr val="2E515E"/>
                </a:solidFill>
                <a:latin typeface="Arial"/>
                <a:ea typeface="DejaVu Sans"/>
              </a:rPr>
              <a:t>dispositivos</a:t>
            </a:r>
            <a:r>
              <a:rPr lang="es-MX" sz="1200" b="0" strike="noStrike" spc="-1" dirty="0">
                <a:solidFill>
                  <a:srgbClr val="2E515E"/>
                </a:solidFill>
                <a:latin typeface="Arial"/>
                <a:ea typeface="DejaVu Sans"/>
              </a:rPr>
              <a:t> utilizados para </a:t>
            </a:r>
            <a:r>
              <a:rPr lang="es-MX" sz="1200" b="1" strike="noStrike" spc="-1" dirty="0">
                <a:solidFill>
                  <a:srgbClr val="2E515E"/>
                </a:solidFill>
                <a:latin typeface="Arial"/>
                <a:ea typeface="DejaVu Sans"/>
              </a:rPr>
              <a:t>medir</a:t>
            </a:r>
            <a:r>
              <a:rPr lang="es-MX" sz="1200" b="0" strike="noStrike" spc="-1" dirty="0">
                <a:solidFill>
                  <a:srgbClr val="2E515E"/>
                </a:solidFill>
                <a:latin typeface="Arial"/>
                <a:ea typeface="DejaVu Sans"/>
              </a:rPr>
              <a:t>, </a:t>
            </a:r>
            <a:r>
              <a:rPr lang="es-MX" sz="1200" b="1" strike="noStrike" spc="-1" dirty="0">
                <a:solidFill>
                  <a:srgbClr val="2E515E"/>
                </a:solidFill>
                <a:latin typeface="Arial"/>
                <a:ea typeface="DejaVu Sans"/>
              </a:rPr>
              <a:t>evaluar</a:t>
            </a:r>
            <a:r>
              <a:rPr lang="es-MX" sz="1200" b="0" strike="noStrike" spc="-1" dirty="0">
                <a:solidFill>
                  <a:srgbClr val="2E515E"/>
                </a:solidFill>
                <a:latin typeface="Arial"/>
                <a:ea typeface="DejaVu Sans"/>
              </a:rPr>
              <a:t> y </a:t>
            </a:r>
            <a:r>
              <a:rPr lang="es-MX" sz="1200" b="1" strike="noStrike" spc="-1" dirty="0">
                <a:solidFill>
                  <a:srgbClr val="2E515E"/>
                </a:solidFill>
                <a:latin typeface="Arial"/>
                <a:ea typeface="DejaVu Sans"/>
              </a:rPr>
              <a:t>tratar</a:t>
            </a:r>
            <a:r>
              <a:rPr lang="es-MX" sz="1200" b="0" strike="noStrike" spc="-1" dirty="0">
                <a:solidFill>
                  <a:srgbClr val="2E515E"/>
                </a:solidFill>
                <a:latin typeface="Arial"/>
                <a:ea typeface="DejaVu Sans"/>
              </a:rPr>
              <a:t> sistemas biológicos [1]. </a:t>
            </a:r>
            <a:endParaRPr lang="es-CO" sz="1200" b="0" strike="noStrike" spc="-1" dirty="0">
              <a:latin typeface="Arial"/>
            </a:endParaRPr>
          </a:p>
          <a:p>
            <a:pPr>
              <a:lnSpc>
                <a:spcPct val="100000"/>
              </a:lnSpc>
              <a:buNone/>
            </a:pPr>
            <a:endParaRPr lang="es-CO" sz="1200" b="0" strike="noStrike" spc="-1" dirty="0">
              <a:latin typeface="Arial"/>
            </a:endParaRPr>
          </a:p>
          <a:p>
            <a:pPr>
              <a:lnSpc>
                <a:spcPct val="100000"/>
              </a:lnSpc>
              <a:buNone/>
            </a:pPr>
            <a:r>
              <a:rPr lang="es-MX" sz="1200" b="0" strike="noStrike" spc="-1" dirty="0">
                <a:solidFill>
                  <a:srgbClr val="2E515E"/>
                </a:solidFill>
                <a:latin typeface="Arial"/>
                <a:ea typeface="DejaVu Sans"/>
              </a:rPr>
              <a:t>Para lograrlo, es necesario </a:t>
            </a:r>
            <a:r>
              <a:rPr lang="es-MX" sz="1200" b="1" strike="noStrike" spc="-1" dirty="0">
                <a:solidFill>
                  <a:srgbClr val="2E515E"/>
                </a:solidFill>
                <a:latin typeface="Arial"/>
                <a:ea typeface="DejaVu Sans"/>
              </a:rPr>
              <a:t>comprender:</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el </a:t>
            </a:r>
            <a:r>
              <a:rPr lang="es-MX" sz="1200" b="1" strike="noStrike" spc="-1" dirty="0">
                <a:solidFill>
                  <a:srgbClr val="2E515E"/>
                </a:solidFill>
                <a:latin typeface="Arial"/>
                <a:ea typeface="DejaVu Sans"/>
              </a:rPr>
              <a:t>fenómeno</a:t>
            </a:r>
            <a:r>
              <a:rPr lang="es-MX" sz="1200" b="0" strike="noStrike" spc="-1" dirty="0">
                <a:solidFill>
                  <a:srgbClr val="2E515E"/>
                </a:solidFill>
                <a:latin typeface="Arial"/>
                <a:ea typeface="DejaVu Sans"/>
              </a:rPr>
              <a:t> analizado</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la </a:t>
            </a:r>
            <a:r>
              <a:rPr lang="es-MX" sz="1200" b="1" strike="noStrike" spc="-1" dirty="0">
                <a:solidFill>
                  <a:srgbClr val="2E515E"/>
                </a:solidFill>
                <a:latin typeface="Arial"/>
                <a:ea typeface="DejaVu Sans"/>
              </a:rPr>
              <a:t>señal de interés</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la electrónica y </a:t>
            </a:r>
            <a:r>
              <a:rPr lang="es-MX" sz="1200" b="1" strike="noStrike" spc="-1" dirty="0">
                <a:solidFill>
                  <a:srgbClr val="2E515E"/>
                </a:solidFill>
                <a:latin typeface="Arial"/>
                <a:ea typeface="DejaVu Sans"/>
              </a:rPr>
              <a:t>sensores</a:t>
            </a:r>
            <a:r>
              <a:rPr lang="es-MX" sz="1200" b="0" strike="noStrike" spc="-1" dirty="0">
                <a:solidFill>
                  <a:srgbClr val="2E515E"/>
                </a:solidFill>
                <a:latin typeface="Arial"/>
                <a:ea typeface="DejaVu Sans"/>
              </a:rPr>
              <a:t> necesarios</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y la correcta </a:t>
            </a:r>
            <a:r>
              <a:rPr lang="es-MX" sz="1200" b="1" strike="noStrike" spc="-1" dirty="0">
                <a:solidFill>
                  <a:srgbClr val="2E515E"/>
                </a:solidFill>
                <a:latin typeface="Arial"/>
                <a:ea typeface="DejaVu Sans"/>
              </a:rPr>
              <a:t>interpretación</a:t>
            </a:r>
            <a:r>
              <a:rPr lang="es-MX" sz="1200" b="0" strike="noStrike" spc="-1" dirty="0">
                <a:solidFill>
                  <a:srgbClr val="2E515E"/>
                </a:solidFill>
                <a:latin typeface="Arial"/>
                <a:ea typeface="DejaVu Sans"/>
              </a:rPr>
              <a:t> de la información obtenida.</a:t>
            </a:r>
          </a:p>
          <a:p>
            <a:pPr marL="214200" indent="-214200">
              <a:lnSpc>
                <a:spcPct val="100000"/>
              </a:lnSpc>
              <a:buClr>
                <a:srgbClr val="2E515E"/>
              </a:buClr>
              <a:buFont typeface="Arial"/>
              <a:buChar char="•"/>
            </a:pPr>
            <a:endParaRPr lang="es-CO" sz="1200" b="0" strike="noStrike" spc="-1" dirty="0">
              <a:latin typeface="Arial"/>
            </a:endParaRPr>
          </a:p>
          <a:p>
            <a:pPr>
              <a:lnSpc>
                <a:spcPct val="100000"/>
              </a:lnSpc>
              <a:buNone/>
            </a:pPr>
            <a:endParaRPr lang="es-CO" sz="1200" b="0" strike="noStrike" spc="-1" dirty="0">
              <a:latin typeface="Arial"/>
            </a:endParaRPr>
          </a:p>
          <a:p>
            <a:pPr>
              <a:lnSpc>
                <a:spcPct val="100000"/>
              </a:lnSpc>
              <a:buNone/>
            </a:pPr>
            <a:r>
              <a:rPr lang="es-MX" sz="1200" b="0" strike="noStrike" spc="-1" dirty="0">
                <a:solidFill>
                  <a:srgbClr val="2E515E"/>
                </a:solidFill>
                <a:latin typeface="Arial"/>
                <a:ea typeface="DejaVu Sans"/>
              </a:rPr>
              <a:t>La </a:t>
            </a:r>
            <a:r>
              <a:rPr lang="es-MX" sz="1200" b="0" strike="noStrike" spc="-1" dirty="0" err="1">
                <a:solidFill>
                  <a:srgbClr val="2E515E"/>
                </a:solidFill>
                <a:latin typeface="Arial"/>
                <a:ea typeface="DejaVu Sans"/>
              </a:rPr>
              <a:t>bioinstrumentación</a:t>
            </a:r>
            <a:r>
              <a:rPr lang="es-MX" sz="1200" b="0" strike="noStrike" spc="-1" dirty="0">
                <a:solidFill>
                  <a:srgbClr val="2E515E"/>
                </a:solidFill>
                <a:latin typeface="Arial"/>
                <a:ea typeface="DejaVu Sans"/>
              </a:rPr>
              <a:t> </a:t>
            </a:r>
            <a:r>
              <a:rPr lang="es-MX" sz="1200" b="1" strike="noStrike" spc="-1" dirty="0">
                <a:solidFill>
                  <a:srgbClr val="2E515E"/>
                </a:solidFill>
                <a:latin typeface="Arial"/>
                <a:ea typeface="DejaVu Sans"/>
              </a:rPr>
              <a:t>ayuda</a:t>
            </a:r>
            <a:r>
              <a:rPr lang="es-MX" sz="1200" b="0" strike="noStrike" spc="-1" dirty="0">
                <a:solidFill>
                  <a:srgbClr val="2E515E"/>
                </a:solidFill>
                <a:latin typeface="Arial"/>
                <a:ea typeface="DejaVu Sans"/>
              </a:rPr>
              <a:t> a diferentes profesionales en:</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el diagnóstico</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tratamiento</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seguimiento</a:t>
            </a:r>
            <a:endParaRPr lang="es-CO" sz="1200" b="0" strike="noStrike" spc="-1" dirty="0">
              <a:latin typeface="Arial"/>
            </a:endParaRPr>
          </a:p>
          <a:p>
            <a:pPr marL="214200" indent="-214200">
              <a:lnSpc>
                <a:spcPct val="100000"/>
              </a:lnSpc>
              <a:buClr>
                <a:srgbClr val="2E515E"/>
              </a:buClr>
              <a:buFont typeface="Arial"/>
              <a:buChar char="•"/>
            </a:pPr>
            <a:r>
              <a:rPr lang="es-MX" sz="1200" b="0" strike="noStrike" spc="-1" dirty="0">
                <a:solidFill>
                  <a:srgbClr val="2E515E"/>
                </a:solidFill>
                <a:latin typeface="Arial"/>
                <a:ea typeface="DejaVu Sans"/>
              </a:rPr>
              <a:t>e investigación de variables biológicas.</a:t>
            </a:r>
            <a:endParaRPr lang="es-CO" sz="1200" b="0" strike="noStrike" spc="-1" dirty="0">
              <a:latin typeface="Arial"/>
            </a:endParaRPr>
          </a:p>
        </p:txBody>
      </p:sp>
      <p:sp>
        <p:nvSpPr>
          <p:cNvPr id="237" name="CuadroTexto 31"/>
          <p:cNvSpPr/>
          <p:nvPr/>
        </p:nvSpPr>
        <p:spPr>
          <a:xfrm>
            <a:off x="0" y="5882400"/>
            <a:ext cx="792036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[16] Paul, </a:t>
            </a:r>
            <a:r>
              <a:rPr lang="es-MX" sz="670" b="0" strike="noStrike" spc="-1" dirty="0" err="1">
                <a:solidFill>
                  <a:srgbClr val="FFFFFF"/>
                </a:solidFill>
                <a:latin typeface="Arial"/>
                <a:ea typeface="DejaVu Sans"/>
              </a:rPr>
              <a:t>Sudip</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Saikia</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Angana</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Majhi</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Vinayak</a:t>
            </a:r>
            <a:r>
              <a:rPr lang="es-MX" sz="670" b="0" strike="noStrike" spc="-1" dirty="0">
                <a:solidFill>
                  <a:srgbClr val="FFFFFF"/>
                </a:solidFill>
                <a:latin typeface="Arial"/>
                <a:ea typeface="DejaVu Sans"/>
              </a:rPr>
              <a:t>; Pandey, </a:t>
            </a:r>
            <a:r>
              <a:rPr lang="es-MX" sz="670" b="0" strike="noStrike" spc="-1" dirty="0" err="1">
                <a:solidFill>
                  <a:srgbClr val="FFFFFF"/>
                </a:solidFill>
                <a:latin typeface="Arial"/>
                <a:ea typeface="DejaVu Sans"/>
              </a:rPr>
              <a:t>Vinay</a:t>
            </a:r>
            <a:r>
              <a:rPr lang="es-MX" sz="670" b="0" strike="noStrike" spc="-1" dirty="0">
                <a:solidFill>
                  <a:srgbClr val="FFFFFF"/>
                </a:solidFill>
                <a:latin typeface="Arial"/>
                <a:ea typeface="DejaVu Sans"/>
              </a:rPr>
              <a:t> Kumar (2022). </a:t>
            </a:r>
            <a:r>
              <a:rPr lang="es-MX" sz="670" b="0" strike="noStrike" spc="-1" dirty="0" err="1">
                <a:solidFill>
                  <a:srgbClr val="FFFFFF"/>
                </a:solidFill>
                <a:latin typeface="Arial"/>
                <a:ea typeface="DejaVu Sans"/>
              </a:rPr>
              <a:t>Introduction</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to</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Biomedical</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Instrumentation</a:t>
            </a:r>
            <a:r>
              <a:rPr lang="es-MX" sz="670" b="0" strike="noStrike" spc="-1" dirty="0">
                <a:solidFill>
                  <a:srgbClr val="FFFFFF"/>
                </a:solidFill>
                <a:latin typeface="Arial"/>
                <a:ea typeface="DejaVu Sans"/>
              </a:rPr>
              <a:t> and </a:t>
            </a:r>
            <a:r>
              <a:rPr lang="es-MX" sz="670" b="0" strike="noStrike" spc="-1" dirty="0" err="1">
                <a:solidFill>
                  <a:srgbClr val="FFFFFF"/>
                </a:solidFill>
                <a:latin typeface="Arial"/>
                <a:ea typeface="DejaVu Sans"/>
              </a:rPr>
              <a:t>Its</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Applications</a:t>
            </a:r>
            <a:r>
              <a:rPr lang="es-MX" sz="670" b="0" strike="noStrike" spc="-1" dirty="0">
                <a:solidFill>
                  <a:srgbClr val="FFFFFF"/>
                </a:solidFill>
                <a:latin typeface="Arial"/>
                <a:ea typeface="DejaVu Sans"/>
              </a:rPr>
              <a:t>. Elsevier </a:t>
            </a:r>
            <a:r>
              <a:rPr lang="es-MX" sz="670" b="0" strike="noStrike" spc="-1" dirty="0" err="1">
                <a:solidFill>
                  <a:srgbClr val="FFFFFF"/>
                </a:solidFill>
                <a:latin typeface="Arial"/>
                <a:ea typeface="DejaVu Sans"/>
              </a:rPr>
              <a:t>Science</a:t>
            </a:r>
            <a:r>
              <a:rPr lang="es-MX" sz="670" b="0" strike="noStrike" spc="-1" dirty="0">
                <a:solidFill>
                  <a:srgbClr val="FFFFFF"/>
                </a:solidFill>
                <a:latin typeface="Arial"/>
                <a:ea typeface="DejaVu Sans"/>
              </a:rPr>
              <a:t>.</a:t>
            </a:r>
            <a:endParaRPr lang="es-CO" sz="670" b="0" strike="noStrike" spc="-1" dirty="0">
              <a:latin typeface="Arial"/>
            </a:endParaRPr>
          </a:p>
        </p:txBody>
      </p:sp>
      <p:sp>
        <p:nvSpPr>
          <p:cNvPr id="245" name="Rectángulo 6"/>
          <p:cNvSpPr/>
          <p:nvPr/>
        </p:nvSpPr>
        <p:spPr>
          <a:xfrm>
            <a:off x="-2160" y="74520"/>
            <a:ext cx="74354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b="1" spc="-1" dirty="0">
                <a:solidFill>
                  <a:srgbClr val="2C5697"/>
                </a:solidFill>
                <a:latin typeface="Arial"/>
                <a:ea typeface="DejaVu Sans"/>
              </a:rPr>
              <a:t>¿</a:t>
            </a:r>
            <a:r>
              <a:rPr lang="es-ES" sz="1800" b="1" strike="noStrike" spc="-1" dirty="0">
                <a:solidFill>
                  <a:srgbClr val="2C5697"/>
                </a:solidFill>
                <a:latin typeface="Arial"/>
                <a:ea typeface="DejaVu Sans"/>
              </a:rPr>
              <a:t>Qué es la </a:t>
            </a:r>
            <a:r>
              <a:rPr lang="es-ES" sz="1800" b="1" strike="noStrike" spc="-1" dirty="0" err="1">
                <a:solidFill>
                  <a:srgbClr val="2C5697"/>
                </a:solidFill>
                <a:latin typeface="Arial"/>
                <a:ea typeface="DejaVu Sans"/>
              </a:rPr>
              <a:t>bioinstrumentación</a:t>
            </a:r>
            <a:r>
              <a:rPr lang="es-ES" sz="1800" b="1" strike="noStrike" spc="-1" dirty="0">
                <a:solidFill>
                  <a:srgbClr val="2C5697"/>
                </a:solidFill>
                <a:latin typeface="Arial"/>
                <a:ea typeface="DejaVu Sans"/>
              </a:rPr>
              <a:t>?</a:t>
            </a:r>
            <a:endParaRPr lang="es-CO" sz="1800" b="0" strike="noStrike" spc="-1" dirty="0">
              <a:latin typeface="Arial"/>
            </a:endParaRPr>
          </a:p>
        </p:txBody>
      </p:sp>
      <p:sp>
        <p:nvSpPr>
          <p:cNvPr id="246" name="Marcador de número de diapositiva 3"/>
          <p:cNvSpPr/>
          <p:nvPr/>
        </p:nvSpPr>
        <p:spPr>
          <a:xfrm>
            <a:off x="8692560" y="5886000"/>
            <a:ext cx="4006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31770884-C48C-4452-9999-9ED86B8F2F38}" type="slidenum">
              <a:rPr lang="es-CO" sz="1200" b="0" strike="noStrike" spc="-1">
                <a:solidFill>
                  <a:srgbClr val="FFFFFF"/>
                </a:solidFill>
                <a:latin typeface="Calibri"/>
                <a:ea typeface="DejaVu Sans"/>
              </a:rPr>
              <a:t>22</a:t>
            </a:fld>
            <a:endParaRPr lang="es-CO" sz="1200" b="0" strike="noStrike" spc="-1">
              <a:latin typeface="Arial"/>
            </a:endParaRPr>
          </a:p>
        </p:txBody>
      </p:sp>
      <p:pic>
        <p:nvPicPr>
          <p:cNvPr id="3" name="Imagen 2" descr="Interfaz de usuario gráfica, Sitio web&#10;&#10;El contenido generado por IA puede ser incorrecto.">
            <a:extLst>
              <a:ext uri="{FF2B5EF4-FFF2-40B4-BE49-F238E27FC236}">
                <a16:creationId xmlns:a16="http://schemas.microsoft.com/office/drawing/2014/main" id="{AB843B04-205B-D0BB-41F5-281725606E1F}"/>
              </a:ext>
            </a:extLst>
          </p:cNvPr>
          <p:cNvPicPr>
            <a:picLocks noChangeAspect="1"/>
          </p:cNvPicPr>
          <p:nvPr/>
        </p:nvPicPr>
        <p:blipFill>
          <a:blip r:embed="rId2">
            <a:extLst>
              <a:ext uri="{28A0092B-C50C-407E-A947-70E740481C1C}">
                <a14:useLocalDpi xmlns:a14="http://schemas.microsoft.com/office/drawing/2010/main" val="0"/>
              </a:ext>
            </a:extLst>
          </a:blip>
          <a:srcRect l="14392" t="14898" r="14073" b="16742"/>
          <a:stretch>
            <a:fillRect/>
          </a:stretch>
        </p:blipFill>
        <p:spPr>
          <a:xfrm>
            <a:off x="4976735" y="1345367"/>
            <a:ext cx="3372787" cy="416726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7"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48" name="TextBox 32"/>
          <p:cNvSpPr/>
          <p:nvPr/>
        </p:nvSpPr>
        <p:spPr>
          <a:xfrm>
            <a:off x="21240" y="5909040"/>
            <a:ext cx="8489160" cy="321711"/>
          </a:xfrm>
          <a:prstGeom prst="rect">
            <a:avLst/>
          </a:prstGeom>
          <a:noFill/>
          <a:ln w="0">
            <a:noFill/>
          </a:ln>
        </p:spPr>
        <p:style>
          <a:lnRef idx="0">
            <a:scrgbClr r="0" g="0" b="0"/>
          </a:lnRef>
          <a:fillRef idx="0">
            <a:scrgbClr r="0" g="0" b="0"/>
          </a:fillRef>
          <a:effectRef idx="0">
            <a:scrgbClr r="0" g="0" b="0"/>
          </a:effectRef>
          <a:fontRef idx="minor"/>
        </p:style>
        <p:txBody>
          <a:bodyPr vertOverflow="overflow" horzOverflow="overflow" lIns="90000" tIns="45000" rIns="90000" bIns="45000" numCol="1" spcCol="0" anchor="t">
            <a:spAutoFit/>
          </a:bodyPr>
          <a:lstStyle/>
          <a:p>
            <a:pPr>
              <a:lnSpc>
                <a:spcPct val="100000"/>
              </a:lnSpc>
              <a:buNone/>
            </a:pPr>
            <a:r>
              <a:rPr lang="es-ES" sz="700" b="0" strike="noStrike" spc="-1" dirty="0">
                <a:solidFill>
                  <a:srgbClr val="FFFFFF"/>
                </a:solidFill>
                <a:latin typeface="Arial"/>
                <a:ea typeface="DejaVu Sans"/>
              </a:rPr>
              <a:t>[16]  </a:t>
            </a:r>
            <a:r>
              <a:rPr lang="es-MX" sz="800" b="0" strike="noStrike" spc="-1" dirty="0">
                <a:solidFill>
                  <a:srgbClr val="FFFFFF"/>
                </a:solidFill>
                <a:latin typeface="Arial"/>
                <a:ea typeface="DejaVu Sans"/>
              </a:rPr>
              <a:t>Paul, </a:t>
            </a:r>
            <a:r>
              <a:rPr lang="es-MX" sz="800" b="0" strike="noStrike" spc="-1" dirty="0" err="1">
                <a:solidFill>
                  <a:srgbClr val="FFFFFF"/>
                </a:solidFill>
                <a:latin typeface="Arial"/>
                <a:ea typeface="DejaVu Sans"/>
              </a:rPr>
              <a:t>Sudip</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Saikia</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Angana</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Majhi</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Vinayak</a:t>
            </a:r>
            <a:r>
              <a:rPr lang="es-MX" sz="800" b="0" strike="noStrike" spc="-1" dirty="0">
                <a:solidFill>
                  <a:srgbClr val="FFFFFF"/>
                </a:solidFill>
                <a:latin typeface="Arial"/>
                <a:ea typeface="DejaVu Sans"/>
              </a:rPr>
              <a:t>; Pandey, </a:t>
            </a:r>
            <a:r>
              <a:rPr lang="es-MX" sz="800" b="0" strike="noStrike" spc="-1" dirty="0" err="1">
                <a:solidFill>
                  <a:srgbClr val="FFFFFF"/>
                </a:solidFill>
                <a:latin typeface="Arial"/>
                <a:ea typeface="DejaVu Sans"/>
              </a:rPr>
              <a:t>Vinay</a:t>
            </a:r>
            <a:r>
              <a:rPr lang="es-MX" sz="800" b="0" strike="noStrike" spc="-1" dirty="0">
                <a:solidFill>
                  <a:srgbClr val="FFFFFF"/>
                </a:solidFill>
                <a:latin typeface="Arial"/>
                <a:ea typeface="DejaVu Sans"/>
              </a:rPr>
              <a:t> Kumar (2022). </a:t>
            </a:r>
            <a:r>
              <a:rPr lang="es-MX" sz="800" b="0" strike="noStrike" spc="-1" dirty="0" err="1">
                <a:solidFill>
                  <a:srgbClr val="FFFFFF"/>
                </a:solidFill>
                <a:latin typeface="Arial"/>
                <a:ea typeface="DejaVu Sans"/>
              </a:rPr>
              <a:t>Introduction</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to</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Biomedical</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Instrumentation</a:t>
            </a:r>
            <a:r>
              <a:rPr lang="es-MX" sz="800" b="0" strike="noStrike" spc="-1" dirty="0">
                <a:solidFill>
                  <a:srgbClr val="FFFFFF"/>
                </a:solidFill>
                <a:latin typeface="Arial"/>
                <a:ea typeface="DejaVu Sans"/>
              </a:rPr>
              <a:t> and </a:t>
            </a:r>
            <a:r>
              <a:rPr lang="es-MX" sz="800" b="0" strike="noStrike" spc="-1" dirty="0" err="1">
                <a:solidFill>
                  <a:srgbClr val="FFFFFF"/>
                </a:solidFill>
                <a:latin typeface="Arial"/>
                <a:ea typeface="DejaVu Sans"/>
              </a:rPr>
              <a:t>Its</a:t>
            </a:r>
            <a:r>
              <a:rPr lang="es-MX" sz="800" b="0" strike="noStrike" spc="-1" dirty="0">
                <a:solidFill>
                  <a:srgbClr val="FFFFFF"/>
                </a:solidFill>
                <a:latin typeface="Arial"/>
                <a:ea typeface="DejaVu Sans"/>
              </a:rPr>
              <a:t> </a:t>
            </a:r>
            <a:r>
              <a:rPr lang="es-MX" sz="800" b="0" strike="noStrike" spc="-1" dirty="0" err="1">
                <a:solidFill>
                  <a:srgbClr val="FFFFFF"/>
                </a:solidFill>
                <a:latin typeface="Arial"/>
                <a:ea typeface="DejaVu Sans"/>
              </a:rPr>
              <a:t>Applications</a:t>
            </a:r>
            <a:r>
              <a:rPr lang="es-MX" sz="800" b="0" strike="noStrike" spc="-1" dirty="0">
                <a:solidFill>
                  <a:srgbClr val="FFFFFF"/>
                </a:solidFill>
                <a:latin typeface="Arial"/>
                <a:ea typeface="DejaVu Sans"/>
              </a:rPr>
              <a:t>. Elsevier </a:t>
            </a:r>
            <a:r>
              <a:rPr lang="es-MX" sz="800" b="0" strike="noStrike" spc="-1" dirty="0" err="1">
                <a:solidFill>
                  <a:srgbClr val="FFFFFF"/>
                </a:solidFill>
                <a:latin typeface="Arial"/>
                <a:ea typeface="DejaVu Sans"/>
              </a:rPr>
              <a:t>Science</a:t>
            </a:r>
            <a:r>
              <a:rPr lang="es-MX" sz="800" b="0" strike="noStrike" spc="-1" dirty="0">
                <a:solidFill>
                  <a:srgbClr val="FFFFFF"/>
                </a:solidFill>
                <a:latin typeface="Arial"/>
                <a:ea typeface="DejaVu Sans"/>
              </a:rPr>
              <a:t>.</a:t>
            </a:r>
            <a:endParaRPr lang="es-CO" sz="800" b="0" strike="noStrike" spc="-1" dirty="0">
              <a:latin typeface="Arial"/>
            </a:endParaRPr>
          </a:p>
          <a:p>
            <a:pPr>
              <a:lnSpc>
                <a:spcPct val="100000"/>
              </a:lnSpc>
              <a:buNone/>
            </a:pPr>
            <a:endParaRPr lang="es-CO" sz="700" b="0" strike="noStrike" spc="-1" dirty="0">
              <a:latin typeface="Arial"/>
            </a:endParaRPr>
          </a:p>
        </p:txBody>
      </p:sp>
      <p:sp>
        <p:nvSpPr>
          <p:cNvPr id="249"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50"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Sistemas de bioinstrumentación</a:t>
            </a:r>
            <a:endParaRPr lang="es-CO" sz="1800" b="0" strike="noStrike" spc="-1">
              <a:latin typeface="Arial"/>
            </a:endParaRPr>
          </a:p>
        </p:txBody>
      </p:sp>
      <p:sp>
        <p:nvSpPr>
          <p:cNvPr id="251" name="Marcador de número de diapositiva 3"/>
          <p:cNvSpPr/>
          <p:nvPr/>
        </p:nvSpPr>
        <p:spPr>
          <a:xfrm>
            <a:off x="8640000" y="5886000"/>
            <a:ext cx="4528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F59E8427-BEDE-41CE-88DE-56FDFEBB9926}" type="slidenum">
              <a:rPr lang="es-CO" sz="1200" b="0" strike="noStrike" spc="-1">
                <a:solidFill>
                  <a:srgbClr val="FFFFFF"/>
                </a:solidFill>
                <a:latin typeface="Calibri"/>
                <a:ea typeface="DejaVu Sans"/>
              </a:rPr>
              <a:t>23</a:t>
            </a:fld>
            <a:endParaRPr lang="es-CO" sz="1200" b="0" strike="noStrike" spc="-1">
              <a:latin typeface="Arial"/>
            </a:endParaRPr>
          </a:p>
        </p:txBody>
      </p:sp>
      <p:sp>
        <p:nvSpPr>
          <p:cNvPr id="252" name="CuadroTexto 1"/>
          <p:cNvSpPr/>
          <p:nvPr/>
        </p:nvSpPr>
        <p:spPr>
          <a:xfrm>
            <a:off x="6480" y="5829840"/>
            <a:ext cx="7920360" cy="19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a:solidFill>
                  <a:srgbClr val="2E515E"/>
                </a:solidFill>
                <a:latin typeface="Arial"/>
                <a:ea typeface="DejaVu Sans"/>
              </a:rPr>
              <a:t>[1] Paul, Sudip; Saikia, Angana; Majhi, Vinayak; Pandey, Vinay Kumar (2022-02-22). Introduction to Biomedical Instrumentation and Its Applications. Elsevier Science.</a:t>
            </a:r>
            <a:endParaRPr lang="es-CO" sz="670" b="0" strike="noStrike" spc="-1">
              <a:latin typeface="Arial"/>
            </a:endParaRPr>
          </a:p>
        </p:txBody>
      </p:sp>
      <p:sp>
        <p:nvSpPr>
          <p:cNvPr id="255" name="CuadroTexto 5"/>
          <p:cNvSpPr/>
          <p:nvPr/>
        </p:nvSpPr>
        <p:spPr>
          <a:xfrm>
            <a:off x="577620" y="597574"/>
            <a:ext cx="7988760" cy="45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200" b="0" strike="noStrike" spc="-1" dirty="0" err="1">
                <a:solidFill>
                  <a:srgbClr val="2E515E"/>
                </a:solidFill>
                <a:latin typeface="Arial"/>
                <a:ea typeface="DejaVu Sans"/>
              </a:rPr>
              <a:t>Estas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señales</a:t>
            </a:r>
            <a:r>
              <a:rPr lang="en-US" sz="1200" b="0" strike="noStrike" spc="-1" dirty="0">
                <a:solidFill>
                  <a:srgbClr val="2E515E"/>
                </a:solidFill>
                <a:latin typeface="Arial"/>
                <a:ea typeface="DejaVu Sans"/>
              </a:rPr>
              <a:t>, bien </a:t>
            </a:r>
            <a:r>
              <a:rPr lang="en-US" sz="1200" b="0" strike="noStrike" spc="-1" dirty="0" err="1">
                <a:solidFill>
                  <a:srgbClr val="2E515E"/>
                </a:solidFill>
                <a:latin typeface="Arial"/>
                <a:ea typeface="DejaVu Sans"/>
              </a:rPr>
              <a:t>sean</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bioeléctricas</a:t>
            </a:r>
            <a:r>
              <a:rPr lang="en-US" sz="1200" b="0" strike="noStrike" spc="-1" dirty="0">
                <a:solidFill>
                  <a:srgbClr val="2E515E"/>
                </a:solidFill>
                <a:latin typeface="Arial"/>
                <a:ea typeface="DejaVu Sans"/>
              </a:rPr>
              <a:t>, bio-</a:t>
            </a:r>
            <a:r>
              <a:rPr lang="en-US" sz="1200" b="0" strike="noStrike" spc="-1" dirty="0" err="1">
                <a:solidFill>
                  <a:srgbClr val="2E515E"/>
                </a:solidFill>
                <a:latin typeface="Arial"/>
                <a:ea typeface="DejaVu Sans"/>
              </a:rPr>
              <a:t>ópticas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biomecánicas</a:t>
            </a:r>
            <a:r>
              <a:rPr lang="en-US" sz="1200" b="0" strike="noStrike" spc="-1" dirty="0">
                <a:solidFill>
                  <a:srgbClr val="2E515E"/>
                </a:solidFill>
                <a:latin typeface="Arial"/>
                <a:ea typeface="DejaVu Sans"/>
              </a:rPr>
              <a:t>, etc., </a:t>
            </a:r>
            <a:r>
              <a:rPr lang="en-US" sz="1200" b="0" strike="noStrike" spc="-1" dirty="0" err="1">
                <a:solidFill>
                  <a:srgbClr val="2E515E"/>
                </a:solidFill>
                <a:latin typeface="Arial"/>
                <a:ea typeface="DejaVu Sans"/>
              </a:rPr>
              <a:t>determinan</a:t>
            </a:r>
            <a:r>
              <a:rPr lang="en-US" sz="1200" b="0" strike="noStrike" spc="-1" dirty="0">
                <a:solidFill>
                  <a:srgbClr val="2E515E"/>
                </a:solidFill>
                <a:latin typeface="Arial"/>
                <a:ea typeface="DejaVu Sans"/>
              </a:rPr>
              <a:t> </a:t>
            </a:r>
            <a:r>
              <a:rPr lang="en-US" sz="1200" b="1" strike="noStrike" spc="-1" dirty="0" err="1">
                <a:solidFill>
                  <a:srgbClr val="2E515E"/>
                </a:solidFill>
                <a:latin typeface="Arial"/>
                <a:ea typeface="DejaVu Sans"/>
              </a:rPr>
              <a:t>parámetros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como</a:t>
            </a:r>
            <a:r>
              <a:rPr lang="en-US" sz="1200" b="0" strike="noStrike" spc="-1" dirty="0">
                <a:solidFill>
                  <a:srgbClr val="2E515E"/>
                </a:solidFill>
                <a:latin typeface="Arial"/>
                <a:ea typeface="DejaVu Sans"/>
              </a:rPr>
              <a:t> </a:t>
            </a:r>
            <a:r>
              <a:rPr lang="en-US" sz="1200" b="1" strike="noStrike" spc="-1" dirty="0" err="1">
                <a:solidFill>
                  <a:srgbClr val="2E515E"/>
                </a:solidFill>
                <a:latin typeface="Arial"/>
                <a:ea typeface="DejaVu Sans"/>
              </a:rPr>
              <a:t>rango</a:t>
            </a:r>
            <a:r>
              <a:rPr lang="en-US" sz="1200" b="0" strike="noStrike" spc="-1" dirty="0">
                <a:solidFill>
                  <a:srgbClr val="2E515E"/>
                </a:solidFill>
                <a:latin typeface="Arial"/>
                <a:ea typeface="DejaVu Sans"/>
              </a:rPr>
              <a:t>, </a:t>
            </a:r>
            <a:r>
              <a:rPr lang="en-US" sz="1200" b="1" strike="noStrike" spc="-1" dirty="0" err="1">
                <a:solidFill>
                  <a:srgbClr val="2E515E"/>
                </a:solidFill>
                <a:latin typeface="Arial"/>
                <a:ea typeface="DejaVu Sans"/>
              </a:rPr>
              <a:t>frecuencia</a:t>
            </a:r>
            <a:r>
              <a:rPr lang="en-US" sz="1200" b="0" strike="noStrike" spc="-1" dirty="0">
                <a:solidFill>
                  <a:srgbClr val="2E515E"/>
                </a:solidFill>
                <a:latin typeface="Arial"/>
                <a:ea typeface="DejaVu Sans"/>
              </a:rPr>
              <a:t> y </a:t>
            </a:r>
            <a:r>
              <a:rPr lang="en-US" sz="1200" b="1" strike="noStrike" spc="-1" dirty="0" err="1">
                <a:solidFill>
                  <a:srgbClr val="2E515E"/>
                </a:solidFill>
                <a:latin typeface="Arial"/>
                <a:ea typeface="DejaVu Sans"/>
              </a:rPr>
              <a:t>tipo</a:t>
            </a:r>
            <a:r>
              <a:rPr lang="en-US" sz="1200" b="1" strike="noStrike" spc="-1" dirty="0">
                <a:solidFill>
                  <a:srgbClr val="2E515E"/>
                </a:solidFill>
                <a:latin typeface="Arial"/>
                <a:ea typeface="DejaVu Sans"/>
              </a:rPr>
              <a:t> de sensor </a:t>
            </a:r>
            <a:r>
              <a:rPr lang="en-US" sz="1200" b="0" strike="noStrike" spc="-1" dirty="0">
                <a:solidFill>
                  <a:srgbClr val="2E515E"/>
                </a:solidFill>
                <a:latin typeface="Arial"/>
                <a:ea typeface="DejaVu Sans"/>
              </a:rPr>
              <a:t>a </a:t>
            </a:r>
            <a:r>
              <a:rPr lang="en-US" sz="1200" b="0" strike="noStrike" spc="-1" dirty="0" err="1">
                <a:solidFill>
                  <a:srgbClr val="2E515E"/>
                </a:solidFill>
                <a:latin typeface="Arial"/>
                <a:ea typeface="DejaVu Sans"/>
              </a:rPr>
              <a:t>utilizar</a:t>
            </a:r>
            <a:r>
              <a:rPr lang="en-US" sz="1200" b="0" strike="noStrike" spc="-1" dirty="0">
                <a:solidFill>
                  <a:srgbClr val="2E515E"/>
                </a:solidFill>
                <a:latin typeface="Arial"/>
                <a:ea typeface="DejaVu Sans"/>
              </a:rPr>
              <a:t> para </a:t>
            </a:r>
            <a:r>
              <a:rPr lang="en-US" sz="1200" b="0" strike="noStrike" spc="-1" dirty="0" err="1">
                <a:solidFill>
                  <a:srgbClr val="2E515E"/>
                </a:solidFill>
                <a:latin typeface="Arial"/>
                <a:ea typeface="DejaVu Sans"/>
              </a:rPr>
              <a:t>su</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medición</a:t>
            </a:r>
            <a:r>
              <a:rPr lang="en-US" sz="1200" b="0" strike="noStrike" spc="-1" dirty="0">
                <a:solidFill>
                  <a:srgbClr val="2E515E"/>
                </a:solidFill>
                <a:latin typeface="Arial"/>
                <a:ea typeface="DejaVu Sans"/>
              </a:rPr>
              <a:t>.</a:t>
            </a:r>
            <a:endParaRPr lang="es-CO" sz="1200" b="0" strike="noStrike" spc="-1" dirty="0">
              <a:latin typeface="Arial"/>
            </a:endParaRPr>
          </a:p>
        </p:txBody>
      </p:sp>
      <p:sp>
        <p:nvSpPr>
          <p:cNvPr id="256" name="CuadroTexto 6"/>
          <p:cNvSpPr/>
          <p:nvPr/>
        </p:nvSpPr>
        <p:spPr>
          <a:xfrm>
            <a:off x="443880" y="5041646"/>
            <a:ext cx="842256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200" b="1" strike="noStrike" spc="-1" dirty="0" err="1">
                <a:solidFill>
                  <a:srgbClr val="5286AB"/>
                </a:solidFill>
                <a:latin typeface="Arial"/>
                <a:ea typeface="DejaVu Sans"/>
              </a:rPr>
              <a:t>Especificaciones</a:t>
            </a:r>
            <a:r>
              <a:rPr lang="en-US" sz="1200" b="0" strike="noStrike" spc="-1" dirty="0">
                <a:solidFill>
                  <a:srgbClr val="5286AB"/>
                </a:solidFill>
                <a:latin typeface="Arial"/>
                <a:ea typeface="DejaVu Sans"/>
              </a:rPr>
              <a:t> </a:t>
            </a:r>
            <a:r>
              <a:rPr lang="en-US" sz="1200" b="1" strike="noStrike" spc="-1" dirty="0">
                <a:solidFill>
                  <a:srgbClr val="5286AB"/>
                </a:solidFill>
                <a:latin typeface="Arial"/>
                <a:ea typeface="DejaVu Sans"/>
              </a:rPr>
              <a:t>de un sensor</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sensibilidad</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rango</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precisión</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exactitud</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resolución</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reproducibilidad</a:t>
            </a:r>
            <a:r>
              <a:rPr lang="en-US" sz="1200" b="0" strike="noStrike" spc="-1" dirty="0">
                <a:solidFill>
                  <a:srgbClr val="2E515E"/>
                </a:solidFill>
                <a:latin typeface="Arial"/>
                <a:ea typeface="DejaVu Sans"/>
              </a:rPr>
              <a:t>, offset, </a:t>
            </a:r>
            <a:r>
              <a:rPr lang="en-US" sz="1200" b="0" strike="noStrike" spc="-1" dirty="0" err="1">
                <a:solidFill>
                  <a:srgbClr val="2E515E"/>
                </a:solidFill>
                <a:latin typeface="Arial"/>
                <a:ea typeface="DejaVu Sans"/>
              </a:rPr>
              <a:t>linealidad</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histéresis</a:t>
            </a:r>
            <a:r>
              <a:rPr lang="en-US" sz="1200" b="0" strike="noStrike" spc="-1" dirty="0">
                <a:solidFill>
                  <a:srgbClr val="2E515E"/>
                </a:solidFill>
                <a:latin typeface="Arial"/>
                <a:ea typeface="DejaVu Sans"/>
              </a:rPr>
              <a:t>.</a:t>
            </a:r>
            <a:endParaRPr lang="es-CO" sz="1200" b="0" strike="noStrike" spc="-1" dirty="0">
              <a:latin typeface="Arial"/>
            </a:endParaRPr>
          </a:p>
          <a:p>
            <a:pPr>
              <a:lnSpc>
                <a:spcPct val="100000"/>
              </a:lnSpc>
              <a:buNone/>
            </a:pPr>
            <a:r>
              <a:rPr lang="en-US" sz="1200" b="1" strike="noStrike" spc="-1" dirty="0" err="1">
                <a:solidFill>
                  <a:srgbClr val="1D7CB8"/>
                </a:solidFill>
                <a:latin typeface="Arial"/>
                <a:ea typeface="DejaVu Sans"/>
              </a:rPr>
              <a:t>Qué</a:t>
            </a:r>
            <a:r>
              <a:rPr lang="en-US" sz="1200" b="1" strike="noStrike" spc="-1" dirty="0">
                <a:solidFill>
                  <a:srgbClr val="1D7CB8"/>
                </a:solidFill>
                <a:latin typeface="Arial"/>
                <a:ea typeface="DejaVu Sans"/>
              </a:rPr>
              <a:t> </a:t>
            </a:r>
            <a:r>
              <a:rPr lang="en-US" sz="1200" b="1" strike="noStrike" spc="-1" dirty="0" err="1">
                <a:solidFill>
                  <a:srgbClr val="1D7CB8"/>
                </a:solidFill>
                <a:latin typeface="Arial"/>
                <a:ea typeface="DejaVu Sans"/>
              </a:rPr>
              <a:t>necesitamos</a:t>
            </a:r>
            <a:r>
              <a:rPr lang="en-US" sz="1200" b="1" strike="noStrike" spc="-1" dirty="0">
                <a:solidFill>
                  <a:srgbClr val="1D7CB8"/>
                </a:solidFill>
                <a:latin typeface="Arial"/>
                <a:ea typeface="DejaVu Sans"/>
              </a:rPr>
              <a:t> saber/</a:t>
            </a:r>
            <a:r>
              <a:rPr lang="en-US" sz="1200" b="1" strike="noStrike" spc="-1" dirty="0" err="1">
                <a:solidFill>
                  <a:srgbClr val="1D7CB8"/>
                </a:solidFill>
                <a:latin typeface="Arial"/>
                <a:ea typeface="DejaVu Sans"/>
              </a:rPr>
              <a:t>recordar</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Conceptos</a:t>
            </a:r>
            <a:r>
              <a:rPr lang="en-US" sz="1200" b="0" strike="noStrike" spc="-1" dirty="0">
                <a:solidFill>
                  <a:srgbClr val="2E515E"/>
                </a:solidFill>
                <a:latin typeface="Arial"/>
                <a:ea typeface="DejaVu Sans"/>
              </a:rPr>
              <a:t> de carga, voltage, </a:t>
            </a:r>
            <a:r>
              <a:rPr lang="en-US" sz="1200" b="0" strike="noStrike" spc="-1" dirty="0" err="1">
                <a:solidFill>
                  <a:srgbClr val="2E515E"/>
                </a:solidFill>
                <a:latin typeface="Arial"/>
                <a:ea typeface="DejaVu Sans"/>
              </a:rPr>
              <a:t>corriente</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potencia</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energía</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resistencia</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inductores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capacitores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amplificadores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operaciones</a:t>
            </a:r>
            <a:r>
              <a:rPr lang="en-US" sz="1200" b="0" strike="noStrike" spc="-1" dirty="0">
                <a:solidFill>
                  <a:srgbClr val="2E515E"/>
                </a:solidFill>
                <a:latin typeface="Arial"/>
                <a:ea typeface="DejaVu Sans"/>
              </a:rPr>
              <a:t>, </a:t>
            </a:r>
            <a:r>
              <a:rPr lang="en-US" sz="1200" b="0" strike="noStrike" spc="-1" dirty="0" err="1">
                <a:solidFill>
                  <a:srgbClr val="2E515E"/>
                </a:solidFill>
                <a:latin typeface="Arial"/>
                <a:ea typeface="DejaVu Sans"/>
              </a:rPr>
              <a:t>filtros</a:t>
            </a:r>
            <a:r>
              <a:rPr lang="en-US" sz="1200" b="0" strike="noStrike" spc="-1" dirty="0">
                <a:solidFill>
                  <a:srgbClr val="2E515E"/>
                </a:solidFill>
                <a:latin typeface="Arial"/>
                <a:ea typeface="DejaVu Sans"/>
              </a:rPr>
              <a:t> y </a:t>
            </a:r>
            <a:r>
              <a:rPr lang="en-US" sz="1200" b="0" strike="noStrike" spc="-1" dirty="0" err="1">
                <a:solidFill>
                  <a:srgbClr val="2E515E"/>
                </a:solidFill>
                <a:latin typeface="Arial"/>
                <a:ea typeface="DejaVu Sans"/>
              </a:rPr>
              <a:t>señales</a:t>
            </a:r>
            <a:r>
              <a:rPr lang="en-US" sz="1200" b="0" strike="noStrike" spc="-1" dirty="0">
                <a:solidFill>
                  <a:srgbClr val="2E515E"/>
                </a:solidFill>
                <a:latin typeface="Arial"/>
                <a:ea typeface="DejaVu Sans"/>
              </a:rPr>
              <a:t>. </a:t>
            </a:r>
            <a:endParaRPr lang="es-CO" sz="1200" b="0" strike="noStrike" spc="-1" dirty="0">
              <a:latin typeface="Arial"/>
            </a:endParaRPr>
          </a:p>
        </p:txBody>
      </p:sp>
      <p:graphicFrame>
        <p:nvGraphicFramePr>
          <p:cNvPr id="2" name="Tabla 1">
            <a:extLst>
              <a:ext uri="{FF2B5EF4-FFF2-40B4-BE49-F238E27FC236}">
                <a16:creationId xmlns:a16="http://schemas.microsoft.com/office/drawing/2014/main" id="{12E75E9F-1D00-651B-B389-BA0055128F2B}"/>
              </a:ext>
            </a:extLst>
          </p:cNvPr>
          <p:cNvGraphicFramePr>
            <a:graphicFrameLocks noGrp="1"/>
          </p:cNvGraphicFramePr>
          <p:nvPr>
            <p:extLst>
              <p:ext uri="{D42A27DB-BD31-4B8C-83A1-F6EECF244321}">
                <p14:modId xmlns:p14="http://schemas.microsoft.com/office/powerpoint/2010/main" val="2989164561"/>
              </p:ext>
            </p:extLst>
          </p:nvPr>
        </p:nvGraphicFramePr>
        <p:xfrm>
          <a:off x="2218901" y="1173192"/>
          <a:ext cx="4872517" cy="3868454"/>
        </p:xfrm>
        <a:graphic>
          <a:graphicData uri="http://schemas.openxmlformats.org/drawingml/2006/table">
            <a:tbl>
              <a:tblPr firstRow="1" firstCol="1" bandRow="1"/>
              <a:tblGrid>
                <a:gridCol w="1281602">
                  <a:extLst>
                    <a:ext uri="{9D8B030D-6E8A-4147-A177-3AD203B41FA5}">
                      <a16:colId xmlns:a16="http://schemas.microsoft.com/office/drawing/2014/main" val="3137209074"/>
                    </a:ext>
                  </a:extLst>
                </a:gridCol>
                <a:gridCol w="1197708">
                  <a:extLst>
                    <a:ext uri="{9D8B030D-6E8A-4147-A177-3AD203B41FA5}">
                      <a16:colId xmlns:a16="http://schemas.microsoft.com/office/drawing/2014/main" val="1851267342"/>
                    </a:ext>
                  </a:extLst>
                </a:gridCol>
                <a:gridCol w="1195499">
                  <a:extLst>
                    <a:ext uri="{9D8B030D-6E8A-4147-A177-3AD203B41FA5}">
                      <a16:colId xmlns:a16="http://schemas.microsoft.com/office/drawing/2014/main" val="266242134"/>
                    </a:ext>
                  </a:extLst>
                </a:gridCol>
                <a:gridCol w="1197708">
                  <a:extLst>
                    <a:ext uri="{9D8B030D-6E8A-4147-A177-3AD203B41FA5}">
                      <a16:colId xmlns:a16="http://schemas.microsoft.com/office/drawing/2014/main" val="3994248704"/>
                    </a:ext>
                  </a:extLst>
                </a:gridCol>
              </a:tblGrid>
              <a:tr h="457958">
                <a:tc>
                  <a:txBody>
                    <a:bodyPr/>
                    <a:lstStyle/>
                    <a:p>
                      <a:pPr algn="ctr">
                        <a:lnSpc>
                          <a:spcPct val="107000"/>
                        </a:lnSpc>
                        <a:spcAft>
                          <a:spcPts val="800"/>
                        </a:spcAft>
                      </a:pPr>
                      <a:r>
                        <a:rPr lang="es-CO" sz="900" b="1">
                          <a:effectLst/>
                          <a:latin typeface="TimesNewRomanPS-BoldMT"/>
                          <a:ea typeface="Calibri" panose="020F0502020204030204" pitchFamily="34" charset="0"/>
                          <a:cs typeface="TimesNewRomanPS-BoldMT"/>
                        </a:rPr>
                        <a:t> </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CO" sz="900" b="1">
                          <a:effectLst/>
                          <a:latin typeface="TimesNewRomanPS-BoldMT"/>
                          <a:ea typeface="Calibri" panose="020F0502020204030204" pitchFamily="34" charset="0"/>
                          <a:cs typeface="TimesNewRomanPS-BoldMT"/>
                        </a:rPr>
                        <a:t>Bioseñal</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b="1">
                          <a:effectLst/>
                          <a:latin typeface="TimesNewRomanPS-BoldMT"/>
                          <a:ea typeface="Calibri" panose="020F0502020204030204" pitchFamily="34" charset="0"/>
                          <a:cs typeface="TimesNewRomanPS-BoldMT"/>
                        </a:rPr>
                        <a:t> </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CO" sz="900" b="1">
                          <a:effectLst/>
                          <a:latin typeface="TimesNewRomanPS-BoldMT"/>
                          <a:ea typeface="Calibri" panose="020F0502020204030204" pitchFamily="34" charset="0"/>
                          <a:cs typeface="TimesNewRomanPS-BoldMT"/>
                        </a:rPr>
                        <a:t>Definición</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b="1">
                          <a:effectLst/>
                          <a:latin typeface="TimesNewRomanPS-BoldMT"/>
                          <a:ea typeface="Calibri" panose="020F0502020204030204" pitchFamily="34" charset="0"/>
                          <a:cs typeface="TimesNewRomanPS-BoldMT"/>
                        </a:rPr>
                        <a:t>Rango</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CO" sz="900" b="1">
                          <a:effectLst/>
                          <a:latin typeface="TimesNewRomanPS-BoldMT"/>
                          <a:ea typeface="Calibri" panose="020F0502020204030204" pitchFamily="34" charset="0"/>
                          <a:cs typeface="TimesNewRomanPS-BoldMT"/>
                        </a:rPr>
                        <a:t>amplitud</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b="1">
                          <a:effectLst/>
                          <a:latin typeface="TimesNewRomanPS-BoldMT"/>
                          <a:ea typeface="Calibri" panose="020F0502020204030204" pitchFamily="34" charset="0"/>
                          <a:cs typeface="TimesNewRomanPS-BoldMT"/>
                        </a:rPr>
                        <a:t>Rango</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CO" sz="900" b="1">
                          <a:effectLst/>
                          <a:latin typeface="TimesNewRomanPS-BoldMT"/>
                          <a:ea typeface="Calibri" panose="020F0502020204030204" pitchFamily="34" charset="0"/>
                          <a:cs typeface="TimesNewRomanPS-BoldMT"/>
                        </a:rPr>
                        <a:t>frecuencia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5406134"/>
                  </a:ext>
                </a:extLst>
              </a:tr>
              <a:tr h="338015">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Electrocardiograma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Actividad eléctrica cardíaca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0.5 - 4 mV</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dirty="0">
                          <a:effectLst/>
                          <a:latin typeface="TimesNewRomanPSMT"/>
                          <a:ea typeface="Calibri" panose="020F0502020204030204" pitchFamily="34" charset="0"/>
                          <a:cs typeface="TimesNewRomanPSMT"/>
                        </a:rPr>
                        <a:t>0.01-250 Hz</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0624208"/>
                  </a:ext>
                </a:extLst>
              </a:tr>
              <a:tr h="631201">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Electroencefalograma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a:effectLst/>
                          <a:latin typeface="TimesNewRomanPSMT"/>
                          <a:ea typeface="Calibri" panose="020F0502020204030204" pitchFamily="34" charset="0"/>
                          <a:cs typeface="TimesNewRomanPSMT"/>
                        </a:rPr>
                        <a:t>(EEG)</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dirty="0">
                          <a:effectLst/>
                          <a:latin typeface="TimesNewRomanPSMT"/>
                          <a:ea typeface="Calibri" panose="020F0502020204030204" pitchFamily="34" charset="0"/>
                          <a:cs typeface="TimesNewRomanPSMT"/>
                        </a:rPr>
                        <a:t>Actividad eléctrica cerebral</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dirty="0">
                          <a:effectLst/>
                          <a:latin typeface="TimesNewRomanPSMT"/>
                          <a:ea typeface="Calibri" panose="020F0502020204030204" pitchFamily="34" charset="0"/>
                          <a:cs typeface="TimesNewRomanPSMT"/>
                        </a:rPr>
                        <a:t>5 – 300</a:t>
                      </a:r>
                      <a:r>
                        <a:rPr lang="es-CO" sz="900" dirty="0">
                          <a:effectLst/>
                          <a:latin typeface="Symbol" panose="05050102010706020507" pitchFamily="18" charset="2"/>
                          <a:ea typeface="Calibri" panose="020F0502020204030204" pitchFamily="34" charset="0"/>
                          <a:cs typeface="Symbol" panose="05050102010706020507" pitchFamily="18" charset="2"/>
                        </a:rPr>
                        <a:t> </a:t>
                      </a:r>
                      <a:r>
                        <a:rPr lang="es-CO" sz="900" dirty="0">
                          <a:effectLst/>
                          <a:latin typeface="Symbol" panose="05050102010706020507" pitchFamily="18" charset="2"/>
                          <a:ea typeface="Calibri" panose="020F0502020204030204" pitchFamily="34" charset="0"/>
                          <a:cs typeface="Symbol" panose="05050102010706020507" pitchFamily="18" charset="2"/>
                          <a:sym typeface="Symbol" panose="05050102010706020507" pitchFamily="18" charset="2"/>
                        </a:rPr>
                        <a:t></a:t>
                      </a:r>
                      <a:r>
                        <a:rPr lang="es-CO" sz="900" dirty="0">
                          <a:effectLst/>
                          <a:latin typeface="TimesNewRomanPSMT"/>
                          <a:ea typeface="Calibri" panose="020F0502020204030204" pitchFamily="34" charset="0"/>
                          <a:cs typeface="TimesNewRomanPSMT"/>
                        </a:rPr>
                        <a:t>V</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DC-150 Hz</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4395803"/>
                  </a:ext>
                </a:extLst>
              </a:tr>
              <a:tr h="457958">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Electrogastrograma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a:effectLst/>
                          <a:latin typeface="TimesNewRomanPSMT"/>
                          <a:ea typeface="Calibri" panose="020F0502020204030204" pitchFamily="34" charset="0"/>
                          <a:cs typeface="TimesNewRomanPSMT"/>
                        </a:rPr>
                        <a:t>(EGG)</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Actividad eléctrica gástrica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10 </a:t>
                      </a:r>
                      <a:r>
                        <a:rPr lang="es-CO" sz="900">
                          <a:effectLst/>
                          <a:latin typeface="Calibri" panose="020F0502020204030204" pitchFamily="34" charset="0"/>
                          <a:ea typeface="Calibri" panose="020F0502020204030204" pitchFamily="34" charset="0"/>
                          <a:cs typeface="Symbol" panose="05050102010706020507" pitchFamily="18" charset="2"/>
                          <a:sym typeface="Symbol" panose="05050102010706020507" pitchFamily="18" charset="2"/>
                        </a:rPr>
                        <a:t></a:t>
                      </a:r>
                      <a:r>
                        <a:rPr lang="es-CO" sz="900">
                          <a:effectLst/>
                          <a:latin typeface="TimesNewRomanPSMT"/>
                          <a:ea typeface="Calibri" panose="020F0502020204030204" pitchFamily="34" charset="0"/>
                          <a:cs typeface="TimesNewRomanPSMT"/>
                        </a:rPr>
                        <a:t>V – 1 mV</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DC-10 kHz</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338957"/>
                  </a:ext>
                </a:extLst>
              </a:tr>
              <a:tr h="457958">
                <a:tc>
                  <a:txBody>
                    <a:bodyPr/>
                    <a:lstStyle/>
                    <a:p>
                      <a:pPr>
                        <a:lnSpc>
                          <a:spcPct val="107000"/>
                        </a:lnSpc>
                        <a:spcAft>
                          <a:spcPts val="800"/>
                        </a:spcAft>
                      </a:pPr>
                      <a:r>
                        <a:rPr lang="es-CO" sz="900" dirty="0">
                          <a:effectLst/>
                          <a:latin typeface="TimesNewRomanPSMT"/>
                          <a:ea typeface="Calibri" panose="020F0502020204030204" pitchFamily="34" charset="0"/>
                          <a:cs typeface="TimesNewRomanPSMT"/>
                        </a:rPr>
                        <a:t>Electromiograma</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dirty="0">
                          <a:effectLst/>
                          <a:latin typeface="TimesNewRomanPSMT"/>
                          <a:ea typeface="Calibri" panose="020F0502020204030204" pitchFamily="34" charset="0"/>
                          <a:cs typeface="TimesNewRomanPSMT"/>
                        </a:rPr>
                        <a:t>(EMG)</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Actividad eléctrica muscular</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dirty="0">
                          <a:effectLst/>
                          <a:latin typeface="TimesNewRomanPSMT"/>
                          <a:ea typeface="Calibri" panose="020F0502020204030204" pitchFamily="34" charset="0"/>
                          <a:cs typeface="TimesNewRomanPSMT"/>
                        </a:rPr>
                        <a:t>0.1 – 5 </a:t>
                      </a:r>
                      <a:r>
                        <a:rPr lang="es-CO" sz="900" dirty="0" err="1">
                          <a:effectLst/>
                          <a:latin typeface="TimesNewRomanPSMT"/>
                          <a:ea typeface="Calibri" panose="020F0502020204030204" pitchFamily="34" charset="0"/>
                          <a:cs typeface="TimesNewRomanPSMT"/>
                        </a:rPr>
                        <a:t>mV</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DC-10 kHz</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8759073"/>
                  </a:ext>
                </a:extLst>
              </a:tr>
              <a:tr h="457958">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Electroneurograma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a:effectLst/>
                          <a:latin typeface="TimesNewRomanPSMT"/>
                          <a:ea typeface="Calibri" panose="020F0502020204030204" pitchFamily="34" charset="0"/>
                          <a:cs typeface="TimesNewRomanPSMT"/>
                        </a:rPr>
                        <a:t>(ENG)</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dirty="0">
                          <a:effectLst/>
                          <a:latin typeface="TimesNewRomanPSMT"/>
                          <a:ea typeface="Calibri" panose="020F0502020204030204" pitchFamily="34" charset="0"/>
                          <a:cs typeface="TimesNewRomanPSMT"/>
                        </a:rPr>
                        <a:t>Actividad eléctrica nerviosa</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0.01 – 3 mV</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DC-1 kHz</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2567568"/>
                  </a:ext>
                </a:extLst>
              </a:tr>
              <a:tr h="457958">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Electrooculograma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a:effectLst/>
                          <a:latin typeface="TimesNewRomanPSMT"/>
                          <a:ea typeface="Calibri" panose="020F0502020204030204" pitchFamily="34" charset="0"/>
                          <a:cs typeface="TimesNewRomanPSMT"/>
                        </a:rPr>
                        <a:t>(EOG)</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Potencial retina-córnea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50 - 3500 </a:t>
                      </a:r>
                      <a:r>
                        <a:rPr lang="es-CO" sz="900">
                          <a:effectLst/>
                          <a:latin typeface="Calibri" panose="020F0502020204030204" pitchFamily="34" charset="0"/>
                          <a:ea typeface="Calibri" panose="020F0502020204030204" pitchFamily="34" charset="0"/>
                          <a:cs typeface="Symbol" panose="05050102010706020507" pitchFamily="18" charset="2"/>
                          <a:sym typeface="Symbol" panose="05050102010706020507" pitchFamily="18" charset="2"/>
                        </a:rPr>
                        <a:t></a:t>
                      </a:r>
                      <a:r>
                        <a:rPr lang="es-CO" sz="900">
                          <a:effectLst/>
                          <a:latin typeface="TimesNewRomanPSMT"/>
                          <a:ea typeface="Calibri" panose="020F0502020204030204" pitchFamily="34" charset="0"/>
                          <a:cs typeface="TimesNewRomanPSMT"/>
                        </a:rPr>
                        <a:t>V</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a:effectLst/>
                          <a:latin typeface="TimesNewRomanPSMT"/>
                          <a:ea typeface="Calibri" panose="020F0502020204030204" pitchFamily="34" charset="0"/>
                          <a:cs typeface="TimesNewRomanPSMT"/>
                        </a:rPr>
                        <a:t>DC-50 Hz</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6681559"/>
                  </a:ext>
                </a:extLst>
              </a:tr>
              <a:tr h="609448">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Electrorretinograma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900">
                          <a:effectLst/>
                          <a:latin typeface="TimesNewRomanPSMT"/>
                          <a:ea typeface="Calibri" panose="020F0502020204030204" pitchFamily="34" charset="0"/>
                          <a:cs typeface="TimesNewRomanPSMT"/>
                        </a:rPr>
                        <a:t>(ERG)</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s-CO" sz="900">
                          <a:effectLst/>
                          <a:latin typeface="TimesNewRomanPSMT"/>
                          <a:ea typeface="Calibri" panose="020F0502020204030204" pitchFamily="34" charset="0"/>
                          <a:cs typeface="TimesNewRomanPSMT"/>
                        </a:rPr>
                        <a:t>Actividad eléctrica de la retina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dirty="0">
                          <a:effectLst/>
                          <a:latin typeface="TimesNewRomanPSMT"/>
                          <a:ea typeface="Calibri" panose="020F0502020204030204" pitchFamily="34" charset="0"/>
                          <a:cs typeface="TimesNewRomanPSMT"/>
                        </a:rPr>
                        <a:t>0 – 900 </a:t>
                      </a:r>
                      <a:r>
                        <a:rPr lang="es-CO" sz="900" dirty="0">
                          <a:effectLst/>
                          <a:latin typeface="Calibri" panose="020F0502020204030204" pitchFamily="34" charset="0"/>
                          <a:ea typeface="Calibri" panose="020F0502020204030204" pitchFamily="34" charset="0"/>
                          <a:cs typeface="Symbol" panose="05050102010706020507" pitchFamily="18" charset="2"/>
                          <a:sym typeface="Symbol" panose="05050102010706020507" pitchFamily="18" charset="2"/>
                        </a:rPr>
                        <a:t></a:t>
                      </a:r>
                      <a:r>
                        <a:rPr lang="es-CO" sz="900" dirty="0">
                          <a:effectLst/>
                          <a:latin typeface="TimesNewRomanPSMT"/>
                          <a:ea typeface="Calibri" panose="020F0502020204030204" pitchFamily="34" charset="0"/>
                          <a:cs typeface="TimesNewRomanPSMT"/>
                        </a:rPr>
                        <a:t>V</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s-CO" sz="900" dirty="0">
                          <a:effectLst/>
                          <a:latin typeface="TimesNewRomanPSMT"/>
                          <a:ea typeface="Calibri" panose="020F0502020204030204" pitchFamily="34" charset="0"/>
                          <a:cs typeface="TimesNewRomanPSMT"/>
                        </a:rPr>
                        <a:t>DC-50 Hz</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8757" marR="587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238776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58"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59" name="Marcador de número de diapositiva 3"/>
          <p:cNvSpPr/>
          <p:nvPr/>
        </p:nvSpPr>
        <p:spPr>
          <a:xfrm>
            <a:off x="8703720" y="5886000"/>
            <a:ext cx="3891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15BAD021-429C-416F-90A8-4FBC362F0073}" type="slidenum">
              <a:rPr lang="es-CO" sz="1200" b="0" strike="noStrike" spc="-1">
                <a:solidFill>
                  <a:srgbClr val="FFFFFF"/>
                </a:solidFill>
                <a:latin typeface="Calibri"/>
                <a:ea typeface="DejaVu Sans"/>
              </a:rPr>
              <a:t>24</a:t>
            </a:fld>
            <a:endParaRPr lang="es-CO" sz="1200" b="0" strike="noStrike" spc="-1">
              <a:latin typeface="Arial"/>
            </a:endParaRPr>
          </a:p>
        </p:txBody>
      </p:sp>
      <p:pic>
        <p:nvPicPr>
          <p:cNvPr id="260" name="Imagen 1" descr="Diagrama&#10;&#10;Descripción generada automáticamente"/>
          <p:cNvPicPr/>
          <p:nvPr/>
        </p:nvPicPr>
        <p:blipFill>
          <a:blip r:embed="rId2"/>
          <a:srcRect b="9560"/>
          <a:stretch/>
        </p:blipFill>
        <p:spPr>
          <a:xfrm>
            <a:off x="1168920" y="1373400"/>
            <a:ext cx="6395040" cy="2620080"/>
          </a:xfrm>
          <a:prstGeom prst="rect">
            <a:avLst/>
          </a:prstGeom>
          <a:ln w="0">
            <a:noFill/>
          </a:ln>
        </p:spPr>
      </p:pic>
      <p:sp>
        <p:nvSpPr>
          <p:cNvPr id="261" name="CuadroTexto 3"/>
          <p:cNvSpPr/>
          <p:nvPr/>
        </p:nvSpPr>
        <p:spPr>
          <a:xfrm>
            <a:off x="43560" y="5924160"/>
            <a:ext cx="792036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[17] R. S. </a:t>
            </a:r>
            <a:r>
              <a:rPr lang="es-MX" sz="670" b="0" strike="noStrike" spc="-1" dirty="0" err="1">
                <a:solidFill>
                  <a:srgbClr val="FFFFFF"/>
                </a:solidFill>
                <a:latin typeface="Arial"/>
                <a:ea typeface="DejaVu Sans"/>
              </a:rPr>
              <a:t>Khandpur</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Handbook</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of</a:t>
            </a:r>
            <a:r>
              <a:rPr lang="es-MX" sz="670" b="0" strike="noStrike" spc="-1" dirty="0">
                <a:solidFill>
                  <a:srgbClr val="FFFFFF"/>
                </a:solidFill>
                <a:latin typeface="Arial"/>
                <a:ea typeface="DejaVu Sans"/>
              </a:rPr>
              <a:t> Biomedical </a:t>
            </a:r>
            <a:r>
              <a:rPr lang="es-MX" sz="670" b="0" strike="noStrike" spc="-1" dirty="0" err="1">
                <a:solidFill>
                  <a:srgbClr val="FFFFFF"/>
                </a:solidFill>
                <a:latin typeface="Arial"/>
                <a:ea typeface="DejaVu Sans"/>
              </a:rPr>
              <a:t>Instrumentation</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technology</a:t>
            </a:r>
            <a:r>
              <a:rPr lang="es-MX" sz="670" b="0" strike="noStrike" spc="-1" dirty="0">
                <a:solidFill>
                  <a:srgbClr val="FFFFFF"/>
                </a:solidFill>
                <a:latin typeface="Arial"/>
                <a:ea typeface="DejaVu Sans"/>
              </a:rPr>
              <a:t> and </a:t>
            </a:r>
            <a:r>
              <a:rPr lang="es-MX" sz="670" b="0" strike="noStrike" spc="-1" dirty="0" err="1">
                <a:solidFill>
                  <a:srgbClr val="FFFFFF"/>
                </a:solidFill>
                <a:latin typeface="Arial"/>
                <a:ea typeface="DejaVu Sans"/>
              </a:rPr>
              <a:t>applications</a:t>
            </a:r>
            <a:r>
              <a:rPr lang="es-MX" sz="670" b="0" strike="noStrike" spc="-1" dirty="0">
                <a:solidFill>
                  <a:srgbClr val="FFFFFF"/>
                </a:solidFill>
                <a:latin typeface="Arial"/>
                <a:ea typeface="DejaVu Sans"/>
              </a:rPr>
              <a:t>. 2003, McGraw-Hill  Publishing.</a:t>
            </a:r>
            <a:endParaRPr lang="es-CO" sz="670" b="0" strike="noStrike" spc="-1" dirty="0">
              <a:latin typeface="Arial"/>
            </a:endParaRPr>
          </a:p>
        </p:txBody>
      </p:sp>
      <p:sp>
        <p:nvSpPr>
          <p:cNvPr id="262" name="CuadroTexto 4"/>
          <p:cNvSpPr/>
          <p:nvPr/>
        </p:nvSpPr>
        <p:spPr>
          <a:xfrm>
            <a:off x="2162880" y="5365440"/>
            <a:ext cx="4811760" cy="27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1200" b="0" strike="noStrike" spc="-1">
                <a:solidFill>
                  <a:srgbClr val="2E515E"/>
                </a:solidFill>
                <a:latin typeface="Arial"/>
                <a:ea typeface="DejaVu Sans"/>
              </a:rPr>
              <a:t>Diagrama de bloques de un sistema de bioinstrumentación </a:t>
            </a:r>
            <a:r>
              <a:rPr lang="en-US" sz="900" b="0" strike="noStrike" spc="-1">
                <a:solidFill>
                  <a:srgbClr val="2E515E"/>
                </a:solidFill>
                <a:latin typeface="Arial"/>
                <a:ea typeface="DejaVu Sans"/>
              </a:rPr>
              <a:t>[5]</a:t>
            </a:r>
            <a:endParaRPr lang="es-CO" sz="900" b="0" strike="noStrike" spc="-1">
              <a:latin typeface="Arial"/>
            </a:endParaRPr>
          </a:p>
        </p:txBody>
      </p:sp>
      <p:sp>
        <p:nvSpPr>
          <p:cNvPr id="263" name="Rectángulo 5"/>
          <p:cNvSpPr/>
          <p:nvPr/>
        </p:nvSpPr>
        <p:spPr>
          <a:xfrm>
            <a:off x="3543840" y="2184840"/>
            <a:ext cx="654480" cy="357480"/>
          </a:xfrm>
          <a:prstGeom prst="rect">
            <a:avLst/>
          </a:prstGeom>
          <a:noFill/>
          <a:ln w="28575">
            <a:solidFill>
              <a:srgbClr val="FF0000"/>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64" name="Rectángulo 6"/>
          <p:cNvSpPr/>
          <p:nvPr/>
        </p:nvSpPr>
        <p:spPr>
          <a:xfrm>
            <a:off x="5565960" y="2184840"/>
            <a:ext cx="697320" cy="357480"/>
          </a:xfrm>
          <a:prstGeom prst="rect">
            <a:avLst/>
          </a:prstGeom>
          <a:noFill/>
          <a:ln w="28575">
            <a:solidFill>
              <a:srgbClr val="FF0000"/>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65" name="Rectángulo 7"/>
          <p:cNvSpPr/>
          <p:nvPr/>
        </p:nvSpPr>
        <p:spPr>
          <a:xfrm>
            <a:off x="1191240" y="1664280"/>
            <a:ext cx="1080360" cy="1298520"/>
          </a:xfrm>
          <a:prstGeom prst="rect">
            <a:avLst/>
          </a:prstGeom>
          <a:solidFill>
            <a:schemeClr val="bg1"/>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1050" b="0" strike="noStrike" spc="-1">
                <a:solidFill>
                  <a:srgbClr val="FF0000"/>
                </a:solidFill>
                <a:latin typeface="Arial"/>
                <a:ea typeface="DejaVu Sans"/>
              </a:rPr>
              <a:t>Signals</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Bioelectric</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Biomagnetic</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Biochemical</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Biomechanical</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Bioacoustic</a:t>
            </a:r>
            <a:endParaRPr lang="es-CO" sz="1050" b="0" strike="noStrike" spc="-1">
              <a:latin typeface="Arial"/>
            </a:endParaRPr>
          </a:p>
          <a:p>
            <a:pPr>
              <a:lnSpc>
                <a:spcPct val="100000"/>
              </a:lnSpc>
              <a:buNone/>
            </a:pPr>
            <a:r>
              <a:rPr lang="en-US" sz="1050" b="0" strike="noStrike" spc="-1">
                <a:solidFill>
                  <a:srgbClr val="2E515E"/>
                </a:solidFill>
                <a:latin typeface="Arial"/>
                <a:ea typeface="DejaVu Sans"/>
              </a:rPr>
              <a:t>Biooptical</a:t>
            </a:r>
            <a:endParaRPr lang="es-CO" sz="1050" b="0" strike="noStrike" spc="-1">
              <a:latin typeface="Arial"/>
            </a:endParaRPr>
          </a:p>
          <a:p>
            <a:pPr>
              <a:lnSpc>
                <a:spcPct val="100000"/>
              </a:lnSpc>
              <a:buNone/>
            </a:pPr>
            <a:r>
              <a:rPr lang="en-US" sz="900" b="0" strike="noStrike" spc="-1">
                <a:solidFill>
                  <a:srgbClr val="2E515E"/>
                </a:solidFill>
                <a:latin typeface="Arial"/>
                <a:ea typeface="DejaVu Sans"/>
              </a:rPr>
              <a:t>…</a:t>
            </a:r>
            <a:endParaRPr lang="es-CO" sz="900" b="0" strike="noStrike" spc="-1">
              <a:latin typeface="Arial"/>
            </a:endParaRPr>
          </a:p>
        </p:txBody>
      </p:sp>
      <p:sp>
        <p:nvSpPr>
          <p:cNvPr id="266" name="Rectángulo 8"/>
          <p:cNvSpPr/>
          <p:nvPr/>
        </p:nvSpPr>
        <p:spPr>
          <a:xfrm>
            <a:off x="6714720" y="2005560"/>
            <a:ext cx="772920" cy="357480"/>
          </a:xfrm>
          <a:prstGeom prst="rect">
            <a:avLst/>
          </a:prstGeom>
          <a:noFill/>
          <a:ln w="28575">
            <a:solidFill>
              <a:srgbClr val="FF0000"/>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67" name="Abrir llave 9"/>
          <p:cNvSpPr/>
          <p:nvPr/>
        </p:nvSpPr>
        <p:spPr>
          <a:xfrm rot="16200000">
            <a:off x="3083760" y="2894400"/>
            <a:ext cx="192960" cy="203652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268" name="CuadroTexto 10"/>
          <p:cNvSpPr/>
          <p:nvPr/>
        </p:nvSpPr>
        <p:spPr>
          <a:xfrm>
            <a:off x="2606040" y="4006800"/>
            <a:ext cx="1002600" cy="24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50" b="0" strike="noStrike" spc="-1">
                <a:solidFill>
                  <a:srgbClr val="2E515E"/>
                </a:solidFill>
                <a:latin typeface="Arial"/>
                <a:ea typeface="DejaVu Sans"/>
              </a:rPr>
              <a:t>Adquisición</a:t>
            </a:r>
            <a:endParaRPr lang="es-CO" sz="1050" b="0" strike="noStrike" spc="-1">
              <a:latin typeface="Arial"/>
            </a:endParaRPr>
          </a:p>
        </p:txBody>
      </p:sp>
      <p:sp>
        <p:nvSpPr>
          <p:cNvPr id="269" name="Abrir llave 12"/>
          <p:cNvSpPr/>
          <p:nvPr/>
        </p:nvSpPr>
        <p:spPr>
          <a:xfrm rot="16200000">
            <a:off x="5234040" y="3060360"/>
            <a:ext cx="192960" cy="203652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270" name="CuadroTexto 13"/>
          <p:cNvSpPr/>
          <p:nvPr/>
        </p:nvSpPr>
        <p:spPr>
          <a:xfrm>
            <a:off x="4572000" y="4144320"/>
            <a:ext cx="1392840" cy="24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50" b="0" strike="noStrike" spc="-1">
                <a:solidFill>
                  <a:srgbClr val="2E515E"/>
                </a:solidFill>
                <a:latin typeface="Arial"/>
                <a:ea typeface="DejaVu Sans"/>
              </a:rPr>
              <a:t>Acondicionamiento</a:t>
            </a:r>
            <a:endParaRPr lang="es-CO" sz="1050" b="0" strike="noStrike" spc="-1">
              <a:latin typeface="Arial"/>
            </a:endParaRPr>
          </a:p>
        </p:txBody>
      </p:sp>
      <p:sp>
        <p:nvSpPr>
          <p:cNvPr id="271" name="Abrir llave 14"/>
          <p:cNvSpPr/>
          <p:nvPr/>
        </p:nvSpPr>
        <p:spPr>
          <a:xfrm rot="16200000">
            <a:off x="7039080" y="3758040"/>
            <a:ext cx="192960" cy="8744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272" name="CuadroTexto 15"/>
          <p:cNvSpPr/>
          <p:nvPr/>
        </p:nvSpPr>
        <p:spPr>
          <a:xfrm>
            <a:off x="6307560" y="4315680"/>
            <a:ext cx="1793160" cy="24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50" b="0" strike="noStrike" spc="-1">
                <a:solidFill>
                  <a:srgbClr val="2E515E"/>
                </a:solidFill>
                <a:latin typeface="Arial"/>
                <a:ea typeface="DejaVu Sans"/>
              </a:rPr>
              <a:t>Visualización/tratamiento</a:t>
            </a:r>
            <a:endParaRPr lang="es-CO" sz="1050" b="0" strike="noStrike" spc="-1">
              <a:latin typeface="Arial"/>
            </a:endParaRPr>
          </a:p>
        </p:txBody>
      </p:sp>
      <p:sp>
        <p:nvSpPr>
          <p:cNvPr id="273"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Sistemas de bioinstrumentación</a:t>
            </a:r>
            <a:endParaRPr lang="es-CO" sz="1800" b="0" strike="noStrike" spc="-1">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275"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276" name="Rectángulo 6"/>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a:solidFill>
                  <a:srgbClr val="2C5697"/>
                </a:solidFill>
                <a:latin typeface="Arial"/>
                <a:ea typeface="DejaVu Sans"/>
              </a:rPr>
              <a:t>Posible clasificación de sensores</a:t>
            </a:r>
            <a:endParaRPr lang="es-CO" sz="1800" b="0" strike="noStrike" spc="-1">
              <a:latin typeface="Arial"/>
            </a:endParaRPr>
          </a:p>
        </p:txBody>
      </p:sp>
      <p:sp>
        <p:nvSpPr>
          <p:cNvPr id="277" name="Marcador de número de diapositiva 3"/>
          <p:cNvSpPr/>
          <p:nvPr/>
        </p:nvSpPr>
        <p:spPr>
          <a:xfrm>
            <a:off x="8460000" y="5886000"/>
            <a:ext cx="6332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B6E90E73-7C8F-4B27-BBA5-633E8408D4A6}" type="slidenum">
              <a:rPr lang="es-CO" sz="1200" b="0" strike="noStrike" spc="-1">
                <a:solidFill>
                  <a:srgbClr val="FFFFFF"/>
                </a:solidFill>
                <a:latin typeface="Calibri"/>
                <a:ea typeface="DejaVu Sans"/>
              </a:rPr>
              <a:t>25</a:t>
            </a:fld>
            <a:endParaRPr lang="es-CO" sz="1200" b="0" strike="noStrike" spc="-1">
              <a:latin typeface="Arial"/>
            </a:endParaRPr>
          </a:p>
        </p:txBody>
      </p:sp>
      <p:sp>
        <p:nvSpPr>
          <p:cNvPr id="278" name="CuadroTexto 1"/>
          <p:cNvSpPr/>
          <p:nvPr/>
        </p:nvSpPr>
        <p:spPr>
          <a:xfrm>
            <a:off x="50400" y="5898240"/>
            <a:ext cx="553572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[18] J. </a:t>
            </a:r>
            <a:r>
              <a:rPr lang="es-MX" sz="670" b="0" strike="noStrike" spc="-1" dirty="0" err="1">
                <a:solidFill>
                  <a:srgbClr val="FFFFFF"/>
                </a:solidFill>
                <a:latin typeface="Arial"/>
                <a:ea typeface="DejaVu Sans"/>
              </a:rPr>
              <a:t>Enderle</a:t>
            </a:r>
            <a:r>
              <a:rPr lang="es-MX" sz="670" b="0" strike="noStrike" spc="-1" dirty="0">
                <a:solidFill>
                  <a:srgbClr val="FFFFFF"/>
                </a:solidFill>
                <a:latin typeface="Arial"/>
                <a:ea typeface="DejaVu Sans"/>
              </a:rPr>
              <a:t> and J. Bronzino. </a:t>
            </a:r>
            <a:r>
              <a:rPr lang="es-MX" sz="670" b="0" strike="noStrike" spc="-1" dirty="0" err="1">
                <a:solidFill>
                  <a:srgbClr val="FFFFFF"/>
                </a:solidFill>
                <a:latin typeface="Arial"/>
                <a:ea typeface="DejaVu Sans"/>
              </a:rPr>
              <a:t>Introduction</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to</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Biomedical</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Engineering</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Third</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edition</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Academic</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Press</a:t>
            </a:r>
            <a:r>
              <a:rPr lang="es-MX" sz="670" b="0" strike="noStrike" spc="-1" dirty="0">
                <a:solidFill>
                  <a:srgbClr val="FFFFFF"/>
                </a:solidFill>
                <a:latin typeface="Arial"/>
                <a:ea typeface="DejaVu Sans"/>
              </a:rPr>
              <a:t>. </a:t>
            </a:r>
            <a:r>
              <a:rPr lang="es-MX" sz="670" b="0" strike="noStrike" spc="-1" dirty="0" err="1">
                <a:solidFill>
                  <a:srgbClr val="FFFFFF"/>
                </a:solidFill>
                <a:latin typeface="Arial"/>
                <a:ea typeface="DejaVu Sans"/>
              </a:rPr>
              <a:t>Chp</a:t>
            </a:r>
            <a:r>
              <a:rPr lang="es-MX" sz="670" b="0" strike="noStrike" spc="-1" dirty="0">
                <a:solidFill>
                  <a:srgbClr val="FFFFFF"/>
                </a:solidFill>
                <a:latin typeface="Arial"/>
                <a:ea typeface="DejaVu Sans"/>
              </a:rPr>
              <a:t> 10.3.</a:t>
            </a:r>
            <a:endParaRPr lang="es-CO" sz="670" b="0" strike="noStrike" spc="-1" dirty="0">
              <a:latin typeface="Arial"/>
            </a:endParaRPr>
          </a:p>
        </p:txBody>
      </p:sp>
      <p:sp>
        <p:nvSpPr>
          <p:cNvPr id="279" name="Rectángulo: esquinas redondeadas 5"/>
          <p:cNvSpPr/>
          <p:nvPr/>
        </p:nvSpPr>
        <p:spPr>
          <a:xfrm>
            <a:off x="261360" y="2553480"/>
            <a:ext cx="1215360" cy="511200"/>
          </a:xfrm>
          <a:prstGeom prst="roundRect">
            <a:avLst>
              <a:gd name="adj" fmla="val 16667"/>
            </a:avLst>
          </a:prstGeom>
          <a:solidFill>
            <a:srgbClr val="FFFFFF"/>
          </a:solidFill>
          <a:ln>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600" b="0" strike="noStrike" spc="-1">
                <a:solidFill>
                  <a:srgbClr val="2C5697"/>
                </a:solidFill>
                <a:latin typeface="Calibri"/>
                <a:ea typeface="DejaVu Sans"/>
              </a:rPr>
              <a:t>Sensores biomédicos</a:t>
            </a:r>
            <a:endParaRPr lang="es-CO" sz="1600" b="0" strike="noStrike" spc="-1">
              <a:latin typeface="Arial"/>
            </a:endParaRPr>
          </a:p>
        </p:txBody>
      </p:sp>
      <p:sp>
        <p:nvSpPr>
          <p:cNvPr id="280" name="Rectángulo: esquinas redondeadas 6"/>
          <p:cNvSpPr/>
          <p:nvPr/>
        </p:nvSpPr>
        <p:spPr>
          <a:xfrm>
            <a:off x="2295360" y="94284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Medición de biopotenciales</a:t>
            </a:r>
            <a:endParaRPr lang="es-CO" sz="1200" b="0" strike="noStrike" spc="-1">
              <a:latin typeface="Arial"/>
            </a:endParaRPr>
          </a:p>
        </p:txBody>
      </p:sp>
      <p:sp>
        <p:nvSpPr>
          <p:cNvPr id="281" name="Rectángulo: esquinas redondeadas 7"/>
          <p:cNvSpPr/>
          <p:nvPr/>
        </p:nvSpPr>
        <p:spPr>
          <a:xfrm>
            <a:off x="4275720" y="443520"/>
            <a:ext cx="137952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Interface metal/electrodo</a:t>
            </a:r>
            <a:endParaRPr lang="es-CO" sz="1200" b="0" strike="noStrike" spc="-1">
              <a:latin typeface="Arial"/>
            </a:endParaRPr>
          </a:p>
        </p:txBody>
      </p:sp>
      <p:sp>
        <p:nvSpPr>
          <p:cNvPr id="282" name="Rectángulo: esquinas redondeadas 8"/>
          <p:cNvSpPr/>
          <p:nvPr/>
        </p:nvSpPr>
        <p:spPr>
          <a:xfrm>
            <a:off x="4252680" y="1051200"/>
            <a:ext cx="137952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Electrodos y microelectrodos</a:t>
            </a:r>
            <a:endParaRPr lang="es-CO" sz="1200" b="0" strike="noStrike" spc="-1">
              <a:latin typeface="Arial"/>
            </a:endParaRPr>
          </a:p>
        </p:txBody>
      </p:sp>
      <p:sp>
        <p:nvSpPr>
          <p:cNvPr id="283" name="Rectángulo: esquinas redondeadas 12"/>
          <p:cNvSpPr/>
          <p:nvPr/>
        </p:nvSpPr>
        <p:spPr>
          <a:xfrm>
            <a:off x="6139080" y="1047240"/>
            <a:ext cx="146880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ECG, EMG, EEG, etc.</a:t>
            </a:r>
            <a:endParaRPr lang="es-CO" sz="1200" b="0" strike="noStrike" spc="-1">
              <a:latin typeface="Arial"/>
            </a:endParaRPr>
          </a:p>
        </p:txBody>
      </p:sp>
      <p:sp>
        <p:nvSpPr>
          <p:cNvPr id="284" name="Rectángulo: esquinas redondeadas 13"/>
          <p:cNvSpPr/>
          <p:nvPr/>
        </p:nvSpPr>
        <p:spPr>
          <a:xfrm>
            <a:off x="2295360" y="199368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Mediciones físicas</a:t>
            </a:r>
            <a:endParaRPr lang="es-CO" sz="1200" b="0" strike="noStrike" spc="-1">
              <a:latin typeface="Arial"/>
            </a:endParaRPr>
          </a:p>
        </p:txBody>
      </p:sp>
      <p:sp>
        <p:nvSpPr>
          <p:cNvPr id="285" name="Rectángulo: esquinas redondeadas 14"/>
          <p:cNvSpPr/>
          <p:nvPr/>
        </p:nvSpPr>
        <p:spPr>
          <a:xfrm>
            <a:off x="4252680" y="3760920"/>
            <a:ext cx="2069280" cy="54936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Medidores de oxígeno, sensores de CO2, electrodos de pH</a:t>
            </a:r>
            <a:endParaRPr lang="es-CO" sz="1200" b="0" strike="noStrike" spc="-1">
              <a:latin typeface="Arial"/>
            </a:endParaRPr>
          </a:p>
        </p:txBody>
      </p:sp>
      <p:sp>
        <p:nvSpPr>
          <p:cNvPr id="286" name="Rectángulo: esquinas redondeadas 15"/>
          <p:cNvSpPr/>
          <p:nvPr/>
        </p:nvSpPr>
        <p:spPr>
          <a:xfrm>
            <a:off x="4252680" y="295776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Medición de temperatura</a:t>
            </a:r>
            <a:endParaRPr lang="es-CO" sz="1200" b="0" strike="noStrike" spc="-1">
              <a:latin typeface="Arial"/>
            </a:endParaRPr>
          </a:p>
        </p:txBody>
      </p:sp>
      <p:sp>
        <p:nvSpPr>
          <p:cNvPr id="287" name="Rectángulo: esquinas redondeadas 16"/>
          <p:cNvSpPr/>
          <p:nvPr/>
        </p:nvSpPr>
        <p:spPr>
          <a:xfrm>
            <a:off x="4217760" y="2219040"/>
            <a:ext cx="1603080" cy="51120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 Inductivos, de flujo electromagnético</a:t>
            </a:r>
            <a:endParaRPr lang="es-CO" sz="1200" b="0" strike="noStrike" spc="-1">
              <a:latin typeface="Arial"/>
            </a:endParaRPr>
          </a:p>
        </p:txBody>
      </p:sp>
      <p:sp>
        <p:nvSpPr>
          <p:cNvPr id="288" name="Rectángulo: esquinas redondeadas 18"/>
          <p:cNvSpPr/>
          <p:nvPr/>
        </p:nvSpPr>
        <p:spPr>
          <a:xfrm>
            <a:off x="4240800" y="1669680"/>
            <a:ext cx="137952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Transductores de desplazamiento</a:t>
            </a:r>
            <a:endParaRPr lang="es-CO" sz="1200" b="0" strike="noStrike" spc="-1">
              <a:latin typeface="Arial"/>
            </a:endParaRPr>
          </a:p>
        </p:txBody>
      </p:sp>
      <p:sp>
        <p:nvSpPr>
          <p:cNvPr id="289" name="Rectángulo: esquinas redondeadas 19"/>
          <p:cNvSpPr/>
          <p:nvPr/>
        </p:nvSpPr>
        <p:spPr>
          <a:xfrm>
            <a:off x="2179080" y="3851280"/>
            <a:ext cx="143100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Sensores de gases sanguíneos</a:t>
            </a:r>
            <a:endParaRPr lang="es-CO" sz="1200" b="0" strike="noStrike" spc="-1">
              <a:latin typeface="Arial"/>
            </a:endParaRPr>
          </a:p>
        </p:txBody>
      </p:sp>
      <p:sp>
        <p:nvSpPr>
          <p:cNvPr id="290" name="Rectángulo: esquinas redondeadas 20"/>
          <p:cNvSpPr/>
          <p:nvPr/>
        </p:nvSpPr>
        <p:spPr>
          <a:xfrm>
            <a:off x="4275720" y="5114880"/>
            <a:ext cx="1432800" cy="47376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Sensores de micromecanismos</a:t>
            </a:r>
            <a:endParaRPr lang="es-CO" sz="1200" b="0" strike="noStrike" spc="-1">
              <a:latin typeface="Arial"/>
            </a:endParaRPr>
          </a:p>
        </p:txBody>
      </p:sp>
      <p:sp>
        <p:nvSpPr>
          <p:cNvPr id="291" name="Rectángulo: esquinas redondeadas 21"/>
          <p:cNvSpPr/>
          <p:nvPr/>
        </p:nvSpPr>
        <p:spPr>
          <a:xfrm>
            <a:off x="6539040" y="1557720"/>
            <a:ext cx="186624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 Inductivos, de flujo electromagnético</a:t>
            </a:r>
            <a:endParaRPr lang="es-CO" sz="1200" b="0" strike="noStrike" spc="-1">
              <a:latin typeface="Arial"/>
            </a:endParaRPr>
          </a:p>
        </p:txBody>
      </p:sp>
      <p:sp>
        <p:nvSpPr>
          <p:cNvPr id="292" name="Rectángulo: esquinas redondeadas 22"/>
          <p:cNvSpPr/>
          <p:nvPr/>
        </p:nvSpPr>
        <p:spPr>
          <a:xfrm>
            <a:off x="6539040" y="2026080"/>
            <a:ext cx="129672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Potenciómetros, galgas</a:t>
            </a:r>
            <a:endParaRPr lang="es-CO" sz="1200" b="0" strike="noStrike" spc="-1">
              <a:latin typeface="Arial"/>
            </a:endParaRPr>
          </a:p>
        </p:txBody>
      </p:sp>
      <p:sp>
        <p:nvSpPr>
          <p:cNvPr id="293" name="Rectángulo: esquinas redondeadas 23"/>
          <p:cNvSpPr/>
          <p:nvPr/>
        </p:nvSpPr>
        <p:spPr>
          <a:xfrm>
            <a:off x="6539040" y="243324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 Capacitivos</a:t>
            </a:r>
            <a:endParaRPr lang="es-CO" sz="1200" b="0" strike="noStrike" spc="-1">
              <a:latin typeface="Arial"/>
            </a:endParaRPr>
          </a:p>
        </p:txBody>
      </p:sp>
      <p:sp>
        <p:nvSpPr>
          <p:cNvPr id="294" name="Rectángulo: esquinas redondeadas 24"/>
          <p:cNvSpPr/>
          <p:nvPr/>
        </p:nvSpPr>
        <p:spPr>
          <a:xfrm>
            <a:off x="6539040" y="2886120"/>
            <a:ext cx="143280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 Piezoeléctricos</a:t>
            </a:r>
            <a:endParaRPr lang="es-CO" sz="1200" b="0" strike="noStrike" spc="-1">
              <a:latin typeface="Arial"/>
            </a:endParaRPr>
          </a:p>
        </p:txBody>
      </p:sp>
      <p:sp>
        <p:nvSpPr>
          <p:cNvPr id="295" name="Rectángulo: esquinas redondeadas 25"/>
          <p:cNvSpPr/>
          <p:nvPr/>
        </p:nvSpPr>
        <p:spPr>
          <a:xfrm>
            <a:off x="6910200" y="3684600"/>
            <a:ext cx="151056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Termistores, termocuplas</a:t>
            </a:r>
            <a:endParaRPr lang="es-CO" sz="1200" b="0" strike="noStrike" spc="-1">
              <a:latin typeface="Arial"/>
            </a:endParaRPr>
          </a:p>
        </p:txBody>
      </p:sp>
      <p:sp>
        <p:nvSpPr>
          <p:cNvPr id="296" name="Rectángulo: esquinas redondeadas 26"/>
          <p:cNvSpPr/>
          <p:nvPr/>
        </p:nvSpPr>
        <p:spPr>
          <a:xfrm>
            <a:off x="2295360" y="456336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Sensores bioanalíticos</a:t>
            </a:r>
            <a:endParaRPr lang="es-CO" sz="1200" b="0" strike="noStrike" spc="-1">
              <a:latin typeface="Arial"/>
            </a:endParaRPr>
          </a:p>
        </p:txBody>
      </p:sp>
      <p:sp>
        <p:nvSpPr>
          <p:cNvPr id="297" name="Rectángulo: esquinas redondeadas 31"/>
          <p:cNvSpPr/>
          <p:nvPr/>
        </p:nvSpPr>
        <p:spPr>
          <a:xfrm>
            <a:off x="6711480" y="4520880"/>
            <a:ext cx="1866240" cy="52920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FO + Gases sanguíneos, FO + presión, FO + T°, etc</a:t>
            </a:r>
            <a:endParaRPr lang="es-CO" sz="1200" b="0" strike="noStrike" spc="-1">
              <a:latin typeface="Arial"/>
            </a:endParaRPr>
          </a:p>
        </p:txBody>
      </p:sp>
      <p:sp>
        <p:nvSpPr>
          <p:cNvPr id="298" name="Rectángulo: esquinas redondeadas 33"/>
          <p:cNvSpPr/>
          <p:nvPr/>
        </p:nvSpPr>
        <p:spPr>
          <a:xfrm>
            <a:off x="4252680" y="460116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Fibras ópticas</a:t>
            </a:r>
            <a:endParaRPr lang="es-CO" sz="1200" b="0" strike="noStrike" spc="-1">
              <a:latin typeface="Arial"/>
            </a:endParaRPr>
          </a:p>
        </p:txBody>
      </p:sp>
      <p:sp>
        <p:nvSpPr>
          <p:cNvPr id="299" name="Rectángulo: esquinas redondeadas 34"/>
          <p:cNvSpPr/>
          <p:nvPr/>
        </p:nvSpPr>
        <p:spPr>
          <a:xfrm>
            <a:off x="2295360" y="5092200"/>
            <a:ext cx="1198080" cy="368640"/>
          </a:xfrm>
          <a:prstGeom prst="roundRect">
            <a:avLst>
              <a:gd name="adj" fmla="val 16667"/>
            </a:avLst>
          </a:prstGeom>
          <a:solidFill>
            <a:srgbClr val="FFFFFF"/>
          </a:solidFill>
          <a:ln w="12700">
            <a:solidFill>
              <a:srgbClr val="4F81BD"/>
            </a:solidFill>
            <a:round/>
          </a:ln>
        </p:spPr>
        <p:style>
          <a:lnRef idx="2">
            <a:schemeClr val="accent1"/>
          </a:lnRef>
          <a:fillRef idx="1">
            <a:schemeClr val="lt1"/>
          </a:fillRef>
          <a:effectRef idx="0">
            <a:schemeClr val="accent1"/>
          </a:effectRef>
          <a:fontRef idx="minor"/>
        </p:style>
        <p:txBody>
          <a:bodyPr lIns="90000" tIns="45000" rIns="90000" bIns="45000" anchor="ctr">
            <a:noAutofit/>
          </a:bodyPr>
          <a:lstStyle/>
          <a:p>
            <a:pPr algn="ctr">
              <a:lnSpc>
                <a:spcPct val="100000"/>
              </a:lnSpc>
              <a:buNone/>
            </a:pPr>
            <a:r>
              <a:rPr lang="es-MX" sz="1200" b="0" strike="noStrike" spc="-1">
                <a:solidFill>
                  <a:srgbClr val="2C5697"/>
                </a:solidFill>
                <a:latin typeface="Calibri"/>
                <a:ea typeface="DejaVu Sans"/>
              </a:rPr>
              <a:t>Sensores ópticos</a:t>
            </a:r>
            <a:endParaRPr lang="es-CO" sz="1200" b="0" strike="noStrike" spc="-1">
              <a:latin typeface="Arial"/>
            </a:endParaRPr>
          </a:p>
        </p:txBody>
      </p:sp>
      <p:sp>
        <p:nvSpPr>
          <p:cNvPr id="300" name="Conector recto 36"/>
          <p:cNvSpPr/>
          <p:nvPr/>
        </p:nvSpPr>
        <p:spPr>
          <a:xfrm flipV="1">
            <a:off x="1477440" y="1127160"/>
            <a:ext cx="817920" cy="16819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1" name="Conector recto 37"/>
          <p:cNvSpPr/>
          <p:nvPr/>
        </p:nvSpPr>
        <p:spPr>
          <a:xfrm flipH="1" flipV="1">
            <a:off x="1477440" y="2809080"/>
            <a:ext cx="817920" cy="24678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2" name="Conector recto 38"/>
          <p:cNvSpPr/>
          <p:nvPr/>
        </p:nvSpPr>
        <p:spPr>
          <a:xfrm>
            <a:off x="1477440" y="2809080"/>
            <a:ext cx="817920" cy="19386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3" name="Conector recto 41"/>
          <p:cNvSpPr/>
          <p:nvPr/>
        </p:nvSpPr>
        <p:spPr>
          <a:xfrm flipV="1">
            <a:off x="1477440" y="2178360"/>
            <a:ext cx="817920" cy="6307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4" name="Conector recto 44"/>
          <p:cNvSpPr/>
          <p:nvPr/>
        </p:nvSpPr>
        <p:spPr>
          <a:xfrm>
            <a:off x="1477440" y="2809080"/>
            <a:ext cx="701280" cy="122688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5" name="Conector recto 49"/>
          <p:cNvSpPr/>
          <p:nvPr/>
        </p:nvSpPr>
        <p:spPr>
          <a:xfrm flipH="1">
            <a:off x="3494160" y="627840"/>
            <a:ext cx="781560" cy="4993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6" name="Conector recto 52"/>
          <p:cNvSpPr/>
          <p:nvPr/>
        </p:nvSpPr>
        <p:spPr>
          <a:xfrm flipH="1" flipV="1">
            <a:off x="3494160" y="1127160"/>
            <a:ext cx="758520" cy="108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7" name="Conector recto 59"/>
          <p:cNvSpPr/>
          <p:nvPr/>
        </p:nvSpPr>
        <p:spPr>
          <a:xfrm flipH="1">
            <a:off x="3494160" y="1854000"/>
            <a:ext cx="746280" cy="324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8" name="Conector recto 62"/>
          <p:cNvSpPr/>
          <p:nvPr/>
        </p:nvSpPr>
        <p:spPr>
          <a:xfrm flipH="1" flipV="1">
            <a:off x="3494160" y="2178360"/>
            <a:ext cx="723240" cy="29664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09" name="Conector recto 65"/>
          <p:cNvSpPr/>
          <p:nvPr/>
        </p:nvSpPr>
        <p:spPr>
          <a:xfrm flipV="1">
            <a:off x="5632920" y="1231560"/>
            <a:ext cx="505800" cy="39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0" name="Conector recto 66"/>
          <p:cNvSpPr/>
          <p:nvPr/>
        </p:nvSpPr>
        <p:spPr>
          <a:xfrm flipH="1" flipV="1">
            <a:off x="3494160" y="2178360"/>
            <a:ext cx="758520" cy="96408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1" name="Conector recto 71"/>
          <p:cNvSpPr/>
          <p:nvPr/>
        </p:nvSpPr>
        <p:spPr>
          <a:xfrm flipH="1">
            <a:off x="5620680" y="1742400"/>
            <a:ext cx="918000" cy="1116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2" name="Conector recto 74"/>
          <p:cNvSpPr/>
          <p:nvPr/>
        </p:nvSpPr>
        <p:spPr>
          <a:xfrm flipH="1" flipV="1">
            <a:off x="5620680" y="1854000"/>
            <a:ext cx="918000" cy="3564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3" name="Conector recto 77"/>
          <p:cNvSpPr/>
          <p:nvPr/>
        </p:nvSpPr>
        <p:spPr>
          <a:xfrm flipH="1" flipV="1">
            <a:off x="5620680" y="1854000"/>
            <a:ext cx="918000" cy="76392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4" name="Conector recto 80"/>
          <p:cNvSpPr/>
          <p:nvPr/>
        </p:nvSpPr>
        <p:spPr>
          <a:xfrm flipH="1" flipV="1">
            <a:off x="5620680" y="1854000"/>
            <a:ext cx="918000" cy="121680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5" name="Conector recto 83"/>
          <p:cNvSpPr/>
          <p:nvPr/>
        </p:nvSpPr>
        <p:spPr>
          <a:xfrm flipH="1" flipV="1">
            <a:off x="5451480" y="3142440"/>
            <a:ext cx="1458720" cy="72684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6" name="Conector recto 89"/>
          <p:cNvSpPr/>
          <p:nvPr/>
        </p:nvSpPr>
        <p:spPr>
          <a:xfrm flipH="1">
            <a:off x="3610800" y="4035960"/>
            <a:ext cx="64188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7" name="Conector recto 94"/>
          <p:cNvSpPr/>
          <p:nvPr/>
        </p:nvSpPr>
        <p:spPr>
          <a:xfrm flipH="1">
            <a:off x="3494160" y="4785840"/>
            <a:ext cx="758520" cy="49104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8" name="Conector recto 97"/>
          <p:cNvSpPr/>
          <p:nvPr/>
        </p:nvSpPr>
        <p:spPr>
          <a:xfrm flipH="1" flipV="1">
            <a:off x="3494160" y="5276880"/>
            <a:ext cx="781560" cy="7524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
        <p:nvSpPr>
          <p:cNvPr id="319" name="Conector recto 100"/>
          <p:cNvSpPr/>
          <p:nvPr/>
        </p:nvSpPr>
        <p:spPr>
          <a:xfrm flipH="1">
            <a:off x="5451480" y="4785840"/>
            <a:ext cx="1259640" cy="360"/>
          </a:xfrm>
          <a:prstGeom prst="line">
            <a:avLst/>
          </a:prstGeom>
          <a:ln>
            <a:solidFill>
              <a:srgbClr val="4A7EBB"/>
            </a:solidFill>
            <a:round/>
          </a:ln>
        </p:spPr>
        <p:style>
          <a:lnRef idx="1">
            <a:schemeClr val="accent1"/>
          </a:lnRef>
          <a:fillRef idx="0">
            <a:schemeClr val="accent1"/>
          </a:fillRef>
          <a:effectRef idx="0">
            <a:schemeClr val="accent1"/>
          </a:effectRef>
          <a:fontRef idx="minor"/>
        </p:style>
        <p:txBody>
          <a:bodyPr/>
          <a:lstStyle/>
          <a:p>
            <a:endParaRPr lang="es-CO"/>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125CD9-6444-A47B-322F-2D2FDA5DB279}"/>
            </a:ext>
          </a:extLst>
        </p:cNvPr>
        <p:cNvGrpSpPr/>
        <p:nvPr/>
      </p:nvGrpSpPr>
      <p:grpSpPr>
        <a:xfrm>
          <a:off x="0" y="0"/>
          <a:ext cx="0" cy="0"/>
          <a:chOff x="0" y="0"/>
          <a:chExt cx="0" cy="0"/>
        </a:xfrm>
      </p:grpSpPr>
      <p:pic>
        <p:nvPicPr>
          <p:cNvPr id="5" name="Imagen 4" descr="Diagrama&#10;&#10;El contenido generado por IA puede ser incorrecto.">
            <a:extLst>
              <a:ext uri="{FF2B5EF4-FFF2-40B4-BE49-F238E27FC236}">
                <a16:creationId xmlns:a16="http://schemas.microsoft.com/office/drawing/2014/main" id="{19FC354D-7DAF-66F3-300E-E9E1B3DAE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 y="617040"/>
            <a:ext cx="4537925" cy="4523587"/>
          </a:xfrm>
          <a:prstGeom prst="rect">
            <a:avLst/>
          </a:prstGeom>
        </p:spPr>
      </p:pic>
      <p:sp>
        <p:nvSpPr>
          <p:cNvPr id="320" name="Rectángulo 3">
            <a:extLst>
              <a:ext uri="{FF2B5EF4-FFF2-40B4-BE49-F238E27FC236}">
                <a16:creationId xmlns:a16="http://schemas.microsoft.com/office/drawing/2014/main" id="{BE178768-9E57-A494-F0AF-63B3C12E9297}"/>
              </a:ext>
            </a:extLst>
          </p:cNvPr>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321" name="Título 1">
            <a:extLst>
              <a:ext uri="{FF2B5EF4-FFF2-40B4-BE49-F238E27FC236}">
                <a16:creationId xmlns:a16="http://schemas.microsoft.com/office/drawing/2014/main" id="{B576DA93-ECD6-55F8-F82E-3FA39438DB6C}"/>
              </a:ext>
            </a:extLst>
          </p:cNvPr>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322" name="Rectángulo 6">
            <a:extLst>
              <a:ext uri="{FF2B5EF4-FFF2-40B4-BE49-F238E27FC236}">
                <a16:creationId xmlns:a16="http://schemas.microsoft.com/office/drawing/2014/main" id="{601648F9-D7DC-6CA7-4348-294B6341729A}"/>
              </a:ext>
            </a:extLst>
          </p:cNvPr>
          <p:cNvSpPr/>
          <p:nvPr/>
        </p:nvSpPr>
        <p:spPr>
          <a:xfrm>
            <a:off x="-2160" y="74520"/>
            <a:ext cx="7435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Sensores </a:t>
            </a:r>
            <a:r>
              <a:rPr lang="es-ES" sz="1800" b="1" strike="noStrike" spc="-1" dirty="0" err="1">
                <a:solidFill>
                  <a:srgbClr val="2C5697"/>
                </a:solidFill>
                <a:latin typeface="Arial"/>
                <a:ea typeface="DejaVu Sans"/>
              </a:rPr>
              <a:t>bioinspirados</a:t>
            </a:r>
            <a:endParaRPr lang="es-CO" sz="1800" b="0" strike="noStrike" spc="-1" dirty="0">
              <a:latin typeface="Arial"/>
            </a:endParaRPr>
          </a:p>
        </p:txBody>
      </p:sp>
      <p:sp>
        <p:nvSpPr>
          <p:cNvPr id="323" name="Marcador de número de diapositiva 3">
            <a:extLst>
              <a:ext uri="{FF2B5EF4-FFF2-40B4-BE49-F238E27FC236}">
                <a16:creationId xmlns:a16="http://schemas.microsoft.com/office/drawing/2014/main" id="{9AA36576-A067-13A6-1603-6B85407173EB}"/>
              </a:ext>
            </a:extLst>
          </p:cNvPr>
          <p:cNvSpPr/>
          <p:nvPr/>
        </p:nvSpPr>
        <p:spPr>
          <a:xfrm>
            <a:off x="8640000" y="5886000"/>
            <a:ext cx="45324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100000"/>
              </a:lnSpc>
              <a:buNone/>
            </a:pPr>
            <a:fld id="{325DB25A-2F89-4D0D-84FF-CEFEE0C0EA7F}" type="slidenum">
              <a:rPr lang="es-CO" sz="1200" b="0" strike="noStrike" spc="-1">
                <a:solidFill>
                  <a:srgbClr val="FFFFFF"/>
                </a:solidFill>
                <a:latin typeface="Calibri"/>
                <a:ea typeface="DejaVu Sans"/>
              </a:rPr>
              <a:t>26</a:t>
            </a:fld>
            <a:endParaRPr lang="es-CO" sz="1200" b="0" strike="noStrike" spc="-1">
              <a:latin typeface="Arial"/>
            </a:endParaRPr>
          </a:p>
        </p:txBody>
      </p:sp>
      <p:sp>
        <p:nvSpPr>
          <p:cNvPr id="324" name="CuadroTexto 1">
            <a:extLst>
              <a:ext uri="{FF2B5EF4-FFF2-40B4-BE49-F238E27FC236}">
                <a16:creationId xmlns:a16="http://schemas.microsoft.com/office/drawing/2014/main" id="{B8FC7803-F99F-DBF2-81D5-5F91B9A5BECD}"/>
              </a:ext>
            </a:extLst>
          </p:cNvPr>
          <p:cNvSpPr/>
          <p:nvPr/>
        </p:nvSpPr>
        <p:spPr>
          <a:xfrm>
            <a:off x="50400" y="5898240"/>
            <a:ext cx="5535720" cy="193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670" b="0" strike="noStrike" spc="-1" dirty="0">
                <a:solidFill>
                  <a:srgbClr val="FFFFFF"/>
                </a:solidFill>
                <a:latin typeface="Arial"/>
                <a:ea typeface="DejaVu Sans"/>
              </a:rPr>
              <a:t>[19] </a:t>
            </a:r>
            <a:r>
              <a:rPr lang="en-US" sz="670" spc="-1" dirty="0">
                <a:solidFill>
                  <a:srgbClr val="FFFFFF"/>
                </a:solidFill>
                <a:latin typeface="Arial"/>
              </a:rPr>
              <a:t>Kim, D., Min, J. and Ko, S.H. (2024), Recent Developments and Future Directions of Wearable Skin </a:t>
            </a:r>
            <a:r>
              <a:rPr lang="en-US" sz="670" spc="-1" dirty="0" err="1">
                <a:solidFill>
                  <a:srgbClr val="FFFFFF"/>
                </a:solidFill>
                <a:latin typeface="Arial"/>
              </a:rPr>
              <a:t>Biosignal</a:t>
            </a:r>
            <a:r>
              <a:rPr lang="en-US" sz="670" spc="-1" dirty="0">
                <a:solidFill>
                  <a:srgbClr val="FFFFFF"/>
                </a:solidFill>
                <a:latin typeface="Arial"/>
              </a:rPr>
              <a:t> Sensors</a:t>
            </a:r>
            <a:r>
              <a:rPr lang="es-MX" sz="670" spc="-1" dirty="0">
                <a:solidFill>
                  <a:srgbClr val="FFFFFF"/>
                </a:solidFill>
                <a:latin typeface="Arial"/>
              </a:rPr>
              <a:t>.</a:t>
            </a:r>
            <a:endParaRPr lang="es-CO" sz="670" spc="-1" dirty="0">
              <a:solidFill>
                <a:srgbClr val="FFFFFF"/>
              </a:solidFill>
              <a:latin typeface="Arial"/>
            </a:endParaRPr>
          </a:p>
        </p:txBody>
      </p:sp>
      <p:sp>
        <p:nvSpPr>
          <p:cNvPr id="328" name="Flecha: a la derecha 51">
            <a:extLst>
              <a:ext uri="{FF2B5EF4-FFF2-40B4-BE49-F238E27FC236}">
                <a16:creationId xmlns:a16="http://schemas.microsoft.com/office/drawing/2014/main" id="{9E49BA82-1731-3859-9B5C-0FF817010561}"/>
              </a:ext>
            </a:extLst>
          </p:cNvPr>
          <p:cNvSpPr/>
          <p:nvPr/>
        </p:nvSpPr>
        <p:spPr>
          <a:xfrm rot="2219400">
            <a:off x="3524344" y="4976186"/>
            <a:ext cx="531000" cy="203760"/>
          </a:xfrm>
          <a:prstGeom prst="right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pic>
        <p:nvPicPr>
          <p:cNvPr id="3" name="Imagen 2">
            <a:extLst>
              <a:ext uri="{FF2B5EF4-FFF2-40B4-BE49-F238E27FC236}">
                <a16:creationId xmlns:a16="http://schemas.microsoft.com/office/drawing/2014/main" id="{09548FAF-CA78-64E1-0D1F-9DA64515F6D1}"/>
              </a:ext>
            </a:extLst>
          </p:cNvPr>
          <p:cNvPicPr>
            <a:picLocks noChangeAspect="1"/>
          </p:cNvPicPr>
          <p:nvPr/>
        </p:nvPicPr>
        <p:blipFill>
          <a:blip r:embed="rId3"/>
          <a:stretch>
            <a:fillRect/>
          </a:stretch>
        </p:blipFill>
        <p:spPr>
          <a:xfrm>
            <a:off x="4137284" y="4244001"/>
            <a:ext cx="4978699" cy="1592319"/>
          </a:xfrm>
          <a:prstGeom prst="rect">
            <a:avLst/>
          </a:prstGeom>
        </p:spPr>
      </p:pic>
      <p:pic>
        <p:nvPicPr>
          <p:cNvPr id="7" name="Imagen 6" descr="Texto&#10;&#10;El contenido generado por IA puede ser incorrecto.">
            <a:extLst>
              <a:ext uri="{FF2B5EF4-FFF2-40B4-BE49-F238E27FC236}">
                <a16:creationId xmlns:a16="http://schemas.microsoft.com/office/drawing/2014/main" id="{F891FE69-62DF-78A2-6BFD-0940354B33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81666" y="617040"/>
            <a:ext cx="3558334" cy="3245971"/>
          </a:xfrm>
          <a:prstGeom prst="rect">
            <a:avLst/>
          </a:prstGeom>
        </p:spPr>
      </p:pic>
    </p:spTree>
    <p:extLst>
      <p:ext uri="{BB962C8B-B14F-4D97-AF65-F5344CB8AC3E}">
        <p14:creationId xmlns:p14="http://schemas.microsoft.com/office/powerpoint/2010/main" val="3615620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0" name="Rectángulo 3"/>
          <p:cNvSpPr/>
          <p:nvPr/>
        </p:nvSpPr>
        <p:spPr>
          <a:xfrm>
            <a:off x="261360" y="6076800"/>
            <a:ext cx="6510240" cy="570960"/>
          </a:xfrm>
          <a:prstGeom prst="rect">
            <a:avLst/>
          </a:prstGeom>
          <a:solidFill>
            <a:srgbClr val="2C5697"/>
          </a:solidFill>
          <a:ln>
            <a:solidFill>
              <a:srgbClr val="2C5697"/>
            </a:solidFill>
            <a:round/>
          </a:ln>
        </p:spPr>
        <p:style>
          <a:lnRef idx="2">
            <a:schemeClr val="accent1">
              <a:shade val="50000"/>
            </a:schemeClr>
          </a:lnRef>
          <a:fillRef idx="1">
            <a:schemeClr val="accent1"/>
          </a:fillRef>
          <a:effectRef idx="0">
            <a:schemeClr val="accent1"/>
          </a:effectRef>
          <a:fontRef idx="minor"/>
        </p:style>
        <p:txBody>
          <a:bodyPr/>
          <a:lstStyle/>
          <a:p>
            <a:endParaRPr lang="es-CO"/>
          </a:p>
        </p:txBody>
      </p:sp>
      <p:sp>
        <p:nvSpPr>
          <p:cNvPr id="321" name="Título 1"/>
          <p:cNvSpPr/>
          <p:nvPr/>
        </p:nvSpPr>
        <p:spPr>
          <a:xfrm>
            <a:off x="20160" y="6139440"/>
            <a:ext cx="4936320" cy="48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s-ES_tradnl" sz="1600" b="0" strike="noStrike" spc="-1">
                <a:solidFill>
                  <a:srgbClr val="FFFFFF"/>
                </a:solidFill>
                <a:latin typeface="Arial"/>
                <a:ea typeface="DejaVu Sans"/>
              </a:rPr>
              <a:t>Fundamentos de señales</a:t>
            </a:r>
            <a:endParaRPr lang="es-CO" sz="1600" b="0" strike="noStrike" spc="-1">
              <a:latin typeface="Arial"/>
            </a:endParaRPr>
          </a:p>
        </p:txBody>
      </p:sp>
      <p:sp>
        <p:nvSpPr>
          <p:cNvPr id="322" name="Rectángulo 6"/>
          <p:cNvSpPr/>
          <p:nvPr/>
        </p:nvSpPr>
        <p:spPr>
          <a:xfrm>
            <a:off x="-2160" y="74520"/>
            <a:ext cx="74354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1" strike="noStrike" spc="-1" dirty="0">
                <a:solidFill>
                  <a:srgbClr val="2C5697"/>
                </a:solidFill>
                <a:latin typeface="Arial"/>
                <a:ea typeface="DejaVu Sans"/>
              </a:rPr>
              <a:t>Referencias</a:t>
            </a:r>
            <a:endParaRPr lang="es-CO" sz="1800" b="0" strike="noStrike" spc="-1" dirty="0">
              <a:latin typeface="Arial"/>
            </a:endParaRPr>
          </a:p>
        </p:txBody>
      </p:sp>
      <p:sp>
        <p:nvSpPr>
          <p:cNvPr id="3" name="CuadroTexto 2">
            <a:extLst>
              <a:ext uri="{FF2B5EF4-FFF2-40B4-BE49-F238E27FC236}">
                <a16:creationId xmlns:a16="http://schemas.microsoft.com/office/drawing/2014/main" id="{62587F6B-94AF-20BD-79E8-95FEDA8C5948}"/>
              </a:ext>
            </a:extLst>
          </p:cNvPr>
          <p:cNvSpPr txBox="1"/>
          <p:nvPr/>
        </p:nvSpPr>
        <p:spPr>
          <a:xfrm>
            <a:off x="672696" y="1072984"/>
            <a:ext cx="7986672" cy="3962623"/>
          </a:xfrm>
          <a:prstGeom prst="rect">
            <a:avLst/>
          </a:prstGeom>
          <a:noFill/>
        </p:spPr>
        <p:txBody>
          <a:bodyPr wrap="square">
            <a:spAutoFit/>
          </a:bodyPr>
          <a:lstStyle/>
          <a:p>
            <a:r>
              <a:rPr lang="es-CO" sz="800" spc="-1" dirty="0"/>
              <a:t>[1] https://co.mouser.com/new/tektronix/tektronix-tbs2000b-oscilloscopes/?utm_source=chatgpt.com</a:t>
            </a:r>
          </a:p>
          <a:p>
            <a:r>
              <a:rPr lang="es-CO" sz="800" spc="-1" dirty="0"/>
              <a:t>[2] https://www7.uc.cl/sw_educ/neurociencias/html/048.html</a:t>
            </a:r>
          </a:p>
          <a:p>
            <a:r>
              <a:rPr lang="es-CO" sz="800" spc="-1" dirty="0"/>
              <a:t>[3] Pablo Alcalde San Miguel, Electrónica, 3ª edición, Editorial paraninfo, 2022.</a:t>
            </a:r>
          </a:p>
          <a:p>
            <a:r>
              <a:rPr lang="es-CO" sz="800" spc="-1" dirty="0"/>
              <a:t>[4] https://quecamarareflex.com/criterios-para-elegir-una-interfaz-de-audio/</a:t>
            </a:r>
          </a:p>
          <a:p>
            <a:r>
              <a:rPr lang="es-CO" sz="800" spc="-1" dirty="0"/>
              <a:t>[5] https://www.techsound.vn/blogs/news/tim-hieu-ve-dac-amp-va-tac-dung-toi-viec-trai-nghiem-am-nhac-qua-tai-n</a:t>
            </a:r>
          </a:p>
          <a:p>
            <a:r>
              <a:rPr lang="es-CO" sz="800" spc="-1" dirty="0"/>
              <a:t>[6] https://api.pageplace.de/preview/DT0400.9781498749923_A31472380/preview-9781498749923_A31472380.pdf</a:t>
            </a:r>
          </a:p>
          <a:p>
            <a:r>
              <a:rPr lang="es-CO" sz="800" spc="-1" dirty="0"/>
              <a:t>[7] Paul, </a:t>
            </a:r>
            <a:r>
              <a:rPr lang="es-CO" sz="800" spc="-1" dirty="0" err="1"/>
              <a:t>Sudip</a:t>
            </a:r>
            <a:r>
              <a:rPr lang="es-CO" sz="800" spc="-1" dirty="0"/>
              <a:t>; </a:t>
            </a:r>
            <a:r>
              <a:rPr lang="es-CO" sz="800" spc="-1" dirty="0" err="1"/>
              <a:t>Saikia</a:t>
            </a:r>
            <a:r>
              <a:rPr lang="es-CO" sz="800" spc="-1" dirty="0"/>
              <a:t>, </a:t>
            </a:r>
            <a:r>
              <a:rPr lang="es-CO" sz="800" spc="-1" dirty="0" err="1"/>
              <a:t>Angana</a:t>
            </a:r>
            <a:r>
              <a:rPr lang="es-CO" sz="800" spc="-1" dirty="0"/>
              <a:t>; </a:t>
            </a:r>
            <a:r>
              <a:rPr lang="es-CO" sz="800" spc="-1" dirty="0" err="1"/>
              <a:t>Majhi</a:t>
            </a:r>
            <a:r>
              <a:rPr lang="es-CO" sz="800" spc="-1" dirty="0"/>
              <a:t>, </a:t>
            </a:r>
            <a:r>
              <a:rPr lang="es-CO" sz="800" spc="-1" dirty="0" err="1"/>
              <a:t>Vinayak</a:t>
            </a:r>
            <a:r>
              <a:rPr lang="es-CO" sz="800" spc="-1" dirty="0"/>
              <a:t>; Pandey, </a:t>
            </a:r>
            <a:r>
              <a:rPr lang="es-CO" sz="800" spc="-1" dirty="0" err="1"/>
              <a:t>Vinay</a:t>
            </a:r>
            <a:r>
              <a:rPr lang="es-CO" sz="800" spc="-1" dirty="0"/>
              <a:t> Kumar (2022). </a:t>
            </a:r>
            <a:r>
              <a:rPr lang="es-CO" sz="800" spc="-1" dirty="0" err="1"/>
              <a:t>Introduction</a:t>
            </a:r>
            <a:r>
              <a:rPr lang="es-CO" sz="800" spc="-1" dirty="0"/>
              <a:t> </a:t>
            </a:r>
            <a:r>
              <a:rPr lang="es-CO" sz="800" spc="-1" dirty="0" err="1"/>
              <a:t>to</a:t>
            </a:r>
            <a:r>
              <a:rPr lang="es-CO" sz="800" spc="-1" dirty="0"/>
              <a:t> </a:t>
            </a:r>
            <a:r>
              <a:rPr lang="es-CO" sz="800" spc="-1" dirty="0" err="1"/>
              <a:t>Biomedical</a:t>
            </a:r>
            <a:r>
              <a:rPr lang="es-CO" sz="800" spc="-1" dirty="0"/>
              <a:t> </a:t>
            </a:r>
            <a:r>
              <a:rPr lang="es-CO" sz="800" spc="-1" dirty="0" err="1"/>
              <a:t>Instrumentation</a:t>
            </a:r>
            <a:r>
              <a:rPr lang="es-CO" sz="800" spc="-1" dirty="0"/>
              <a:t> and </a:t>
            </a:r>
            <a:r>
              <a:rPr lang="es-CO" sz="800" spc="-1" dirty="0" err="1"/>
              <a:t>Its</a:t>
            </a:r>
            <a:r>
              <a:rPr lang="es-CO" sz="800" spc="-1" dirty="0"/>
              <a:t> </a:t>
            </a:r>
            <a:r>
              <a:rPr lang="es-CO" sz="800" spc="-1" dirty="0" err="1"/>
              <a:t>Applications</a:t>
            </a:r>
            <a:r>
              <a:rPr lang="es-CO" sz="800" spc="-1" dirty="0"/>
              <a:t>. Elsevier </a:t>
            </a:r>
            <a:r>
              <a:rPr lang="es-CO" sz="800" spc="-1" dirty="0" err="1"/>
              <a:t>Science</a:t>
            </a:r>
            <a:r>
              <a:rPr lang="es-CO" sz="800" spc="-1" dirty="0"/>
              <a:t>.</a:t>
            </a:r>
          </a:p>
          <a:p>
            <a:r>
              <a:rPr lang="es-CO" sz="800" spc="-1" dirty="0"/>
              <a:t>[8] Huang, G., Chen, X., &amp; </a:t>
            </a:r>
            <a:r>
              <a:rPr lang="es-CO" sz="800" spc="-1" dirty="0" err="1"/>
              <a:t>Liao</a:t>
            </a:r>
            <a:r>
              <a:rPr lang="es-CO" sz="800" spc="-1" dirty="0"/>
              <a:t>, C. (2025). AI-</a:t>
            </a:r>
            <a:r>
              <a:rPr lang="es-CO" sz="800" spc="-1" dirty="0" err="1"/>
              <a:t>Driven</a:t>
            </a:r>
            <a:r>
              <a:rPr lang="es-CO" sz="800" spc="-1" dirty="0"/>
              <a:t> Wearable </a:t>
            </a:r>
            <a:r>
              <a:rPr lang="es-CO" sz="800" spc="-1" dirty="0" err="1"/>
              <a:t>Bioelectronics</a:t>
            </a:r>
            <a:r>
              <a:rPr lang="es-CO" sz="800" spc="-1" dirty="0"/>
              <a:t> in Digital </a:t>
            </a:r>
            <a:r>
              <a:rPr lang="es-CO" sz="800" spc="-1" dirty="0" err="1"/>
              <a:t>Healthcare</a:t>
            </a:r>
            <a:r>
              <a:rPr lang="es-CO" sz="800" spc="-1" dirty="0"/>
              <a:t>. </a:t>
            </a:r>
            <a:r>
              <a:rPr lang="es-CO" sz="800" spc="-1" dirty="0" err="1"/>
              <a:t>Biosensors</a:t>
            </a:r>
            <a:r>
              <a:rPr lang="es-CO" sz="800" spc="-1" dirty="0"/>
              <a:t>, 15(7), 410. https://doi.org/10.3390/bios15070410 </a:t>
            </a:r>
          </a:p>
          <a:p>
            <a:r>
              <a:rPr lang="es-CO" sz="800" spc="-1" dirty="0"/>
              <a:t>[9] </a:t>
            </a:r>
            <a:r>
              <a:rPr lang="es-CO" sz="800" spc="-1" dirty="0" err="1"/>
              <a:t>Feher</a:t>
            </a:r>
            <a:r>
              <a:rPr lang="es-CO" sz="800" spc="-1" dirty="0"/>
              <a:t> - </a:t>
            </a:r>
            <a:r>
              <a:rPr lang="es-CO" sz="800" spc="-1" dirty="0" err="1"/>
              <a:t>Quantitative</a:t>
            </a:r>
            <a:r>
              <a:rPr lang="es-CO" sz="800" spc="-1" dirty="0"/>
              <a:t> Human </a:t>
            </a:r>
            <a:r>
              <a:rPr lang="es-CO" sz="800" spc="-1" dirty="0" err="1"/>
              <a:t>Physiology</a:t>
            </a:r>
            <a:r>
              <a:rPr lang="es-CO" sz="800" spc="-1" dirty="0"/>
              <a:t> - </a:t>
            </a:r>
            <a:r>
              <a:rPr lang="es-CO" sz="800" spc="-1" dirty="0" err="1"/>
              <a:t>Unit</a:t>
            </a:r>
            <a:r>
              <a:rPr lang="es-CO" sz="800" spc="-1" dirty="0"/>
              <a:t> 5 </a:t>
            </a:r>
            <a:r>
              <a:rPr lang="es-CO" sz="800" spc="-1" dirty="0" err="1"/>
              <a:t>Physical</a:t>
            </a:r>
            <a:r>
              <a:rPr lang="es-CO" sz="800" spc="-1" dirty="0"/>
              <a:t> and Chemical </a:t>
            </a:r>
            <a:r>
              <a:rPr lang="es-CO" sz="800" spc="-1" dirty="0" err="1"/>
              <a:t>Foundations</a:t>
            </a:r>
            <a:r>
              <a:rPr lang="es-CO" sz="800" spc="-1" dirty="0"/>
              <a:t> </a:t>
            </a:r>
            <a:r>
              <a:rPr lang="es-CO" sz="800" spc="-1" dirty="0" err="1"/>
              <a:t>of</a:t>
            </a:r>
            <a:r>
              <a:rPr lang="es-CO" sz="800" spc="-1" dirty="0"/>
              <a:t> </a:t>
            </a:r>
            <a:r>
              <a:rPr lang="es-CO" sz="800" spc="-1" dirty="0" err="1"/>
              <a:t>Physiology</a:t>
            </a:r>
            <a:endParaRPr lang="es-CO" sz="800" spc="-1" dirty="0"/>
          </a:p>
          <a:p>
            <a:r>
              <a:rPr lang="es-CO" sz="800" spc="-1" dirty="0"/>
              <a:t>[10] </a:t>
            </a:r>
            <a:r>
              <a:rPr lang="es-CO" sz="800" spc="-1" dirty="0" err="1"/>
              <a:t>Jaakko</a:t>
            </a:r>
            <a:r>
              <a:rPr lang="es-CO" sz="800" spc="-1" dirty="0"/>
              <a:t> </a:t>
            </a:r>
            <a:r>
              <a:rPr lang="es-CO" sz="800" spc="-1" dirty="0" err="1"/>
              <a:t>Malmivuo</a:t>
            </a:r>
            <a:r>
              <a:rPr lang="es-CO" sz="800" spc="-1" dirty="0"/>
              <a:t> &amp; Robert </a:t>
            </a:r>
            <a:r>
              <a:rPr lang="es-CO" sz="800" spc="-1" dirty="0" err="1"/>
              <a:t>Plonsey</a:t>
            </a:r>
            <a:r>
              <a:rPr lang="es-CO" sz="800" spc="-1" dirty="0"/>
              <a:t>: </a:t>
            </a:r>
            <a:r>
              <a:rPr lang="es-CO" sz="800" spc="-1" dirty="0" err="1"/>
              <a:t>Bioelectromagnetism</a:t>
            </a:r>
            <a:r>
              <a:rPr lang="es-CO" sz="800" spc="-1" dirty="0"/>
              <a:t> - </a:t>
            </a:r>
            <a:r>
              <a:rPr lang="es-CO" sz="800" spc="-1" dirty="0" err="1"/>
              <a:t>Principles</a:t>
            </a:r>
            <a:r>
              <a:rPr lang="es-CO" sz="800" spc="-1" dirty="0"/>
              <a:t> and </a:t>
            </a:r>
            <a:r>
              <a:rPr lang="es-CO" sz="800" spc="-1" dirty="0" err="1"/>
              <a:t>Applications</a:t>
            </a:r>
            <a:r>
              <a:rPr lang="es-CO" sz="800" spc="-1" dirty="0"/>
              <a:t> </a:t>
            </a:r>
            <a:r>
              <a:rPr lang="es-CO" sz="800" spc="-1" dirty="0" err="1"/>
              <a:t>of</a:t>
            </a:r>
            <a:r>
              <a:rPr lang="es-CO" sz="800" spc="-1" dirty="0"/>
              <a:t> </a:t>
            </a:r>
            <a:r>
              <a:rPr lang="es-CO" sz="800" spc="-1" dirty="0" err="1"/>
              <a:t>Bioelectric</a:t>
            </a:r>
            <a:r>
              <a:rPr lang="es-CO" sz="800" spc="-1" dirty="0"/>
              <a:t> and </a:t>
            </a:r>
            <a:r>
              <a:rPr lang="es-CO" sz="800" spc="-1" dirty="0" err="1"/>
              <a:t>Biomagnetic</a:t>
            </a:r>
            <a:r>
              <a:rPr lang="es-CO" sz="800" spc="-1" dirty="0"/>
              <a:t> </a:t>
            </a:r>
            <a:r>
              <a:rPr lang="es-CO" sz="800" spc="-1" dirty="0" err="1"/>
              <a:t>Fields</a:t>
            </a:r>
            <a:r>
              <a:rPr lang="es-CO" sz="800" spc="-1" dirty="0"/>
              <a:t>, web: https://www.kenrico.com/media/bembook/06/06.htm</a:t>
            </a:r>
          </a:p>
          <a:p>
            <a:r>
              <a:rPr lang="es-CO" sz="800" spc="-1" dirty="0"/>
              <a:t>[11] </a:t>
            </a:r>
            <a:r>
              <a:rPr lang="es-CO" sz="800" spc="-1" dirty="0" err="1"/>
              <a:t>Analysis</a:t>
            </a:r>
            <a:r>
              <a:rPr lang="es-CO" sz="800" spc="-1" dirty="0"/>
              <a:t> and </a:t>
            </a:r>
            <a:r>
              <a:rPr lang="es-CO" sz="800" spc="-1" dirty="0" err="1"/>
              <a:t>Application</a:t>
            </a:r>
            <a:r>
              <a:rPr lang="es-CO" sz="800" spc="-1" dirty="0"/>
              <a:t> </a:t>
            </a:r>
            <a:r>
              <a:rPr lang="es-CO" sz="800" spc="-1" dirty="0" err="1"/>
              <a:t>of</a:t>
            </a:r>
            <a:r>
              <a:rPr lang="es-CO" sz="800" spc="-1" dirty="0"/>
              <a:t> </a:t>
            </a:r>
            <a:r>
              <a:rPr lang="es-CO" sz="800" spc="-1" dirty="0" err="1"/>
              <a:t>Analog</a:t>
            </a:r>
            <a:r>
              <a:rPr lang="es-CO" sz="800" spc="-1" dirty="0"/>
              <a:t> Electronic </a:t>
            </a:r>
            <a:r>
              <a:rPr lang="es-CO" sz="800" spc="-1" dirty="0" err="1"/>
              <a:t>Circuits</a:t>
            </a:r>
            <a:r>
              <a:rPr lang="es-CO" sz="800" spc="-1" dirty="0"/>
              <a:t> </a:t>
            </a:r>
            <a:r>
              <a:rPr lang="es-CO" sz="800" spc="-1" dirty="0" err="1"/>
              <a:t>to</a:t>
            </a:r>
            <a:r>
              <a:rPr lang="es-CO" sz="800" spc="-1" dirty="0"/>
              <a:t> </a:t>
            </a:r>
            <a:r>
              <a:rPr lang="es-CO" sz="800" spc="-1" dirty="0" err="1"/>
              <a:t>Biomedical</a:t>
            </a:r>
            <a:r>
              <a:rPr lang="es-CO" sz="800" spc="-1" dirty="0"/>
              <a:t> </a:t>
            </a:r>
            <a:r>
              <a:rPr lang="es-CO" sz="800" spc="-1" dirty="0" err="1"/>
              <a:t>Instrumentation</a:t>
            </a:r>
            <a:endParaRPr lang="es-CO" sz="800" spc="-1" dirty="0"/>
          </a:p>
          <a:p>
            <a:r>
              <a:rPr lang="es-CO" sz="800" spc="-1" dirty="0"/>
              <a:t>[12] AI-</a:t>
            </a:r>
            <a:r>
              <a:rPr lang="es-CO" sz="800" spc="-1" dirty="0" err="1"/>
              <a:t>Driven</a:t>
            </a:r>
            <a:r>
              <a:rPr lang="es-CO" sz="800" spc="-1" dirty="0"/>
              <a:t> Wearable </a:t>
            </a:r>
            <a:r>
              <a:rPr lang="es-CO" sz="800" spc="-1" dirty="0" err="1"/>
              <a:t>Bioelectronics</a:t>
            </a:r>
            <a:r>
              <a:rPr lang="es-CO" sz="800" spc="-1" dirty="0"/>
              <a:t> in Digital </a:t>
            </a:r>
            <a:r>
              <a:rPr lang="es-CO" sz="800" spc="-1" dirty="0" err="1"/>
              <a:t>Healthcare</a:t>
            </a:r>
            <a:endParaRPr lang="es-CO" sz="800" spc="-1" dirty="0"/>
          </a:p>
          <a:p>
            <a:r>
              <a:rPr lang="es-CO" sz="800" spc="-1" dirty="0"/>
              <a:t>[13] </a:t>
            </a:r>
            <a:r>
              <a:rPr lang="es-CO" sz="800" spc="-1" dirty="0" err="1"/>
              <a:t>Kershenbaum</a:t>
            </a:r>
            <a:r>
              <a:rPr lang="es-CO" sz="800" spc="-1" dirty="0"/>
              <a:t> A, </a:t>
            </a:r>
            <a:r>
              <a:rPr lang="es-CO" sz="800" spc="-1" dirty="0" err="1"/>
              <a:t>Akçay</a:t>
            </a:r>
            <a:r>
              <a:rPr lang="es-CO" sz="800" spc="-1" dirty="0"/>
              <a:t> Ç, </a:t>
            </a:r>
            <a:r>
              <a:rPr lang="es-CO" sz="800" spc="-1" dirty="0" err="1"/>
              <a:t>Babu-Saheer</a:t>
            </a:r>
            <a:r>
              <a:rPr lang="es-CO" sz="800" spc="-1" dirty="0"/>
              <a:t> L, </a:t>
            </a:r>
            <a:r>
              <a:rPr lang="es-CO" sz="800" spc="-1" dirty="0" err="1"/>
              <a:t>Barnhill</a:t>
            </a:r>
            <a:r>
              <a:rPr lang="es-CO" sz="800" spc="-1" dirty="0"/>
              <a:t> A, </a:t>
            </a:r>
            <a:r>
              <a:rPr lang="es-CO" sz="800" spc="-1" dirty="0" err="1"/>
              <a:t>Best</a:t>
            </a:r>
            <a:r>
              <a:rPr lang="es-CO" sz="800" spc="-1" dirty="0"/>
              <a:t> P, </a:t>
            </a:r>
            <a:r>
              <a:rPr lang="es-CO" sz="800" spc="-1" dirty="0" err="1"/>
              <a:t>Cauzinille</a:t>
            </a:r>
            <a:r>
              <a:rPr lang="es-CO" sz="800" spc="-1" dirty="0"/>
              <a:t> J, </a:t>
            </a:r>
            <a:r>
              <a:rPr lang="es-CO" sz="800" spc="-1" dirty="0" err="1"/>
              <a:t>Clink</a:t>
            </a:r>
            <a:r>
              <a:rPr lang="es-CO" sz="800" spc="-1" dirty="0"/>
              <a:t> D, </a:t>
            </a:r>
            <a:r>
              <a:rPr lang="es-CO" sz="800" spc="-1" dirty="0" err="1"/>
              <a:t>Dassow</a:t>
            </a:r>
            <a:r>
              <a:rPr lang="es-CO" sz="800" spc="-1" dirty="0"/>
              <a:t> A, </a:t>
            </a:r>
            <a:r>
              <a:rPr lang="es-CO" sz="800" spc="-1" dirty="0" err="1"/>
              <a:t>Dufourq</a:t>
            </a:r>
            <a:r>
              <a:rPr lang="es-CO" sz="800" spc="-1" dirty="0"/>
              <a:t> E, </a:t>
            </a:r>
            <a:r>
              <a:rPr lang="es-CO" sz="800" spc="-1" dirty="0" err="1"/>
              <a:t>Growcott</a:t>
            </a:r>
            <a:r>
              <a:rPr lang="es-CO" sz="800" spc="-1" dirty="0"/>
              <a:t> J, Markham A, </a:t>
            </a:r>
            <a:r>
              <a:rPr lang="es-CO" sz="800" spc="-1" dirty="0" err="1"/>
              <a:t>Marti-Domken</a:t>
            </a:r>
            <a:r>
              <a:rPr lang="es-CO" sz="800" spc="-1" dirty="0"/>
              <a:t> B, </a:t>
            </a:r>
            <a:r>
              <a:rPr lang="es-CO" sz="800" spc="-1" dirty="0" err="1"/>
              <a:t>Marxer</a:t>
            </a:r>
            <a:r>
              <a:rPr lang="es-CO" sz="800" spc="-1" dirty="0"/>
              <a:t> R, Muir J, Reynolds S, </a:t>
            </a:r>
            <a:r>
              <a:rPr lang="es-CO" sz="800" spc="-1" dirty="0" err="1"/>
              <a:t>Root-Gutteridge</a:t>
            </a:r>
            <a:r>
              <a:rPr lang="es-CO" sz="800" spc="-1" dirty="0"/>
              <a:t> H, </a:t>
            </a:r>
            <a:r>
              <a:rPr lang="es-CO" sz="800" spc="-1" dirty="0" err="1"/>
              <a:t>Sadhukhan</a:t>
            </a:r>
            <a:r>
              <a:rPr lang="es-CO" sz="800" spc="-1" dirty="0"/>
              <a:t> S, Schindler L, Smith BR, </a:t>
            </a:r>
            <a:r>
              <a:rPr lang="es-CO" sz="800" spc="-1" dirty="0" err="1"/>
              <a:t>Stowell</a:t>
            </a:r>
            <a:r>
              <a:rPr lang="es-CO" sz="800" spc="-1" dirty="0"/>
              <a:t> D, </a:t>
            </a:r>
            <a:r>
              <a:rPr lang="es-CO" sz="800" spc="-1" dirty="0" err="1"/>
              <a:t>Wascher</a:t>
            </a:r>
            <a:r>
              <a:rPr lang="es-CO" sz="800" spc="-1" dirty="0"/>
              <a:t> CAF, Dunn JC. </a:t>
            </a:r>
            <a:r>
              <a:rPr lang="es-CO" sz="800" spc="-1" dirty="0" err="1"/>
              <a:t>Automatic</a:t>
            </a:r>
            <a:r>
              <a:rPr lang="es-CO" sz="800" spc="-1" dirty="0"/>
              <a:t> </a:t>
            </a:r>
            <a:r>
              <a:rPr lang="es-CO" sz="800" spc="-1" dirty="0" err="1"/>
              <a:t>detection</a:t>
            </a:r>
            <a:r>
              <a:rPr lang="es-CO" sz="800" spc="-1" dirty="0"/>
              <a:t> </a:t>
            </a:r>
            <a:r>
              <a:rPr lang="es-CO" sz="800" spc="-1" dirty="0" err="1"/>
              <a:t>for</a:t>
            </a:r>
            <a:r>
              <a:rPr lang="es-CO" sz="800" spc="-1" dirty="0"/>
              <a:t> </a:t>
            </a:r>
            <a:r>
              <a:rPr lang="es-CO" sz="800" spc="-1" dirty="0" err="1"/>
              <a:t>bioacoustic</a:t>
            </a:r>
            <a:r>
              <a:rPr lang="es-CO" sz="800" spc="-1" dirty="0"/>
              <a:t> </a:t>
            </a:r>
            <a:r>
              <a:rPr lang="es-CO" sz="800" spc="-1" dirty="0" err="1"/>
              <a:t>research</a:t>
            </a:r>
            <a:r>
              <a:rPr lang="es-CO" sz="800" spc="-1" dirty="0"/>
              <a:t>: a </a:t>
            </a:r>
            <a:r>
              <a:rPr lang="es-CO" sz="800" spc="-1" dirty="0" err="1"/>
              <a:t>practical</a:t>
            </a:r>
            <a:r>
              <a:rPr lang="es-CO" sz="800" spc="-1" dirty="0"/>
              <a:t> guide </a:t>
            </a:r>
            <a:r>
              <a:rPr lang="es-CO" sz="800" spc="-1" dirty="0" err="1"/>
              <a:t>from</a:t>
            </a:r>
            <a:r>
              <a:rPr lang="es-CO" sz="800" spc="-1" dirty="0"/>
              <a:t> and </a:t>
            </a:r>
            <a:r>
              <a:rPr lang="es-CO" sz="800" spc="-1" dirty="0" err="1"/>
              <a:t>for</a:t>
            </a:r>
            <a:r>
              <a:rPr lang="es-CO" sz="800" spc="-1" dirty="0"/>
              <a:t> </a:t>
            </a:r>
            <a:r>
              <a:rPr lang="es-CO" sz="800" spc="-1" dirty="0" err="1"/>
              <a:t>biologists</a:t>
            </a:r>
            <a:r>
              <a:rPr lang="es-CO" sz="800" spc="-1" dirty="0"/>
              <a:t> and </a:t>
            </a:r>
            <a:r>
              <a:rPr lang="es-CO" sz="800" spc="-1" dirty="0" err="1"/>
              <a:t>computer</a:t>
            </a:r>
            <a:r>
              <a:rPr lang="es-CO" sz="800" spc="-1" dirty="0"/>
              <a:t> </a:t>
            </a:r>
            <a:r>
              <a:rPr lang="es-CO" sz="800" spc="-1" dirty="0" err="1"/>
              <a:t>scientists</a:t>
            </a:r>
            <a:r>
              <a:rPr lang="es-CO" sz="800" spc="-1" dirty="0"/>
              <a:t>. </a:t>
            </a:r>
            <a:r>
              <a:rPr lang="es-CO" sz="800" spc="-1" dirty="0" err="1"/>
              <a:t>Biol</a:t>
            </a:r>
            <a:r>
              <a:rPr lang="es-CO" sz="800" spc="-1" dirty="0"/>
              <a:t> </a:t>
            </a:r>
            <a:r>
              <a:rPr lang="es-CO" sz="800" spc="-1" dirty="0" err="1"/>
              <a:t>Rev</a:t>
            </a:r>
            <a:r>
              <a:rPr lang="es-CO" sz="800" spc="-1" dirty="0"/>
              <a:t> </a:t>
            </a:r>
            <a:r>
              <a:rPr lang="es-CO" sz="800" spc="-1" dirty="0" err="1"/>
              <a:t>Camb</a:t>
            </a:r>
            <a:r>
              <a:rPr lang="es-CO" sz="800" spc="-1" dirty="0"/>
              <a:t> </a:t>
            </a:r>
            <a:r>
              <a:rPr lang="es-CO" sz="800" spc="-1" dirty="0" err="1"/>
              <a:t>Philos</a:t>
            </a:r>
            <a:r>
              <a:rPr lang="es-CO" sz="800" spc="-1" dirty="0"/>
              <a:t> Soc. 2025 Apr;100(2):620-646. </a:t>
            </a:r>
            <a:r>
              <a:rPr lang="es-CO" sz="800" spc="-1" dirty="0" err="1"/>
              <a:t>doi</a:t>
            </a:r>
            <a:r>
              <a:rPr lang="es-CO" sz="800" spc="-1" dirty="0"/>
              <a:t>: 10.1111/brv.13155. </a:t>
            </a:r>
            <a:r>
              <a:rPr lang="es-CO" sz="800" spc="-1" dirty="0" err="1"/>
              <a:t>Epub</a:t>
            </a:r>
            <a:r>
              <a:rPr lang="es-CO" sz="800" spc="-1" dirty="0"/>
              <a:t> 2024 Oct 17. PMID: 39417330; PMCID: PMC11885706.</a:t>
            </a:r>
          </a:p>
          <a:p>
            <a:r>
              <a:rPr lang="es-CO" sz="800" spc="-1" dirty="0"/>
              <a:t>[14] Ahmad, L., </a:t>
            </a:r>
            <a:r>
              <a:rPr lang="es-CO" sz="800" spc="-1" dirty="0" err="1"/>
              <a:t>Mahdi</a:t>
            </a:r>
            <a:r>
              <a:rPr lang="es-CO" sz="800" spc="-1" dirty="0"/>
              <a:t>, S.S. (2018). Tool and Technologies in </a:t>
            </a:r>
            <a:r>
              <a:rPr lang="es-CO" sz="800" spc="-1" dirty="0" err="1"/>
              <a:t>Precision</a:t>
            </a:r>
            <a:r>
              <a:rPr lang="es-CO" sz="800" spc="-1" dirty="0"/>
              <a:t> </a:t>
            </a:r>
            <a:r>
              <a:rPr lang="es-CO" sz="800" spc="-1" dirty="0" err="1"/>
              <a:t>Agriculture</a:t>
            </a:r>
            <a:r>
              <a:rPr lang="es-CO" sz="800" spc="-1" dirty="0"/>
              <a:t>. In: </a:t>
            </a:r>
            <a:r>
              <a:rPr lang="es-CO" sz="800" spc="-1" dirty="0" err="1"/>
              <a:t>Satellite</a:t>
            </a:r>
            <a:r>
              <a:rPr lang="es-CO" sz="800" spc="-1" dirty="0"/>
              <a:t> </a:t>
            </a:r>
            <a:r>
              <a:rPr lang="es-CO" sz="800" spc="-1" dirty="0" err="1"/>
              <a:t>Farming</a:t>
            </a:r>
            <a:r>
              <a:rPr lang="es-CO" sz="800" spc="-1" dirty="0"/>
              <a:t>. Springer, Cham. https://doi.org/10.1007/978-3-030-03448-1_3</a:t>
            </a:r>
          </a:p>
          <a:p>
            <a:r>
              <a:rPr lang="es-CO" sz="800" spc="-1" dirty="0"/>
              <a:t>[15] </a:t>
            </a:r>
            <a:r>
              <a:rPr lang="es-CO" sz="800" spc="-1" dirty="0" err="1"/>
              <a:t>Eugenijus</a:t>
            </a:r>
            <a:r>
              <a:rPr lang="es-CO" sz="800" spc="-1" dirty="0"/>
              <a:t> </a:t>
            </a:r>
            <a:r>
              <a:rPr lang="es-CO" sz="800" spc="-1" dirty="0" err="1"/>
              <a:t>Kaniusas</a:t>
            </a:r>
            <a:r>
              <a:rPr lang="es-CO" sz="800" spc="-1" dirty="0"/>
              <a:t>,. </a:t>
            </a:r>
            <a:r>
              <a:rPr lang="es-CO" sz="800" spc="-1" dirty="0" err="1"/>
              <a:t>Biomedical</a:t>
            </a:r>
            <a:r>
              <a:rPr lang="es-CO" sz="800" spc="-1" dirty="0"/>
              <a:t> </a:t>
            </a:r>
            <a:r>
              <a:rPr lang="es-CO" sz="800" spc="-1" dirty="0" err="1"/>
              <a:t>signals</a:t>
            </a:r>
            <a:r>
              <a:rPr lang="es-CO" sz="800" spc="-1" dirty="0"/>
              <a:t> </a:t>
            </a:r>
            <a:r>
              <a:rPr lang="es-CO" sz="800" spc="-1" dirty="0" err="1"/>
              <a:t>sensors</a:t>
            </a:r>
            <a:r>
              <a:rPr lang="es-CO" sz="800" spc="-1" dirty="0"/>
              <a:t> I. Series </a:t>
            </a:r>
            <a:r>
              <a:rPr lang="es-CO" sz="800" spc="-1" dirty="0" err="1"/>
              <a:t>Biological</a:t>
            </a:r>
            <a:r>
              <a:rPr lang="es-CO" sz="800" spc="-1" dirty="0"/>
              <a:t> and medical </a:t>
            </a:r>
            <a:r>
              <a:rPr lang="es-CO" sz="800" spc="-1" dirty="0" err="1"/>
              <a:t>physics</a:t>
            </a:r>
            <a:r>
              <a:rPr lang="es-CO" sz="800" spc="-1" dirty="0"/>
              <a:t>, </a:t>
            </a:r>
            <a:r>
              <a:rPr lang="es-CO" sz="800" spc="-1" dirty="0" err="1"/>
              <a:t>biomedical</a:t>
            </a:r>
            <a:r>
              <a:rPr lang="es-CO" sz="800" spc="-1" dirty="0"/>
              <a:t> </a:t>
            </a:r>
            <a:r>
              <a:rPr lang="es-CO" sz="800" spc="-1" dirty="0" err="1"/>
              <a:t>engineering</a:t>
            </a:r>
            <a:r>
              <a:rPr lang="es-CO" sz="800" spc="-1" dirty="0"/>
              <a:t>. 2012. </a:t>
            </a:r>
            <a:r>
              <a:rPr lang="es-CO" sz="800" spc="-1" dirty="0" err="1"/>
              <a:t>Sringer</a:t>
            </a:r>
            <a:r>
              <a:rPr lang="es-CO" sz="800" spc="-1" dirty="0"/>
              <a:t>. </a:t>
            </a:r>
            <a:r>
              <a:rPr lang="es-CO" sz="800" spc="-1" dirty="0" err="1"/>
              <a:t>Pg</a:t>
            </a:r>
            <a:r>
              <a:rPr lang="es-CO" sz="800" spc="-1" dirty="0"/>
              <a:t> 17, 149</a:t>
            </a:r>
          </a:p>
          <a:p>
            <a:r>
              <a:rPr lang="es-CO" sz="800" spc="-1" dirty="0"/>
              <a:t>[16] Paul, </a:t>
            </a:r>
            <a:r>
              <a:rPr lang="es-CO" sz="800" spc="-1" dirty="0" err="1"/>
              <a:t>Sudip</a:t>
            </a:r>
            <a:r>
              <a:rPr lang="es-CO" sz="800" spc="-1" dirty="0"/>
              <a:t>; </a:t>
            </a:r>
            <a:r>
              <a:rPr lang="es-CO" sz="800" spc="-1" dirty="0" err="1"/>
              <a:t>Saikia</a:t>
            </a:r>
            <a:r>
              <a:rPr lang="es-CO" sz="800" spc="-1" dirty="0"/>
              <a:t>, </a:t>
            </a:r>
            <a:r>
              <a:rPr lang="es-CO" sz="800" spc="-1" dirty="0" err="1"/>
              <a:t>Angana</a:t>
            </a:r>
            <a:r>
              <a:rPr lang="es-CO" sz="800" spc="-1" dirty="0"/>
              <a:t>; </a:t>
            </a:r>
            <a:r>
              <a:rPr lang="es-CO" sz="800" spc="-1" dirty="0" err="1"/>
              <a:t>Majhi</a:t>
            </a:r>
            <a:r>
              <a:rPr lang="es-CO" sz="800" spc="-1" dirty="0"/>
              <a:t>, </a:t>
            </a:r>
            <a:r>
              <a:rPr lang="es-CO" sz="800" spc="-1" dirty="0" err="1"/>
              <a:t>Vinayak</a:t>
            </a:r>
            <a:r>
              <a:rPr lang="es-CO" sz="800" spc="-1" dirty="0"/>
              <a:t>; Pandey, </a:t>
            </a:r>
            <a:r>
              <a:rPr lang="es-CO" sz="800" spc="-1" dirty="0" err="1"/>
              <a:t>Vinay</a:t>
            </a:r>
            <a:r>
              <a:rPr lang="es-CO" sz="800" spc="-1" dirty="0"/>
              <a:t> Kumar (2022). </a:t>
            </a:r>
            <a:r>
              <a:rPr lang="es-CO" sz="800" spc="-1" dirty="0" err="1"/>
              <a:t>Introduction</a:t>
            </a:r>
            <a:r>
              <a:rPr lang="es-CO" sz="800" spc="-1" dirty="0"/>
              <a:t> </a:t>
            </a:r>
            <a:r>
              <a:rPr lang="es-CO" sz="800" spc="-1" dirty="0" err="1"/>
              <a:t>to</a:t>
            </a:r>
            <a:r>
              <a:rPr lang="es-CO" sz="800" spc="-1" dirty="0"/>
              <a:t> </a:t>
            </a:r>
            <a:r>
              <a:rPr lang="es-CO" sz="800" spc="-1" dirty="0" err="1"/>
              <a:t>Biomedical</a:t>
            </a:r>
            <a:r>
              <a:rPr lang="es-CO" sz="800" spc="-1" dirty="0"/>
              <a:t> </a:t>
            </a:r>
            <a:r>
              <a:rPr lang="es-CO" sz="800" spc="-1" dirty="0" err="1"/>
              <a:t>Instrumentation</a:t>
            </a:r>
            <a:r>
              <a:rPr lang="es-CO" sz="800" spc="-1" dirty="0"/>
              <a:t> and </a:t>
            </a:r>
            <a:r>
              <a:rPr lang="es-CO" sz="800" spc="-1" dirty="0" err="1"/>
              <a:t>Its</a:t>
            </a:r>
            <a:r>
              <a:rPr lang="es-CO" sz="800" spc="-1" dirty="0"/>
              <a:t> </a:t>
            </a:r>
            <a:r>
              <a:rPr lang="es-CO" sz="800" spc="-1" dirty="0" err="1"/>
              <a:t>Applications</a:t>
            </a:r>
            <a:r>
              <a:rPr lang="es-CO" sz="800" spc="-1" dirty="0"/>
              <a:t>. Elsevier </a:t>
            </a:r>
            <a:r>
              <a:rPr lang="es-CO" sz="800" spc="-1" dirty="0" err="1"/>
              <a:t>Science</a:t>
            </a:r>
            <a:r>
              <a:rPr lang="es-CO" sz="800" spc="-1" dirty="0"/>
              <a:t>.</a:t>
            </a:r>
          </a:p>
          <a:p>
            <a:r>
              <a:rPr lang="es-CO" sz="800" spc="-1" dirty="0"/>
              <a:t>[17] R. S. </a:t>
            </a:r>
            <a:r>
              <a:rPr lang="es-CO" sz="800" spc="-1" dirty="0" err="1"/>
              <a:t>Khandpur</a:t>
            </a:r>
            <a:r>
              <a:rPr lang="es-CO" sz="800" spc="-1" dirty="0"/>
              <a:t>, </a:t>
            </a:r>
            <a:r>
              <a:rPr lang="es-CO" sz="800" spc="-1" dirty="0" err="1"/>
              <a:t>Handbook</a:t>
            </a:r>
            <a:r>
              <a:rPr lang="es-CO" sz="800" spc="-1" dirty="0"/>
              <a:t> </a:t>
            </a:r>
            <a:r>
              <a:rPr lang="es-CO" sz="800" spc="-1" dirty="0" err="1"/>
              <a:t>of</a:t>
            </a:r>
            <a:r>
              <a:rPr lang="es-CO" sz="800" spc="-1" dirty="0"/>
              <a:t> </a:t>
            </a:r>
            <a:r>
              <a:rPr lang="es-CO" sz="800" spc="-1" dirty="0" err="1"/>
              <a:t>Biomedical</a:t>
            </a:r>
            <a:r>
              <a:rPr lang="es-CO" sz="800" spc="-1" dirty="0"/>
              <a:t> </a:t>
            </a:r>
            <a:r>
              <a:rPr lang="es-CO" sz="800" spc="-1" dirty="0" err="1"/>
              <a:t>Instrumentation</a:t>
            </a:r>
            <a:r>
              <a:rPr lang="es-CO" sz="800" spc="-1" dirty="0"/>
              <a:t>, </a:t>
            </a:r>
            <a:r>
              <a:rPr lang="es-CO" sz="800" spc="-1" dirty="0" err="1"/>
              <a:t>technology</a:t>
            </a:r>
            <a:r>
              <a:rPr lang="es-CO" sz="800" spc="-1" dirty="0"/>
              <a:t> and </a:t>
            </a:r>
            <a:r>
              <a:rPr lang="es-CO" sz="800" spc="-1" dirty="0" err="1"/>
              <a:t>applications</a:t>
            </a:r>
            <a:r>
              <a:rPr lang="es-CO" sz="800" spc="-1" dirty="0"/>
              <a:t>. 2003, McGraw-Hill  Publishing</a:t>
            </a:r>
          </a:p>
          <a:p>
            <a:r>
              <a:rPr lang="es-CO" sz="800" spc="-1" dirty="0"/>
              <a:t>[18] J. </a:t>
            </a:r>
            <a:r>
              <a:rPr lang="es-CO" sz="800" spc="-1" dirty="0" err="1"/>
              <a:t>Enderle</a:t>
            </a:r>
            <a:r>
              <a:rPr lang="es-CO" sz="800" spc="-1" dirty="0"/>
              <a:t> and J. Bronzino. </a:t>
            </a:r>
            <a:r>
              <a:rPr lang="es-CO" sz="800" spc="-1" dirty="0" err="1"/>
              <a:t>Introduction</a:t>
            </a:r>
            <a:r>
              <a:rPr lang="es-CO" sz="800" spc="-1" dirty="0"/>
              <a:t> </a:t>
            </a:r>
            <a:r>
              <a:rPr lang="es-CO" sz="800" spc="-1" dirty="0" err="1"/>
              <a:t>to</a:t>
            </a:r>
            <a:r>
              <a:rPr lang="es-CO" sz="800" spc="-1" dirty="0"/>
              <a:t> </a:t>
            </a:r>
            <a:r>
              <a:rPr lang="es-CO" sz="800" spc="-1" dirty="0" err="1"/>
              <a:t>Biomedical</a:t>
            </a:r>
            <a:r>
              <a:rPr lang="es-CO" sz="800" spc="-1" dirty="0"/>
              <a:t> </a:t>
            </a:r>
            <a:r>
              <a:rPr lang="es-CO" sz="800" spc="-1" dirty="0" err="1"/>
              <a:t>Engineering</a:t>
            </a:r>
            <a:r>
              <a:rPr lang="es-CO" sz="800" spc="-1" dirty="0"/>
              <a:t>, </a:t>
            </a:r>
            <a:r>
              <a:rPr lang="es-CO" sz="800" spc="-1" dirty="0" err="1"/>
              <a:t>Third</a:t>
            </a:r>
            <a:r>
              <a:rPr lang="es-CO" sz="800" spc="-1" dirty="0"/>
              <a:t> </a:t>
            </a:r>
            <a:r>
              <a:rPr lang="es-CO" sz="800" spc="-1" dirty="0" err="1"/>
              <a:t>edition</a:t>
            </a:r>
            <a:r>
              <a:rPr lang="es-CO" sz="800" spc="-1" dirty="0"/>
              <a:t>, </a:t>
            </a:r>
            <a:r>
              <a:rPr lang="es-CO" sz="800" spc="-1" dirty="0" err="1"/>
              <a:t>Academic</a:t>
            </a:r>
            <a:r>
              <a:rPr lang="es-CO" sz="800" spc="-1" dirty="0"/>
              <a:t> </a:t>
            </a:r>
            <a:r>
              <a:rPr lang="es-CO" sz="800" spc="-1" dirty="0" err="1"/>
              <a:t>Press</a:t>
            </a:r>
            <a:r>
              <a:rPr lang="es-CO" sz="800" spc="-1" dirty="0"/>
              <a:t>. </a:t>
            </a:r>
            <a:r>
              <a:rPr lang="es-CO" sz="800" spc="-1" dirty="0" err="1"/>
              <a:t>Chp</a:t>
            </a:r>
            <a:r>
              <a:rPr lang="es-CO" sz="800" spc="-1" dirty="0"/>
              <a:t> 10.3</a:t>
            </a:r>
          </a:p>
          <a:p>
            <a:r>
              <a:rPr lang="es-CO" sz="800" spc="-1" dirty="0"/>
              <a:t>[19] Kim, D., Min, J. and </a:t>
            </a:r>
            <a:r>
              <a:rPr lang="es-CO" sz="800" spc="-1" dirty="0" err="1"/>
              <a:t>Ko</a:t>
            </a:r>
            <a:r>
              <a:rPr lang="es-CO" sz="800" spc="-1" dirty="0"/>
              <a:t>, S.H. (2024), </a:t>
            </a:r>
            <a:r>
              <a:rPr lang="es-CO" sz="800" spc="-1" dirty="0" err="1"/>
              <a:t>Recent</a:t>
            </a:r>
            <a:r>
              <a:rPr lang="es-CO" sz="800" spc="-1" dirty="0"/>
              <a:t> </a:t>
            </a:r>
            <a:r>
              <a:rPr lang="es-CO" sz="800" spc="-1" dirty="0" err="1"/>
              <a:t>Developments</a:t>
            </a:r>
            <a:r>
              <a:rPr lang="es-CO" sz="800" spc="-1" dirty="0"/>
              <a:t> and Future </a:t>
            </a:r>
            <a:r>
              <a:rPr lang="es-CO" sz="800" spc="-1" dirty="0" err="1"/>
              <a:t>Directions</a:t>
            </a:r>
            <a:r>
              <a:rPr lang="es-CO" sz="800" spc="-1" dirty="0"/>
              <a:t> </a:t>
            </a:r>
            <a:r>
              <a:rPr lang="es-CO" sz="800" spc="-1" dirty="0" err="1"/>
              <a:t>of</a:t>
            </a:r>
            <a:r>
              <a:rPr lang="es-CO" sz="800" spc="-1" dirty="0"/>
              <a:t> Wearable Skin </a:t>
            </a:r>
            <a:r>
              <a:rPr lang="es-CO" sz="800" spc="-1" dirty="0" err="1"/>
              <a:t>Biosignal</a:t>
            </a:r>
            <a:r>
              <a:rPr lang="es-CO" sz="800" spc="-1" dirty="0"/>
              <a:t> </a:t>
            </a:r>
            <a:r>
              <a:rPr lang="es-CO" sz="800" spc="-1" dirty="0" err="1"/>
              <a:t>Sensors</a:t>
            </a:r>
            <a:r>
              <a:rPr lang="es-CO" sz="800" spc="-1" dirty="0"/>
              <a:t>. Adv. Sensor Res., 3: 2300118. https://doi.org/10.1002/adsr.202300118</a:t>
            </a:r>
          </a:p>
          <a:p>
            <a:endParaRPr lang="es-CO" sz="800" spc="-1" dirty="0"/>
          </a:p>
          <a:p>
            <a:endParaRPr lang="en-US" sz="800" spc="-1" dirty="0"/>
          </a:p>
          <a:p>
            <a:endParaRPr lang="en-US" sz="800" spc="-1" dirty="0"/>
          </a:p>
          <a:p>
            <a:endParaRPr lang="es-CO" sz="900" spc="-1" dirty="0"/>
          </a:p>
          <a:p>
            <a:pPr>
              <a:lnSpc>
                <a:spcPct val="100000"/>
              </a:lnSpc>
              <a:buNone/>
            </a:pPr>
            <a:endParaRPr lang="es-CO" sz="800" spc="-1" dirty="0"/>
          </a:p>
          <a:p>
            <a:endParaRPr lang="es-CO"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3087</TotalTime>
  <Words>2135</Words>
  <Application>Microsoft Office PowerPoint</Application>
  <PresentationFormat>Presentación en pantalla (4:3)</PresentationFormat>
  <Paragraphs>308</Paragraphs>
  <Slides>27</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27</vt:i4>
      </vt:variant>
    </vt:vector>
  </HeadingPairs>
  <TitlesOfParts>
    <vt:vector size="36" baseType="lpstr">
      <vt:lpstr>Arial</vt:lpstr>
      <vt:lpstr>Calibri</vt:lpstr>
      <vt:lpstr>charter</vt:lpstr>
      <vt:lpstr>Symbol</vt:lpstr>
      <vt:lpstr>TimesNewRomanPS-BoldMT</vt:lpstr>
      <vt:lpstr>TimesNewRomanPSMT</vt:lpstr>
      <vt:lpstr>Wingdings</vt:lpstr>
      <vt:lpstr>Office Theme</vt:lpstr>
      <vt:lpstr>Office Theme</vt:lpstr>
      <vt:lpstr>Fundamentos de señales Instrumentación biomédica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1_Fundamentos_señales</dc:title>
  <dc:subject/>
  <dc:creator>Jenny Rojas</dc:creator>
  <dc:description/>
  <cp:lastModifiedBy>Pedro Antonio Aya Parra</cp:lastModifiedBy>
  <cp:revision>1822</cp:revision>
  <dcterms:created xsi:type="dcterms:W3CDTF">2018-06-28T02:15:01Z</dcterms:created>
  <dcterms:modified xsi:type="dcterms:W3CDTF">2025-07-21T18:27:34Z</dcterms:modified>
  <dc:language>es-CO</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y fmtid="{D5CDD505-2E9C-101B-9397-08002B2CF9AE}" pid="3" name="Notes">
    <vt:i4>19</vt:i4>
  </property>
  <property fmtid="{D5CDD505-2E9C-101B-9397-08002B2CF9AE}" pid="4" name="PresentationFormat">
    <vt:lpwstr>Presentación en pantalla (4:3)</vt:lpwstr>
  </property>
  <property fmtid="{D5CDD505-2E9C-101B-9397-08002B2CF9AE}" pid="5" name="Slides">
    <vt:i4>21</vt:i4>
  </property>
</Properties>
</file>